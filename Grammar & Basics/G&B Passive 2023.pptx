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29"/>
  </p:notesMasterIdLst>
  <p:sldIdLst>
    <p:sldId id="412" r:id="rId2"/>
    <p:sldId id="414" r:id="rId3"/>
    <p:sldId id="415" r:id="rId4"/>
    <p:sldId id="416" r:id="rId5"/>
    <p:sldId id="417" r:id="rId6"/>
    <p:sldId id="418" r:id="rId7"/>
    <p:sldId id="419" r:id="rId8"/>
    <p:sldId id="420" r:id="rId9"/>
    <p:sldId id="421" r:id="rId10"/>
    <p:sldId id="422" r:id="rId11"/>
    <p:sldId id="423" r:id="rId12"/>
    <p:sldId id="424" r:id="rId13"/>
    <p:sldId id="425" r:id="rId14"/>
    <p:sldId id="426" r:id="rId15"/>
    <p:sldId id="427" r:id="rId16"/>
    <p:sldId id="428" r:id="rId17"/>
    <p:sldId id="429" r:id="rId18"/>
    <p:sldId id="430" r:id="rId19"/>
    <p:sldId id="431" r:id="rId20"/>
    <p:sldId id="432" r:id="rId21"/>
    <p:sldId id="433" r:id="rId22"/>
    <p:sldId id="434" r:id="rId23"/>
    <p:sldId id="435" r:id="rId24"/>
    <p:sldId id="436" r:id="rId25"/>
    <p:sldId id="437" r:id="rId26"/>
    <p:sldId id="438" r:id="rId27"/>
    <p:sldId id="439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1" autoAdjust="0"/>
    <p:restoredTop sz="94660"/>
  </p:normalViewPr>
  <p:slideViewPr>
    <p:cSldViewPr snapToGrid="0">
      <p:cViewPr varScale="1">
        <p:scale>
          <a:sx n="78" d="100"/>
          <a:sy n="78" d="100"/>
        </p:scale>
        <p:origin x="80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980A5DA-E70F-4D41-9019-2D9CCAC204DA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94A313B-48F1-417A-8181-5ADA9F9D8D5B}">
      <dgm:prSet/>
      <dgm:spPr/>
      <dgm:t>
        <a:bodyPr/>
        <a:lstStyle/>
        <a:p>
          <a:r>
            <a:rPr lang="nl-NL" dirty="0" err="1"/>
            <a:t>This</a:t>
          </a:r>
          <a:r>
            <a:rPr lang="nl-NL" dirty="0"/>
            <a:t> </a:t>
          </a:r>
          <a:r>
            <a:rPr lang="nl-NL" dirty="0" err="1"/>
            <a:t>text</a:t>
          </a:r>
          <a:r>
            <a:rPr lang="nl-NL" dirty="0"/>
            <a:t> is </a:t>
          </a:r>
          <a:r>
            <a:rPr lang="nl-NL" dirty="0" err="1"/>
            <a:t>about</a:t>
          </a:r>
          <a:r>
            <a:rPr lang="nl-NL" dirty="0"/>
            <a:t> Columbus. </a:t>
          </a:r>
        </a:p>
        <a:p>
          <a:r>
            <a:rPr lang="nl-NL" dirty="0"/>
            <a:t>The </a:t>
          </a:r>
          <a:r>
            <a:rPr lang="nl-NL" u="sng" dirty="0"/>
            <a:t>focus is on </a:t>
          </a:r>
          <a:r>
            <a:rPr lang="nl-NL" u="sng" dirty="0" err="1"/>
            <a:t>what</a:t>
          </a:r>
          <a:r>
            <a:rPr lang="nl-NL" u="sng" dirty="0"/>
            <a:t> he </a:t>
          </a:r>
          <a:r>
            <a:rPr lang="nl-NL" u="sng" dirty="0" err="1"/>
            <a:t>did</a:t>
          </a:r>
          <a:r>
            <a:rPr lang="nl-NL" dirty="0"/>
            <a:t>. </a:t>
          </a:r>
          <a:endParaRPr lang="en-US" dirty="0"/>
        </a:p>
      </dgm:t>
    </dgm:pt>
    <dgm:pt modelId="{E741FAF3-6E1B-449B-8F89-FE4E27642803}" type="parTrans" cxnId="{D9D9E35B-41E9-40AC-AF80-7A861FFB1A8C}">
      <dgm:prSet/>
      <dgm:spPr/>
      <dgm:t>
        <a:bodyPr/>
        <a:lstStyle/>
        <a:p>
          <a:endParaRPr lang="en-US"/>
        </a:p>
      </dgm:t>
    </dgm:pt>
    <dgm:pt modelId="{2A3A2018-0ED0-4111-B622-B460329A78DC}" type="sibTrans" cxnId="{D9D9E35B-41E9-40AC-AF80-7A861FFB1A8C}">
      <dgm:prSet/>
      <dgm:spPr/>
      <dgm:t>
        <a:bodyPr/>
        <a:lstStyle/>
        <a:p>
          <a:endParaRPr lang="en-US"/>
        </a:p>
      </dgm:t>
    </dgm:pt>
    <dgm:pt modelId="{87064447-0564-4BE0-872B-325D46B90411}">
      <dgm:prSet/>
      <dgm:spPr/>
      <dgm:t>
        <a:bodyPr/>
        <a:lstStyle/>
        <a:p>
          <a:r>
            <a:rPr lang="nl-NL" dirty="0"/>
            <a:t>Columbus is </a:t>
          </a:r>
          <a:r>
            <a:rPr lang="nl-NL" dirty="0" err="1"/>
            <a:t>the</a:t>
          </a:r>
          <a:r>
            <a:rPr lang="nl-NL" dirty="0"/>
            <a:t> subject </a:t>
          </a:r>
          <a:r>
            <a:rPr lang="nl-NL" dirty="0" err="1"/>
            <a:t>and</a:t>
          </a:r>
          <a:r>
            <a:rPr lang="nl-NL" dirty="0"/>
            <a:t> </a:t>
          </a:r>
          <a:r>
            <a:rPr lang="nl-NL" dirty="0" err="1"/>
            <a:t>the</a:t>
          </a:r>
          <a:r>
            <a:rPr lang="nl-NL" dirty="0"/>
            <a:t> </a:t>
          </a:r>
          <a:r>
            <a:rPr lang="nl-NL" u="sng" dirty="0"/>
            <a:t>agent.</a:t>
          </a:r>
          <a:endParaRPr lang="en-US" dirty="0"/>
        </a:p>
      </dgm:t>
    </dgm:pt>
    <dgm:pt modelId="{9E6E6FB6-0DD9-47D4-866B-B9C4C64D69F9}" type="parTrans" cxnId="{41F5FBFC-ECCA-4539-942D-69A8B28F0E40}">
      <dgm:prSet/>
      <dgm:spPr/>
      <dgm:t>
        <a:bodyPr/>
        <a:lstStyle/>
        <a:p>
          <a:endParaRPr lang="en-US"/>
        </a:p>
      </dgm:t>
    </dgm:pt>
    <dgm:pt modelId="{1110AAD9-DF84-4A62-9249-D7F83D17A242}" type="sibTrans" cxnId="{41F5FBFC-ECCA-4539-942D-69A8B28F0E40}">
      <dgm:prSet/>
      <dgm:spPr/>
      <dgm:t>
        <a:bodyPr/>
        <a:lstStyle/>
        <a:p>
          <a:endParaRPr lang="en-US"/>
        </a:p>
      </dgm:t>
    </dgm:pt>
    <dgm:pt modelId="{09ECC9BB-98DB-4F29-8806-FFD786A1CCAB}">
      <dgm:prSet/>
      <dgm:spPr/>
      <dgm:t>
        <a:bodyPr/>
        <a:lstStyle/>
        <a:p>
          <a:r>
            <a:rPr lang="nl-NL" dirty="0"/>
            <a:t>“Columbus </a:t>
          </a:r>
          <a:r>
            <a:rPr lang="nl-NL" dirty="0" err="1"/>
            <a:t>discovered</a:t>
          </a:r>
          <a:r>
            <a:rPr lang="nl-NL" dirty="0"/>
            <a:t> America” is </a:t>
          </a:r>
          <a:r>
            <a:rPr lang="nl-NL" dirty="0" err="1"/>
            <a:t>an</a:t>
          </a:r>
          <a:r>
            <a:rPr lang="nl-NL" dirty="0"/>
            <a:t> </a:t>
          </a:r>
          <a:r>
            <a:rPr lang="nl-NL" u="sng" dirty="0" err="1"/>
            <a:t>active</a:t>
          </a:r>
          <a:r>
            <a:rPr lang="nl-NL" u="sng" dirty="0"/>
            <a:t> </a:t>
          </a:r>
          <a:r>
            <a:rPr lang="nl-NL" dirty="0" err="1"/>
            <a:t>sentence</a:t>
          </a:r>
          <a:r>
            <a:rPr lang="nl-NL" dirty="0"/>
            <a:t>.</a:t>
          </a:r>
          <a:endParaRPr lang="en-US" dirty="0"/>
        </a:p>
      </dgm:t>
    </dgm:pt>
    <dgm:pt modelId="{85F9789F-6B90-4014-A367-6BCFD8257119}" type="parTrans" cxnId="{C8846E84-F532-4EE0-BAEB-759DD701F1CB}">
      <dgm:prSet/>
      <dgm:spPr/>
      <dgm:t>
        <a:bodyPr/>
        <a:lstStyle/>
        <a:p>
          <a:endParaRPr lang="en-US"/>
        </a:p>
      </dgm:t>
    </dgm:pt>
    <dgm:pt modelId="{A14D8A5A-66A5-4C58-8D28-7E5750B93F67}" type="sibTrans" cxnId="{C8846E84-F532-4EE0-BAEB-759DD701F1CB}">
      <dgm:prSet/>
      <dgm:spPr/>
      <dgm:t>
        <a:bodyPr/>
        <a:lstStyle/>
        <a:p>
          <a:endParaRPr lang="en-US"/>
        </a:p>
      </dgm:t>
    </dgm:pt>
    <dgm:pt modelId="{F5AC4A8D-2828-4886-9145-B211C58170B7}" type="pres">
      <dgm:prSet presAssocID="{0980A5DA-E70F-4D41-9019-2D9CCAC204DA}" presName="linear" presStyleCnt="0">
        <dgm:presLayoutVars>
          <dgm:animLvl val="lvl"/>
          <dgm:resizeHandles val="exact"/>
        </dgm:presLayoutVars>
      </dgm:prSet>
      <dgm:spPr/>
    </dgm:pt>
    <dgm:pt modelId="{E0A943D9-C112-4F65-9DB1-0D412E678825}" type="pres">
      <dgm:prSet presAssocID="{194A313B-48F1-417A-8181-5ADA9F9D8D5B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554ED54-CE46-4EE4-B006-AE32F10F312A}" type="pres">
      <dgm:prSet presAssocID="{2A3A2018-0ED0-4111-B622-B460329A78DC}" presName="spacer" presStyleCnt="0"/>
      <dgm:spPr/>
    </dgm:pt>
    <dgm:pt modelId="{3DD52FA5-6770-42F2-997A-13ACF7DE725A}" type="pres">
      <dgm:prSet presAssocID="{87064447-0564-4BE0-872B-325D46B9041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2F3F4B9-9938-4DF9-A6F6-4B9D414390B0}" type="pres">
      <dgm:prSet presAssocID="{1110AAD9-DF84-4A62-9249-D7F83D17A242}" presName="spacer" presStyleCnt="0"/>
      <dgm:spPr/>
    </dgm:pt>
    <dgm:pt modelId="{467AEA1B-6240-46E4-9C08-4689E4178E34}" type="pres">
      <dgm:prSet presAssocID="{09ECC9BB-98DB-4F29-8806-FFD786A1CCAB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D9D9E35B-41E9-40AC-AF80-7A861FFB1A8C}" srcId="{0980A5DA-E70F-4D41-9019-2D9CCAC204DA}" destId="{194A313B-48F1-417A-8181-5ADA9F9D8D5B}" srcOrd="0" destOrd="0" parTransId="{E741FAF3-6E1B-449B-8F89-FE4E27642803}" sibTransId="{2A3A2018-0ED0-4111-B622-B460329A78DC}"/>
    <dgm:cxn modelId="{C8846E84-F532-4EE0-BAEB-759DD701F1CB}" srcId="{0980A5DA-E70F-4D41-9019-2D9CCAC204DA}" destId="{09ECC9BB-98DB-4F29-8806-FFD786A1CCAB}" srcOrd="2" destOrd="0" parTransId="{85F9789F-6B90-4014-A367-6BCFD8257119}" sibTransId="{A14D8A5A-66A5-4C58-8D28-7E5750B93F67}"/>
    <dgm:cxn modelId="{ACFE238F-1C3C-475C-86C5-4AF172324185}" type="presOf" srcId="{09ECC9BB-98DB-4F29-8806-FFD786A1CCAB}" destId="{467AEA1B-6240-46E4-9C08-4689E4178E34}" srcOrd="0" destOrd="0" presId="urn:microsoft.com/office/officeart/2005/8/layout/vList2"/>
    <dgm:cxn modelId="{530DC5CB-BE5B-4997-A037-7C56F97CC0DD}" type="presOf" srcId="{0980A5DA-E70F-4D41-9019-2D9CCAC204DA}" destId="{F5AC4A8D-2828-4886-9145-B211C58170B7}" srcOrd="0" destOrd="0" presId="urn:microsoft.com/office/officeart/2005/8/layout/vList2"/>
    <dgm:cxn modelId="{5DCAC2E9-6FA9-4D7B-AC06-B17D13F4BB9B}" type="presOf" srcId="{87064447-0564-4BE0-872B-325D46B90411}" destId="{3DD52FA5-6770-42F2-997A-13ACF7DE725A}" srcOrd="0" destOrd="0" presId="urn:microsoft.com/office/officeart/2005/8/layout/vList2"/>
    <dgm:cxn modelId="{C3D25FF4-1AE7-44B7-8DE8-1BC2849F918A}" type="presOf" srcId="{194A313B-48F1-417A-8181-5ADA9F9D8D5B}" destId="{E0A943D9-C112-4F65-9DB1-0D412E678825}" srcOrd="0" destOrd="0" presId="urn:microsoft.com/office/officeart/2005/8/layout/vList2"/>
    <dgm:cxn modelId="{41F5FBFC-ECCA-4539-942D-69A8B28F0E40}" srcId="{0980A5DA-E70F-4D41-9019-2D9CCAC204DA}" destId="{87064447-0564-4BE0-872B-325D46B90411}" srcOrd="1" destOrd="0" parTransId="{9E6E6FB6-0DD9-47D4-866B-B9C4C64D69F9}" sibTransId="{1110AAD9-DF84-4A62-9249-D7F83D17A242}"/>
    <dgm:cxn modelId="{AD91D890-F1DF-40BF-90EC-50F19300A5B8}" type="presParOf" srcId="{F5AC4A8D-2828-4886-9145-B211C58170B7}" destId="{E0A943D9-C112-4F65-9DB1-0D412E678825}" srcOrd="0" destOrd="0" presId="urn:microsoft.com/office/officeart/2005/8/layout/vList2"/>
    <dgm:cxn modelId="{E2A20D8A-747C-4D13-A90F-F99A354016C2}" type="presParOf" srcId="{F5AC4A8D-2828-4886-9145-B211C58170B7}" destId="{D554ED54-CE46-4EE4-B006-AE32F10F312A}" srcOrd="1" destOrd="0" presId="urn:microsoft.com/office/officeart/2005/8/layout/vList2"/>
    <dgm:cxn modelId="{D1D2304E-8156-47CD-9E21-8F084C7D4747}" type="presParOf" srcId="{F5AC4A8D-2828-4886-9145-B211C58170B7}" destId="{3DD52FA5-6770-42F2-997A-13ACF7DE725A}" srcOrd="2" destOrd="0" presId="urn:microsoft.com/office/officeart/2005/8/layout/vList2"/>
    <dgm:cxn modelId="{B1A931BE-A00A-45B5-8A78-F649D577971A}" type="presParOf" srcId="{F5AC4A8D-2828-4886-9145-B211C58170B7}" destId="{E2F3F4B9-9938-4DF9-A6F6-4B9D414390B0}" srcOrd="3" destOrd="0" presId="urn:microsoft.com/office/officeart/2005/8/layout/vList2"/>
    <dgm:cxn modelId="{0AA37546-8AFC-4215-B721-7F6930D619DD}" type="presParOf" srcId="{F5AC4A8D-2828-4886-9145-B211C58170B7}" destId="{467AEA1B-6240-46E4-9C08-4689E4178E34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7EFD1DC-0DF5-48F6-AAA1-F1D8B20C5478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C9C8751-186D-48B1-976F-474B6494BDEE}">
      <dgm:prSet/>
      <dgm:spPr/>
      <dgm:t>
        <a:bodyPr/>
        <a:lstStyle/>
        <a:p>
          <a:r>
            <a:rPr lang="nl-NL" dirty="0" err="1"/>
            <a:t>This</a:t>
          </a:r>
          <a:r>
            <a:rPr lang="nl-NL" dirty="0"/>
            <a:t> </a:t>
          </a:r>
          <a:r>
            <a:rPr lang="nl-NL" dirty="0" err="1"/>
            <a:t>text</a:t>
          </a:r>
          <a:r>
            <a:rPr lang="nl-NL" dirty="0"/>
            <a:t> is </a:t>
          </a:r>
          <a:r>
            <a:rPr lang="nl-NL" dirty="0" err="1"/>
            <a:t>about</a:t>
          </a:r>
          <a:r>
            <a:rPr lang="nl-NL" dirty="0"/>
            <a:t> </a:t>
          </a:r>
          <a:r>
            <a:rPr lang="nl-NL" dirty="0" err="1"/>
            <a:t>the</a:t>
          </a:r>
          <a:r>
            <a:rPr lang="nl-NL" dirty="0"/>
            <a:t> USA. The focus is on </a:t>
          </a:r>
          <a:r>
            <a:rPr lang="nl-NL" u="sng" dirty="0" err="1"/>
            <a:t>what</a:t>
          </a:r>
          <a:r>
            <a:rPr lang="nl-NL" u="sng" dirty="0"/>
            <a:t>  </a:t>
          </a:r>
          <a:r>
            <a:rPr lang="nl-NL" u="sng" dirty="0" err="1"/>
            <a:t>happened</a:t>
          </a:r>
          <a:r>
            <a:rPr lang="nl-NL" dirty="0"/>
            <a:t> </a:t>
          </a:r>
          <a:r>
            <a:rPr lang="nl-NL" dirty="0" err="1"/>
            <a:t>to</a:t>
          </a:r>
          <a:r>
            <a:rPr lang="nl-NL" dirty="0"/>
            <a:t> it.</a:t>
          </a:r>
          <a:endParaRPr lang="en-US" dirty="0"/>
        </a:p>
      </dgm:t>
    </dgm:pt>
    <dgm:pt modelId="{4788BD8A-D40F-4157-849E-87BD02D66904}" type="parTrans" cxnId="{0F824763-26A5-4695-AF49-6E9DB154343B}">
      <dgm:prSet/>
      <dgm:spPr/>
      <dgm:t>
        <a:bodyPr/>
        <a:lstStyle/>
        <a:p>
          <a:endParaRPr lang="en-US"/>
        </a:p>
      </dgm:t>
    </dgm:pt>
    <dgm:pt modelId="{356D4C69-8F12-445A-A63B-D9ECDF671E04}" type="sibTrans" cxnId="{0F824763-26A5-4695-AF49-6E9DB154343B}">
      <dgm:prSet/>
      <dgm:spPr/>
      <dgm:t>
        <a:bodyPr/>
        <a:lstStyle/>
        <a:p>
          <a:endParaRPr lang="en-US"/>
        </a:p>
      </dgm:t>
    </dgm:pt>
    <dgm:pt modelId="{63DA783A-EA01-458B-8320-9A58FCD82487}">
      <dgm:prSet/>
      <dgm:spPr/>
      <dgm:t>
        <a:bodyPr/>
        <a:lstStyle/>
        <a:p>
          <a:r>
            <a:rPr lang="nl-NL" dirty="0"/>
            <a:t>America is </a:t>
          </a:r>
          <a:r>
            <a:rPr lang="nl-NL" dirty="0" err="1"/>
            <a:t>the</a:t>
          </a:r>
          <a:r>
            <a:rPr lang="nl-NL" dirty="0"/>
            <a:t> subject, but Columbus is </a:t>
          </a:r>
          <a:r>
            <a:rPr lang="nl-NL" dirty="0" err="1"/>
            <a:t>still</a:t>
          </a:r>
          <a:r>
            <a:rPr lang="nl-NL" dirty="0"/>
            <a:t> </a:t>
          </a:r>
          <a:r>
            <a:rPr lang="nl-NL" dirty="0" err="1"/>
            <a:t>the</a:t>
          </a:r>
          <a:r>
            <a:rPr lang="nl-NL" dirty="0"/>
            <a:t> </a:t>
          </a:r>
          <a:r>
            <a:rPr lang="nl-NL" u="sng" dirty="0"/>
            <a:t>agent</a:t>
          </a:r>
          <a:endParaRPr lang="en-US" u="sng" dirty="0"/>
        </a:p>
      </dgm:t>
    </dgm:pt>
    <dgm:pt modelId="{7AF43386-A9DB-42C5-8546-84A578A565C4}" type="parTrans" cxnId="{68DE13C9-5577-4907-9E47-1CD9E3D82F44}">
      <dgm:prSet/>
      <dgm:spPr/>
      <dgm:t>
        <a:bodyPr/>
        <a:lstStyle/>
        <a:p>
          <a:endParaRPr lang="en-US"/>
        </a:p>
      </dgm:t>
    </dgm:pt>
    <dgm:pt modelId="{08A4C6FD-E231-4F09-92D1-A929E17C8E73}" type="sibTrans" cxnId="{68DE13C9-5577-4907-9E47-1CD9E3D82F44}">
      <dgm:prSet/>
      <dgm:spPr/>
      <dgm:t>
        <a:bodyPr/>
        <a:lstStyle/>
        <a:p>
          <a:endParaRPr lang="en-US"/>
        </a:p>
      </dgm:t>
    </dgm:pt>
    <dgm:pt modelId="{C8090EB6-E2F2-4B51-85F1-4C8683741676}">
      <dgm:prSet/>
      <dgm:spPr/>
      <dgm:t>
        <a:bodyPr/>
        <a:lstStyle/>
        <a:p>
          <a:r>
            <a:rPr lang="nl-NL"/>
            <a:t>“America was discovered by Columbus” is a </a:t>
          </a:r>
          <a:r>
            <a:rPr lang="nl-NL" u="sng"/>
            <a:t>passive</a:t>
          </a:r>
          <a:r>
            <a:rPr lang="nl-NL"/>
            <a:t> sentence.</a:t>
          </a:r>
          <a:endParaRPr lang="en-US"/>
        </a:p>
      </dgm:t>
    </dgm:pt>
    <dgm:pt modelId="{EDA221F6-6FBF-4824-AC06-1A05F32F4180}" type="parTrans" cxnId="{5CDAE16C-1C94-4030-8500-5207F2E65F46}">
      <dgm:prSet/>
      <dgm:spPr/>
      <dgm:t>
        <a:bodyPr/>
        <a:lstStyle/>
        <a:p>
          <a:endParaRPr lang="en-US"/>
        </a:p>
      </dgm:t>
    </dgm:pt>
    <dgm:pt modelId="{62D0FECD-2A5B-4915-A60F-0CDE640F21D6}" type="sibTrans" cxnId="{5CDAE16C-1C94-4030-8500-5207F2E65F46}">
      <dgm:prSet/>
      <dgm:spPr/>
      <dgm:t>
        <a:bodyPr/>
        <a:lstStyle/>
        <a:p>
          <a:endParaRPr lang="en-US"/>
        </a:p>
      </dgm:t>
    </dgm:pt>
    <dgm:pt modelId="{D23B160F-E85E-43A8-BD7B-E9029F08222A}" type="pres">
      <dgm:prSet presAssocID="{D7EFD1DC-0DF5-48F6-AAA1-F1D8B20C5478}" presName="linear" presStyleCnt="0">
        <dgm:presLayoutVars>
          <dgm:animLvl val="lvl"/>
          <dgm:resizeHandles val="exact"/>
        </dgm:presLayoutVars>
      </dgm:prSet>
      <dgm:spPr/>
    </dgm:pt>
    <dgm:pt modelId="{901EA0E6-B9A8-43F1-9C75-DDA653E4E324}" type="pres">
      <dgm:prSet presAssocID="{EC9C8751-186D-48B1-976F-474B6494BDE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A3D134B-B537-4089-9BCC-8B124A8E2303}" type="pres">
      <dgm:prSet presAssocID="{356D4C69-8F12-445A-A63B-D9ECDF671E04}" presName="spacer" presStyleCnt="0"/>
      <dgm:spPr/>
    </dgm:pt>
    <dgm:pt modelId="{066DBC46-4C12-4B41-9239-0AC5C37B0420}" type="pres">
      <dgm:prSet presAssocID="{63DA783A-EA01-458B-8320-9A58FCD8248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F48E229-29A7-428F-BB1A-38DB975D0C11}" type="pres">
      <dgm:prSet presAssocID="{08A4C6FD-E231-4F09-92D1-A929E17C8E73}" presName="spacer" presStyleCnt="0"/>
      <dgm:spPr/>
    </dgm:pt>
    <dgm:pt modelId="{80DA052D-051E-416B-873B-E453185E8820}" type="pres">
      <dgm:prSet presAssocID="{C8090EB6-E2F2-4B51-85F1-4C8683741676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7592815-15BB-414C-BDE5-B12C1AEFEE56}" type="presOf" srcId="{63DA783A-EA01-458B-8320-9A58FCD82487}" destId="{066DBC46-4C12-4B41-9239-0AC5C37B0420}" srcOrd="0" destOrd="0" presId="urn:microsoft.com/office/officeart/2005/8/layout/vList2"/>
    <dgm:cxn modelId="{9839D53F-4263-4446-97C6-FFFBF8EDB3F0}" type="presOf" srcId="{EC9C8751-186D-48B1-976F-474B6494BDEE}" destId="{901EA0E6-B9A8-43F1-9C75-DDA653E4E324}" srcOrd="0" destOrd="0" presId="urn:microsoft.com/office/officeart/2005/8/layout/vList2"/>
    <dgm:cxn modelId="{0F824763-26A5-4695-AF49-6E9DB154343B}" srcId="{D7EFD1DC-0DF5-48F6-AAA1-F1D8B20C5478}" destId="{EC9C8751-186D-48B1-976F-474B6494BDEE}" srcOrd="0" destOrd="0" parTransId="{4788BD8A-D40F-4157-849E-87BD02D66904}" sibTransId="{356D4C69-8F12-445A-A63B-D9ECDF671E04}"/>
    <dgm:cxn modelId="{5CDAE16C-1C94-4030-8500-5207F2E65F46}" srcId="{D7EFD1DC-0DF5-48F6-AAA1-F1D8B20C5478}" destId="{C8090EB6-E2F2-4B51-85F1-4C8683741676}" srcOrd="2" destOrd="0" parTransId="{EDA221F6-6FBF-4824-AC06-1A05F32F4180}" sibTransId="{62D0FECD-2A5B-4915-A60F-0CDE640F21D6}"/>
    <dgm:cxn modelId="{68DE13C9-5577-4907-9E47-1CD9E3D82F44}" srcId="{D7EFD1DC-0DF5-48F6-AAA1-F1D8B20C5478}" destId="{63DA783A-EA01-458B-8320-9A58FCD82487}" srcOrd="1" destOrd="0" parTransId="{7AF43386-A9DB-42C5-8546-84A578A565C4}" sibTransId="{08A4C6FD-E231-4F09-92D1-A929E17C8E73}"/>
    <dgm:cxn modelId="{9078F9EA-09D2-465F-979B-AF8038A70A82}" type="presOf" srcId="{C8090EB6-E2F2-4B51-85F1-4C8683741676}" destId="{80DA052D-051E-416B-873B-E453185E8820}" srcOrd="0" destOrd="0" presId="urn:microsoft.com/office/officeart/2005/8/layout/vList2"/>
    <dgm:cxn modelId="{C21363F2-1CC3-4B18-B4FC-36E0DCE944D3}" type="presOf" srcId="{D7EFD1DC-0DF5-48F6-AAA1-F1D8B20C5478}" destId="{D23B160F-E85E-43A8-BD7B-E9029F08222A}" srcOrd="0" destOrd="0" presId="urn:microsoft.com/office/officeart/2005/8/layout/vList2"/>
    <dgm:cxn modelId="{EC478F31-BCF3-49A6-B25C-7F787958C030}" type="presParOf" srcId="{D23B160F-E85E-43A8-BD7B-E9029F08222A}" destId="{901EA0E6-B9A8-43F1-9C75-DDA653E4E324}" srcOrd="0" destOrd="0" presId="urn:microsoft.com/office/officeart/2005/8/layout/vList2"/>
    <dgm:cxn modelId="{ACE83D9D-7298-4BBD-88B9-7BDC2E0DE227}" type="presParOf" srcId="{D23B160F-E85E-43A8-BD7B-E9029F08222A}" destId="{EA3D134B-B537-4089-9BCC-8B124A8E2303}" srcOrd="1" destOrd="0" presId="urn:microsoft.com/office/officeart/2005/8/layout/vList2"/>
    <dgm:cxn modelId="{30EC0520-0D91-4C83-8D51-E21CE04DD39F}" type="presParOf" srcId="{D23B160F-E85E-43A8-BD7B-E9029F08222A}" destId="{066DBC46-4C12-4B41-9239-0AC5C37B0420}" srcOrd="2" destOrd="0" presId="urn:microsoft.com/office/officeart/2005/8/layout/vList2"/>
    <dgm:cxn modelId="{635470EC-A78E-41B5-B16C-1D4DE131A73B}" type="presParOf" srcId="{D23B160F-E85E-43A8-BD7B-E9029F08222A}" destId="{EF48E229-29A7-428F-BB1A-38DB975D0C11}" srcOrd="3" destOrd="0" presId="urn:microsoft.com/office/officeart/2005/8/layout/vList2"/>
    <dgm:cxn modelId="{ABA5594C-7203-4C52-9EE8-CFF75D3FB26F}" type="presParOf" srcId="{D23B160F-E85E-43A8-BD7B-E9029F08222A}" destId="{80DA052D-051E-416B-873B-E453185E882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A943D9-C112-4F65-9DB1-0D412E678825}">
      <dsp:nvSpPr>
        <dsp:cNvPr id="0" name=""/>
        <dsp:cNvSpPr/>
      </dsp:nvSpPr>
      <dsp:spPr>
        <a:xfrm>
          <a:off x="0" y="280650"/>
          <a:ext cx="5098256" cy="163668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3100" kern="1200" dirty="0" err="1"/>
            <a:t>This</a:t>
          </a:r>
          <a:r>
            <a:rPr lang="nl-NL" sz="3100" kern="1200" dirty="0"/>
            <a:t> </a:t>
          </a:r>
          <a:r>
            <a:rPr lang="nl-NL" sz="3100" kern="1200" dirty="0" err="1"/>
            <a:t>text</a:t>
          </a:r>
          <a:r>
            <a:rPr lang="nl-NL" sz="3100" kern="1200" dirty="0"/>
            <a:t> is </a:t>
          </a:r>
          <a:r>
            <a:rPr lang="nl-NL" sz="3100" kern="1200" dirty="0" err="1"/>
            <a:t>about</a:t>
          </a:r>
          <a:r>
            <a:rPr lang="nl-NL" sz="3100" kern="1200" dirty="0"/>
            <a:t> Columbus. </a:t>
          </a:r>
        </a:p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3100" kern="1200" dirty="0"/>
            <a:t>The </a:t>
          </a:r>
          <a:r>
            <a:rPr lang="nl-NL" sz="3100" u="sng" kern="1200" dirty="0"/>
            <a:t>focus is on </a:t>
          </a:r>
          <a:r>
            <a:rPr lang="nl-NL" sz="3100" u="sng" kern="1200" dirty="0" err="1"/>
            <a:t>what</a:t>
          </a:r>
          <a:r>
            <a:rPr lang="nl-NL" sz="3100" u="sng" kern="1200" dirty="0"/>
            <a:t> he </a:t>
          </a:r>
          <a:r>
            <a:rPr lang="nl-NL" sz="3100" u="sng" kern="1200" dirty="0" err="1"/>
            <a:t>did</a:t>
          </a:r>
          <a:r>
            <a:rPr lang="nl-NL" sz="3100" kern="1200" dirty="0"/>
            <a:t>. </a:t>
          </a:r>
          <a:endParaRPr lang="en-US" sz="3100" kern="1200" dirty="0"/>
        </a:p>
      </dsp:txBody>
      <dsp:txXfrm>
        <a:off x="79896" y="360546"/>
        <a:ext cx="4938464" cy="1476891"/>
      </dsp:txXfrm>
    </dsp:sp>
    <dsp:sp modelId="{3DD52FA5-6770-42F2-997A-13ACF7DE725A}">
      <dsp:nvSpPr>
        <dsp:cNvPr id="0" name=""/>
        <dsp:cNvSpPr/>
      </dsp:nvSpPr>
      <dsp:spPr>
        <a:xfrm>
          <a:off x="0" y="2006614"/>
          <a:ext cx="5098256" cy="1636683"/>
        </a:xfrm>
        <a:prstGeom prst="roundRect">
          <a:avLst/>
        </a:prstGeom>
        <a:solidFill>
          <a:schemeClr val="accent2">
            <a:hueOff val="-9288598"/>
            <a:satOff val="-4967"/>
            <a:lumOff val="-509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3100" kern="1200" dirty="0"/>
            <a:t>Columbus is </a:t>
          </a:r>
          <a:r>
            <a:rPr lang="nl-NL" sz="3100" kern="1200" dirty="0" err="1"/>
            <a:t>the</a:t>
          </a:r>
          <a:r>
            <a:rPr lang="nl-NL" sz="3100" kern="1200" dirty="0"/>
            <a:t> subject </a:t>
          </a:r>
          <a:r>
            <a:rPr lang="nl-NL" sz="3100" kern="1200" dirty="0" err="1"/>
            <a:t>and</a:t>
          </a:r>
          <a:r>
            <a:rPr lang="nl-NL" sz="3100" kern="1200" dirty="0"/>
            <a:t> </a:t>
          </a:r>
          <a:r>
            <a:rPr lang="nl-NL" sz="3100" kern="1200" dirty="0" err="1"/>
            <a:t>the</a:t>
          </a:r>
          <a:r>
            <a:rPr lang="nl-NL" sz="3100" kern="1200" dirty="0"/>
            <a:t> </a:t>
          </a:r>
          <a:r>
            <a:rPr lang="nl-NL" sz="3100" u="sng" kern="1200" dirty="0"/>
            <a:t>agent.</a:t>
          </a:r>
          <a:endParaRPr lang="en-US" sz="3100" kern="1200" dirty="0"/>
        </a:p>
      </dsp:txBody>
      <dsp:txXfrm>
        <a:off x="79896" y="2086510"/>
        <a:ext cx="4938464" cy="1476891"/>
      </dsp:txXfrm>
    </dsp:sp>
    <dsp:sp modelId="{467AEA1B-6240-46E4-9C08-4689E4178E34}">
      <dsp:nvSpPr>
        <dsp:cNvPr id="0" name=""/>
        <dsp:cNvSpPr/>
      </dsp:nvSpPr>
      <dsp:spPr>
        <a:xfrm>
          <a:off x="0" y="3732577"/>
          <a:ext cx="5098256" cy="1636683"/>
        </a:xfrm>
        <a:prstGeom prst="roundRect">
          <a:avLst/>
        </a:prstGeom>
        <a:solidFill>
          <a:schemeClr val="accent2">
            <a:hueOff val="-18577196"/>
            <a:satOff val="-9934"/>
            <a:lumOff val="-1019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3100" kern="1200" dirty="0"/>
            <a:t>“Columbus </a:t>
          </a:r>
          <a:r>
            <a:rPr lang="nl-NL" sz="3100" kern="1200" dirty="0" err="1"/>
            <a:t>discovered</a:t>
          </a:r>
          <a:r>
            <a:rPr lang="nl-NL" sz="3100" kern="1200" dirty="0"/>
            <a:t> America” is </a:t>
          </a:r>
          <a:r>
            <a:rPr lang="nl-NL" sz="3100" kern="1200" dirty="0" err="1"/>
            <a:t>an</a:t>
          </a:r>
          <a:r>
            <a:rPr lang="nl-NL" sz="3100" kern="1200" dirty="0"/>
            <a:t> </a:t>
          </a:r>
          <a:r>
            <a:rPr lang="nl-NL" sz="3100" u="sng" kern="1200" dirty="0" err="1"/>
            <a:t>active</a:t>
          </a:r>
          <a:r>
            <a:rPr lang="nl-NL" sz="3100" u="sng" kern="1200" dirty="0"/>
            <a:t> </a:t>
          </a:r>
          <a:r>
            <a:rPr lang="nl-NL" sz="3100" kern="1200" dirty="0" err="1"/>
            <a:t>sentence</a:t>
          </a:r>
          <a:r>
            <a:rPr lang="nl-NL" sz="3100" kern="1200" dirty="0"/>
            <a:t>.</a:t>
          </a:r>
          <a:endParaRPr lang="en-US" sz="3100" kern="1200" dirty="0"/>
        </a:p>
      </dsp:txBody>
      <dsp:txXfrm>
        <a:off x="79896" y="3812473"/>
        <a:ext cx="4938464" cy="147689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1EA0E6-B9A8-43F1-9C75-DDA653E4E324}">
      <dsp:nvSpPr>
        <dsp:cNvPr id="0" name=""/>
        <dsp:cNvSpPr/>
      </dsp:nvSpPr>
      <dsp:spPr>
        <a:xfrm>
          <a:off x="0" y="41885"/>
          <a:ext cx="5098256" cy="17901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3400" kern="1200" dirty="0" err="1"/>
            <a:t>This</a:t>
          </a:r>
          <a:r>
            <a:rPr lang="nl-NL" sz="3400" kern="1200" dirty="0"/>
            <a:t> </a:t>
          </a:r>
          <a:r>
            <a:rPr lang="nl-NL" sz="3400" kern="1200" dirty="0" err="1"/>
            <a:t>text</a:t>
          </a:r>
          <a:r>
            <a:rPr lang="nl-NL" sz="3400" kern="1200" dirty="0"/>
            <a:t> is </a:t>
          </a:r>
          <a:r>
            <a:rPr lang="nl-NL" sz="3400" kern="1200" dirty="0" err="1"/>
            <a:t>about</a:t>
          </a:r>
          <a:r>
            <a:rPr lang="nl-NL" sz="3400" kern="1200" dirty="0"/>
            <a:t> </a:t>
          </a:r>
          <a:r>
            <a:rPr lang="nl-NL" sz="3400" kern="1200" dirty="0" err="1"/>
            <a:t>the</a:t>
          </a:r>
          <a:r>
            <a:rPr lang="nl-NL" sz="3400" kern="1200" dirty="0"/>
            <a:t> USA. The focus is on </a:t>
          </a:r>
          <a:r>
            <a:rPr lang="nl-NL" sz="3400" u="sng" kern="1200" dirty="0" err="1"/>
            <a:t>what</a:t>
          </a:r>
          <a:r>
            <a:rPr lang="nl-NL" sz="3400" u="sng" kern="1200" dirty="0"/>
            <a:t>  </a:t>
          </a:r>
          <a:r>
            <a:rPr lang="nl-NL" sz="3400" u="sng" kern="1200" dirty="0" err="1"/>
            <a:t>happened</a:t>
          </a:r>
          <a:r>
            <a:rPr lang="nl-NL" sz="3400" kern="1200" dirty="0"/>
            <a:t> </a:t>
          </a:r>
          <a:r>
            <a:rPr lang="nl-NL" sz="3400" kern="1200" dirty="0" err="1"/>
            <a:t>to</a:t>
          </a:r>
          <a:r>
            <a:rPr lang="nl-NL" sz="3400" kern="1200" dirty="0"/>
            <a:t> it.</a:t>
          </a:r>
          <a:endParaRPr lang="en-US" sz="3400" kern="1200" dirty="0"/>
        </a:p>
      </dsp:txBody>
      <dsp:txXfrm>
        <a:off x="87385" y="129270"/>
        <a:ext cx="4923486" cy="1615330"/>
      </dsp:txXfrm>
    </dsp:sp>
    <dsp:sp modelId="{066DBC46-4C12-4B41-9239-0AC5C37B0420}">
      <dsp:nvSpPr>
        <dsp:cNvPr id="0" name=""/>
        <dsp:cNvSpPr/>
      </dsp:nvSpPr>
      <dsp:spPr>
        <a:xfrm>
          <a:off x="0" y="1929906"/>
          <a:ext cx="5098256" cy="1790100"/>
        </a:xfrm>
        <a:prstGeom prst="roundRect">
          <a:avLst/>
        </a:prstGeom>
        <a:solidFill>
          <a:schemeClr val="accent2">
            <a:hueOff val="-9288598"/>
            <a:satOff val="-4967"/>
            <a:lumOff val="-509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3400" kern="1200" dirty="0"/>
            <a:t>America is </a:t>
          </a:r>
          <a:r>
            <a:rPr lang="nl-NL" sz="3400" kern="1200" dirty="0" err="1"/>
            <a:t>the</a:t>
          </a:r>
          <a:r>
            <a:rPr lang="nl-NL" sz="3400" kern="1200" dirty="0"/>
            <a:t> subject, but Columbus is </a:t>
          </a:r>
          <a:r>
            <a:rPr lang="nl-NL" sz="3400" kern="1200" dirty="0" err="1"/>
            <a:t>still</a:t>
          </a:r>
          <a:r>
            <a:rPr lang="nl-NL" sz="3400" kern="1200" dirty="0"/>
            <a:t> </a:t>
          </a:r>
          <a:r>
            <a:rPr lang="nl-NL" sz="3400" kern="1200" dirty="0" err="1"/>
            <a:t>the</a:t>
          </a:r>
          <a:r>
            <a:rPr lang="nl-NL" sz="3400" kern="1200" dirty="0"/>
            <a:t> </a:t>
          </a:r>
          <a:r>
            <a:rPr lang="nl-NL" sz="3400" u="sng" kern="1200" dirty="0"/>
            <a:t>agent</a:t>
          </a:r>
          <a:endParaRPr lang="en-US" sz="3400" u="sng" kern="1200" dirty="0"/>
        </a:p>
      </dsp:txBody>
      <dsp:txXfrm>
        <a:off x="87385" y="2017291"/>
        <a:ext cx="4923486" cy="1615330"/>
      </dsp:txXfrm>
    </dsp:sp>
    <dsp:sp modelId="{80DA052D-051E-416B-873B-E453185E8820}">
      <dsp:nvSpPr>
        <dsp:cNvPr id="0" name=""/>
        <dsp:cNvSpPr/>
      </dsp:nvSpPr>
      <dsp:spPr>
        <a:xfrm>
          <a:off x="0" y="3817926"/>
          <a:ext cx="5098256" cy="1790100"/>
        </a:xfrm>
        <a:prstGeom prst="roundRect">
          <a:avLst/>
        </a:prstGeom>
        <a:solidFill>
          <a:schemeClr val="accent2">
            <a:hueOff val="-18577196"/>
            <a:satOff val="-9934"/>
            <a:lumOff val="-1019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3400" kern="1200"/>
            <a:t>“America was discovered by Columbus” is a </a:t>
          </a:r>
          <a:r>
            <a:rPr lang="nl-NL" sz="3400" u="sng" kern="1200"/>
            <a:t>passive</a:t>
          </a:r>
          <a:r>
            <a:rPr lang="nl-NL" sz="3400" kern="1200"/>
            <a:t> sentence.</a:t>
          </a:r>
          <a:endParaRPr lang="en-US" sz="3400" kern="1200"/>
        </a:p>
      </dsp:txBody>
      <dsp:txXfrm>
        <a:off x="87385" y="3905311"/>
        <a:ext cx="4923486" cy="16153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041669-AD2A-4162-BD44-F3A81349A453}" type="datetimeFigureOut">
              <a:rPr lang="en-GB" smtClean="0"/>
              <a:t>28/08/2023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F9C733-D3C4-4262-8754-A85F3A6999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9240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8D7C818-B4E2-4414-87E3-5B90117EC149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1793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8D7C818-B4E2-4414-87E3-5B90117EC149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6212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8D7C818-B4E2-4414-87E3-5B90117EC149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5588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8D7C818-B4E2-4414-87E3-5B90117EC149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1912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8D7C818-B4E2-4414-87E3-5B90117EC149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6807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7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 dirty="0"/>
          </a:p>
        </p:txBody>
      </p:sp>
      <p:sp>
        <p:nvSpPr>
          <p:cNvPr id="36868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8C0913D-D879-48C2-BCF3-0795829B6F58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0030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8D7C818-B4E2-4414-87E3-5B90117EC149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5342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8D7C818-B4E2-4414-87E3-5B90117EC149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1998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8D7C818-B4E2-4414-87E3-5B90117EC149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6983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8D7C818-B4E2-4414-87E3-5B90117EC149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0354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8D7C818-B4E2-4414-87E3-5B90117EC149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5602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GB" dirty="0"/>
          </a:p>
        </p:txBody>
      </p:sp>
      <p:sp>
        <p:nvSpPr>
          <p:cNvPr id="40964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E92AD33-90D0-49EC-8CB2-036AB3742267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231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8D7C818-B4E2-4414-87E3-5B90117EC149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0605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8D7C818-B4E2-4414-87E3-5B90117EC149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118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7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GB" dirty="0"/>
          </a:p>
        </p:txBody>
      </p:sp>
      <p:sp>
        <p:nvSpPr>
          <p:cNvPr id="41988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FF2958A-7EA6-4128-89D4-B14E33C351D9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597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8D7C818-B4E2-4414-87E3-5B90117EC149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9591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5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GB" dirty="0"/>
          </a:p>
        </p:txBody>
      </p:sp>
      <p:sp>
        <p:nvSpPr>
          <p:cNvPr id="44036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B73CD48-4D48-45DB-8C62-115389DBED55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0645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059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GB" dirty="0"/>
          </a:p>
        </p:txBody>
      </p:sp>
      <p:sp>
        <p:nvSpPr>
          <p:cNvPr id="45060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1C5CBB3-3BB1-499F-9629-80C09B35FC3E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77152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6083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GB"/>
          </a:p>
        </p:txBody>
      </p:sp>
      <p:sp>
        <p:nvSpPr>
          <p:cNvPr id="46084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6A4D889-104F-4EFF-AB51-FA5370A2F4C0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5731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8D7C818-B4E2-4414-87E3-5B90117EC149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30005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5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GB"/>
          </a:p>
        </p:txBody>
      </p:sp>
      <p:sp>
        <p:nvSpPr>
          <p:cNvPr id="38916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50C14F2-B2A3-4F51-988A-C53A41869EC4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8197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8D7C818-B4E2-4414-87E3-5B90117EC149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17664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8D7C818-B4E2-4414-87E3-5B90117EC149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3336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8D7C818-B4E2-4414-87E3-5B90117EC149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34234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8D7C818-B4E2-4414-87E3-5B90117EC149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87538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5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GB"/>
          </a:p>
        </p:txBody>
      </p:sp>
      <p:sp>
        <p:nvSpPr>
          <p:cNvPr id="49156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6A17B1F-5201-45A1-8F1C-0502553D97A8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823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57C3F-0FB2-4B2E-BA6A-FEEEFF1AF7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57400" y="685801"/>
            <a:ext cx="8115300" cy="3046228"/>
          </a:xfrm>
        </p:spPr>
        <p:txBody>
          <a:bodyPr anchor="b">
            <a:normAutofit/>
          </a:bodyPr>
          <a:lstStyle>
            <a:lvl1pPr algn="ctr">
              <a:defRPr sz="36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583AE9-1CC1-4572-A6E5-E97F80E476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57400" y="4114800"/>
            <a:ext cx="8115300" cy="2057400"/>
          </a:xfrm>
        </p:spPr>
        <p:txBody>
          <a:bodyPr/>
          <a:lstStyle>
            <a:lvl1pPr marL="0" indent="0" algn="ctr">
              <a:buNone/>
              <a:defRPr sz="24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4DE7C-68AB-403D-B9D8-7398C292C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EA57E-7C1A-457B-A4CD-5DCEB057B502}" type="datetime1">
              <a:rPr lang="en-US" smtClean="0"/>
              <a:t>8/28/2023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003E50-6613-4D86-AA22-43B14E727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069AB5-A56D-471F-9236-EFA981E2E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058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9B412-EBAB-4569-B3D9-6B346BF83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486900" cy="1371600"/>
          </a:xfrm>
        </p:spPr>
        <p:txBody>
          <a:bodyPr>
            <a:normAutofit/>
          </a:bodyPr>
          <a:lstStyle>
            <a:lvl1pPr algn="l">
              <a:defRPr sz="32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7C8AE-B0F4-404F-BCAD-A14C18E50D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A9CAD-DAFB-4DE3-9C41-7FD03EA8D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AF2CE-4F37-411C-A3EE-BBBE223265BF}" type="datetime1">
              <a:rPr lang="en-US" smtClean="0"/>
              <a:t>8/28/2023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CE3137-8136-46C5-AC2F-49E5F55E4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1AB6EF-A0B1-4706-AE44-253A6B182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40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02F68-BF19-468D-B422-54B6D189F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77407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CBF7D7-84D4-4A39-B44E-9B029EEB1F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41624"/>
            <a:ext cx="10515600" cy="1448026"/>
          </a:xfrm>
        </p:spPr>
        <p:txBody>
          <a:bodyPr/>
          <a:lstStyle>
            <a:lvl1pPr marL="0" indent="0" algn="ctr">
              <a:buNone/>
              <a:defRPr sz="2400" i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E29709-D243-41E8-89FA-62FA7AEB5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083D4-708C-4BB5-B4FD-30CE9FA12FD5}" type="datetime1">
              <a:rPr lang="en-US" smtClean="0"/>
              <a:t>8/28/2023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B99C0-DC2A-4133-A10D-D43A1E05B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22EFD-A17E-47F5-8AC9-EFD6D813D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430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C668D-BFBE-4765-A294-8303931B5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071" y="566278"/>
            <a:ext cx="9512429" cy="965458"/>
          </a:xfrm>
        </p:spPr>
        <p:txBody>
          <a:bodyPr/>
          <a:lstStyle>
            <a:lvl1pPr algn="ctr">
              <a:defRPr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3C212-F55F-4D0D-BFA7-F00A33CAA1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09758" y="2057400"/>
            <a:ext cx="5031521" cy="4119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54BDD7-2575-4E82-887D-DCAF9EB159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5408" y="2057401"/>
            <a:ext cx="5016834" cy="41195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CAECC8-3C3A-4A5D-AB7A-1F99E5023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239B2-65BC-4C2A-A62B-3EABFE9590E4}" type="datetime1">
              <a:rPr lang="en-US" smtClean="0"/>
              <a:t>8/28/2023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47609B-ACA4-4323-9340-C7DB166D7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409EA3-C5C7-4AC6-956A-DB9A3B4F3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295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0CDE0-7431-4F05-AA47-F10EB46C9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276552" cy="1149350"/>
          </a:xfrm>
        </p:spPr>
        <p:txBody>
          <a:bodyPr>
            <a:normAutofit/>
          </a:bodyPr>
          <a:lstStyle>
            <a:lvl1pPr algn="ctr">
              <a:defRPr sz="32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D9FFA7-D3EA-4CB8-A471-94235AD625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5360D2-88E8-43C8-92D1-67AB23BBE2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C768F6-20A1-47A1-90FE-903135EEFD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555EC1-268F-4324-A003-3608AA0D84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55C8E4-FCB8-4E06-9C43-0ACD949A7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05F5A-E4A3-476F-A89E-C2B73F2431E4}" type="datetime1">
              <a:rPr lang="en-US" smtClean="0"/>
              <a:t>8/28/2023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01C005-C973-4D82-942A-334F1D431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FB6186-6570-4DE8-8603-70B0A51DF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856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5ADD3-88C8-4B01-8CC6-808C0E416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634E6A-1390-4101-B78E-759231340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61515-4A26-4F31-9F61-5A10B1FABBFC}" type="datetime1">
              <a:rPr lang="en-US" smtClean="0"/>
              <a:t>8/28/2023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BC7B90-4C99-4653-872A-3572A02DA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B03516-4D31-49D2-9488-33C734A7A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99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0D8488-CF25-431B-A87A-AAF141BD0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5DC65-7D1F-4BAB-9695-F7E734143E14}" type="datetime1">
              <a:rPr lang="en-US" smtClean="0"/>
              <a:t>8/28/2023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2F58E5-C92D-4C64-B867-0576B1EAD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216797-ABEC-4FE0-AFDE-36107B967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6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8F2B0-990D-418E-9D10-2464E9866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881131-AFFD-4339-9F30-D408B5105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7C47F4-7968-4698-8BD3-A583099FAA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12BC6F-3996-4B2B-B8F2-DD3A82CCF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24077-BD55-4036-8E92-6558FDF3B653}" type="datetime1">
              <a:rPr lang="en-US" smtClean="0"/>
              <a:t>8/28/2023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832E66-581A-4CF2-A40A-4E24FAAC4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3B1C89-C625-4618-81A2-FB34E4DA0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474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1486F-443A-4F2D-AB1F-8B1F4C4DE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A21213-E7FB-406A-B8CD-735AAC7AD0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F41A03-500E-49F7-8D99-A1EAFE4D34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91523D-69E9-4EAE-A610-B3A237B75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225F2-7107-4609-BCC2-77C63064A5E8}" type="datetime1">
              <a:rPr lang="en-US" smtClean="0"/>
              <a:t>8/28/2023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DB852F-4134-4AB5-BA87-483B1E1AD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34C5CB-918E-4A09-8222-D36E37B63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145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2744C-12E6-455B-B646-2EA92DE0E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D71C4D-C062-4EEE-9A9A-31ADCC5C87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44DC97-C26E-407A-9E29-68C52D547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89749-A4CD-447F-8298-2B7988C91CEA}" type="datetime1">
              <a:rPr lang="en-US" smtClean="0"/>
              <a:t>8/28/2023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2E9353-B771-47FF-975E-72337414E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5A858-B8B2-4364-A7D0-B2E8FAE0A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455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A6BABE-D80C-4F54-A03C-E1F9EBCA83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285191-EF5B-48BE-AB5D-B7BA4C3D09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FA387A-1231-4FE3-8574-D4331A343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444D3-C0BA-4587-A56C-581AB9F841BE}" type="datetime1">
              <a:rPr lang="en-US" smtClean="0"/>
              <a:t>8/28/2023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F21559-4901-4AD3-ABE7-DF0235457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F6C18E-B751-4E7B-9CD8-1BF44DAB8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974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AA0686-7BAC-45C0-BA30-0D0CBCE5C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4869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4202DE-82CD-407D-8C68-174B0CBB57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599" y="2254103"/>
            <a:ext cx="9486901" cy="39180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54AC9D-6E1B-46D3-959F-A068A1EDBD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9800022" y="3223751"/>
            <a:ext cx="4114801" cy="410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300" baseline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fld id="{D3FE42E8-8B57-452D-A122-4DCE9AC771EF}" type="datetime1">
              <a:rPr lang="en-US" smtClean="0"/>
              <a:t>8/28/2023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FC0015-9EFB-40F8-BC00-AC2483D609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708136" y="3223750"/>
            <a:ext cx="4114800" cy="410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300" baseline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72C732-0E3E-49E0-A72E-D4C08CB445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6340" y="6356350"/>
            <a:ext cx="8718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spc="3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fld id="{F8E28480-1C08-4458-AD97-0283E6FFD0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31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SzPct val="70000"/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8" name="Rectangle 5127">
            <a:extLst>
              <a:ext uri="{FF2B5EF4-FFF2-40B4-BE49-F238E27FC236}">
                <a16:creationId xmlns:a16="http://schemas.microsoft.com/office/drawing/2014/main" id="{97C478F1-26B5-44C9-823B-523B85B112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30" name="Rectangle 5129">
            <a:extLst>
              <a:ext uri="{FF2B5EF4-FFF2-40B4-BE49-F238E27FC236}">
                <a16:creationId xmlns:a16="http://schemas.microsoft.com/office/drawing/2014/main" id="{8337CC61-9E93-4D80-9F1C-12CE9A0C07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76250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74" name="AutoShape 2"/>
          <p:cNvSpPr>
            <a:spLocks noGrp="1" noChangeArrowheads="1"/>
          </p:cNvSpPr>
          <p:nvPr>
            <p:ph type="ctrTitle"/>
          </p:nvPr>
        </p:nvSpPr>
        <p:spPr>
          <a:xfrm>
            <a:off x="862818" y="685801"/>
            <a:ext cx="3057379" cy="3046228"/>
          </a:xfrm>
        </p:spPr>
        <p:txBody>
          <a:bodyPr>
            <a:normAutofit/>
          </a:bodyPr>
          <a:lstStyle/>
          <a:p>
            <a:pPr>
              <a:defRPr/>
            </a:pPr>
            <a:br>
              <a:rPr lang="nl-NL" dirty="0">
                <a:solidFill>
                  <a:schemeClr val="bg2"/>
                </a:solidFill>
                <a:latin typeface="+mn-lt"/>
              </a:rPr>
            </a:br>
            <a:r>
              <a:rPr lang="nl-NL" dirty="0">
                <a:solidFill>
                  <a:schemeClr val="bg2"/>
                </a:solidFill>
                <a:latin typeface="+mn-lt"/>
              </a:rPr>
              <a:t>Grammar &amp; </a:t>
            </a:r>
            <a:r>
              <a:rPr lang="nl-NL" dirty="0" err="1">
                <a:solidFill>
                  <a:schemeClr val="bg2"/>
                </a:solidFill>
                <a:latin typeface="+mn-lt"/>
              </a:rPr>
              <a:t>Basica</a:t>
            </a:r>
            <a:endParaRPr lang="en-US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28468" y="4114800"/>
            <a:ext cx="2991729" cy="20574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The Passive</a:t>
            </a:r>
          </a:p>
        </p:txBody>
      </p:sp>
      <p:pic>
        <p:nvPicPr>
          <p:cNvPr id="5" name="Picture 4" descr="A picture containing shape&#10;&#10;Description automatically generated">
            <a:extLst>
              <a:ext uri="{FF2B5EF4-FFF2-40B4-BE49-F238E27FC236}">
                <a16:creationId xmlns:a16="http://schemas.microsoft.com/office/drawing/2014/main" id="{DA9669DF-AA64-4555-A6D1-B06CEEFD6E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200" y="990600"/>
            <a:ext cx="60960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785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D949742-730C-4F7B-88BE-E4E69F6D1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5C0732-01DA-4A7C-ABF5-56B3C5B039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81801" y="685801"/>
            <a:ext cx="4724400" cy="5486400"/>
          </a:xfrm>
          <a:prstGeom prst="rect">
            <a:avLst/>
          </a:prstGeom>
          <a:solidFill>
            <a:schemeClr val="tx2">
              <a:lumMod val="75000"/>
              <a:lumOff val="2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A picture showing &#10;&#10;Description automatically generated">
            <a:extLst>
              <a:ext uri="{FF2B5EF4-FFF2-40B4-BE49-F238E27FC236}">
                <a16:creationId xmlns:a16="http://schemas.microsoft.com/office/drawing/2014/main" id="{095E19AC-AF1E-453C-9301-D1D3184CD40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60" r="25573"/>
          <a:stretch/>
        </p:blipFill>
        <p:spPr>
          <a:xfrm>
            <a:off x="20" y="10"/>
            <a:ext cx="6095980" cy="6857990"/>
          </a:xfrm>
          <a:prstGeom prst="rect">
            <a:avLst/>
          </a:prstGeom>
        </p:spPr>
      </p:pic>
      <p:sp>
        <p:nvSpPr>
          <p:cNvPr id="5" name="Tijdelijke aanduiding voor inhoud 4"/>
          <p:cNvSpPr>
            <a:spLocks noGrp="1"/>
          </p:cNvSpPr>
          <p:nvPr>
            <p:ph idx="1"/>
          </p:nvPr>
        </p:nvSpPr>
        <p:spPr>
          <a:xfrm>
            <a:off x="7030065" y="825910"/>
            <a:ext cx="4365522" cy="4856835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b="1" dirty="0"/>
              <a:t>Consider this text:</a:t>
            </a:r>
          </a:p>
          <a:p>
            <a:pPr marL="0" indent="0">
              <a:lnSpc>
                <a:spcPct val="90000"/>
              </a:lnSpc>
              <a:buNone/>
            </a:pPr>
            <a:endParaRPr lang="nl-NL" b="1" dirty="0"/>
          </a:p>
          <a:p>
            <a:pPr marL="0" indent="0">
              <a:lnSpc>
                <a:spcPct val="150000"/>
              </a:lnSpc>
              <a:buNone/>
            </a:pPr>
            <a:r>
              <a:rPr lang="nl-NL" dirty="0"/>
              <a:t>Christopher Columbus was a  navigator </a:t>
            </a:r>
            <a:r>
              <a:rPr lang="nl-NL" dirty="0" err="1"/>
              <a:t>and</a:t>
            </a:r>
            <a:r>
              <a:rPr lang="nl-NL" dirty="0"/>
              <a:t> a </a:t>
            </a:r>
            <a:r>
              <a:rPr lang="nl-NL" dirty="0" err="1"/>
              <a:t>colonizer</a:t>
            </a:r>
            <a:r>
              <a:rPr lang="nl-NL" dirty="0"/>
              <a:t>. He was born in Italy in 1451. </a:t>
            </a:r>
            <a:r>
              <a:rPr lang="nl-NL" u="sng" dirty="0"/>
              <a:t>In 1492 Columbus </a:t>
            </a:r>
            <a:r>
              <a:rPr lang="nl-NL" u="sng" dirty="0" err="1"/>
              <a:t>discovered</a:t>
            </a:r>
            <a:r>
              <a:rPr lang="nl-NL" u="sng" dirty="0"/>
              <a:t> America</a:t>
            </a:r>
            <a:r>
              <a:rPr lang="nl-NL" dirty="0"/>
              <a:t>. He </a:t>
            </a:r>
            <a:r>
              <a:rPr lang="nl-NL" dirty="0" err="1"/>
              <a:t>thought</a:t>
            </a:r>
            <a:r>
              <a:rPr lang="nl-NL" dirty="0"/>
              <a:t> he had </a:t>
            </a:r>
            <a:r>
              <a:rPr lang="nl-NL" dirty="0" err="1"/>
              <a:t>discovered</a:t>
            </a:r>
            <a:r>
              <a:rPr lang="nl-NL" dirty="0"/>
              <a:t> </a:t>
            </a:r>
            <a:r>
              <a:rPr lang="nl-NL" dirty="0" err="1"/>
              <a:t>Asia</a:t>
            </a:r>
            <a:r>
              <a:rPr lang="nl-NL" dirty="0"/>
              <a:t>!</a:t>
            </a:r>
          </a:p>
          <a:p>
            <a:pPr marL="0" indent="0">
              <a:lnSpc>
                <a:spcPct val="9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3653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893278" y="516835"/>
            <a:ext cx="2313633" cy="5772840"/>
          </a:xfrm>
        </p:spPr>
        <p:txBody>
          <a:bodyPr anchor="ctr">
            <a:normAutofit/>
          </a:bodyPr>
          <a:lstStyle/>
          <a:p>
            <a:r>
              <a:rPr lang="nl-NL" sz="3100" dirty="0" err="1">
                <a:solidFill>
                  <a:srgbClr val="FFFFFF"/>
                </a:solidFill>
              </a:rPr>
              <a:t>What</a:t>
            </a:r>
            <a:r>
              <a:rPr lang="nl-NL" sz="3100" dirty="0">
                <a:solidFill>
                  <a:srgbClr val="FFFFFF"/>
                </a:solidFill>
              </a:rPr>
              <a:t> is </a:t>
            </a:r>
            <a:r>
              <a:rPr lang="nl-NL" sz="3100" dirty="0" err="1">
                <a:solidFill>
                  <a:srgbClr val="FFFFFF"/>
                </a:solidFill>
              </a:rPr>
              <a:t>the</a:t>
            </a:r>
            <a:r>
              <a:rPr lang="nl-NL" sz="3100" dirty="0">
                <a:solidFill>
                  <a:srgbClr val="FFFFFF"/>
                </a:solidFill>
              </a:rPr>
              <a:t> </a:t>
            </a:r>
            <a:r>
              <a:rPr lang="nl-NL" sz="3100" dirty="0" err="1">
                <a:solidFill>
                  <a:srgbClr val="FFFFFF"/>
                </a:solidFill>
              </a:rPr>
              <a:t>text</a:t>
            </a:r>
            <a:r>
              <a:rPr lang="nl-NL" sz="3100" dirty="0">
                <a:solidFill>
                  <a:srgbClr val="FFFFFF"/>
                </a:solidFill>
              </a:rPr>
              <a:t> </a:t>
            </a:r>
            <a:r>
              <a:rPr lang="nl-NL" sz="3100" dirty="0" err="1">
                <a:solidFill>
                  <a:srgbClr val="FFFFFF"/>
                </a:solidFill>
              </a:rPr>
              <a:t>about</a:t>
            </a:r>
            <a:r>
              <a:rPr lang="nl-NL" sz="3100" dirty="0">
                <a:solidFill>
                  <a:srgbClr val="FFFFFF"/>
                </a:solidFill>
              </a:rPr>
              <a:t>?</a:t>
            </a:r>
            <a:endParaRPr lang="en-US" sz="3100" dirty="0">
              <a:solidFill>
                <a:srgbClr val="FFFFFF"/>
              </a:solidFill>
            </a:endParaRPr>
          </a:p>
        </p:txBody>
      </p:sp>
      <p:graphicFrame>
        <p:nvGraphicFramePr>
          <p:cNvPr id="5" name="Tijdelijke aanduiding voor inhoud 2">
            <a:extLst>
              <a:ext uri="{FF2B5EF4-FFF2-40B4-BE49-F238E27FC236}">
                <a16:creationId xmlns:a16="http://schemas.microsoft.com/office/drawing/2014/main" id="{6E1061EF-2711-4E65-8F01-D1737B09EB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5322475"/>
              </p:ext>
            </p:extLst>
          </p:nvPr>
        </p:nvGraphicFramePr>
        <p:xfrm>
          <a:off x="5080397" y="639763"/>
          <a:ext cx="5098256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" name="Picture 9" descr="A picture showing &#10;&#10;Description automatically generated">
            <a:extLst>
              <a:ext uri="{FF2B5EF4-FFF2-40B4-BE49-F238E27FC236}">
                <a16:creationId xmlns:a16="http://schemas.microsoft.com/office/drawing/2014/main" id="{49358110-DBDA-4A73-B333-06BD7DA11DBE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39" r="39852" b="-2"/>
          <a:stretch/>
        </p:blipFill>
        <p:spPr>
          <a:xfrm>
            <a:off x="1524020" y="-12128"/>
            <a:ext cx="3490702" cy="6870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563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949742-730C-4F7B-88BE-E4E69F6D1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5C0732-01DA-4A7C-ABF5-56B3C5B039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81801" y="685801"/>
            <a:ext cx="4724400" cy="5486400"/>
          </a:xfrm>
          <a:prstGeom prst="rect">
            <a:avLst/>
          </a:prstGeom>
          <a:solidFill>
            <a:schemeClr val="tx2">
              <a:lumMod val="75000"/>
              <a:lumOff val="2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85978" y="959278"/>
            <a:ext cx="4050616" cy="992512"/>
          </a:xfrm>
        </p:spPr>
        <p:txBody>
          <a:bodyPr>
            <a:normAutofit/>
          </a:bodyPr>
          <a:lstStyle/>
          <a:p>
            <a:pPr algn="ctr"/>
            <a:r>
              <a:rPr lang="nl-NL" sz="2800" dirty="0" err="1"/>
              <a:t>Now</a:t>
            </a:r>
            <a:r>
              <a:rPr lang="nl-NL" sz="2800" dirty="0"/>
              <a:t> </a:t>
            </a:r>
            <a:r>
              <a:rPr lang="nl-NL" sz="2800" dirty="0" err="1"/>
              <a:t>consider</a:t>
            </a:r>
            <a:r>
              <a:rPr lang="nl-NL" sz="2800" dirty="0"/>
              <a:t> </a:t>
            </a:r>
            <a:r>
              <a:rPr lang="nl-NL" sz="2800" dirty="0" err="1"/>
              <a:t>this</a:t>
            </a:r>
            <a:r>
              <a:rPr lang="nl-NL" sz="2800" dirty="0"/>
              <a:t> </a:t>
            </a:r>
            <a:r>
              <a:rPr lang="nl-NL" sz="2800" dirty="0" err="1"/>
              <a:t>text</a:t>
            </a:r>
            <a:endParaRPr lang="en-US" sz="2800" dirty="0"/>
          </a:p>
        </p:txBody>
      </p:sp>
      <p:pic>
        <p:nvPicPr>
          <p:cNvPr id="4" name="Picture 5" descr="D:\Documenten en settings\de Ruiter\Mijn documenten\Mijn afbeeldingen\Microsoft Mediagalerie\j0399612.jpg"/>
          <p:cNvPicPr>
            <a:picLocks noChangeAspect="1" noChangeArrowheads="1"/>
          </p:cNvPicPr>
          <p:nvPr/>
        </p:nvPicPr>
        <p:blipFill rotWithShape="1">
          <a:blip r:embed="rId3" cstate="print"/>
          <a:srcRect t="8549" r="2" b="1734"/>
          <a:stretch/>
        </p:blipFill>
        <p:spPr bwMode="auto">
          <a:xfrm>
            <a:off x="20" y="10"/>
            <a:ext cx="6095980" cy="6857990"/>
          </a:xfrm>
          <a:prstGeom prst="rect">
            <a:avLst/>
          </a:prstGeom>
          <a:noFill/>
        </p:spPr>
      </p:pic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6866603" y="2225267"/>
            <a:ext cx="4554793" cy="3546806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nl-NL" dirty="0"/>
              <a:t>The United </a:t>
            </a:r>
            <a:r>
              <a:rPr lang="nl-NL" dirty="0" err="1"/>
              <a:t>States</a:t>
            </a:r>
            <a:r>
              <a:rPr lang="nl-NL" dirty="0"/>
              <a:t> of America is a </a:t>
            </a:r>
            <a:r>
              <a:rPr lang="nl-NL" dirty="0" err="1"/>
              <a:t>republic</a:t>
            </a:r>
            <a:r>
              <a:rPr lang="nl-NL" dirty="0"/>
              <a:t>, </a:t>
            </a:r>
            <a:r>
              <a:rPr lang="nl-NL" dirty="0" err="1"/>
              <a:t>which</a:t>
            </a:r>
            <a:r>
              <a:rPr lang="nl-NL" dirty="0"/>
              <a:t> </a:t>
            </a:r>
            <a:r>
              <a:rPr lang="nl-NL" dirty="0" err="1"/>
              <a:t>consists</a:t>
            </a:r>
            <a:r>
              <a:rPr lang="nl-NL" dirty="0"/>
              <a:t> of 50 </a:t>
            </a:r>
            <a:r>
              <a:rPr lang="nl-NL" dirty="0" err="1"/>
              <a:t>states</a:t>
            </a:r>
            <a:r>
              <a:rPr lang="nl-NL" dirty="0"/>
              <a:t>. 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nl-NL" dirty="0"/>
              <a:t>The </a:t>
            </a:r>
            <a:r>
              <a:rPr lang="nl-NL" dirty="0" err="1"/>
              <a:t>capital</a:t>
            </a:r>
            <a:r>
              <a:rPr lang="nl-NL" dirty="0"/>
              <a:t> is Washington. </a:t>
            </a:r>
            <a:r>
              <a:rPr lang="nl-NL" u="sng" dirty="0"/>
              <a:t>In 1492 America was </a:t>
            </a:r>
            <a:r>
              <a:rPr lang="nl-NL" u="sng" dirty="0" err="1"/>
              <a:t>discovered</a:t>
            </a:r>
            <a:r>
              <a:rPr lang="nl-NL" u="sng" dirty="0"/>
              <a:t> </a:t>
            </a:r>
            <a:r>
              <a:rPr lang="nl-NL" u="sng" dirty="0" err="1"/>
              <a:t>by</a:t>
            </a:r>
            <a:r>
              <a:rPr lang="nl-NL" u="sng" dirty="0"/>
              <a:t> Christopher Columbus.</a:t>
            </a:r>
          </a:p>
          <a:p>
            <a:pPr marL="0" indent="0">
              <a:lnSpc>
                <a:spcPct val="90000"/>
              </a:lnSpc>
              <a:buNone/>
            </a:pP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35474547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893278" y="516835"/>
            <a:ext cx="2313633" cy="5772840"/>
          </a:xfrm>
        </p:spPr>
        <p:txBody>
          <a:bodyPr anchor="ctr">
            <a:normAutofit/>
          </a:bodyPr>
          <a:lstStyle/>
          <a:p>
            <a:r>
              <a:rPr lang="nl-NL" sz="3100">
                <a:solidFill>
                  <a:srgbClr val="FFFFFF"/>
                </a:solidFill>
              </a:rPr>
              <a:t>What is this text about?</a:t>
            </a:r>
            <a:endParaRPr lang="en-US" sz="3100">
              <a:solidFill>
                <a:srgbClr val="FFFFFF"/>
              </a:solidFill>
            </a:endParaRPr>
          </a:p>
        </p:txBody>
      </p:sp>
      <p:graphicFrame>
        <p:nvGraphicFramePr>
          <p:cNvPr id="5" name="Tijdelijke aanduiding voor inhoud 2">
            <a:extLst>
              <a:ext uri="{FF2B5EF4-FFF2-40B4-BE49-F238E27FC236}">
                <a16:creationId xmlns:a16="http://schemas.microsoft.com/office/drawing/2014/main" id="{A615595E-4F4D-474F-A639-9600CEED27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176220"/>
              </p:ext>
            </p:extLst>
          </p:nvPr>
        </p:nvGraphicFramePr>
        <p:xfrm>
          <a:off x="5080397" y="639763"/>
          <a:ext cx="5098256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Picture 5" descr="D:\Documenten en settings\de Ruiter\Mijn documenten\Mijn afbeeldingen\Microsoft Mediagalerie\j0399612.jpg">
            <a:extLst>
              <a:ext uri="{FF2B5EF4-FFF2-40B4-BE49-F238E27FC236}">
                <a16:creationId xmlns:a16="http://schemas.microsoft.com/office/drawing/2014/main" id="{2927B856-53BC-428C-94A6-A2E9543080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/>
          <a:srcRect l="15411" r="20877" b="-2"/>
          <a:stretch/>
        </p:blipFill>
        <p:spPr bwMode="auto">
          <a:xfrm>
            <a:off x="1524020" y="-12128"/>
            <a:ext cx="3490702" cy="687012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80987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el 1"/>
          <p:cNvSpPr>
            <a:spLocks noGrp="1"/>
          </p:cNvSpPr>
          <p:nvPr>
            <p:ph type="title"/>
          </p:nvPr>
        </p:nvSpPr>
        <p:spPr>
          <a:xfrm>
            <a:off x="2346960" y="286605"/>
            <a:ext cx="7543800" cy="991589"/>
          </a:xfrm>
        </p:spPr>
        <p:txBody>
          <a:bodyPr/>
          <a:lstStyle/>
          <a:p>
            <a:r>
              <a:rPr lang="en-GB" dirty="0"/>
              <a:t>The passive</a:t>
            </a:r>
          </a:p>
        </p:txBody>
      </p:sp>
      <p:sp>
        <p:nvSpPr>
          <p:cNvPr id="12291" name="Tijdelijke aanduiding voor inhoud 2"/>
          <p:cNvSpPr>
            <a:spLocks noGrp="1"/>
          </p:cNvSpPr>
          <p:nvPr>
            <p:ph idx="1"/>
          </p:nvPr>
        </p:nvSpPr>
        <p:spPr>
          <a:xfrm>
            <a:off x="2346960" y="1845734"/>
            <a:ext cx="7543801" cy="402336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nl-NL" dirty="0" err="1"/>
              <a:t>Columbus</a:t>
            </a:r>
            <a:r>
              <a:rPr lang="nl-NL" dirty="0"/>
              <a:t> </a:t>
            </a:r>
            <a:r>
              <a:rPr lang="nl-NL" i="1" dirty="0" err="1"/>
              <a:t>discovered</a:t>
            </a:r>
            <a:r>
              <a:rPr lang="nl-NL" dirty="0"/>
              <a:t> </a:t>
            </a:r>
            <a:r>
              <a:rPr lang="nl-NL" dirty="0" err="1"/>
              <a:t>America</a:t>
            </a:r>
            <a:r>
              <a:rPr lang="nl-NL" dirty="0"/>
              <a:t>.</a:t>
            </a:r>
          </a:p>
          <a:p>
            <a:pPr marL="457200" indent="-457200">
              <a:buFont typeface="+mj-lt"/>
              <a:buAutoNum type="arabicPeriod"/>
            </a:pPr>
            <a:endParaRPr lang="nl-NL" dirty="0"/>
          </a:p>
          <a:p>
            <a:pPr marL="457200" indent="-457200">
              <a:buFont typeface="+mj-lt"/>
              <a:buAutoNum type="arabicPeriod"/>
            </a:pPr>
            <a:r>
              <a:rPr lang="nl-NL" dirty="0" err="1"/>
              <a:t>America</a:t>
            </a:r>
            <a:r>
              <a:rPr lang="nl-NL" dirty="0"/>
              <a:t> </a:t>
            </a:r>
            <a:r>
              <a:rPr lang="nl-NL" i="1" dirty="0"/>
              <a:t>was </a:t>
            </a:r>
            <a:r>
              <a:rPr lang="nl-NL" i="1" dirty="0" err="1"/>
              <a:t>discovered</a:t>
            </a:r>
            <a:r>
              <a:rPr lang="nl-NL" i="1" dirty="0"/>
              <a:t> </a:t>
            </a:r>
            <a:r>
              <a:rPr lang="nl-NL" dirty="0" err="1"/>
              <a:t>by</a:t>
            </a:r>
            <a:r>
              <a:rPr lang="nl-NL" dirty="0"/>
              <a:t> </a:t>
            </a:r>
            <a:r>
              <a:rPr lang="nl-NL" dirty="0" err="1"/>
              <a:t>Columbus</a:t>
            </a:r>
            <a:r>
              <a:rPr lang="nl-NL" dirty="0"/>
              <a:t>.</a:t>
            </a:r>
          </a:p>
          <a:p>
            <a:endParaRPr lang="nl-NL" dirty="0"/>
          </a:p>
          <a:p>
            <a:r>
              <a:rPr lang="nl-NL" dirty="0" err="1"/>
              <a:t>What</a:t>
            </a:r>
            <a:r>
              <a:rPr lang="nl-NL" dirty="0"/>
              <a:t> has </a:t>
            </a:r>
            <a:r>
              <a:rPr lang="nl-NL" dirty="0" err="1"/>
              <a:t>changed</a:t>
            </a:r>
            <a:r>
              <a:rPr lang="nl-NL" dirty="0"/>
              <a:t>?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08751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486900" cy="759542"/>
          </a:xfrm>
        </p:spPr>
        <p:txBody>
          <a:bodyPr/>
          <a:lstStyle/>
          <a:p>
            <a:r>
              <a:rPr lang="en-US" dirty="0"/>
              <a:t>Active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E543360-72A5-43A1-ABA0-3E196B4A3566}"/>
              </a:ext>
            </a:extLst>
          </p:cNvPr>
          <p:cNvGraphicFramePr>
            <a:graphicFrameLocks noGrp="1"/>
          </p:cNvGraphicFramePr>
          <p:nvPr/>
        </p:nvGraphicFramePr>
        <p:xfrm>
          <a:off x="2356200" y="1862943"/>
          <a:ext cx="7543800" cy="917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4110467019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237183666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938182917"/>
                    </a:ext>
                  </a:extLst>
                </a:gridCol>
              </a:tblGrid>
              <a:tr h="458915">
                <a:tc>
                  <a:txBody>
                    <a:bodyPr/>
                    <a:lstStyle/>
                    <a:p>
                      <a:r>
                        <a:rPr lang="nl-NL" sz="2000" dirty="0"/>
                        <a:t>Columbus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2000" dirty="0" err="1"/>
                        <a:t>discovered</a:t>
                      </a:r>
                      <a:endParaRPr lang="nl-NL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2000" dirty="0"/>
                        <a:t>America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9412102"/>
                  </a:ext>
                </a:extLst>
              </a:tr>
              <a:tr h="458915">
                <a:tc>
                  <a:txBody>
                    <a:bodyPr/>
                    <a:lstStyle/>
                    <a:p>
                      <a:r>
                        <a:rPr lang="nl-NL" sz="2000" dirty="0"/>
                        <a:t>subject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2000" dirty="0" err="1"/>
                        <a:t>verb</a:t>
                      </a:r>
                      <a:endParaRPr lang="nl-NL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2000" dirty="0"/>
                        <a:t>object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82162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25726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486900" cy="789039"/>
          </a:xfrm>
        </p:spPr>
        <p:txBody>
          <a:bodyPr/>
          <a:lstStyle/>
          <a:p>
            <a:r>
              <a:rPr lang="en-US" dirty="0"/>
              <a:t>Passive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FC59F915-2A22-41F3-829B-D2162605267C}"/>
              </a:ext>
            </a:extLst>
          </p:cNvPr>
          <p:cNvGraphicFramePr>
            <a:graphicFrameLocks noGrp="1"/>
          </p:cNvGraphicFramePr>
          <p:nvPr/>
        </p:nvGraphicFramePr>
        <p:xfrm>
          <a:off x="2324099" y="1988840"/>
          <a:ext cx="7693998" cy="936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4666">
                  <a:extLst>
                    <a:ext uri="{9D8B030D-6E8A-4147-A177-3AD203B41FA5}">
                      <a16:colId xmlns:a16="http://schemas.microsoft.com/office/drawing/2014/main" val="4110467019"/>
                    </a:ext>
                  </a:extLst>
                </a:gridCol>
                <a:gridCol w="2564666">
                  <a:extLst>
                    <a:ext uri="{9D8B030D-6E8A-4147-A177-3AD203B41FA5}">
                      <a16:colId xmlns:a16="http://schemas.microsoft.com/office/drawing/2014/main" val="2237183666"/>
                    </a:ext>
                  </a:extLst>
                </a:gridCol>
                <a:gridCol w="2564666">
                  <a:extLst>
                    <a:ext uri="{9D8B030D-6E8A-4147-A177-3AD203B41FA5}">
                      <a16:colId xmlns:a16="http://schemas.microsoft.com/office/drawing/2014/main" val="938182917"/>
                    </a:ext>
                  </a:extLst>
                </a:gridCol>
              </a:tblGrid>
              <a:tr h="468052">
                <a:tc>
                  <a:txBody>
                    <a:bodyPr/>
                    <a:lstStyle/>
                    <a:p>
                      <a:r>
                        <a:rPr lang="nl-NL" sz="2000" dirty="0"/>
                        <a:t>America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2000" dirty="0"/>
                        <a:t>was </a:t>
                      </a:r>
                      <a:r>
                        <a:rPr lang="nl-NL" sz="2000" dirty="0" err="1"/>
                        <a:t>discovered</a:t>
                      </a:r>
                      <a:endParaRPr lang="nl-NL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2000" dirty="0" err="1"/>
                        <a:t>by</a:t>
                      </a:r>
                      <a:r>
                        <a:rPr lang="nl-NL" sz="2000" dirty="0"/>
                        <a:t> Columbus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9412102"/>
                  </a:ext>
                </a:extLst>
              </a:tr>
              <a:tr h="468052">
                <a:tc>
                  <a:txBody>
                    <a:bodyPr/>
                    <a:lstStyle/>
                    <a:p>
                      <a:r>
                        <a:rPr lang="nl-NL" sz="2000" dirty="0"/>
                        <a:t>subject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2000" dirty="0" err="1"/>
                        <a:t>verb</a:t>
                      </a:r>
                      <a:endParaRPr lang="nl-NL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2000" dirty="0" err="1"/>
                        <a:t>adverbial</a:t>
                      </a:r>
                      <a:r>
                        <a:rPr lang="nl-NL" sz="2000" dirty="0"/>
                        <a:t> (agent)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82162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54645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46960" y="286605"/>
            <a:ext cx="7543800" cy="1450757"/>
          </a:xfrm>
        </p:spPr>
        <p:txBody>
          <a:bodyPr/>
          <a:lstStyle/>
          <a:p>
            <a:r>
              <a:rPr lang="en-US" dirty="0"/>
              <a:t>What has changed?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6477" y="1954912"/>
            <a:ext cx="8819045" cy="4023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</a:t>
            </a:r>
            <a:r>
              <a:rPr lang="en-US" b="1" dirty="0"/>
              <a:t>object</a:t>
            </a:r>
            <a:r>
              <a:rPr lang="en-US" dirty="0"/>
              <a:t> of sentence one (America) has become the </a:t>
            </a:r>
            <a:r>
              <a:rPr lang="en-US" b="1" dirty="0"/>
              <a:t>subject</a:t>
            </a:r>
            <a:r>
              <a:rPr lang="en-US" dirty="0"/>
              <a:t>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Columbus discovered America.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America was discovered by Columbus.  </a:t>
            </a:r>
          </a:p>
        </p:txBody>
      </p:sp>
      <p:cxnSp>
        <p:nvCxnSpPr>
          <p:cNvPr id="5" name="Straight Arrow Connector 4"/>
          <p:cNvCxnSpPr>
            <a:cxnSpLocks/>
          </p:cNvCxnSpPr>
          <p:nvPr/>
        </p:nvCxnSpPr>
        <p:spPr>
          <a:xfrm flipH="1">
            <a:off x="2615381" y="3336890"/>
            <a:ext cx="1918146" cy="715164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91209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46960" y="286605"/>
            <a:ext cx="7543800" cy="1450757"/>
          </a:xfrm>
        </p:spPr>
        <p:txBody>
          <a:bodyPr/>
          <a:lstStyle/>
          <a:p>
            <a:r>
              <a:rPr lang="en-US" dirty="0"/>
              <a:t>What else has changed?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4099" y="2101372"/>
            <a:ext cx="7543801" cy="402336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Columbus </a:t>
            </a:r>
            <a:r>
              <a:rPr lang="en-US" b="1" i="1" dirty="0"/>
              <a:t>discovered</a:t>
            </a:r>
            <a:r>
              <a:rPr lang="en-US" dirty="0"/>
              <a:t> America.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America </a:t>
            </a:r>
            <a:r>
              <a:rPr lang="en-US" b="1" i="1" dirty="0"/>
              <a:t>was discovered </a:t>
            </a:r>
            <a:r>
              <a:rPr lang="en-US" dirty="0"/>
              <a:t>by Columbus. </a:t>
            </a:r>
          </a:p>
        </p:txBody>
      </p:sp>
    </p:spTree>
    <p:extLst>
      <p:ext uri="{BB962C8B-B14F-4D97-AF65-F5344CB8AC3E}">
        <p14:creationId xmlns:p14="http://schemas.microsoft.com/office/powerpoint/2010/main" val="20232650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46960" y="286605"/>
            <a:ext cx="7543800" cy="1450757"/>
          </a:xfrm>
        </p:spPr>
        <p:txBody>
          <a:bodyPr/>
          <a:lstStyle/>
          <a:p>
            <a:r>
              <a:rPr lang="en-US" dirty="0"/>
              <a:t>What else has changed?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46960" y="1845734"/>
            <a:ext cx="7543801" cy="402336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Columbus </a:t>
            </a:r>
            <a:r>
              <a:rPr lang="en-US" b="1" i="1" dirty="0"/>
              <a:t>discovered</a:t>
            </a:r>
            <a:r>
              <a:rPr lang="en-US" dirty="0"/>
              <a:t> America</a:t>
            </a:r>
          </a:p>
          <a:p>
            <a:pPr marL="749808" lvl="1" indent="-457200">
              <a:buFont typeface="Courier New" panose="02070309020205020404" pitchFamily="49" charset="0"/>
              <a:buChar char="o"/>
            </a:pPr>
            <a:r>
              <a:rPr lang="en-US" dirty="0"/>
              <a:t>Past simple</a:t>
            </a:r>
          </a:p>
          <a:p>
            <a:pPr marL="0" indent="0">
              <a:buNone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nl-NL" dirty="0"/>
              <a:t>America </a:t>
            </a:r>
            <a:r>
              <a:rPr lang="nl-NL" b="1" i="1" dirty="0">
                <a:solidFill>
                  <a:schemeClr val="accent2"/>
                </a:solidFill>
              </a:rPr>
              <a:t>was </a:t>
            </a:r>
            <a:r>
              <a:rPr lang="nl-NL" b="1" i="1" dirty="0" err="1">
                <a:solidFill>
                  <a:schemeClr val="accent2"/>
                </a:solidFill>
              </a:rPr>
              <a:t>discovered</a:t>
            </a:r>
            <a:r>
              <a:rPr lang="nl-NL" b="1" i="1" dirty="0">
                <a:solidFill>
                  <a:schemeClr val="accent2"/>
                </a:solidFill>
              </a:rPr>
              <a:t> </a:t>
            </a:r>
            <a:r>
              <a:rPr lang="nl-NL" dirty="0" err="1"/>
              <a:t>by</a:t>
            </a:r>
            <a:r>
              <a:rPr lang="nl-NL" dirty="0"/>
              <a:t> Columbus</a:t>
            </a:r>
          </a:p>
          <a:p>
            <a:pPr marL="749808" lvl="1" indent="-457200">
              <a:buFont typeface="Courier New" panose="02070309020205020404" pitchFamily="49" charset="0"/>
              <a:buChar char="o"/>
            </a:pPr>
            <a:r>
              <a:rPr lang="en-US" dirty="0"/>
              <a:t>form of ‘to be’ (in the same tense) </a:t>
            </a:r>
            <a:r>
              <a:rPr lang="nl-NL" dirty="0"/>
              <a:t> + past </a:t>
            </a:r>
            <a:r>
              <a:rPr lang="nl-NL" dirty="0" err="1"/>
              <a:t>participle</a:t>
            </a:r>
            <a:endParaRPr lang="nl-NL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14645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el 1"/>
          <p:cNvSpPr>
            <a:spLocks noGrp="1"/>
          </p:cNvSpPr>
          <p:nvPr>
            <p:ph type="title"/>
          </p:nvPr>
        </p:nvSpPr>
        <p:spPr>
          <a:xfrm>
            <a:off x="1641987" y="286605"/>
            <a:ext cx="8248773" cy="1450757"/>
          </a:xfrm>
        </p:spPr>
        <p:txBody>
          <a:bodyPr>
            <a:normAutofit/>
          </a:bodyPr>
          <a:lstStyle/>
          <a:p>
            <a:r>
              <a:rPr lang="en-GB" sz="4000" dirty="0"/>
              <a:t>How to make an active sentence passive</a:t>
            </a:r>
          </a:p>
        </p:txBody>
      </p:sp>
      <p:sp>
        <p:nvSpPr>
          <p:cNvPr id="15363" name="Tijdelijke aanduiding voor inhoud 2"/>
          <p:cNvSpPr>
            <a:spLocks noGrp="1"/>
          </p:cNvSpPr>
          <p:nvPr>
            <p:ph idx="1"/>
          </p:nvPr>
        </p:nvSpPr>
        <p:spPr>
          <a:xfrm>
            <a:off x="1710813" y="2180031"/>
            <a:ext cx="8157087" cy="402336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nl-NL" dirty="0" err="1"/>
              <a:t>Make</a:t>
            </a:r>
            <a:r>
              <a:rPr lang="nl-NL" dirty="0"/>
              <a:t> the </a:t>
            </a:r>
            <a:r>
              <a:rPr lang="nl-NL" b="1" dirty="0"/>
              <a:t>object</a:t>
            </a:r>
            <a:r>
              <a:rPr lang="nl-NL" dirty="0"/>
              <a:t> of the </a:t>
            </a:r>
            <a:r>
              <a:rPr lang="nl-NL" dirty="0" err="1"/>
              <a:t>active</a:t>
            </a:r>
            <a:r>
              <a:rPr lang="nl-NL" dirty="0"/>
              <a:t> </a:t>
            </a:r>
            <a:r>
              <a:rPr lang="nl-NL" dirty="0" err="1"/>
              <a:t>sentence</a:t>
            </a:r>
            <a:r>
              <a:rPr lang="nl-NL" dirty="0"/>
              <a:t> the </a:t>
            </a:r>
            <a:r>
              <a:rPr lang="nl-NL" u="sng" dirty="0"/>
              <a:t>subject</a:t>
            </a:r>
            <a:r>
              <a:rPr lang="nl-NL" dirty="0"/>
              <a:t> of the </a:t>
            </a:r>
            <a:r>
              <a:rPr lang="nl-NL" dirty="0" err="1"/>
              <a:t>passive</a:t>
            </a:r>
            <a:r>
              <a:rPr lang="nl-NL" dirty="0"/>
              <a:t> </a:t>
            </a:r>
            <a:r>
              <a:rPr lang="nl-NL" dirty="0" err="1"/>
              <a:t>sentence</a:t>
            </a:r>
            <a:endParaRPr lang="nl-NL" dirty="0"/>
          </a:p>
          <a:p>
            <a:pPr marL="457200" indent="-457200">
              <a:buFont typeface="+mj-lt"/>
              <a:buAutoNum type="arabicPeriod"/>
            </a:pPr>
            <a:r>
              <a:rPr lang="nl-NL" dirty="0" err="1"/>
              <a:t>Use</a:t>
            </a:r>
            <a:r>
              <a:rPr lang="nl-NL" dirty="0"/>
              <a:t> a form of (</a:t>
            </a:r>
            <a:r>
              <a:rPr lang="nl-NL" b="1" dirty="0" err="1"/>
              <a:t>to</a:t>
            </a:r>
            <a:r>
              <a:rPr lang="nl-NL" b="1" dirty="0"/>
              <a:t>) </a:t>
            </a:r>
            <a:r>
              <a:rPr lang="nl-NL" b="1" dirty="0" err="1"/>
              <a:t>be</a:t>
            </a:r>
            <a:r>
              <a:rPr lang="nl-NL" b="1" dirty="0"/>
              <a:t> </a:t>
            </a:r>
            <a:r>
              <a:rPr lang="nl-NL" dirty="0"/>
              <a:t>in the </a:t>
            </a:r>
            <a:r>
              <a:rPr lang="nl-NL" dirty="0" err="1"/>
              <a:t>same</a:t>
            </a:r>
            <a:r>
              <a:rPr lang="nl-NL" dirty="0"/>
              <a:t> </a:t>
            </a:r>
            <a:r>
              <a:rPr lang="nl-NL" dirty="0" err="1"/>
              <a:t>tense</a:t>
            </a:r>
            <a:r>
              <a:rPr lang="nl-NL" dirty="0"/>
              <a:t> and </a:t>
            </a:r>
            <a:r>
              <a:rPr lang="nl-NL" dirty="0" err="1"/>
              <a:t>use</a:t>
            </a:r>
            <a:r>
              <a:rPr lang="nl-NL" dirty="0"/>
              <a:t> the </a:t>
            </a:r>
            <a:r>
              <a:rPr lang="nl-NL" b="1" dirty="0"/>
              <a:t>past </a:t>
            </a:r>
            <a:r>
              <a:rPr lang="nl-NL" b="1" dirty="0" err="1"/>
              <a:t>participle</a:t>
            </a:r>
            <a:r>
              <a:rPr lang="nl-NL" b="1" dirty="0"/>
              <a:t> </a:t>
            </a:r>
            <a:r>
              <a:rPr lang="nl-NL" dirty="0"/>
              <a:t>(of the </a:t>
            </a:r>
            <a:r>
              <a:rPr lang="nl-NL" dirty="0" err="1"/>
              <a:t>verb</a:t>
            </a:r>
            <a:r>
              <a:rPr lang="nl-NL" dirty="0"/>
              <a:t> in the </a:t>
            </a:r>
            <a:r>
              <a:rPr lang="nl-NL" dirty="0" err="1"/>
              <a:t>active</a:t>
            </a:r>
            <a:r>
              <a:rPr lang="nl-NL" dirty="0"/>
              <a:t> </a:t>
            </a:r>
            <a:r>
              <a:rPr lang="nl-NL" dirty="0" err="1"/>
              <a:t>sentence</a:t>
            </a:r>
            <a:r>
              <a:rPr lang="nl-NL" dirty="0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nl-NL" dirty="0" err="1"/>
              <a:t>If</a:t>
            </a:r>
            <a:r>
              <a:rPr lang="nl-NL" dirty="0"/>
              <a:t> relevant, the subject of the </a:t>
            </a:r>
            <a:r>
              <a:rPr lang="nl-NL" dirty="0" err="1"/>
              <a:t>active</a:t>
            </a:r>
            <a:r>
              <a:rPr lang="nl-NL" dirty="0"/>
              <a:t> </a:t>
            </a:r>
            <a:r>
              <a:rPr lang="nl-NL" dirty="0" err="1"/>
              <a:t>sentence</a:t>
            </a:r>
            <a:r>
              <a:rPr lang="nl-NL" dirty="0"/>
              <a:t>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put at the end in </a:t>
            </a:r>
            <a:r>
              <a:rPr lang="nl-NL" dirty="0" err="1"/>
              <a:t>an</a:t>
            </a:r>
            <a:r>
              <a:rPr lang="nl-NL" dirty="0"/>
              <a:t> </a:t>
            </a:r>
            <a:r>
              <a:rPr lang="nl-NL" b="1" u="sng" dirty="0" err="1"/>
              <a:t>adverbial</a:t>
            </a:r>
            <a:r>
              <a:rPr lang="nl-NL" b="1" u="sng" dirty="0"/>
              <a:t> </a:t>
            </a:r>
            <a:r>
              <a:rPr lang="nl-NL" dirty="0"/>
              <a:t>(</a:t>
            </a:r>
            <a:r>
              <a:rPr lang="nl-NL" dirty="0" err="1"/>
              <a:t>by-phrase</a:t>
            </a:r>
            <a:r>
              <a:rPr lang="nl-NL" dirty="0"/>
              <a:t>)</a:t>
            </a:r>
          </a:p>
          <a:p>
            <a:endParaRPr lang="nl-NL" dirty="0"/>
          </a:p>
          <a:p>
            <a:pPr marL="0" indent="0">
              <a:buNone/>
            </a:pPr>
            <a:r>
              <a:rPr lang="nl-NL" dirty="0"/>
              <a:t>		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5829233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2346960" y="286605"/>
            <a:ext cx="7543800" cy="1450757"/>
          </a:xfrm>
        </p:spPr>
        <p:txBody>
          <a:bodyPr/>
          <a:lstStyle/>
          <a:p>
            <a:r>
              <a:rPr lang="en-US" dirty="0"/>
              <a:t>How to make an active sentence passive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14685034-3738-4D45-81B9-362DAFD557EB}"/>
              </a:ext>
            </a:extLst>
          </p:cNvPr>
          <p:cNvGraphicFramePr>
            <a:graphicFrameLocks noGrp="1"/>
          </p:cNvGraphicFramePr>
          <p:nvPr/>
        </p:nvGraphicFramePr>
        <p:xfrm>
          <a:off x="2495601" y="1964966"/>
          <a:ext cx="7200801" cy="8760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267">
                  <a:extLst>
                    <a:ext uri="{9D8B030D-6E8A-4147-A177-3AD203B41FA5}">
                      <a16:colId xmlns:a16="http://schemas.microsoft.com/office/drawing/2014/main" val="262244882"/>
                    </a:ext>
                  </a:extLst>
                </a:gridCol>
                <a:gridCol w="2400267">
                  <a:extLst>
                    <a:ext uri="{9D8B030D-6E8A-4147-A177-3AD203B41FA5}">
                      <a16:colId xmlns:a16="http://schemas.microsoft.com/office/drawing/2014/main" val="3874926905"/>
                    </a:ext>
                  </a:extLst>
                </a:gridCol>
                <a:gridCol w="2400267">
                  <a:extLst>
                    <a:ext uri="{9D8B030D-6E8A-4147-A177-3AD203B41FA5}">
                      <a16:colId xmlns:a16="http://schemas.microsoft.com/office/drawing/2014/main" val="1055333729"/>
                    </a:ext>
                  </a:extLst>
                </a:gridCol>
              </a:tblGrid>
              <a:tr h="438049">
                <a:tc>
                  <a:txBody>
                    <a:bodyPr/>
                    <a:lstStyle/>
                    <a:p>
                      <a:r>
                        <a:rPr lang="nl-NL" sz="2000" dirty="0"/>
                        <a:t>John</a:t>
                      </a:r>
                    </a:p>
                  </a:txBody>
                  <a:tcPr marL="108012" marR="108012" marT="54006" marB="54006"/>
                </a:tc>
                <a:tc>
                  <a:txBody>
                    <a:bodyPr/>
                    <a:lstStyle/>
                    <a:p>
                      <a:r>
                        <a:rPr lang="nl-NL" sz="2000" dirty="0" err="1"/>
                        <a:t>opens</a:t>
                      </a:r>
                      <a:endParaRPr lang="nl-NL" sz="2000" dirty="0"/>
                    </a:p>
                  </a:txBody>
                  <a:tcPr marL="108012" marR="108012" marT="54006" marB="54006"/>
                </a:tc>
                <a:tc>
                  <a:txBody>
                    <a:bodyPr/>
                    <a:lstStyle/>
                    <a:p>
                      <a:r>
                        <a:rPr lang="nl-NL" sz="2000" dirty="0" err="1"/>
                        <a:t>the</a:t>
                      </a:r>
                      <a:r>
                        <a:rPr lang="nl-NL" sz="2000" dirty="0"/>
                        <a:t> door</a:t>
                      </a:r>
                    </a:p>
                  </a:txBody>
                  <a:tcPr marL="108012" marR="108012" marT="54006" marB="54006"/>
                </a:tc>
                <a:extLst>
                  <a:ext uri="{0D108BD9-81ED-4DB2-BD59-A6C34878D82A}">
                    <a16:rowId xmlns:a16="http://schemas.microsoft.com/office/drawing/2014/main" val="2779419798"/>
                  </a:ext>
                </a:extLst>
              </a:tr>
              <a:tr h="438049">
                <a:tc>
                  <a:txBody>
                    <a:bodyPr/>
                    <a:lstStyle/>
                    <a:p>
                      <a:r>
                        <a:rPr lang="nl-NL" sz="2000" dirty="0"/>
                        <a:t>subject</a:t>
                      </a:r>
                    </a:p>
                  </a:txBody>
                  <a:tcPr marL="108012" marR="108012" marT="54006" marB="54006"/>
                </a:tc>
                <a:tc>
                  <a:txBody>
                    <a:bodyPr/>
                    <a:lstStyle/>
                    <a:p>
                      <a:r>
                        <a:rPr lang="nl-NL" sz="2000" dirty="0" err="1"/>
                        <a:t>verb</a:t>
                      </a:r>
                      <a:endParaRPr lang="nl-NL" sz="2000" dirty="0"/>
                    </a:p>
                  </a:txBody>
                  <a:tcPr marL="108012" marR="108012" marT="54006" marB="54006"/>
                </a:tc>
                <a:tc>
                  <a:txBody>
                    <a:bodyPr/>
                    <a:lstStyle/>
                    <a:p>
                      <a:r>
                        <a:rPr lang="nl-NL" sz="2000" dirty="0"/>
                        <a:t>object</a:t>
                      </a:r>
                    </a:p>
                  </a:txBody>
                  <a:tcPr marL="108012" marR="108012" marT="54006" marB="54006"/>
                </a:tc>
                <a:extLst>
                  <a:ext uri="{0D108BD9-81ED-4DB2-BD59-A6C34878D82A}">
                    <a16:rowId xmlns:a16="http://schemas.microsoft.com/office/drawing/2014/main" val="3395697072"/>
                  </a:ext>
                </a:extLst>
              </a:tr>
            </a:tbl>
          </a:graphicData>
        </a:graphic>
      </p:graphicFrame>
      <p:graphicFrame>
        <p:nvGraphicFramePr>
          <p:cNvPr id="24" name="Table 9">
            <a:extLst>
              <a:ext uri="{FF2B5EF4-FFF2-40B4-BE49-F238E27FC236}">
                <a16:creationId xmlns:a16="http://schemas.microsoft.com/office/drawing/2014/main" id="{525D26FE-005F-49EA-810B-6647BE6F7773}"/>
              </a:ext>
            </a:extLst>
          </p:cNvPr>
          <p:cNvGraphicFramePr>
            <a:graphicFrameLocks noGrp="1"/>
          </p:cNvGraphicFramePr>
          <p:nvPr/>
        </p:nvGraphicFramePr>
        <p:xfrm>
          <a:off x="2495600" y="4228782"/>
          <a:ext cx="7200801" cy="1012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267">
                  <a:extLst>
                    <a:ext uri="{9D8B030D-6E8A-4147-A177-3AD203B41FA5}">
                      <a16:colId xmlns:a16="http://schemas.microsoft.com/office/drawing/2014/main" val="262244882"/>
                    </a:ext>
                  </a:extLst>
                </a:gridCol>
                <a:gridCol w="2400267">
                  <a:extLst>
                    <a:ext uri="{9D8B030D-6E8A-4147-A177-3AD203B41FA5}">
                      <a16:colId xmlns:a16="http://schemas.microsoft.com/office/drawing/2014/main" val="3874926905"/>
                    </a:ext>
                  </a:extLst>
                </a:gridCol>
                <a:gridCol w="2400267">
                  <a:extLst>
                    <a:ext uri="{9D8B030D-6E8A-4147-A177-3AD203B41FA5}">
                      <a16:colId xmlns:a16="http://schemas.microsoft.com/office/drawing/2014/main" val="1055333729"/>
                    </a:ext>
                  </a:extLst>
                </a:gridCol>
              </a:tblGrid>
              <a:tr h="506210">
                <a:tc>
                  <a:txBody>
                    <a:bodyPr/>
                    <a:lstStyle/>
                    <a:p>
                      <a:r>
                        <a:rPr lang="nl-NL" dirty="0"/>
                        <a:t>The door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is </a:t>
                      </a:r>
                      <a:r>
                        <a:rPr lang="nl-NL" dirty="0" err="1"/>
                        <a:t>opened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(</a:t>
                      </a:r>
                      <a:r>
                        <a:rPr lang="nl-NL" dirty="0" err="1"/>
                        <a:t>by</a:t>
                      </a:r>
                      <a:r>
                        <a:rPr lang="nl-NL" dirty="0"/>
                        <a:t> John)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9419798"/>
                  </a:ext>
                </a:extLst>
              </a:tr>
              <a:tr h="506210">
                <a:tc>
                  <a:txBody>
                    <a:bodyPr/>
                    <a:lstStyle/>
                    <a:p>
                      <a:r>
                        <a:rPr lang="nl-NL" dirty="0"/>
                        <a:t>subject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err="1"/>
                        <a:t>verb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object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5697072"/>
                  </a:ext>
                </a:extLst>
              </a:tr>
            </a:tbl>
          </a:graphicData>
        </a:graphic>
      </p:graphicFrame>
      <p:sp>
        <p:nvSpPr>
          <p:cNvPr id="63500" name="Line 12"/>
          <p:cNvSpPr>
            <a:spLocks noChangeShapeType="1"/>
          </p:cNvSpPr>
          <p:nvPr/>
        </p:nvSpPr>
        <p:spPr bwMode="auto">
          <a:xfrm flipH="1">
            <a:off x="3982064" y="2817051"/>
            <a:ext cx="3777903" cy="154805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3501" name="Line 13"/>
          <p:cNvSpPr>
            <a:spLocks noChangeShapeType="1"/>
          </p:cNvSpPr>
          <p:nvPr/>
        </p:nvSpPr>
        <p:spPr bwMode="auto">
          <a:xfrm>
            <a:off x="3600400" y="2791903"/>
            <a:ext cx="3862284" cy="152404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1491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486900" cy="798871"/>
          </a:xfrm>
        </p:spPr>
        <p:txBody>
          <a:bodyPr/>
          <a:lstStyle/>
          <a:p>
            <a:r>
              <a:rPr lang="nl-NL" dirty="0"/>
              <a:t>The </a:t>
            </a:r>
            <a:r>
              <a:rPr lang="nl-NL" dirty="0" err="1"/>
              <a:t>Passive</a:t>
            </a:r>
            <a:endParaRPr lang="en-US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1371600" y="1791987"/>
            <a:ext cx="9964994" cy="3918098"/>
          </a:xfrm>
        </p:spPr>
        <p:txBody>
          <a:bodyPr/>
          <a:lstStyle/>
          <a:p>
            <a:pPr marL="0" indent="0">
              <a:buNone/>
            </a:pPr>
            <a:r>
              <a:rPr lang="nl-NL" sz="2800" dirty="0"/>
              <a:t>We </a:t>
            </a:r>
            <a:r>
              <a:rPr lang="nl-NL" sz="2800" dirty="0" err="1"/>
              <a:t>saw</a:t>
            </a:r>
            <a:r>
              <a:rPr lang="nl-NL" sz="2800" dirty="0"/>
              <a:t> </a:t>
            </a:r>
            <a:r>
              <a:rPr lang="nl-NL" sz="2800" dirty="0" err="1"/>
              <a:t>an</a:t>
            </a:r>
            <a:r>
              <a:rPr lang="nl-NL" sz="2800" dirty="0"/>
              <a:t> </a:t>
            </a:r>
            <a:r>
              <a:rPr lang="nl-NL" sz="2800" dirty="0" err="1"/>
              <a:t>example</a:t>
            </a:r>
            <a:r>
              <a:rPr lang="nl-NL" sz="2800" dirty="0"/>
              <a:t> of the past </a:t>
            </a:r>
            <a:r>
              <a:rPr lang="nl-NL" sz="2800" dirty="0" err="1"/>
              <a:t>simple</a:t>
            </a:r>
            <a:r>
              <a:rPr lang="nl-NL" sz="2800" dirty="0"/>
              <a:t> </a:t>
            </a:r>
            <a:r>
              <a:rPr lang="nl-NL" sz="2800" dirty="0" err="1"/>
              <a:t>tense</a:t>
            </a:r>
            <a:r>
              <a:rPr lang="nl-NL" sz="2800" dirty="0"/>
              <a:t> </a:t>
            </a:r>
          </a:p>
          <a:p>
            <a:pPr marL="0" indent="0">
              <a:buNone/>
            </a:pPr>
            <a:r>
              <a:rPr lang="nl-NL" sz="2800" dirty="0"/>
              <a:t>(</a:t>
            </a:r>
            <a:r>
              <a:rPr lang="nl-NL" sz="2800" i="1" dirty="0"/>
              <a:t>America was </a:t>
            </a:r>
            <a:r>
              <a:rPr lang="nl-NL" sz="2800" i="1" dirty="0" err="1"/>
              <a:t>discovered</a:t>
            </a:r>
            <a:r>
              <a:rPr lang="nl-NL" sz="2800" i="1" dirty="0"/>
              <a:t> </a:t>
            </a:r>
            <a:r>
              <a:rPr lang="nl-NL" sz="2800" i="1" dirty="0" err="1"/>
              <a:t>by</a:t>
            </a:r>
            <a:r>
              <a:rPr lang="nl-NL" sz="2800" i="1" dirty="0"/>
              <a:t> Columbus)</a:t>
            </a:r>
          </a:p>
          <a:p>
            <a:pPr marL="0" indent="0">
              <a:buNone/>
            </a:pPr>
            <a:r>
              <a:rPr lang="nl-NL" sz="2800" i="1" dirty="0"/>
              <a:t>			</a:t>
            </a:r>
            <a:r>
              <a:rPr lang="nl-NL" sz="2800" dirty="0" err="1"/>
              <a:t>and</a:t>
            </a:r>
            <a:r>
              <a:rPr lang="nl-NL" sz="2800" dirty="0"/>
              <a:t> </a:t>
            </a:r>
          </a:p>
          <a:p>
            <a:pPr marL="0" indent="0">
              <a:buNone/>
            </a:pPr>
            <a:r>
              <a:rPr lang="nl-NL" sz="2800" dirty="0"/>
              <a:t>of the present </a:t>
            </a:r>
            <a:r>
              <a:rPr lang="nl-NL" sz="2800" dirty="0" err="1"/>
              <a:t>simple</a:t>
            </a:r>
            <a:r>
              <a:rPr lang="nl-NL" sz="2800" dirty="0"/>
              <a:t> </a:t>
            </a:r>
            <a:r>
              <a:rPr lang="nl-NL" sz="2800" dirty="0" err="1"/>
              <a:t>tense</a:t>
            </a:r>
            <a:r>
              <a:rPr lang="nl-NL" sz="2800" dirty="0"/>
              <a:t> </a:t>
            </a:r>
          </a:p>
          <a:p>
            <a:pPr marL="0" indent="0">
              <a:buNone/>
            </a:pPr>
            <a:r>
              <a:rPr lang="nl-NL" sz="2800" dirty="0"/>
              <a:t>(</a:t>
            </a:r>
            <a:r>
              <a:rPr lang="nl-NL" sz="2800" i="1" dirty="0"/>
              <a:t>the door is </a:t>
            </a:r>
            <a:r>
              <a:rPr lang="nl-NL" sz="2800" i="1" dirty="0" err="1"/>
              <a:t>opened</a:t>
            </a:r>
            <a:r>
              <a:rPr lang="nl-NL" sz="2800" i="1" dirty="0"/>
              <a:t>)</a:t>
            </a:r>
          </a:p>
          <a:p>
            <a:endParaRPr lang="nl-NL" sz="2800" dirty="0"/>
          </a:p>
          <a:p>
            <a:r>
              <a:rPr lang="nl-NL" sz="2800" dirty="0"/>
              <a:t>The </a:t>
            </a:r>
            <a:r>
              <a:rPr lang="nl-NL" sz="2800" dirty="0" err="1"/>
              <a:t>passive</a:t>
            </a:r>
            <a:r>
              <a:rPr lang="nl-NL" sz="2800" dirty="0"/>
              <a:t> </a:t>
            </a:r>
            <a:r>
              <a:rPr lang="nl-NL" sz="2800" dirty="0" err="1"/>
              <a:t>can</a:t>
            </a:r>
            <a:r>
              <a:rPr lang="nl-NL" sz="2800" dirty="0"/>
              <a:t> </a:t>
            </a:r>
            <a:r>
              <a:rPr lang="nl-NL" sz="2800" dirty="0" err="1"/>
              <a:t>be</a:t>
            </a:r>
            <a:r>
              <a:rPr lang="nl-NL" sz="2800" dirty="0"/>
              <a:t> </a:t>
            </a:r>
            <a:r>
              <a:rPr lang="nl-NL" sz="2800" dirty="0" err="1"/>
              <a:t>used</a:t>
            </a:r>
            <a:r>
              <a:rPr lang="nl-NL" sz="2800" dirty="0"/>
              <a:t> in </a:t>
            </a:r>
            <a:r>
              <a:rPr lang="nl-NL" sz="2800" u="sng" dirty="0" err="1"/>
              <a:t>nearly</a:t>
            </a:r>
            <a:r>
              <a:rPr lang="nl-NL" sz="2800" u="sng" dirty="0"/>
              <a:t> all of the </a:t>
            </a:r>
            <a:r>
              <a:rPr lang="nl-NL" sz="2800" u="sng" dirty="0" err="1"/>
              <a:t>tenses</a:t>
            </a:r>
            <a:endParaRPr lang="en-US" sz="2800" u="sng" dirty="0"/>
          </a:p>
          <a:p>
            <a:endParaRPr lang="nl-NL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6902106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el 1"/>
          <p:cNvSpPr>
            <a:spLocks noGrp="1"/>
          </p:cNvSpPr>
          <p:nvPr>
            <p:ph type="title"/>
          </p:nvPr>
        </p:nvSpPr>
        <p:spPr>
          <a:xfrm>
            <a:off x="1150374" y="275302"/>
            <a:ext cx="7543800" cy="411485"/>
          </a:xfrm>
        </p:spPr>
        <p:txBody>
          <a:bodyPr>
            <a:normAutofit fontScale="90000"/>
          </a:bodyPr>
          <a:lstStyle/>
          <a:p>
            <a:r>
              <a:rPr lang="en-GB" dirty="0"/>
              <a:t>Tenses and the passive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7CF971C-995D-44AB-98A1-C0D248F88D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1741064"/>
              </p:ext>
            </p:extLst>
          </p:nvPr>
        </p:nvGraphicFramePr>
        <p:xfrm>
          <a:off x="1150373" y="814603"/>
          <a:ext cx="10225548" cy="53749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8497">
                  <a:extLst>
                    <a:ext uri="{9D8B030D-6E8A-4147-A177-3AD203B41FA5}">
                      <a16:colId xmlns:a16="http://schemas.microsoft.com/office/drawing/2014/main" val="46703103"/>
                    </a:ext>
                  </a:extLst>
                </a:gridCol>
                <a:gridCol w="2997355">
                  <a:extLst>
                    <a:ext uri="{9D8B030D-6E8A-4147-A177-3AD203B41FA5}">
                      <a16:colId xmlns:a16="http://schemas.microsoft.com/office/drawing/2014/main" val="657627527"/>
                    </a:ext>
                  </a:extLst>
                </a:gridCol>
                <a:gridCol w="4589696">
                  <a:extLst>
                    <a:ext uri="{9D8B030D-6E8A-4147-A177-3AD203B41FA5}">
                      <a16:colId xmlns:a16="http://schemas.microsoft.com/office/drawing/2014/main" val="2079525309"/>
                    </a:ext>
                  </a:extLst>
                </a:gridCol>
              </a:tblGrid>
              <a:tr h="405111">
                <a:tc>
                  <a:txBody>
                    <a:bodyPr/>
                    <a:lstStyle/>
                    <a:p>
                      <a:r>
                        <a:rPr lang="nl-NL" sz="2400" dirty="0">
                          <a:latin typeface="Arial Nova" panose="020B0504020202020204" pitchFamily="34" charset="0"/>
                        </a:rPr>
                        <a:t>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2400" dirty="0">
                          <a:latin typeface="Arial Nova" panose="020B0504020202020204" pitchFamily="34" charset="0"/>
                        </a:rPr>
                        <a:t>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2400" dirty="0" err="1">
                          <a:latin typeface="Arial Nova" panose="020B0504020202020204" pitchFamily="34" charset="0"/>
                        </a:rPr>
                        <a:t>Passive</a:t>
                      </a:r>
                      <a:endParaRPr lang="nl-NL" sz="2400" dirty="0">
                        <a:latin typeface="Arial Nova" panose="020B05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0223590"/>
                  </a:ext>
                </a:extLst>
              </a:tr>
              <a:tr h="450532">
                <a:tc>
                  <a:txBody>
                    <a:bodyPr/>
                    <a:lstStyle/>
                    <a:p>
                      <a:r>
                        <a:rPr lang="nl-NL" sz="1800" dirty="0">
                          <a:latin typeface="Arial Nova" panose="020B0504020202020204" pitchFamily="34" charset="0"/>
                        </a:rPr>
                        <a:t>Present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simple</a:t>
                      </a:r>
                      <a:endParaRPr lang="nl-NL" sz="1800" dirty="0">
                        <a:latin typeface="Arial Nova" panose="020B05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They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clean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the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house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800" dirty="0">
                          <a:latin typeface="Arial Nova" panose="020B0504020202020204" pitchFamily="34" charset="0"/>
                        </a:rPr>
                        <a:t>The house is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cleaned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(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by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them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6313570"/>
                  </a:ext>
                </a:extLst>
              </a:tr>
              <a:tr h="450532">
                <a:tc>
                  <a:txBody>
                    <a:bodyPr/>
                    <a:lstStyle/>
                    <a:p>
                      <a:r>
                        <a:rPr lang="nl-NL" sz="1800" dirty="0">
                          <a:latin typeface="Arial Nova" panose="020B0504020202020204" pitchFamily="34" charset="0"/>
                        </a:rPr>
                        <a:t>Present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continuous</a:t>
                      </a:r>
                      <a:endParaRPr lang="nl-NL" sz="1800" dirty="0">
                        <a:latin typeface="Arial Nova" panose="020B05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They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are cleaning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the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house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800" dirty="0">
                          <a:latin typeface="Arial Nova" panose="020B0504020202020204" pitchFamily="34" charset="0"/>
                        </a:rPr>
                        <a:t>The is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being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cleaned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(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by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them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784198"/>
                  </a:ext>
                </a:extLst>
              </a:tr>
              <a:tr h="368682">
                <a:tc>
                  <a:txBody>
                    <a:bodyPr/>
                    <a:lstStyle/>
                    <a:p>
                      <a:r>
                        <a:rPr lang="nl-NL" sz="1800" dirty="0">
                          <a:latin typeface="Arial Nova" panose="020B0504020202020204" pitchFamily="34" charset="0"/>
                        </a:rPr>
                        <a:t>Present perfect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They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have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cleaned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the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house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800" dirty="0">
                          <a:latin typeface="Arial Nova" panose="020B0504020202020204" pitchFamily="34" charset="0"/>
                        </a:rPr>
                        <a:t>The house has been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cleaned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(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by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them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2243296"/>
                  </a:ext>
                </a:extLst>
              </a:tr>
              <a:tr h="450532">
                <a:tc>
                  <a:txBody>
                    <a:bodyPr/>
                    <a:lstStyle/>
                    <a:p>
                      <a:r>
                        <a:rPr lang="nl-NL" sz="1800" dirty="0">
                          <a:latin typeface="Arial Nova" panose="020B0504020202020204" pitchFamily="34" charset="0"/>
                        </a:rPr>
                        <a:t>Past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simple</a:t>
                      </a:r>
                      <a:endParaRPr lang="nl-NL" sz="1800" dirty="0">
                        <a:latin typeface="Arial Nova" panose="020B05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They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cleaned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the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house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800" dirty="0">
                          <a:latin typeface="Arial Nova" panose="020B0504020202020204" pitchFamily="34" charset="0"/>
                        </a:rPr>
                        <a:t>The house was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cleaned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(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by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them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0339571"/>
                  </a:ext>
                </a:extLst>
              </a:tr>
              <a:tr h="391105">
                <a:tc>
                  <a:txBody>
                    <a:bodyPr/>
                    <a:lstStyle/>
                    <a:p>
                      <a:r>
                        <a:rPr lang="nl-NL" sz="1800" dirty="0">
                          <a:latin typeface="Arial Nova" panose="020B0504020202020204" pitchFamily="34" charset="0"/>
                        </a:rPr>
                        <a:t>Past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continuous</a:t>
                      </a:r>
                      <a:endParaRPr lang="nl-NL" sz="1800" dirty="0">
                        <a:latin typeface="Arial Nova" panose="020B05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They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were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cleaning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the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house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800" dirty="0">
                          <a:latin typeface="Arial Nova" panose="020B0504020202020204" pitchFamily="34" charset="0"/>
                        </a:rPr>
                        <a:t>The house was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being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cleaned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(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by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them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0612313"/>
                  </a:ext>
                </a:extLst>
              </a:tr>
              <a:tr h="385530">
                <a:tc>
                  <a:txBody>
                    <a:bodyPr/>
                    <a:lstStyle/>
                    <a:p>
                      <a:r>
                        <a:rPr lang="nl-NL" sz="1800" dirty="0">
                          <a:latin typeface="Arial Nova" panose="020B0504020202020204" pitchFamily="34" charset="0"/>
                        </a:rPr>
                        <a:t>Past perfect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They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had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cleaned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the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house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800" dirty="0">
                          <a:latin typeface="Arial Nova" panose="020B0504020202020204" pitchFamily="34" charset="0"/>
                        </a:rPr>
                        <a:t>The house had been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cleaned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(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by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them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2312357"/>
                  </a:ext>
                </a:extLst>
              </a:tr>
              <a:tr h="450532">
                <a:tc>
                  <a:txBody>
                    <a:bodyPr/>
                    <a:lstStyle/>
                    <a:p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Future</a:t>
                      </a:r>
                      <a:endParaRPr lang="nl-NL" sz="1800" dirty="0">
                        <a:latin typeface="Arial Nova" panose="020B05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They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will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* clean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the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house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800" dirty="0">
                          <a:latin typeface="Arial Nova" panose="020B0504020202020204" pitchFamily="34" charset="0"/>
                        </a:rPr>
                        <a:t>The house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will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be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cleaned</a:t>
                      </a:r>
                      <a:endParaRPr lang="nl-NL" sz="1800" dirty="0">
                        <a:latin typeface="Arial Nova" panose="020B05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376387"/>
                  </a:ext>
                </a:extLst>
              </a:tr>
              <a:tr h="303833">
                <a:tc>
                  <a:txBody>
                    <a:bodyPr/>
                    <a:lstStyle/>
                    <a:p>
                      <a:endParaRPr lang="nl-NL" sz="1800" dirty="0">
                        <a:latin typeface="Arial Nova" panose="020B05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sz="1800" dirty="0">
                        <a:latin typeface="Arial Nova" panose="020B05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sz="1800" dirty="0">
                        <a:latin typeface="Arial Nova" panose="020B05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0822107"/>
                  </a:ext>
                </a:extLst>
              </a:tr>
              <a:tr h="465976">
                <a:tc>
                  <a:txBody>
                    <a:bodyPr/>
                    <a:lstStyle/>
                    <a:p>
                      <a:r>
                        <a:rPr lang="nl-NL" sz="1800" dirty="0">
                          <a:latin typeface="Arial Nova" panose="020B0504020202020204" pitchFamily="34" charset="0"/>
                        </a:rPr>
                        <a:t>* Same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for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all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modal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verbs</a:t>
                      </a:r>
                      <a:endParaRPr lang="nl-NL" sz="1800" dirty="0">
                        <a:latin typeface="Arial Nova" panose="020B05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sz="1800" dirty="0">
                        <a:latin typeface="Arial Nova" panose="020B05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sz="1800" dirty="0">
                        <a:latin typeface="Arial Nova" panose="020B05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03895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30749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ext, letter&#10;&#10;Description automatically generated">
            <a:extLst>
              <a:ext uri="{FF2B5EF4-FFF2-40B4-BE49-F238E27FC236}">
                <a16:creationId xmlns:a16="http://schemas.microsoft.com/office/drawing/2014/main" id="{A11526D8-FE87-4A02-8F6B-0302F52873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7460" y="1075625"/>
            <a:ext cx="4706750" cy="4706750"/>
          </a:xfrm>
          <a:prstGeom prst="rect">
            <a:avLst/>
          </a:prstGeom>
        </p:spPr>
      </p:pic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7596664" y="640080"/>
            <a:ext cx="2744435" cy="292608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defRPr/>
            </a:pPr>
            <a:r>
              <a:rPr lang="en-US" sz="3800">
                <a:solidFill>
                  <a:srgbClr val="FFFFFF"/>
                </a:solidFill>
              </a:rPr>
              <a:t>Passive</a:t>
            </a:r>
          </a:p>
        </p:txBody>
      </p:sp>
      <p:sp>
        <p:nvSpPr>
          <p:cNvPr id="11267" name="Tijdelijke aanduiding voor tekst 4"/>
          <p:cNvSpPr>
            <a:spLocks noGrp="1"/>
          </p:cNvSpPr>
          <p:nvPr>
            <p:ph type="body" idx="1"/>
          </p:nvPr>
        </p:nvSpPr>
        <p:spPr>
          <a:xfrm>
            <a:off x="7596664" y="3578085"/>
            <a:ext cx="2744435" cy="263983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400" dirty="0">
                <a:solidFill>
                  <a:srgbClr val="FFFFFF"/>
                </a:solidFill>
              </a:rPr>
              <a:t>Special cases</a:t>
            </a:r>
          </a:p>
        </p:txBody>
      </p:sp>
    </p:spTree>
    <p:extLst>
      <p:ext uri="{BB962C8B-B14F-4D97-AF65-F5344CB8AC3E}">
        <p14:creationId xmlns:p14="http://schemas.microsoft.com/office/powerpoint/2010/main" val="24189021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el 1"/>
          <p:cNvSpPr>
            <a:spLocks noGrp="1"/>
          </p:cNvSpPr>
          <p:nvPr>
            <p:ph type="title"/>
          </p:nvPr>
        </p:nvSpPr>
        <p:spPr>
          <a:xfrm>
            <a:off x="1022555" y="286606"/>
            <a:ext cx="8868205" cy="804776"/>
          </a:xfrm>
        </p:spPr>
        <p:txBody>
          <a:bodyPr/>
          <a:lstStyle/>
          <a:p>
            <a:r>
              <a:rPr lang="en-GB" dirty="0"/>
              <a:t>Verbs that take two objects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7092F2E-F9DE-4DB7-B351-414A44EB41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866177"/>
              </p:ext>
            </p:extLst>
          </p:nvPr>
        </p:nvGraphicFramePr>
        <p:xfrm>
          <a:off x="1021920" y="1844823"/>
          <a:ext cx="10098364" cy="4322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0912">
                  <a:extLst>
                    <a:ext uri="{9D8B030D-6E8A-4147-A177-3AD203B41FA5}">
                      <a16:colId xmlns:a16="http://schemas.microsoft.com/office/drawing/2014/main" val="290698559"/>
                    </a:ext>
                  </a:extLst>
                </a:gridCol>
                <a:gridCol w="4328073">
                  <a:extLst>
                    <a:ext uri="{9D8B030D-6E8A-4147-A177-3AD203B41FA5}">
                      <a16:colId xmlns:a16="http://schemas.microsoft.com/office/drawing/2014/main" val="4066293310"/>
                    </a:ext>
                  </a:extLst>
                </a:gridCol>
                <a:gridCol w="4529379">
                  <a:extLst>
                    <a:ext uri="{9D8B030D-6E8A-4147-A177-3AD203B41FA5}">
                      <a16:colId xmlns:a16="http://schemas.microsoft.com/office/drawing/2014/main" val="1570374708"/>
                    </a:ext>
                  </a:extLst>
                </a:gridCol>
              </a:tblGrid>
              <a:tr h="387232">
                <a:tc>
                  <a:txBody>
                    <a:bodyPr/>
                    <a:lstStyle/>
                    <a:p>
                      <a:r>
                        <a:rPr lang="nl-NL" sz="1900" dirty="0" err="1">
                          <a:latin typeface="Arial Nova" panose="020B0504020202020204" pitchFamily="34" charset="0"/>
                        </a:rPr>
                        <a:t>Verb</a:t>
                      </a:r>
                      <a:endParaRPr lang="nl-NL" sz="1900" dirty="0">
                        <a:latin typeface="Arial Nova" panose="020B0504020202020204" pitchFamily="34" charset="0"/>
                      </a:endParaRPr>
                    </a:p>
                  </a:txBody>
                  <a:tcPr marL="95482" marR="95482" marT="47741" marB="47741"/>
                </a:tc>
                <a:tc>
                  <a:txBody>
                    <a:bodyPr/>
                    <a:lstStyle/>
                    <a:p>
                      <a:r>
                        <a:rPr lang="nl-NL" sz="1900" dirty="0">
                          <a:latin typeface="Arial Nova" panose="020B0504020202020204" pitchFamily="34" charset="0"/>
                        </a:rPr>
                        <a:t>Active</a:t>
                      </a:r>
                    </a:p>
                  </a:txBody>
                  <a:tcPr marL="95482" marR="95482" marT="47741" marB="47741"/>
                </a:tc>
                <a:tc>
                  <a:txBody>
                    <a:bodyPr/>
                    <a:lstStyle/>
                    <a:p>
                      <a:r>
                        <a:rPr lang="nl-NL" sz="1900" dirty="0" err="1">
                          <a:latin typeface="Arial Nova" panose="020B0504020202020204" pitchFamily="34" charset="0"/>
                        </a:rPr>
                        <a:t>Passive</a:t>
                      </a:r>
                      <a:endParaRPr lang="nl-NL" sz="1900" dirty="0">
                        <a:latin typeface="Arial Nova" panose="020B0504020202020204" pitchFamily="34" charset="0"/>
                      </a:endParaRPr>
                    </a:p>
                  </a:txBody>
                  <a:tcPr marL="95482" marR="95482" marT="47741" marB="47741"/>
                </a:tc>
                <a:extLst>
                  <a:ext uri="{0D108BD9-81ED-4DB2-BD59-A6C34878D82A}">
                    <a16:rowId xmlns:a16="http://schemas.microsoft.com/office/drawing/2014/main" val="684404763"/>
                  </a:ext>
                </a:extLst>
              </a:tr>
              <a:tr h="954818">
                <a:tc>
                  <a:txBody>
                    <a:bodyPr/>
                    <a:lstStyle/>
                    <a:p>
                      <a:r>
                        <a:rPr lang="nl-NL" sz="1900" dirty="0" err="1">
                          <a:latin typeface="Arial Nova" panose="020B0504020202020204" pitchFamily="34" charset="0"/>
                        </a:rPr>
                        <a:t>give</a:t>
                      </a:r>
                      <a:endParaRPr lang="nl-NL" sz="1900" dirty="0">
                        <a:latin typeface="Arial Nova" panose="020B0504020202020204" pitchFamily="34" charset="0"/>
                      </a:endParaRPr>
                    </a:p>
                  </a:txBody>
                  <a:tcPr marL="95482" marR="95482" marT="47741" marB="4774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>
                          <a:latin typeface="Arial Nova" panose="020B0504020202020204" pitchFamily="34" charset="0"/>
                        </a:rPr>
                        <a:t>The nurse </a:t>
                      </a:r>
                      <a:r>
                        <a:rPr lang="en-US" sz="1900" b="1" dirty="0">
                          <a:solidFill>
                            <a:schemeClr val="accent2"/>
                          </a:solidFill>
                          <a:latin typeface="Arial Nova" panose="020B0504020202020204" pitchFamily="34" charset="0"/>
                        </a:rPr>
                        <a:t>gives</a:t>
                      </a:r>
                      <a:r>
                        <a:rPr lang="en-US" sz="1900" dirty="0">
                          <a:latin typeface="Arial Nova" panose="020B0504020202020204" pitchFamily="34" charset="0"/>
                        </a:rPr>
                        <a:t> the patient a sleeping pill.</a:t>
                      </a:r>
                      <a:endParaRPr lang="nl-NL" sz="1900" dirty="0">
                        <a:latin typeface="Arial Nova" panose="020B0504020202020204" pitchFamily="34" charset="0"/>
                      </a:endParaRPr>
                    </a:p>
                    <a:p>
                      <a:endParaRPr lang="nl-NL" sz="1900" dirty="0">
                        <a:latin typeface="Arial Nova" panose="020B0504020202020204" pitchFamily="34" charset="0"/>
                      </a:endParaRPr>
                    </a:p>
                  </a:txBody>
                  <a:tcPr marL="95482" marR="95482" marT="47741" marB="4774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>
                          <a:latin typeface="Arial Nova" panose="020B0504020202020204" pitchFamily="34" charset="0"/>
                        </a:rPr>
                        <a:t>A sleeping pill </a:t>
                      </a:r>
                      <a:r>
                        <a:rPr lang="en-US" sz="1900" b="1" dirty="0">
                          <a:solidFill>
                            <a:schemeClr val="accent2"/>
                          </a:solidFill>
                          <a:latin typeface="Arial Nova" panose="020B0504020202020204" pitchFamily="34" charset="0"/>
                        </a:rPr>
                        <a:t>is given </a:t>
                      </a:r>
                      <a:r>
                        <a:rPr lang="en-US" sz="1900" dirty="0">
                          <a:latin typeface="Arial Nova" panose="020B0504020202020204" pitchFamily="34" charset="0"/>
                        </a:rPr>
                        <a:t>to the patient.</a:t>
                      </a:r>
                      <a:endParaRPr lang="nl-NL" sz="1900" dirty="0">
                        <a:latin typeface="Arial Nova" panose="020B0504020202020204" pitchFamily="34" charset="0"/>
                      </a:endParaRPr>
                    </a:p>
                    <a:p>
                      <a:endParaRPr lang="nl-NL" sz="1900" dirty="0">
                        <a:latin typeface="Arial Nova" panose="020B0504020202020204" pitchFamily="34" charset="0"/>
                      </a:endParaRPr>
                    </a:p>
                  </a:txBody>
                  <a:tcPr marL="95482" marR="95482" marT="47741" marB="47741"/>
                </a:tc>
                <a:extLst>
                  <a:ext uri="{0D108BD9-81ED-4DB2-BD59-A6C34878D82A}">
                    <a16:rowId xmlns:a16="http://schemas.microsoft.com/office/drawing/2014/main" val="494419908"/>
                  </a:ext>
                </a:extLst>
              </a:tr>
              <a:tr h="954818">
                <a:tc>
                  <a:txBody>
                    <a:bodyPr/>
                    <a:lstStyle/>
                    <a:p>
                      <a:endParaRPr lang="nl-NL" sz="1900">
                        <a:latin typeface="Arial Nova" panose="020B0504020202020204" pitchFamily="34" charset="0"/>
                      </a:endParaRPr>
                    </a:p>
                  </a:txBody>
                  <a:tcPr marL="95482" marR="95482" marT="47741" marB="47741"/>
                </a:tc>
                <a:tc>
                  <a:txBody>
                    <a:bodyPr/>
                    <a:lstStyle/>
                    <a:p>
                      <a:endParaRPr lang="nl-NL" sz="1900" dirty="0">
                        <a:latin typeface="Arial Nova" panose="020B0504020202020204" pitchFamily="34" charset="0"/>
                      </a:endParaRPr>
                    </a:p>
                  </a:txBody>
                  <a:tcPr marL="95482" marR="95482" marT="47741" marB="4774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>
                          <a:latin typeface="Arial Nova" panose="020B0504020202020204" pitchFamily="34" charset="0"/>
                        </a:rPr>
                        <a:t>The patient </a:t>
                      </a:r>
                      <a:r>
                        <a:rPr lang="en-US" sz="1900" b="1" dirty="0">
                          <a:solidFill>
                            <a:schemeClr val="accent2"/>
                          </a:solidFill>
                          <a:latin typeface="Arial Nova" panose="020B0504020202020204" pitchFamily="34" charset="0"/>
                        </a:rPr>
                        <a:t>is given </a:t>
                      </a:r>
                      <a:r>
                        <a:rPr lang="en-US" sz="1900" dirty="0">
                          <a:latin typeface="Arial Nova" panose="020B0504020202020204" pitchFamily="34" charset="0"/>
                        </a:rPr>
                        <a:t>a sleeping pill.</a:t>
                      </a:r>
                      <a:endParaRPr lang="nl-NL" sz="1900" dirty="0">
                        <a:latin typeface="Arial Nova" panose="020B0504020202020204" pitchFamily="34" charset="0"/>
                      </a:endParaRPr>
                    </a:p>
                    <a:p>
                      <a:endParaRPr lang="nl-NL" sz="1900" dirty="0">
                        <a:latin typeface="Arial Nova" panose="020B0504020202020204" pitchFamily="34" charset="0"/>
                      </a:endParaRPr>
                    </a:p>
                  </a:txBody>
                  <a:tcPr marL="95482" marR="95482" marT="47741" marB="47741"/>
                </a:tc>
                <a:extLst>
                  <a:ext uri="{0D108BD9-81ED-4DB2-BD59-A6C34878D82A}">
                    <a16:rowId xmlns:a16="http://schemas.microsoft.com/office/drawing/2014/main" val="2767612398"/>
                  </a:ext>
                </a:extLst>
              </a:tr>
              <a:tr h="387232">
                <a:tc gridSpan="2">
                  <a:txBody>
                    <a:bodyPr/>
                    <a:lstStyle/>
                    <a:p>
                      <a:r>
                        <a:rPr lang="nl-NL" sz="1900" dirty="0" err="1">
                          <a:latin typeface="Arial Nova" panose="020B0504020202020204" pitchFamily="34" charset="0"/>
                        </a:rPr>
                        <a:t>allow</a:t>
                      </a:r>
                      <a:r>
                        <a:rPr lang="nl-NL" sz="1900" dirty="0">
                          <a:latin typeface="Arial Nova" panose="020B0504020202020204" pitchFamily="34" charset="0"/>
                        </a:rPr>
                        <a:t>,  </a:t>
                      </a:r>
                      <a:r>
                        <a:rPr lang="nl-NL" sz="1900" dirty="0" err="1">
                          <a:latin typeface="Arial Nova" panose="020B0504020202020204" pitchFamily="34" charset="0"/>
                        </a:rPr>
                        <a:t>ask</a:t>
                      </a:r>
                      <a:r>
                        <a:rPr lang="nl-NL" sz="1900" dirty="0">
                          <a:latin typeface="Arial Nova" panose="020B0504020202020204" pitchFamily="34" charset="0"/>
                        </a:rPr>
                        <a:t>, feed, </a:t>
                      </a:r>
                      <a:r>
                        <a:rPr lang="nl-NL" sz="1900" dirty="0" err="1">
                          <a:latin typeface="Arial Nova" panose="020B0504020202020204" pitchFamily="34" charset="0"/>
                        </a:rPr>
                        <a:t>send</a:t>
                      </a:r>
                      <a:endParaRPr lang="nl-NL" sz="1900" dirty="0">
                        <a:latin typeface="Arial Nova" panose="020B0504020202020204" pitchFamily="34" charset="0"/>
                      </a:endParaRPr>
                    </a:p>
                  </a:txBody>
                  <a:tcPr marL="95482" marR="95482" marT="47741" marB="47741"/>
                </a:tc>
                <a:tc hMerge="1"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sz="1900" dirty="0">
                        <a:latin typeface="Arial Nova" panose="020B0504020202020204" pitchFamily="34" charset="0"/>
                      </a:endParaRPr>
                    </a:p>
                  </a:txBody>
                  <a:tcPr marL="95482" marR="95482" marT="47741" marB="47741"/>
                </a:tc>
                <a:extLst>
                  <a:ext uri="{0D108BD9-81ED-4DB2-BD59-A6C34878D82A}">
                    <a16:rowId xmlns:a16="http://schemas.microsoft.com/office/drawing/2014/main" val="2958297753"/>
                  </a:ext>
                </a:extLst>
              </a:tr>
              <a:tr h="954818">
                <a:tc>
                  <a:txBody>
                    <a:bodyPr/>
                    <a:lstStyle/>
                    <a:p>
                      <a:endParaRPr lang="nl-NL" sz="1900" dirty="0">
                        <a:latin typeface="Arial Nova" panose="020B0504020202020204" pitchFamily="34" charset="0"/>
                      </a:endParaRPr>
                    </a:p>
                  </a:txBody>
                  <a:tcPr marL="95482" marR="95482" marT="47741" marB="4774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>
                          <a:latin typeface="Arial Nova" panose="020B0504020202020204" pitchFamily="34" charset="0"/>
                        </a:rPr>
                        <a:t>The man </a:t>
                      </a:r>
                      <a:r>
                        <a:rPr lang="en-US" sz="1900" b="1" dirty="0">
                          <a:solidFill>
                            <a:schemeClr val="accent2"/>
                          </a:solidFill>
                          <a:latin typeface="Arial Nova" panose="020B0504020202020204" pitchFamily="34" charset="0"/>
                        </a:rPr>
                        <a:t>fed </a:t>
                      </a:r>
                      <a:r>
                        <a:rPr lang="en-US" sz="1900" dirty="0">
                          <a:latin typeface="Arial Nova" panose="020B0504020202020204" pitchFamily="34" charset="0"/>
                        </a:rPr>
                        <a:t>the horse a bale of hay.</a:t>
                      </a:r>
                      <a:endParaRPr lang="nl-NL" sz="1900" dirty="0">
                        <a:latin typeface="Arial Nova" panose="020B0504020202020204" pitchFamily="34" charset="0"/>
                      </a:endParaRPr>
                    </a:p>
                    <a:p>
                      <a:endParaRPr lang="nl-NL" sz="1900" dirty="0">
                        <a:latin typeface="Arial Nova" panose="020B0504020202020204" pitchFamily="34" charset="0"/>
                      </a:endParaRPr>
                    </a:p>
                  </a:txBody>
                  <a:tcPr marL="95482" marR="95482" marT="47741" marB="4774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>
                          <a:latin typeface="Arial Nova" panose="020B0504020202020204" pitchFamily="34" charset="0"/>
                        </a:rPr>
                        <a:t>A bale of hay </a:t>
                      </a:r>
                      <a:r>
                        <a:rPr lang="en-US" sz="1900" b="1" dirty="0">
                          <a:solidFill>
                            <a:schemeClr val="accent2"/>
                          </a:solidFill>
                          <a:latin typeface="Arial Nova" panose="020B0504020202020204" pitchFamily="34" charset="0"/>
                        </a:rPr>
                        <a:t>was fed </a:t>
                      </a:r>
                      <a:r>
                        <a:rPr lang="en-US" sz="1900" dirty="0">
                          <a:latin typeface="Arial Nova" panose="020B0504020202020204" pitchFamily="34" charset="0"/>
                        </a:rPr>
                        <a:t>to the horse.</a:t>
                      </a:r>
                      <a:endParaRPr lang="nl-NL" sz="1900" dirty="0">
                        <a:latin typeface="Arial Nova" panose="020B0504020202020204" pitchFamily="34" charset="0"/>
                      </a:endParaRPr>
                    </a:p>
                    <a:p>
                      <a:endParaRPr lang="nl-NL" sz="1900" dirty="0">
                        <a:latin typeface="Arial Nova" panose="020B0504020202020204" pitchFamily="34" charset="0"/>
                      </a:endParaRPr>
                    </a:p>
                  </a:txBody>
                  <a:tcPr marL="95482" marR="95482" marT="47741" marB="47741"/>
                </a:tc>
                <a:extLst>
                  <a:ext uri="{0D108BD9-81ED-4DB2-BD59-A6C34878D82A}">
                    <a16:rowId xmlns:a16="http://schemas.microsoft.com/office/drawing/2014/main" val="2681709652"/>
                  </a:ext>
                </a:extLst>
              </a:tr>
              <a:tr h="668373">
                <a:tc>
                  <a:txBody>
                    <a:bodyPr/>
                    <a:lstStyle/>
                    <a:p>
                      <a:endParaRPr lang="nl-NL" sz="1900">
                        <a:latin typeface="Arial Nova" panose="020B0504020202020204" pitchFamily="34" charset="0"/>
                      </a:endParaRPr>
                    </a:p>
                  </a:txBody>
                  <a:tcPr marL="95482" marR="95482" marT="47741" marB="47741"/>
                </a:tc>
                <a:tc>
                  <a:txBody>
                    <a:bodyPr/>
                    <a:lstStyle/>
                    <a:p>
                      <a:endParaRPr lang="nl-NL" sz="1900">
                        <a:latin typeface="Arial Nova" panose="020B0504020202020204" pitchFamily="34" charset="0"/>
                      </a:endParaRPr>
                    </a:p>
                  </a:txBody>
                  <a:tcPr marL="95482" marR="95482" marT="47741" marB="4774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>
                          <a:latin typeface="Arial Nova" panose="020B0504020202020204" pitchFamily="34" charset="0"/>
                        </a:rPr>
                        <a:t>The horse </a:t>
                      </a:r>
                      <a:r>
                        <a:rPr lang="en-US" sz="1900" b="1" dirty="0">
                          <a:solidFill>
                            <a:schemeClr val="accent2"/>
                          </a:solidFill>
                          <a:latin typeface="Arial Nova" panose="020B0504020202020204" pitchFamily="34" charset="0"/>
                        </a:rPr>
                        <a:t>was fed </a:t>
                      </a:r>
                      <a:r>
                        <a:rPr lang="en-US" sz="1900" dirty="0">
                          <a:latin typeface="Arial Nova" panose="020B0504020202020204" pitchFamily="34" charset="0"/>
                        </a:rPr>
                        <a:t>a bale of hay.</a:t>
                      </a:r>
                      <a:endParaRPr lang="nl-NL" sz="1900" dirty="0">
                        <a:latin typeface="Arial Nova" panose="020B0504020202020204" pitchFamily="34" charset="0"/>
                      </a:endParaRPr>
                    </a:p>
                    <a:p>
                      <a:endParaRPr lang="nl-NL" sz="1900" dirty="0">
                        <a:latin typeface="Arial Nova" panose="020B0504020202020204" pitchFamily="34" charset="0"/>
                      </a:endParaRPr>
                    </a:p>
                  </a:txBody>
                  <a:tcPr marL="95482" marR="95482" marT="47741" marB="47741"/>
                </a:tc>
                <a:extLst>
                  <a:ext uri="{0D108BD9-81ED-4DB2-BD59-A6C34878D82A}">
                    <a16:rowId xmlns:a16="http://schemas.microsoft.com/office/drawing/2014/main" val="40410403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0742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el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486900" cy="31709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dirty="0"/>
              <a:t>Exceptions (I)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AC315DF3-1D32-4BBD-B151-71C42C0A26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8842435"/>
              </p:ext>
            </p:extLst>
          </p:nvPr>
        </p:nvGraphicFramePr>
        <p:xfrm>
          <a:off x="1504335" y="1071716"/>
          <a:ext cx="8264073" cy="5017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4691">
                  <a:extLst>
                    <a:ext uri="{9D8B030D-6E8A-4147-A177-3AD203B41FA5}">
                      <a16:colId xmlns:a16="http://schemas.microsoft.com/office/drawing/2014/main" val="11984150"/>
                    </a:ext>
                  </a:extLst>
                </a:gridCol>
                <a:gridCol w="2754691">
                  <a:extLst>
                    <a:ext uri="{9D8B030D-6E8A-4147-A177-3AD203B41FA5}">
                      <a16:colId xmlns:a16="http://schemas.microsoft.com/office/drawing/2014/main" val="1831749722"/>
                    </a:ext>
                  </a:extLst>
                </a:gridCol>
                <a:gridCol w="2754691">
                  <a:extLst>
                    <a:ext uri="{9D8B030D-6E8A-4147-A177-3AD203B41FA5}">
                      <a16:colId xmlns:a16="http://schemas.microsoft.com/office/drawing/2014/main" val="3464800132"/>
                    </a:ext>
                  </a:extLst>
                </a:gridCol>
              </a:tblGrid>
              <a:tr h="546735">
                <a:tc>
                  <a:txBody>
                    <a:bodyPr/>
                    <a:lstStyle/>
                    <a:p>
                      <a:r>
                        <a:rPr lang="nl-NL" dirty="0" err="1">
                          <a:latin typeface="Arial Nova" panose="020B0504020202020204" pitchFamily="34" charset="0"/>
                        </a:rPr>
                        <a:t>Verb</a:t>
                      </a:r>
                      <a:endParaRPr lang="nl-NL" dirty="0">
                        <a:latin typeface="Arial Nova" panose="020B05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>
                          <a:latin typeface="Arial Nova" panose="020B0504020202020204" pitchFamily="34" charset="0"/>
                        </a:rPr>
                        <a:t>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err="1">
                          <a:latin typeface="Arial Nova" panose="020B0504020202020204" pitchFamily="34" charset="0"/>
                        </a:rPr>
                        <a:t>Passive</a:t>
                      </a:r>
                      <a:endParaRPr lang="nl-NL" dirty="0">
                        <a:latin typeface="Arial Nova" panose="020B05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7843679"/>
                  </a:ext>
                </a:extLst>
              </a:tr>
              <a:tr h="546735">
                <a:tc gridSpan="3">
                  <a:txBody>
                    <a:bodyPr/>
                    <a:lstStyle/>
                    <a:p>
                      <a:r>
                        <a:rPr lang="nl-NL" b="1" dirty="0" err="1">
                          <a:latin typeface="Arial Nova" panose="020B0504020202020204" pitchFamily="34" charset="0"/>
                        </a:rPr>
                        <a:t>Verbs</a:t>
                      </a:r>
                      <a:r>
                        <a:rPr lang="nl-NL" b="1" dirty="0">
                          <a:latin typeface="Arial Nova" panose="020B0504020202020204" pitchFamily="34" charset="0"/>
                        </a:rPr>
                        <a:t> without object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6464092"/>
                  </a:ext>
                </a:extLst>
              </a:tr>
              <a:tr h="943680">
                <a:tc>
                  <a:txBody>
                    <a:bodyPr/>
                    <a:lstStyle/>
                    <a:p>
                      <a:r>
                        <a:rPr lang="nl-NL" dirty="0">
                          <a:latin typeface="Arial Nova" panose="020B0504020202020204" pitchFamily="34" charset="0"/>
                        </a:rPr>
                        <a:t>happen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err="1">
                          <a:latin typeface="Arial Nova" panose="020B0504020202020204" pitchFamily="34" charset="0"/>
                        </a:rPr>
                        <a:t>Something</a:t>
                      </a:r>
                      <a:r>
                        <a:rPr lang="nl-NL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lang="nl-NL" b="1" dirty="0" err="1">
                          <a:solidFill>
                            <a:schemeClr val="accent2"/>
                          </a:solidFill>
                          <a:latin typeface="Arial Nova" panose="020B0504020202020204" pitchFamily="34" charset="0"/>
                        </a:rPr>
                        <a:t>happened</a:t>
                      </a:r>
                      <a:endParaRPr lang="nl-NL" b="1" dirty="0">
                        <a:solidFill>
                          <a:schemeClr val="accent2"/>
                        </a:solidFill>
                        <a:latin typeface="Arial Nova" panose="020B05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>
                          <a:latin typeface="Arial Nova" panose="020B0504020202020204" pitchFamily="34" charset="0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246201"/>
                  </a:ext>
                </a:extLst>
              </a:tr>
              <a:tr h="546735">
                <a:tc>
                  <a:txBody>
                    <a:bodyPr/>
                    <a:lstStyle/>
                    <a:p>
                      <a:r>
                        <a:rPr lang="nl-NL" dirty="0" err="1">
                          <a:latin typeface="Arial Nova" panose="020B0504020202020204" pitchFamily="34" charset="0"/>
                        </a:rPr>
                        <a:t>stay</a:t>
                      </a:r>
                      <a:endParaRPr lang="nl-NL" dirty="0">
                        <a:latin typeface="Arial Nova" panose="020B05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>
                          <a:latin typeface="Arial Nova" panose="020B0504020202020204" pitchFamily="34" charset="0"/>
                        </a:rPr>
                        <a:t>We </a:t>
                      </a:r>
                      <a:r>
                        <a:rPr lang="nl-NL" b="1" dirty="0" err="1">
                          <a:solidFill>
                            <a:schemeClr val="accent2"/>
                          </a:solidFill>
                          <a:latin typeface="Arial Nova" panose="020B0504020202020204" pitchFamily="34" charset="0"/>
                        </a:rPr>
                        <a:t>stayed</a:t>
                      </a:r>
                      <a:r>
                        <a:rPr lang="nl-NL" dirty="0">
                          <a:latin typeface="Arial Nova" panose="020B0504020202020204" pitchFamily="34" charset="0"/>
                        </a:rPr>
                        <a:t> at home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dirty="0">
                        <a:latin typeface="Arial Nova" panose="020B05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7926652"/>
                  </a:ext>
                </a:extLst>
              </a:tr>
              <a:tr h="546735">
                <a:tc gridSpan="3">
                  <a:txBody>
                    <a:bodyPr/>
                    <a:lstStyle/>
                    <a:p>
                      <a:r>
                        <a:rPr lang="nl-NL" b="1" dirty="0" err="1">
                          <a:latin typeface="Arial Nova" panose="020B0504020202020204" pitchFamily="34" charset="0"/>
                        </a:rPr>
                        <a:t>Some</a:t>
                      </a:r>
                      <a:r>
                        <a:rPr lang="nl-NL" b="1" dirty="0">
                          <a:latin typeface="Arial Nova" panose="020B0504020202020204" pitchFamily="34" charset="0"/>
                        </a:rPr>
                        <a:t> state </a:t>
                      </a:r>
                      <a:r>
                        <a:rPr lang="nl-NL" b="1" dirty="0" err="1">
                          <a:latin typeface="Arial Nova" panose="020B0504020202020204" pitchFamily="34" charset="0"/>
                        </a:rPr>
                        <a:t>verbs</a:t>
                      </a:r>
                      <a:endParaRPr lang="nl-NL" b="1" dirty="0">
                        <a:latin typeface="Arial Nova" panose="020B05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512708"/>
                  </a:ext>
                </a:extLst>
              </a:tr>
              <a:tr h="943680">
                <a:tc>
                  <a:txBody>
                    <a:bodyPr/>
                    <a:lstStyle/>
                    <a:p>
                      <a:r>
                        <a:rPr lang="nl-NL" dirty="0" err="1">
                          <a:latin typeface="Arial Nova" panose="020B0504020202020204" pitchFamily="34" charset="0"/>
                        </a:rPr>
                        <a:t>lack</a:t>
                      </a:r>
                      <a:endParaRPr lang="nl-NL" dirty="0">
                        <a:latin typeface="Arial Nova" panose="020B05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>
                          <a:latin typeface="Arial Nova" panose="020B0504020202020204" pitchFamily="34" charset="0"/>
                        </a:rPr>
                        <a:t>The </a:t>
                      </a:r>
                      <a:r>
                        <a:rPr lang="nl-NL" dirty="0" err="1">
                          <a:latin typeface="Arial Nova" panose="020B0504020202020204" pitchFamily="34" charset="0"/>
                        </a:rPr>
                        <a:t>player</a:t>
                      </a:r>
                      <a:r>
                        <a:rPr lang="nl-NL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lang="nl-NL" b="1" dirty="0" err="1">
                          <a:solidFill>
                            <a:schemeClr val="accent2"/>
                          </a:solidFill>
                          <a:latin typeface="Arial Nova" panose="020B0504020202020204" pitchFamily="34" charset="0"/>
                        </a:rPr>
                        <a:t>lacks</a:t>
                      </a:r>
                      <a:r>
                        <a:rPr lang="nl-NL" dirty="0">
                          <a:latin typeface="Arial Nova" panose="020B0504020202020204" pitchFamily="34" charset="0"/>
                        </a:rPr>
                        <a:t> talent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>
                          <a:latin typeface="Arial Nova" panose="020B0504020202020204" pitchFamily="34" charset="0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6969238"/>
                  </a:ext>
                </a:extLst>
              </a:tr>
              <a:tr h="943680">
                <a:tc>
                  <a:txBody>
                    <a:bodyPr/>
                    <a:lstStyle/>
                    <a:p>
                      <a:r>
                        <a:rPr lang="nl-NL" dirty="0">
                          <a:latin typeface="Arial Nova" panose="020B0504020202020204" pitchFamily="34" charset="0"/>
                        </a:rPr>
                        <a:t>have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>
                          <a:latin typeface="Arial Nova" panose="020B0504020202020204" pitchFamily="34" charset="0"/>
                        </a:rPr>
                        <a:t>We </a:t>
                      </a:r>
                      <a:r>
                        <a:rPr lang="nl-NL" b="1" dirty="0">
                          <a:solidFill>
                            <a:schemeClr val="accent2"/>
                          </a:solidFill>
                          <a:latin typeface="Arial Nova" panose="020B0504020202020204" pitchFamily="34" charset="0"/>
                        </a:rPr>
                        <a:t>have</a:t>
                      </a:r>
                      <a:r>
                        <a:rPr lang="nl-NL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lang="nl-NL" dirty="0" err="1">
                          <a:latin typeface="Arial Nova" panose="020B0504020202020204" pitchFamily="34" charset="0"/>
                        </a:rPr>
                        <a:t>three</a:t>
                      </a:r>
                      <a:r>
                        <a:rPr lang="nl-NL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lang="nl-NL" dirty="0" err="1">
                          <a:latin typeface="Arial Nova" panose="020B0504020202020204" pitchFamily="34" charset="0"/>
                        </a:rPr>
                        <a:t>dogs</a:t>
                      </a:r>
                      <a:endParaRPr lang="nl-NL" dirty="0">
                        <a:latin typeface="Arial Nova" panose="020B05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>
                          <a:latin typeface="Arial Nova" panose="020B0504020202020204" pitchFamily="34" charset="0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13636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09887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el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486900" cy="36625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dirty="0"/>
              <a:t>Exceptions (II)</a:t>
            </a:r>
          </a:p>
        </p:txBody>
      </p:sp>
      <p:graphicFrame>
        <p:nvGraphicFramePr>
          <p:cNvPr id="4" name="Table 2">
            <a:extLst>
              <a:ext uri="{FF2B5EF4-FFF2-40B4-BE49-F238E27FC236}">
                <a16:creationId xmlns:a16="http://schemas.microsoft.com/office/drawing/2014/main" id="{5BA3F5A6-237D-4882-9000-CCA6A0139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7552556"/>
              </p:ext>
            </p:extLst>
          </p:nvPr>
        </p:nvGraphicFramePr>
        <p:xfrm>
          <a:off x="1494502" y="1219200"/>
          <a:ext cx="9773265" cy="47883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6832">
                  <a:extLst>
                    <a:ext uri="{9D8B030D-6E8A-4147-A177-3AD203B41FA5}">
                      <a16:colId xmlns:a16="http://schemas.microsoft.com/office/drawing/2014/main" val="11984150"/>
                    </a:ext>
                  </a:extLst>
                </a:gridCol>
                <a:gridCol w="3958108">
                  <a:extLst>
                    <a:ext uri="{9D8B030D-6E8A-4147-A177-3AD203B41FA5}">
                      <a16:colId xmlns:a16="http://schemas.microsoft.com/office/drawing/2014/main" val="847599048"/>
                    </a:ext>
                  </a:extLst>
                </a:gridCol>
                <a:gridCol w="3508325">
                  <a:extLst>
                    <a:ext uri="{9D8B030D-6E8A-4147-A177-3AD203B41FA5}">
                      <a16:colId xmlns:a16="http://schemas.microsoft.com/office/drawing/2014/main" val="2885936011"/>
                    </a:ext>
                  </a:extLst>
                </a:gridCol>
              </a:tblGrid>
              <a:tr h="604840">
                <a:tc>
                  <a:txBody>
                    <a:bodyPr/>
                    <a:lstStyle/>
                    <a:p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Verb</a:t>
                      </a:r>
                      <a:endParaRPr lang="nl-NL" sz="1800" dirty="0">
                        <a:latin typeface="Arial Nova" panose="020B0504020202020204" pitchFamily="34" charset="0"/>
                      </a:endParaRPr>
                    </a:p>
                  </a:txBody>
                  <a:tcPr marL="93540" marR="93540" marT="46770" marB="46770"/>
                </a:tc>
                <a:tc>
                  <a:txBody>
                    <a:bodyPr/>
                    <a:lstStyle/>
                    <a:p>
                      <a:r>
                        <a:rPr lang="nl-NL" sz="1800" dirty="0">
                          <a:latin typeface="Arial Nova" panose="020B0504020202020204" pitchFamily="34" charset="0"/>
                        </a:rPr>
                        <a:t>Active</a:t>
                      </a:r>
                    </a:p>
                  </a:txBody>
                  <a:tcPr marL="93540" marR="93540" marT="46770" marB="46770"/>
                </a:tc>
                <a:tc>
                  <a:txBody>
                    <a:bodyPr/>
                    <a:lstStyle/>
                    <a:p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Passive</a:t>
                      </a:r>
                      <a:endParaRPr lang="nl-NL" sz="1800" dirty="0">
                        <a:latin typeface="Arial Nova" panose="020B0504020202020204" pitchFamily="34" charset="0"/>
                      </a:endParaRPr>
                    </a:p>
                  </a:txBody>
                  <a:tcPr marL="93540" marR="93540" marT="46770" marB="46770"/>
                </a:tc>
                <a:extLst>
                  <a:ext uri="{0D108BD9-81ED-4DB2-BD59-A6C34878D82A}">
                    <a16:rowId xmlns:a16="http://schemas.microsoft.com/office/drawing/2014/main" val="2997843679"/>
                  </a:ext>
                </a:extLst>
              </a:tr>
              <a:tr h="866465">
                <a:tc gridSpan="3">
                  <a:txBody>
                    <a:bodyPr/>
                    <a:lstStyle/>
                    <a:p>
                      <a:r>
                        <a:rPr lang="nl-NL" sz="1800" b="1" dirty="0" err="1">
                          <a:latin typeface="Arial Nova" panose="020B0504020202020204" pitchFamily="34" charset="0"/>
                        </a:rPr>
                        <a:t>Verbs</a:t>
                      </a:r>
                      <a:r>
                        <a:rPr lang="nl-NL" sz="1800" b="1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lang="nl-NL" sz="1800" b="1" dirty="0" err="1">
                          <a:latin typeface="Arial Nova" panose="020B0504020202020204" pitchFamily="34" charset="0"/>
                        </a:rPr>
                        <a:t>that</a:t>
                      </a:r>
                      <a:r>
                        <a:rPr lang="nl-NL" sz="1800" b="1" dirty="0">
                          <a:latin typeface="Arial Nova" panose="020B0504020202020204" pitchFamily="34" charset="0"/>
                        </a:rPr>
                        <a:t> are </a:t>
                      </a:r>
                      <a:r>
                        <a:rPr lang="nl-NL" sz="1800" b="1" u="sng" dirty="0">
                          <a:latin typeface="Arial Nova" panose="020B0504020202020204" pitchFamily="34" charset="0"/>
                        </a:rPr>
                        <a:t>action </a:t>
                      </a:r>
                      <a:r>
                        <a:rPr lang="nl-NL" sz="1800" b="1" u="none" dirty="0" err="1">
                          <a:latin typeface="Arial Nova" panose="020B0504020202020204" pitchFamily="34" charset="0"/>
                        </a:rPr>
                        <a:t>and</a:t>
                      </a:r>
                      <a:r>
                        <a:rPr lang="nl-NL" sz="1800" b="1" u="none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lang="nl-NL" sz="1800" b="1" u="sng" dirty="0">
                          <a:latin typeface="Arial Nova" panose="020B0504020202020204" pitchFamily="34" charset="0"/>
                        </a:rPr>
                        <a:t>state</a:t>
                      </a:r>
                      <a:r>
                        <a:rPr lang="nl-NL" sz="1800" b="0" u="sng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lang="nl-NL" sz="1800" b="0" u="none" dirty="0" err="1">
                          <a:latin typeface="Arial Nova" panose="020B0504020202020204" pitchFamily="34" charset="0"/>
                        </a:rPr>
                        <a:t>verbs</a:t>
                      </a:r>
                      <a:r>
                        <a:rPr lang="nl-NL" sz="1800" b="0" u="none" dirty="0">
                          <a:latin typeface="Arial Nova" panose="020B0504020202020204" pitchFamily="34" charset="0"/>
                        </a:rPr>
                        <a:t>.</a:t>
                      </a:r>
                    </a:p>
                    <a:p>
                      <a:r>
                        <a:rPr lang="nl-NL" sz="1800" b="0" u="none" dirty="0" err="1">
                          <a:latin typeface="Arial Nova" panose="020B0504020202020204" pitchFamily="34" charset="0"/>
                        </a:rPr>
                        <a:t>Only</a:t>
                      </a:r>
                      <a:r>
                        <a:rPr lang="nl-NL" sz="1800" b="0" u="none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lang="nl-NL" sz="1800" b="0" u="none" dirty="0" err="1">
                          <a:latin typeface="Arial Nova" panose="020B0504020202020204" pitchFamily="34" charset="0"/>
                        </a:rPr>
                        <a:t>passive</a:t>
                      </a:r>
                      <a:r>
                        <a:rPr lang="nl-NL" sz="1800" b="0" u="none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lang="nl-NL" sz="1800" b="0" u="none" dirty="0" err="1">
                          <a:latin typeface="Arial Nova" panose="020B0504020202020204" pitchFamily="34" charset="0"/>
                        </a:rPr>
                        <a:t>when</a:t>
                      </a:r>
                      <a:r>
                        <a:rPr lang="nl-NL" sz="1800" b="0" u="none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lang="nl-NL" sz="1800" b="0" u="none" dirty="0" err="1">
                          <a:latin typeface="Arial Nova" panose="020B0504020202020204" pitchFamily="34" charset="0"/>
                        </a:rPr>
                        <a:t>they</a:t>
                      </a:r>
                      <a:r>
                        <a:rPr lang="nl-NL" sz="1800" b="0" u="none" dirty="0">
                          <a:latin typeface="Arial Nova" panose="020B0504020202020204" pitchFamily="34" charset="0"/>
                        </a:rPr>
                        <a:t> are </a:t>
                      </a:r>
                      <a:r>
                        <a:rPr lang="nl-NL" sz="1800" b="1" u="none" dirty="0">
                          <a:latin typeface="Arial Nova" panose="020B0504020202020204" pitchFamily="34" charset="0"/>
                        </a:rPr>
                        <a:t>action </a:t>
                      </a:r>
                      <a:r>
                        <a:rPr lang="nl-NL" sz="1800" b="0" u="none" dirty="0" err="1">
                          <a:latin typeface="Arial Nova" panose="020B0504020202020204" pitchFamily="34" charset="0"/>
                        </a:rPr>
                        <a:t>verbs</a:t>
                      </a:r>
                      <a:r>
                        <a:rPr lang="nl-NL" sz="1800" b="0" u="none" dirty="0">
                          <a:latin typeface="Arial Nova" panose="020B0504020202020204" pitchFamily="34" charset="0"/>
                        </a:rPr>
                        <a:t> (</a:t>
                      </a:r>
                      <a:r>
                        <a:rPr lang="nl-NL" sz="1800" b="0" u="none" dirty="0" err="1">
                          <a:latin typeface="Arial Nova" panose="020B0504020202020204" pitchFamily="34" charset="0"/>
                        </a:rPr>
                        <a:t>cost</a:t>
                      </a:r>
                      <a:r>
                        <a:rPr lang="nl-NL" sz="1800" b="0" u="none" dirty="0">
                          <a:latin typeface="Arial Nova" panose="020B0504020202020204" pitchFamily="34" charset="0"/>
                        </a:rPr>
                        <a:t>, fit, </a:t>
                      </a:r>
                      <a:r>
                        <a:rPr lang="nl-NL" sz="1800" b="0" u="none" dirty="0" err="1">
                          <a:latin typeface="Arial Nova" panose="020B0504020202020204" pitchFamily="34" charset="0"/>
                        </a:rPr>
                        <a:t>measure</a:t>
                      </a:r>
                      <a:r>
                        <a:rPr lang="nl-NL" sz="1800" b="0" u="none" dirty="0">
                          <a:latin typeface="Arial Nova" panose="020B0504020202020204" pitchFamily="34" charset="0"/>
                        </a:rPr>
                        <a:t>, </a:t>
                      </a:r>
                      <a:r>
                        <a:rPr lang="nl-NL" sz="1800" b="0" u="none" dirty="0" err="1">
                          <a:latin typeface="Arial Nova" panose="020B0504020202020204" pitchFamily="34" charset="0"/>
                        </a:rPr>
                        <a:t>weigh</a:t>
                      </a:r>
                      <a:r>
                        <a:rPr lang="nl-NL" sz="1800" b="0" u="none" dirty="0">
                          <a:latin typeface="Arial Nova" panose="020B0504020202020204" pitchFamily="34" charset="0"/>
                        </a:rPr>
                        <a:t>)</a:t>
                      </a:r>
                      <a:endParaRPr lang="nl-NL" sz="1800" b="1" dirty="0">
                        <a:latin typeface="Arial Nova" panose="020B0504020202020204" pitchFamily="34" charset="0"/>
                      </a:endParaRPr>
                    </a:p>
                  </a:txBody>
                  <a:tcPr marL="93540" marR="93540" marT="46770" marB="46770"/>
                </a:tc>
                <a:tc hMerge="1">
                  <a:txBody>
                    <a:bodyPr/>
                    <a:lstStyle/>
                    <a:p>
                      <a:endParaRPr lang="nl-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6464092"/>
                  </a:ext>
                </a:extLst>
              </a:tr>
              <a:tr h="607891">
                <a:tc gridSpan="3">
                  <a:txBody>
                    <a:bodyPr/>
                    <a:lstStyle/>
                    <a:p>
                      <a:r>
                        <a:rPr lang="nl-NL" sz="1800" b="1" dirty="0">
                          <a:latin typeface="Arial Nova" panose="020B0504020202020204" pitchFamily="34" charset="0"/>
                        </a:rPr>
                        <a:t>As a state </a:t>
                      </a:r>
                      <a:r>
                        <a:rPr lang="nl-NL" sz="1800" b="1" dirty="0" err="1">
                          <a:latin typeface="Arial Nova" panose="020B0504020202020204" pitchFamily="34" charset="0"/>
                        </a:rPr>
                        <a:t>verb</a:t>
                      </a:r>
                      <a:endParaRPr lang="nl-NL" sz="1800" b="1" dirty="0">
                        <a:latin typeface="Arial Nova" panose="020B0504020202020204" pitchFamily="34" charset="0"/>
                      </a:endParaRPr>
                    </a:p>
                  </a:txBody>
                  <a:tcPr marL="93540" marR="93540" marT="46770" marB="46770"/>
                </a:tc>
                <a:tc hMerge="1">
                  <a:txBody>
                    <a:bodyPr/>
                    <a:lstStyle/>
                    <a:p>
                      <a:endParaRPr lang="nl-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246201"/>
                  </a:ext>
                </a:extLst>
              </a:tr>
              <a:tr h="866465">
                <a:tc>
                  <a:txBody>
                    <a:bodyPr/>
                    <a:lstStyle/>
                    <a:p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weigh</a:t>
                      </a:r>
                      <a:endParaRPr lang="nl-NL" sz="1800" dirty="0">
                        <a:latin typeface="Arial Nova" panose="020B0504020202020204" pitchFamily="34" charset="0"/>
                      </a:endParaRPr>
                    </a:p>
                  </a:txBody>
                  <a:tcPr marL="93540" marR="93540" marT="46770" marB="46770"/>
                </a:tc>
                <a:tc>
                  <a:txBody>
                    <a:bodyPr/>
                    <a:lstStyle/>
                    <a:p>
                      <a:r>
                        <a:rPr lang="nl-NL" sz="1800" dirty="0">
                          <a:latin typeface="Arial Nova" panose="020B0504020202020204" pitchFamily="34" charset="0"/>
                        </a:rPr>
                        <a:t>The person </a:t>
                      </a:r>
                      <a:r>
                        <a:rPr lang="nl-NL" sz="1800" b="1" dirty="0" err="1">
                          <a:solidFill>
                            <a:schemeClr val="accent2"/>
                          </a:solidFill>
                          <a:latin typeface="Arial Nova" panose="020B0504020202020204" pitchFamily="34" charset="0"/>
                        </a:rPr>
                        <a:t>weighed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80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kilos</a:t>
                      </a:r>
                      <a:endParaRPr lang="nl-NL" sz="1800" dirty="0">
                        <a:latin typeface="Arial Nova" panose="020B0504020202020204" pitchFamily="34" charset="0"/>
                      </a:endParaRPr>
                    </a:p>
                  </a:txBody>
                  <a:tcPr marL="93540" marR="93540" marT="46770" marB="46770"/>
                </a:tc>
                <a:tc>
                  <a:txBody>
                    <a:bodyPr/>
                    <a:lstStyle/>
                    <a:p>
                      <a:r>
                        <a:rPr lang="nl-NL" sz="1800" dirty="0">
                          <a:latin typeface="Arial Nova" panose="020B0504020202020204" pitchFamily="34" charset="0"/>
                        </a:rPr>
                        <a:t>-</a:t>
                      </a:r>
                    </a:p>
                  </a:txBody>
                  <a:tcPr marL="93540" marR="93540" marT="46770" marB="46770"/>
                </a:tc>
                <a:extLst>
                  <a:ext uri="{0D108BD9-81ED-4DB2-BD59-A6C34878D82A}">
                    <a16:rowId xmlns:a16="http://schemas.microsoft.com/office/drawing/2014/main" val="1297926652"/>
                  </a:ext>
                </a:extLst>
              </a:tr>
              <a:tr h="604840">
                <a:tc gridSpan="3">
                  <a:txBody>
                    <a:bodyPr/>
                    <a:lstStyle/>
                    <a:p>
                      <a:r>
                        <a:rPr lang="nl-NL" sz="1800" b="1" dirty="0">
                          <a:latin typeface="Arial Nova" panose="020B0504020202020204" pitchFamily="34" charset="0"/>
                        </a:rPr>
                        <a:t>As </a:t>
                      </a:r>
                      <a:r>
                        <a:rPr lang="nl-NL" sz="1800" b="1" dirty="0" err="1">
                          <a:latin typeface="Arial Nova" panose="020B0504020202020204" pitchFamily="34" charset="0"/>
                        </a:rPr>
                        <a:t>an</a:t>
                      </a:r>
                      <a:r>
                        <a:rPr lang="nl-NL" sz="1800" b="1" dirty="0">
                          <a:latin typeface="Arial Nova" panose="020B0504020202020204" pitchFamily="34" charset="0"/>
                        </a:rPr>
                        <a:t> action </a:t>
                      </a:r>
                      <a:r>
                        <a:rPr lang="nl-NL" sz="1800" b="1" dirty="0" err="1">
                          <a:latin typeface="Arial Nova" panose="020B0504020202020204" pitchFamily="34" charset="0"/>
                        </a:rPr>
                        <a:t>verb</a:t>
                      </a:r>
                      <a:endParaRPr lang="nl-NL" sz="1800" b="1" dirty="0">
                        <a:latin typeface="Arial Nova" panose="020B0504020202020204" pitchFamily="34" charset="0"/>
                      </a:endParaRPr>
                    </a:p>
                  </a:txBody>
                  <a:tcPr marL="93540" marR="93540" marT="46770" marB="46770"/>
                </a:tc>
                <a:tc hMerge="1">
                  <a:txBody>
                    <a:bodyPr/>
                    <a:lstStyle/>
                    <a:p>
                      <a:endParaRPr lang="nl-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512708"/>
                  </a:ext>
                </a:extLst>
              </a:tr>
              <a:tr h="1237809">
                <a:tc>
                  <a:txBody>
                    <a:bodyPr/>
                    <a:lstStyle/>
                    <a:p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weigh</a:t>
                      </a:r>
                      <a:endParaRPr lang="nl-NL" sz="1800" dirty="0">
                        <a:latin typeface="Arial Nova" panose="020B0504020202020204" pitchFamily="34" charset="0"/>
                      </a:endParaRPr>
                    </a:p>
                  </a:txBody>
                  <a:tcPr marL="93540" marR="93540" marT="46770" marB="46770"/>
                </a:tc>
                <a:tc>
                  <a:txBody>
                    <a:bodyPr/>
                    <a:lstStyle/>
                    <a:p>
                      <a:r>
                        <a:rPr lang="nl-NL" sz="1800" dirty="0">
                          <a:latin typeface="Arial Nova" panose="020B0504020202020204" pitchFamily="34" charset="0"/>
                        </a:rPr>
                        <a:t>The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woman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lang="nl-NL" sz="1800" b="1" dirty="0" err="1">
                          <a:solidFill>
                            <a:schemeClr val="accent2"/>
                          </a:solidFill>
                          <a:latin typeface="Arial Nova" panose="020B0504020202020204" pitchFamily="34" charset="0"/>
                        </a:rPr>
                        <a:t>weighed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the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apples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on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the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scale</a:t>
                      </a:r>
                      <a:endParaRPr lang="nl-NL" sz="1800" dirty="0">
                        <a:latin typeface="Arial Nova" panose="020B0504020202020204" pitchFamily="34" charset="0"/>
                      </a:endParaRPr>
                    </a:p>
                  </a:txBody>
                  <a:tcPr marL="93540" marR="93540" marT="46770" marB="46770"/>
                </a:tc>
                <a:tc>
                  <a:txBody>
                    <a:bodyPr/>
                    <a:lstStyle/>
                    <a:p>
                      <a:r>
                        <a:rPr lang="nl-NL" sz="1800" dirty="0">
                          <a:latin typeface="Arial Nova" panose="020B0504020202020204" pitchFamily="34" charset="0"/>
                        </a:rPr>
                        <a:t>The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apples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lang="nl-NL" sz="1800" b="1" dirty="0" err="1">
                          <a:solidFill>
                            <a:schemeClr val="accent2"/>
                          </a:solidFill>
                          <a:latin typeface="Arial Nova" panose="020B0504020202020204" pitchFamily="34" charset="0"/>
                        </a:rPr>
                        <a:t>were</a:t>
                      </a:r>
                      <a:r>
                        <a:rPr lang="nl-NL" sz="1800" b="1" dirty="0">
                          <a:solidFill>
                            <a:schemeClr val="accent2"/>
                          </a:solidFill>
                          <a:latin typeface="Arial Nova" panose="020B0504020202020204" pitchFamily="34" charset="0"/>
                        </a:rPr>
                        <a:t> </a:t>
                      </a:r>
                      <a:r>
                        <a:rPr lang="nl-NL" sz="1800" b="1" dirty="0" err="1">
                          <a:solidFill>
                            <a:schemeClr val="accent2"/>
                          </a:solidFill>
                          <a:latin typeface="Arial Nova" panose="020B0504020202020204" pitchFamily="34" charset="0"/>
                        </a:rPr>
                        <a:t>weighed</a:t>
                      </a:r>
                      <a:r>
                        <a:rPr lang="nl-NL" sz="1800" b="1" dirty="0">
                          <a:solidFill>
                            <a:schemeClr val="accent2"/>
                          </a:solidFill>
                          <a:latin typeface="Arial Nova" panose="020B0504020202020204" pitchFamily="34" charset="0"/>
                        </a:rPr>
                        <a:t> 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on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the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scale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(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by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the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woman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)</a:t>
                      </a:r>
                    </a:p>
                  </a:txBody>
                  <a:tcPr marL="93540" marR="93540" marT="46770" marB="46770"/>
                </a:tc>
                <a:extLst>
                  <a:ext uri="{0D108BD9-81ED-4DB2-BD59-A6C34878D82A}">
                    <a16:rowId xmlns:a16="http://schemas.microsoft.com/office/drawing/2014/main" val="6069692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77128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6571500" y="639098"/>
            <a:ext cx="3609804" cy="230074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defRPr/>
            </a:pPr>
            <a:r>
              <a:rPr lang="en-US" dirty="0"/>
              <a:t>Passive</a:t>
            </a:r>
          </a:p>
        </p:txBody>
      </p:sp>
      <p:sp>
        <p:nvSpPr>
          <p:cNvPr id="11267" name="Tijdelijke aanduiding voor tekst 4"/>
          <p:cNvSpPr>
            <a:spLocks noGrp="1"/>
          </p:cNvSpPr>
          <p:nvPr>
            <p:ph type="body" idx="1"/>
          </p:nvPr>
        </p:nvSpPr>
        <p:spPr>
          <a:xfrm>
            <a:off x="6559478" y="2939845"/>
            <a:ext cx="3621826" cy="123861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usage</a:t>
            </a:r>
          </a:p>
        </p:txBody>
      </p:sp>
      <p:pic>
        <p:nvPicPr>
          <p:cNvPr id="5" name="Picture 4" descr="A picture containing text, clipart, linedrawing&#10;&#10;Description automatically generated">
            <a:extLst>
              <a:ext uri="{FF2B5EF4-FFF2-40B4-BE49-F238E27FC236}">
                <a16:creationId xmlns:a16="http://schemas.microsoft.com/office/drawing/2014/main" id="{6BD12775-F3FF-4E0E-99B2-DC50A70AEC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6701" y="1346161"/>
            <a:ext cx="5207098" cy="4165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4680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el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486900" cy="877529"/>
          </a:xfrm>
        </p:spPr>
        <p:txBody>
          <a:bodyPr>
            <a:normAutofit/>
          </a:bodyPr>
          <a:lstStyle/>
          <a:p>
            <a:pPr eaLnBrk="1" hangingPunct="1"/>
            <a:r>
              <a:rPr lang="en-GB" dirty="0"/>
              <a:t>When to use? - I</a:t>
            </a:r>
          </a:p>
        </p:txBody>
      </p:sp>
      <p:sp>
        <p:nvSpPr>
          <p:cNvPr id="15363" name="Tijdelijke aanduiding voor inhoud 2"/>
          <p:cNvSpPr>
            <a:spLocks noGrp="1"/>
          </p:cNvSpPr>
          <p:nvPr>
            <p:ph idx="1"/>
          </p:nvPr>
        </p:nvSpPr>
        <p:spPr>
          <a:xfrm>
            <a:off x="1371600" y="1959135"/>
            <a:ext cx="9486901" cy="3918098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nl-NL" sz="2800" dirty="0" err="1"/>
              <a:t>When</a:t>
            </a:r>
            <a:r>
              <a:rPr lang="nl-NL" sz="2800" dirty="0"/>
              <a:t> we focus on the person/</a:t>
            </a:r>
            <a:r>
              <a:rPr lang="nl-NL" sz="2800" dirty="0" err="1"/>
              <a:t>thing</a:t>
            </a:r>
            <a:r>
              <a:rPr lang="nl-NL" sz="2800" dirty="0"/>
              <a:t> </a:t>
            </a:r>
            <a:r>
              <a:rPr lang="nl-NL" sz="2800" dirty="0" err="1"/>
              <a:t>undergoing</a:t>
            </a:r>
            <a:r>
              <a:rPr lang="nl-NL" sz="2800" dirty="0"/>
              <a:t> the action (even </a:t>
            </a:r>
            <a:r>
              <a:rPr lang="nl-NL" sz="2800" dirty="0" err="1"/>
              <a:t>though</a:t>
            </a:r>
            <a:r>
              <a:rPr lang="nl-NL" sz="2800" dirty="0"/>
              <a:t> the agent is </a:t>
            </a:r>
            <a:r>
              <a:rPr lang="nl-NL" sz="2800" dirty="0" err="1"/>
              <a:t>mentioned</a:t>
            </a:r>
            <a:r>
              <a:rPr lang="nl-NL" sz="2800" dirty="0"/>
              <a:t>)</a:t>
            </a:r>
            <a:endParaRPr lang="nl-NL" sz="2800" i="1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nl-NL" sz="2400" i="1" dirty="0" err="1"/>
              <a:t>America</a:t>
            </a:r>
            <a:r>
              <a:rPr lang="nl-NL" sz="2400" i="1" dirty="0"/>
              <a:t> </a:t>
            </a:r>
            <a:r>
              <a:rPr lang="nl-NL" sz="2400" b="1" i="1" dirty="0"/>
              <a:t>was </a:t>
            </a:r>
            <a:r>
              <a:rPr lang="nl-NL" sz="2400" b="1" i="1" dirty="0" err="1"/>
              <a:t>dicovered</a:t>
            </a:r>
            <a:r>
              <a:rPr lang="nl-NL" sz="2400" b="1" i="1" dirty="0"/>
              <a:t> </a:t>
            </a:r>
            <a:r>
              <a:rPr lang="nl-NL" sz="2400" i="1" dirty="0" err="1"/>
              <a:t>by</a:t>
            </a:r>
            <a:r>
              <a:rPr lang="nl-NL" sz="2400" i="1" dirty="0"/>
              <a:t> </a:t>
            </a:r>
            <a:r>
              <a:rPr lang="nl-NL" sz="2400" i="1" dirty="0" err="1"/>
              <a:t>Columbus</a:t>
            </a:r>
            <a:r>
              <a:rPr lang="nl-NL" sz="2400" i="1" dirty="0"/>
              <a:t>.</a:t>
            </a:r>
          </a:p>
          <a:p>
            <a:pPr marL="726948" lvl="2" indent="-342900">
              <a:buFont typeface="+mj-lt"/>
              <a:buAutoNum type="arabicPeriod"/>
            </a:pPr>
            <a:endParaRPr lang="nl-NL" sz="2000" dirty="0"/>
          </a:p>
          <a:p>
            <a:pPr marL="457200" indent="-457200">
              <a:buFont typeface="+mj-lt"/>
              <a:buAutoNum type="arabicPeriod"/>
            </a:pPr>
            <a:r>
              <a:rPr lang="nl-NL" sz="2800" dirty="0" err="1"/>
              <a:t>You</a:t>
            </a:r>
            <a:r>
              <a:rPr lang="nl-NL" sz="2800" dirty="0"/>
              <a:t> </a:t>
            </a:r>
            <a:r>
              <a:rPr lang="nl-NL" sz="2800" dirty="0" err="1"/>
              <a:t>find</a:t>
            </a:r>
            <a:r>
              <a:rPr lang="nl-NL" sz="2800" dirty="0"/>
              <a:t> </a:t>
            </a:r>
            <a:r>
              <a:rPr lang="nl-NL" sz="2800" dirty="0" err="1"/>
              <a:t>this</a:t>
            </a:r>
            <a:r>
              <a:rPr lang="nl-NL" sz="2800" dirty="0"/>
              <a:t> in </a:t>
            </a:r>
            <a:r>
              <a:rPr lang="nl-NL" sz="2800" dirty="0" err="1"/>
              <a:t>formal</a:t>
            </a:r>
            <a:r>
              <a:rPr lang="nl-NL" sz="2800" dirty="0"/>
              <a:t>, </a:t>
            </a:r>
            <a:r>
              <a:rPr lang="nl-NL" sz="2800" dirty="0" err="1"/>
              <a:t>academic</a:t>
            </a:r>
            <a:r>
              <a:rPr lang="nl-NL" sz="2800" dirty="0"/>
              <a:t> </a:t>
            </a:r>
            <a:r>
              <a:rPr lang="nl-NL" sz="2800" dirty="0" err="1"/>
              <a:t>writing</a:t>
            </a:r>
            <a:r>
              <a:rPr lang="nl-NL" sz="2800" dirty="0"/>
              <a:t>, </a:t>
            </a:r>
            <a:r>
              <a:rPr lang="nl-NL" sz="2800" dirty="0" err="1"/>
              <a:t>textbooks</a:t>
            </a:r>
            <a:r>
              <a:rPr lang="nl-NL" sz="2800" dirty="0"/>
              <a:t>,  </a:t>
            </a:r>
            <a:r>
              <a:rPr lang="nl-NL" sz="2800" dirty="0" err="1"/>
              <a:t>news</a:t>
            </a:r>
            <a:r>
              <a:rPr lang="nl-NL" sz="2800" dirty="0"/>
              <a:t> reports.</a:t>
            </a:r>
            <a:endParaRPr lang="en-US" sz="2800" dirty="0"/>
          </a:p>
          <a:p>
            <a:pPr eaLnBrk="1" hangingPunct="1">
              <a:buFont typeface="Wingdings 2" pitchFamily="18" charset="2"/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54938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629205" y="394977"/>
            <a:ext cx="7543800" cy="1450757"/>
          </a:xfrm>
        </p:spPr>
        <p:txBody>
          <a:bodyPr>
            <a:normAutofit fontScale="90000"/>
          </a:bodyPr>
          <a:lstStyle/>
          <a:p>
            <a:br>
              <a:rPr lang="nl-NL" dirty="0"/>
            </a:br>
            <a:br>
              <a:rPr lang="nl-NL" dirty="0"/>
            </a:br>
            <a:r>
              <a:rPr lang="nl-NL" sz="5300" dirty="0" err="1"/>
              <a:t>When</a:t>
            </a:r>
            <a:r>
              <a:rPr lang="nl-NL" sz="5300" dirty="0"/>
              <a:t> to </a:t>
            </a:r>
            <a:r>
              <a:rPr lang="nl-NL" sz="5300" dirty="0" err="1"/>
              <a:t>use</a:t>
            </a:r>
            <a:r>
              <a:rPr lang="nl-NL" sz="5300" dirty="0"/>
              <a:t>? - II</a:t>
            </a:r>
          </a:p>
        </p:txBody>
      </p:sp>
      <p:sp>
        <p:nvSpPr>
          <p:cNvPr id="6" name="Tijdelijke aanduiding voor tekst 5"/>
          <p:cNvSpPr>
            <a:spLocks noGrp="1"/>
          </p:cNvSpPr>
          <p:nvPr>
            <p:ph idx="1"/>
          </p:nvPr>
        </p:nvSpPr>
        <p:spPr>
          <a:xfrm>
            <a:off x="1629205" y="2209527"/>
            <a:ext cx="9166614" cy="4023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dirty="0"/>
              <a:t>3. </a:t>
            </a:r>
            <a:r>
              <a:rPr lang="nl-NL" dirty="0" err="1"/>
              <a:t>When</a:t>
            </a:r>
            <a:r>
              <a:rPr lang="nl-NL" dirty="0"/>
              <a:t> we </a:t>
            </a:r>
            <a:r>
              <a:rPr lang="nl-NL" u="sng" dirty="0" err="1"/>
              <a:t>don’t</a:t>
            </a:r>
            <a:r>
              <a:rPr lang="nl-NL" u="sng" dirty="0"/>
              <a:t> </a:t>
            </a:r>
            <a:r>
              <a:rPr lang="nl-NL" u="sng" dirty="0" err="1"/>
              <a:t>know</a:t>
            </a:r>
            <a:r>
              <a:rPr lang="nl-NL" u="sng" dirty="0"/>
              <a:t> </a:t>
            </a:r>
            <a:r>
              <a:rPr lang="nl-NL" u="sng" dirty="0" err="1"/>
              <a:t>who</a:t>
            </a:r>
            <a:r>
              <a:rPr lang="nl-NL" u="sng" dirty="0"/>
              <a:t> the agent is </a:t>
            </a:r>
            <a:r>
              <a:rPr lang="nl-NL" dirty="0"/>
              <a:t>(and </a:t>
            </a:r>
            <a:r>
              <a:rPr lang="nl-NL" dirty="0" err="1"/>
              <a:t>cannot</a:t>
            </a:r>
            <a:r>
              <a:rPr lang="nl-NL" dirty="0"/>
              <a:t> </a:t>
            </a:r>
            <a:r>
              <a:rPr lang="nl-NL" dirty="0" err="1"/>
              <a:t>possibly</a:t>
            </a:r>
            <a:r>
              <a:rPr lang="nl-NL" dirty="0"/>
              <a:t> </a:t>
            </a:r>
            <a:r>
              <a:rPr lang="nl-NL" dirty="0" err="1"/>
              <a:t>know</a:t>
            </a:r>
            <a:r>
              <a:rPr lang="nl-NL" dirty="0"/>
              <a:t>). </a:t>
            </a:r>
          </a:p>
          <a:p>
            <a:pPr marL="749808" lvl="1" indent="-457200">
              <a:buFont typeface="Courier New" panose="02070309020205020404" pitchFamily="49" charset="0"/>
              <a:buChar char="o"/>
            </a:pPr>
            <a:r>
              <a:rPr lang="nl-NL" dirty="0"/>
              <a:t>My bike has been stolen.</a:t>
            </a:r>
          </a:p>
          <a:p>
            <a:pPr marL="749808" lvl="1" indent="-457200">
              <a:buFont typeface="Courier New" panose="02070309020205020404" pitchFamily="49" charset="0"/>
              <a:buChar char="o"/>
            </a:pPr>
            <a:r>
              <a:rPr lang="nl-NL" dirty="0"/>
              <a:t>The house was </a:t>
            </a:r>
            <a:r>
              <a:rPr lang="nl-NL" dirty="0" err="1"/>
              <a:t>broken</a:t>
            </a:r>
            <a:r>
              <a:rPr lang="nl-NL" dirty="0"/>
              <a:t> </a:t>
            </a:r>
            <a:r>
              <a:rPr lang="nl-NL" dirty="0" err="1"/>
              <a:t>into</a:t>
            </a:r>
            <a:r>
              <a:rPr lang="nl-NL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100286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346960" y="286605"/>
            <a:ext cx="7543800" cy="1450757"/>
          </a:xfrm>
        </p:spPr>
        <p:txBody>
          <a:bodyPr>
            <a:normAutofit fontScale="90000"/>
          </a:bodyPr>
          <a:lstStyle/>
          <a:p>
            <a:br>
              <a:rPr lang="nl-NL" dirty="0"/>
            </a:br>
            <a:br>
              <a:rPr lang="nl-NL" dirty="0"/>
            </a:br>
            <a:r>
              <a:rPr lang="nl-NL" sz="5300" dirty="0" err="1"/>
              <a:t>When</a:t>
            </a:r>
            <a:r>
              <a:rPr lang="nl-NL" sz="5300" dirty="0"/>
              <a:t> to </a:t>
            </a:r>
            <a:r>
              <a:rPr lang="nl-NL" sz="5300" dirty="0" err="1"/>
              <a:t>use</a:t>
            </a:r>
            <a:r>
              <a:rPr lang="nl-NL" sz="5300" dirty="0"/>
              <a:t>? - III</a:t>
            </a:r>
            <a:endParaRPr lang="nl-NL" dirty="0"/>
          </a:p>
        </p:txBody>
      </p:sp>
      <p:sp>
        <p:nvSpPr>
          <p:cNvPr id="6" name="Tijdelijke aanduiding voor tekst 5"/>
          <p:cNvSpPr>
            <a:spLocks noGrp="1"/>
          </p:cNvSpPr>
          <p:nvPr>
            <p:ph idx="1"/>
          </p:nvPr>
        </p:nvSpPr>
        <p:spPr>
          <a:xfrm>
            <a:off x="2346960" y="1845734"/>
            <a:ext cx="8311208" cy="4023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u="sng" dirty="0"/>
              <a:t>4. It’s irrelevant </a:t>
            </a:r>
            <a:r>
              <a:rPr lang="nl-NL" u="sng" dirty="0" err="1"/>
              <a:t>to</a:t>
            </a:r>
            <a:r>
              <a:rPr lang="nl-NL" u="sng" dirty="0"/>
              <a:t> </a:t>
            </a:r>
            <a:r>
              <a:rPr lang="nl-NL" u="sng" dirty="0" err="1"/>
              <a:t>mention</a:t>
            </a:r>
            <a:r>
              <a:rPr lang="nl-NL" u="sng" dirty="0"/>
              <a:t> the agent.</a:t>
            </a:r>
          </a:p>
          <a:p>
            <a:pPr marL="0" indent="0">
              <a:buNone/>
            </a:pPr>
            <a:r>
              <a:rPr lang="nl-NL" dirty="0"/>
              <a:t>4a. </a:t>
            </a:r>
            <a:r>
              <a:rPr lang="nl-NL" dirty="0" err="1"/>
              <a:t>Because</a:t>
            </a:r>
            <a:r>
              <a:rPr lang="nl-NL" dirty="0"/>
              <a:t> </a:t>
            </a:r>
            <a:r>
              <a:rPr lang="nl-NL" dirty="0" err="1"/>
              <a:t>it’s</a:t>
            </a:r>
            <a:r>
              <a:rPr lang="nl-NL" dirty="0"/>
              <a:t> </a:t>
            </a:r>
            <a:r>
              <a:rPr lang="nl-NL" dirty="0" err="1"/>
              <a:t>obvious</a:t>
            </a:r>
            <a:r>
              <a:rPr lang="nl-NL" dirty="0"/>
              <a:t>:</a:t>
            </a:r>
          </a:p>
          <a:p>
            <a:pPr marL="749808" lvl="1" indent="-457200"/>
            <a:r>
              <a:rPr lang="nl-NL" dirty="0" err="1"/>
              <a:t>Yesterday</a:t>
            </a:r>
            <a:r>
              <a:rPr lang="nl-NL" dirty="0"/>
              <a:t> the </a:t>
            </a:r>
            <a:r>
              <a:rPr lang="nl-NL" dirty="0" err="1"/>
              <a:t>thief</a:t>
            </a:r>
            <a:r>
              <a:rPr lang="nl-NL" dirty="0"/>
              <a:t> </a:t>
            </a:r>
            <a:r>
              <a:rPr lang="nl-NL" b="1" i="1" dirty="0"/>
              <a:t>was </a:t>
            </a:r>
            <a:r>
              <a:rPr lang="nl-NL" b="1" i="1" dirty="0" err="1"/>
              <a:t>arrested</a:t>
            </a:r>
            <a:r>
              <a:rPr lang="nl-NL" b="1" i="1" dirty="0"/>
              <a:t>.</a:t>
            </a:r>
          </a:p>
          <a:p>
            <a:pPr marL="749808" lvl="1" indent="-457200"/>
            <a:r>
              <a:rPr lang="nl-NL" dirty="0" err="1"/>
              <a:t>This</a:t>
            </a:r>
            <a:r>
              <a:rPr lang="nl-NL" dirty="0"/>
              <a:t> is the </a:t>
            </a:r>
            <a:r>
              <a:rPr lang="nl-NL" dirty="0" err="1"/>
              <a:t>hospital</a:t>
            </a:r>
            <a:r>
              <a:rPr lang="nl-NL" dirty="0"/>
              <a:t> </a:t>
            </a:r>
            <a:r>
              <a:rPr lang="nl-NL" dirty="0" err="1"/>
              <a:t>where</a:t>
            </a:r>
            <a:r>
              <a:rPr lang="nl-NL" dirty="0"/>
              <a:t> </a:t>
            </a:r>
            <a:r>
              <a:rPr lang="nl-NL" dirty="0" err="1"/>
              <a:t>she</a:t>
            </a:r>
            <a:r>
              <a:rPr lang="nl-NL" dirty="0"/>
              <a:t> </a:t>
            </a:r>
            <a:r>
              <a:rPr lang="nl-NL" b="1" i="1" dirty="0"/>
              <a:t>was </a:t>
            </a:r>
            <a:r>
              <a:rPr lang="nl-NL" b="1" i="1" dirty="0" err="1"/>
              <a:t>treated</a:t>
            </a:r>
            <a:r>
              <a:rPr lang="nl-NL" b="1" i="1" dirty="0"/>
              <a:t>.</a:t>
            </a:r>
          </a:p>
          <a:p>
            <a:pPr marL="292608" lvl="1" indent="0">
              <a:buNone/>
            </a:pPr>
            <a:endParaRPr lang="nl-NL" b="1" i="1" dirty="0"/>
          </a:p>
          <a:p>
            <a:pPr marL="0" indent="0">
              <a:buNone/>
            </a:pPr>
            <a:r>
              <a:rPr lang="nl-NL" dirty="0"/>
              <a:t>4b. </a:t>
            </a:r>
            <a:r>
              <a:rPr lang="nl-NL" dirty="0" err="1"/>
              <a:t>Because</a:t>
            </a:r>
            <a:r>
              <a:rPr lang="nl-NL" dirty="0"/>
              <a:t> the </a:t>
            </a:r>
            <a:r>
              <a:rPr lang="nl-NL" dirty="0" err="1"/>
              <a:t>emphasis</a:t>
            </a:r>
            <a:r>
              <a:rPr lang="nl-NL" dirty="0"/>
              <a:t> is on the </a:t>
            </a:r>
            <a:r>
              <a:rPr lang="nl-NL" dirty="0" err="1"/>
              <a:t>process</a:t>
            </a:r>
            <a:r>
              <a:rPr lang="nl-NL" dirty="0"/>
              <a:t>, </a:t>
            </a:r>
            <a:r>
              <a:rPr lang="nl-NL" dirty="0" err="1"/>
              <a:t>not</a:t>
            </a:r>
            <a:r>
              <a:rPr lang="nl-NL" dirty="0"/>
              <a:t> the </a:t>
            </a:r>
            <a:r>
              <a:rPr lang="nl-NL" dirty="0" err="1"/>
              <a:t>ones</a:t>
            </a:r>
            <a:r>
              <a:rPr lang="nl-NL" dirty="0"/>
              <a:t> </a:t>
            </a:r>
            <a:r>
              <a:rPr lang="nl-NL" dirty="0" err="1"/>
              <a:t>doing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:</a:t>
            </a:r>
          </a:p>
          <a:p>
            <a:pPr marL="749808" lvl="1" indent="-457200"/>
            <a:r>
              <a:rPr lang="nl-NL" dirty="0"/>
              <a:t>The water </a:t>
            </a:r>
            <a:r>
              <a:rPr lang="nl-NL" b="1" i="1" dirty="0"/>
              <a:t>is </a:t>
            </a:r>
            <a:r>
              <a:rPr lang="nl-NL" b="1" i="1" dirty="0" err="1"/>
              <a:t>heated</a:t>
            </a:r>
            <a:r>
              <a:rPr lang="nl-NL" b="1" i="1" dirty="0"/>
              <a:t> </a:t>
            </a:r>
            <a:r>
              <a:rPr lang="nl-NL" dirty="0"/>
              <a:t>in a test tube.	</a:t>
            </a:r>
          </a:p>
        </p:txBody>
      </p:sp>
    </p:spTree>
    <p:extLst>
      <p:ext uri="{BB962C8B-B14F-4D97-AF65-F5344CB8AC3E}">
        <p14:creationId xmlns:p14="http://schemas.microsoft.com/office/powerpoint/2010/main" val="28018927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371600" y="381000"/>
            <a:ext cx="9486900" cy="1371600"/>
          </a:xfrm>
        </p:spPr>
        <p:txBody>
          <a:bodyPr/>
          <a:lstStyle/>
          <a:p>
            <a:r>
              <a:rPr lang="nl-NL" dirty="0" err="1"/>
              <a:t>When</a:t>
            </a:r>
            <a:r>
              <a:rPr lang="nl-NL" dirty="0"/>
              <a:t> to </a:t>
            </a:r>
            <a:r>
              <a:rPr lang="nl-NL" dirty="0" err="1"/>
              <a:t>use</a:t>
            </a:r>
            <a:r>
              <a:rPr lang="nl-NL" dirty="0"/>
              <a:t>? - IV</a:t>
            </a:r>
            <a:endParaRPr lang="en-US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dirty="0"/>
              <a:t>5. </a:t>
            </a:r>
            <a:r>
              <a:rPr lang="nl-NL" dirty="0" err="1"/>
              <a:t>When</a:t>
            </a:r>
            <a:r>
              <a:rPr lang="nl-NL" dirty="0"/>
              <a:t> the agent is </a:t>
            </a:r>
            <a:r>
              <a:rPr lang="nl-NL" dirty="0" err="1"/>
              <a:t>everyone</a:t>
            </a:r>
            <a:r>
              <a:rPr lang="nl-NL" dirty="0"/>
              <a:t>/ (a </a:t>
            </a:r>
            <a:r>
              <a:rPr lang="nl-NL" dirty="0" err="1"/>
              <a:t>group</a:t>
            </a:r>
            <a:r>
              <a:rPr lang="nl-NL" dirty="0"/>
              <a:t> of) </a:t>
            </a:r>
            <a:r>
              <a:rPr lang="nl-NL" dirty="0" err="1"/>
              <a:t>people</a:t>
            </a:r>
            <a:r>
              <a:rPr lang="nl-NL" dirty="0"/>
              <a:t> in </a:t>
            </a:r>
            <a:r>
              <a:rPr lang="nl-NL" dirty="0" err="1"/>
              <a:t>general</a:t>
            </a:r>
            <a:r>
              <a:rPr lang="nl-NL" dirty="0"/>
              <a:t>.</a:t>
            </a:r>
          </a:p>
          <a:p>
            <a:pPr marL="749808" lvl="1" indent="-457200">
              <a:buFont typeface="Courier New" panose="02070309020205020404" pitchFamily="49" charset="0"/>
              <a:buChar char="o"/>
            </a:pPr>
            <a:r>
              <a:rPr lang="nl-NL" i="1" dirty="0"/>
              <a:t>Books </a:t>
            </a:r>
            <a:r>
              <a:rPr lang="nl-NL" b="1" i="1" dirty="0" err="1"/>
              <a:t>can</a:t>
            </a:r>
            <a:r>
              <a:rPr lang="nl-NL" b="1" i="1" dirty="0"/>
              <a:t> </a:t>
            </a:r>
            <a:r>
              <a:rPr lang="nl-NL" b="1" i="1" dirty="0" err="1"/>
              <a:t>be</a:t>
            </a:r>
            <a:r>
              <a:rPr lang="nl-NL" b="1" i="1" dirty="0"/>
              <a:t> </a:t>
            </a:r>
            <a:r>
              <a:rPr lang="nl-NL" b="1" i="1" dirty="0" err="1"/>
              <a:t>borrowed</a:t>
            </a:r>
            <a:r>
              <a:rPr lang="nl-NL" b="1" i="1" dirty="0"/>
              <a:t> </a:t>
            </a:r>
            <a:r>
              <a:rPr lang="nl-NL" i="1" dirty="0"/>
              <a:t>at a </a:t>
            </a:r>
            <a:r>
              <a:rPr lang="nl-NL" i="1" dirty="0" err="1"/>
              <a:t>library</a:t>
            </a:r>
            <a:r>
              <a:rPr lang="nl-NL" i="1" dirty="0"/>
              <a:t>.</a:t>
            </a:r>
          </a:p>
          <a:p>
            <a:pPr marL="749808" lvl="1" indent="-457200">
              <a:buFont typeface="Courier New" panose="02070309020205020404" pitchFamily="49" charset="0"/>
              <a:buChar char="o"/>
            </a:pPr>
            <a:r>
              <a:rPr lang="nl-NL" i="1" dirty="0"/>
              <a:t>English and French </a:t>
            </a:r>
            <a:r>
              <a:rPr lang="nl-NL" b="1" i="1" dirty="0"/>
              <a:t>are spoken</a:t>
            </a:r>
            <a:r>
              <a:rPr lang="nl-NL" i="1" dirty="0"/>
              <a:t> in Canada.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65613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352550" y="331839"/>
            <a:ext cx="9486900" cy="1371600"/>
          </a:xfrm>
        </p:spPr>
        <p:txBody>
          <a:bodyPr/>
          <a:lstStyle/>
          <a:p>
            <a:r>
              <a:rPr lang="nl-NL" dirty="0" err="1"/>
              <a:t>When</a:t>
            </a:r>
            <a:r>
              <a:rPr lang="nl-NL" dirty="0"/>
              <a:t> to </a:t>
            </a:r>
            <a:r>
              <a:rPr lang="nl-NL" dirty="0" err="1"/>
              <a:t>use</a:t>
            </a:r>
            <a:r>
              <a:rPr lang="nl-NL" dirty="0"/>
              <a:t>? - V</a:t>
            </a:r>
            <a:endParaRPr lang="en-US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dirty="0"/>
              <a:t>6. </a:t>
            </a:r>
            <a:r>
              <a:rPr lang="nl-NL" dirty="0" err="1"/>
              <a:t>When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choose</a:t>
            </a:r>
            <a:r>
              <a:rPr lang="nl-NL" dirty="0"/>
              <a:t> </a:t>
            </a:r>
            <a:r>
              <a:rPr lang="nl-NL" dirty="0" err="1"/>
              <a:t>not</a:t>
            </a:r>
            <a:r>
              <a:rPr lang="nl-NL" dirty="0"/>
              <a:t> to </a:t>
            </a:r>
            <a:r>
              <a:rPr lang="nl-NL" dirty="0" err="1"/>
              <a:t>mention</a:t>
            </a:r>
            <a:r>
              <a:rPr lang="nl-NL" dirty="0"/>
              <a:t> the agent to </a:t>
            </a:r>
            <a:r>
              <a:rPr lang="nl-NL" dirty="0" err="1"/>
              <a:t>avoid</a:t>
            </a:r>
            <a:r>
              <a:rPr lang="nl-NL" dirty="0"/>
              <a:t> </a:t>
            </a:r>
            <a:r>
              <a:rPr lang="nl-NL" dirty="0" err="1"/>
              <a:t>blaming</a:t>
            </a:r>
            <a:r>
              <a:rPr lang="nl-NL" dirty="0"/>
              <a:t> </a:t>
            </a:r>
            <a:r>
              <a:rPr lang="nl-NL" dirty="0" err="1"/>
              <a:t>anyone</a:t>
            </a:r>
            <a:r>
              <a:rPr lang="nl-NL" dirty="0"/>
              <a:t>.</a:t>
            </a:r>
          </a:p>
          <a:p>
            <a:pPr marL="749808" lvl="1" indent="-457200">
              <a:buFont typeface="Courier New" panose="02070309020205020404" pitchFamily="49" charset="0"/>
              <a:buChar char="o"/>
            </a:pPr>
            <a:r>
              <a:rPr lang="nl-NL" i="1" dirty="0"/>
              <a:t>Mistakes </a:t>
            </a:r>
            <a:r>
              <a:rPr lang="nl-NL" b="1" i="1" dirty="0" err="1"/>
              <a:t>were</a:t>
            </a:r>
            <a:r>
              <a:rPr lang="nl-NL" b="1" i="1" dirty="0"/>
              <a:t> made.</a:t>
            </a:r>
          </a:p>
          <a:p>
            <a:pPr marL="749808" lvl="1" indent="-457200">
              <a:buFont typeface="Courier New" panose="02070309020205020404" pitchFamily="49" charset="0"/>
              <a:buChar char="o"/>
            </a:pPr>
            <a:r>
              <a:rPr lang="nl-NL" i="1" dirty="0" err="1"/>
              <a:t>I’m</a:t>
            </a:r>
            <a:r>
              <a:rPr lang="nl-NL" i="1" dirty="0"/>
              <a:t> </a:t>
            </a:r>
            <a:r>
              <a:rPr lang="nl-NL" i="1" dirty="0" err="1"/>
              <a:t>afraid</a:t>
            </a:r>
            <a:r>
              <a:rPr lang="nl-NL" i="1" dirty="0"/>
              <a:t> the wrong </a:t>
            </a:r>
            <a:r>
              <a:rPr lang="nl-NL" i="1" dirty="0" err="1"/>
              <a:t>products</a:t>
            </a:r>
            <a:r>
              <a:rPr lang="nl-NL" i="1" dirty="0"/>
              <a:t> </a:t>
            </a:r>
            <a:r>
              <a:rPr lang="nl-NL" b="1" i="1" dirty="0" err="1"/>
              <a:t>were</a:t>
            </a:r>
            <a:r>
              <a:rPr lang="nl-NL" b="1" i="1" dirty="0"/>
              <a:t> sent</a:t>
            </a:r>
            <a:r>
              <a:rPr lang="nl-NL" i="1" dirty="0"/>
              <a:t> to </a:t>
            </a:r>
            <a:r>
              <a:rPr lang="nl-NL" i="1" dirty="0" err="1"/>
              <a:t>us</a:t>
            </a:r>
            <a:r>
              <a:rPr lang="nl-NL" i="1" dirty="0"/>
              <a:t>.</a:t>
            </a:r>
            <a:endParaRPr lang="nl-NL" b="1" dirty="0"/>
          </a:p>
        </p:txBody>
      </p:sp>
    </p:spTree>
    <p:extLst>
      <p:ext uri="{BB962C8B-B14F-4D97-AF65-F5344CB8AC3E}">
        <p14:creationId xmlns:p14="http://schemas.microsoft.com/office/powerpoint/2010/main" val="39196668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el 1"/>
          <p:cNvSpPr>
            <a:spLocks noGrp="1"/>
          </p:cNvSpPr>
          <p:nvPr>
            <p:ph type="title"/>
          </p:nvPr>
        </p:nvSpPr>
        <p:spPr>
          <a:xfrm>
            <a:off x="2346960" y="286605"/>
            <a:ext cx="7543800" cy="1450757"/>
          </a:xfrm>
        </p:spPr>
        <p:txBody>
          <a:bodyPr/>
          <a:lstStyle/>
          <a:p>
            <a:r>
              <a:rPr lang="en-GB"/>
              <a:t>Translating</a:t>
            </a:r>
          </a:p>
        </p:txBody>
      </p:sp>
      <p:sp>
        <p:nvSpPr>
          <p:cNvPr id="27651" name="Tijdelijke aanduiding voor inhoud 2"/>
          <p:cNvSpPr>
            <a:spLocks noGrp="1"/>
          </p:cNvSpPr>
          <p:nvPr>
            <p:ph idx="1"/>
          </p:nvPr>
        </p:nvSpPr>
        <p:spPr>
          <a:xfrm>
            <a:off x="2346960" y="1845734"/>
            <a:ext cx="7543801" cy="402336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</a:rPr>
              <a:t>Watch out when translating Dutch “</a:t>
            </a:r>
            <a:r>
              <a:rPr lang="en-US" dirty="0" err="1">
                <a:solidFill>
                  <a:schemeClr val="accent2"/>
                </a:solidFill>
              </a:rPr>
              <a:t>er</a:t>
            </a:r>
            <a:r>
              <a:rPr lang="en-US" dirty="0">
                <a:solidFill>
                  <a:schemeClr val="accent2"/>
                </a:solidFill>
              </a:rPr>
              <a:t>”:</a:t>
            </a:r>
            <a:endParaRPr lang="nl-NL" dirty="0">
              <a:solidFill>
                <a:schemeClr val="accent2"/>
              </a:solidFill>
            </a:endParaRPr>
          </a:p>
          <a:p>
            <a:pPr marL="0" indent="0">
              <a:buNone/>
            </a:pPr>
            <a:endParaRPr lang="nl-NL" dirty="0"/>
          </a:p>
          <a:p>
            <a:r>
              <a:rPr lang="nl-NL" b="1" dirty="0"/>
              <a:t>Er</a:t>
            </a:r>
            <a:r>
              <a:rPr lang="nl-NL" dirty="0"/>
              <a:t> zijn veel mensen ontslagen.</a:t>
            </a:r>
          </a:p>
          <a:p>
            <a:r>
              <a:rPr lang="en-US" dirty="0"/>
              <a:t>*</a:t>
            </a:r>
            <a:r>
              <a:rPr lang="en-US" strike="sngStrike" dirty="0"/>
              <a:t>There have been many people fired.</a:t>
            </a:r>
          </a:p>
          <a:p>
            <a:r>
              <a:rPr lang="nl-NL" dirty="0" err="1"/>
              <a:t>Many</a:t>
            </a:r>
            <a:r>
              <a:rPr lang="nl-NL" dirty="0"/>
              <a:t> </a:t>
            </a:r>
            <a:r>
              <a:rPr lang="nl-NL" dirty="0" err="1"/>
              <a:t>people</a:t>
            </a:r>
            <a:r>
              <a:rPr lang="nl-NL" dirty="0"/>
              <a:t> have been </a:t>
            </a:r>
            <a:r>
              <a:rPr lang="nl-NL" dirty="0" err="1"/>
              <a:t>fired</a:t>
            </a:r>
            <a:r>
              <a:rPr lang="nl-NL" dirty="0"/>
              <a:t>.</a:t>
            </a:r>
          </a:p>
          <a:p>
            <a:pPr lvl="1"/>
            <a:endParaRPr lang="nl-NL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813741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1FB7DE9-F562-4290-99B7-8C2189D61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337CC61-9E93-4D80-9F1C-12CE9A0C07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354F8A8-7D5A-4944-8B6C-36BBF5C0F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3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C38DDA-E430-B036-822E-983544D30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3687878"/>
            <a:ext cx="8115299" cy="126540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endParaRPr lang="en-US" sz="3600" kern="1200" cap="all" spc="300" baseline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Content Placeholder 4" descr="A signpost with two signs pointing in different directions, one says &quot;active voice&quot; and the other &quot;passive voice&quot;">
            <a:extLst>
              <a:ext uri="{FF2B5EF4-FFF2-40B4-BE49-F238E27FC236}">
                <a16:creationId xmlns:a16="http://schemas.microsoft.com/office/drawing/2014/main" id="{3F721170-1697-8B2F-6AD4-95E11CB1E0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8240" y="1858328"/>
            <a:ext cx="5488108" cy="3141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769936"/>
      </p:ext>
    </p:extLst>
  </p:cSld>
  <p:clrMapOvr>
    <a:masterClrMapping/>
  </p:clrMapOvr>
</p:sld>
</file>

<file path=ppt/theme/theme1.xml><?xml version="1.0" encoding="utf-8"?>
<a:theme xmlns:a="http://schemas.openxmlformats.org/drawingml/2006/main" name="ClassicFrame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Goudy and Gill Sans">
      <a:majorFont>
        <a:latin typeface="Goudy Old Style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lassicFrameVTI" id="{4FA2A165-EC65-4FB0-B019-8C8876A1D8E3}" vid="{9D78F1F1-8226-42FD-A1A3-975EDF6D60F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968</Words>
  <Application>Microsoft Office PowerPoint</Application>
  <PresentationFormat>Widescreen</PresentationFormat>
  <Paragraphs>210</Paragraphs>
  <Slides>27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Arial</vt:lpstr>
      <vt:lpstr>Arial Nova</vt:lpstr>
      <vt:lpstr>Calibri</vt:lpstr>
      <vt:lpstr>Courier New</vt:lpstr>
      <vt:lpstr>Gill Sans MT</vt:lpstr>
      <vt:lpstr>Goudy Old Style</vt:lpstr>
      <vt:lpstr>Wingdings 2</vt:lpstr>
      <vt:lpstr>ClassicFrameVTI</vt:lpstr>
      <vt:lpstr> Grammar &amp; Basica</vt:lpstr>
      <vt:lpstr>PowerPoint Presentation</vt:lpstr>
      <vt:lpstr>What is the text about?</vt:lpstr>
      <vt:lpstr>Now consider this text</vt:lpstr>
      <vt:lpstr>What is this text about?</vt:lpstr>
      <vt:lpstr>The passive</vt:lpstr>
      <vt:lpstr>Active</vt:lpstr>
      <vt:lpstr>Passive</vt:lpstr>
      <vt:lpstr>What has changed?</vt:lpstr>
      <vt:lpstr>What else has changed?</vt:lpstr>
      <vt:lpstr>What else has changed?</vt:lpstr>
      <vt:lpstr>How to make an active sentence passive</vt:lpstr>
      <vt:lpstr>How to make an active sentence passive</vt:lpstr>
      <vt:lpstr>The Passive</vt:lpstr>
      <vt:lpstr>Tenses and the passive</vt:lpstr>
      <vt:lpstr>Passive</vt:lpstr>
      <vt:lpstr>Verbs that take two objects</vt:lpstr>
      <vt:lpstr>Exceptions (I)</vt:lpstr>
      <vt:lpstr>Exceptions (II)</vt:lpstr>
      <vt:lpstr>Passive</vt:lpstr>
      <vt:lpstr>When to use? - I</vt:lpstr>
      <vt:lpstr>  When to use? - II</vt:lpstr>
      <vt:lpstr>  When to use? - III</vt:lpstr>
      <vt:lpstr>When to use? - IV</vt:lpstr>
      <vt:lpstr>When to use? - V</vt:lpstr>
      <vt:lpstr>Translating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Grammar &amp; Basica</dc:title>
  <dc:creator>Fatima Kajouj</dc:creator>
  <cp:lastModifiedBy>Fatima Kajouj</cp:lastModifiedBy>
  <cp:revision>1</cp:revision>
  <dcterms:created xsi:type="dcterms:W3CDTF">2023-08-28T13:30:29Z</dcterms:created>
  <dcterms:modified xsi:type="dcterms:W3CDTF">2023-08-28T14:06:44Z</dcterms:modified>
</cp:coreProperties>
</file>
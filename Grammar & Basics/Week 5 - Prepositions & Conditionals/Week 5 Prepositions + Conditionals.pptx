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75" r:id="rId2"/>
  </p:sldMasterIdLst>
  <p:notesMasterIdLst>
    <p:notesMasterId r:id="rId46"/>
  </p:notesMasterIdLst>
  <p:sldIdLst>
    <p:sldId id="256" r:id="rId3"/>
    <p:sldId id="353" r:id="rId4"/>
    <p:sldId id="335" r:id="rId5"/>
    <p:sldId id="336" r:id="rId6"/>
    <p:sldId id="354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55" r:id="rId18"/>
    <p:sldId id="356" r:id="rId19"/>
    <p:sldId id="347" r:id="rId20"/>
    <p:sldId id="363" r:id="rId21"/>
    <p:sldId id="364" r:id="rId22"/>
    <p:sldId id="357" r:id="rId23"/>
    <p:sldId id="358" r:id="rId24"/>
    <p:sldId id="371" r:id="rId25"/>
    <p:sldId id="372" r:id="rId26"/>
    <p:sldId id="373" r:id="rId27"/>
    <p:sldId id="374" r:id="rId28"/>
    <p:sldId id="351" r:id="rId29"/>
    <p:sldId id="376" r:id="rId30"/>
    <p:sldId id="378" r:id="rId31"/>
    <p:sldId id="377" r:id="rId32"/>
    <p:sldId id="280" r:id="rId33"/>
    <p:sldId id="281" r:id="rId34"/>
    <p:sldId id="284" r:id="rId35"/>
    <p:sldId id="359" r:id="rId36"/>
    <p:sldId id="285" r:id="rId37"/>
    <p:sldId id="360" r:id="rId38"/>
    <p:sldId id="282" r:id="rId39"/>
    <p:sldId id="361" r:id="rId40"/>
    <p:sldId id="302" r:id="rId41"/>
    <p:sldId id="362" r:id="rId42"/>
    <p:sldId id="306" r:id="rId43"/>
    <p:sldId id="365" r:id="rId44"/>
    <p:sldId id="366" r:id="rId45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402B3E7-CDA4-41B2-B5AD-53496DA8EAE5}">
          <p14:sldIdLst>
            <p14:sldId id="256"/>
            <p14:sldId id="353"/>
            <p14:sldId id="335"/>
            <p14:sldId id="336"/>
            <p14:sldId id="354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55"/>
            <p14:sldId id="356"/>
            <p14:sldId id="347"/>
            <p14:sldId id="363"/>
            <p14:sldId id="364"/>
          </p14:sldIdLst>
        </p14:section>
        <p14:section name="Default Section" id="{0858C557-32DE-450E-BC64-CE6BF3DFDEF2}">
          <p14:sldIdLst>
            <p14:sldId id="357"/>
          </p14:sldIdLst>
        </p14:section>
        <p14:section name="Conditionals" id="{256DD373-7E63-4CE7-9FD3-BAEB86F882A5}">
          <p14:sldIdLst>
            <p14:sldId id="358"/>
            <p14:sldId id="371"/>
            <p14:sldId id="372"/>
            <p14:sldId id="373"/>
            <p14:sldId id="374"/>
            <p14:sldId id="351"/>
            <p14:sldId id="376"/>
            <p14:sldId id="378"/>
            <p14:sldId id="377"/>
            <p14:sldId id="280"/>
            <p14:sldId id="281"/>
            <p14:sldId id="284"/>
            <p14:sldId id="359"/>
            <p14:sldId id="285"/>
            <p14:sldId id="360"/>
            <p14:sldId id="282"/>
            <p14:sldId id="361"/>
            <p14:sldId id="302"/>
            <p14:sldId id="362"/>
            <p14:sldId id="306"/>
            <p14:sldId id="365"/>
            <p14:sldId id="3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7D390B-27B3-4BA1-AC5E-0B4090DA0D11}" v="35" dt="2025-10-06T08:58:46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microsoft.com/office/2016/11/relationships/changesInfo" Target="changesInfos/changesInfo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ek Metsch" userId="021ef47b-1d71-428a-9075-16ffbc2c7c18" providerId="ADAL" clId="{5F943916-16B0-4A90-AB74-AF6F27672B16}"/>
    <pc:docChg chg="custSel addSld modSld sldOrd modSection">
      <pc:chgData name="Freek Metsch" userId="021ef47b-1d71-428a-9075-16ffbc2c7c18" providerId="ADAL" clId="{5F943916-16B0-4A90-AB74-AF6F27672B16}" dt="2025-10-06T08:59:02.922" v="120"/>
      <pc:docMkLst>
        <pc:docMk/>
      </pc:docMkLst>
      <pc:sldChg chg="modSp mod">
        <pc:chgData name="Freek Metsch" userId="021ef47b-1d71-428a-9075-16ffbc2c7c18" providerId="ADAL" clId="{5F943916-16B0-4A90-AB74-AF6F27672B16}" dt="2025-10-06T08:39:38.087" v="68" actId="14100"/>
        <pc:sldMkLst>
          <pc:docMk/>
          <pc:sldMk cId="4240457758" sldId="351"/>
        </pc:sldMkLst>
        <pc:spChg chg="mod">
          <ac:chgData name="Freek Metsch" userId="021ef47b-1d71-428a-9075-16ffbc2c7c18" providerId="ADAL" clId="{5F943916-16B0-4A90-AB74-AF6F27672B16}" dt="2025-10-06T08:39:38.087" v="68" actId="14100"/>
          <ac:spMkLst>
            <pc:docMk/>
            <pc:sldMk cId="4240457758" sldId="351"/>
            <ac:spMk id="3" creationId="{76F44FAA-44D8-443B-A056-9CFFE4491CF1}"/>
          </ac:spMkLst>
        </pc:spChg>
      </pc:sldChg>
      <pc:sldChg chg="addSp modSp mod ord">
        <pc:chgData name="Freek Metsch" userId="021ef47b-1d71-428a-9075-16ffbc2c7c18" providerId="ADAL" clId="{5F943916-16B0-4A90-AB74-AF6F27672B16}" dt="2025-10-06T08:59:02.922" v="120"/>
        <pc:sldMkLst>
          <pc:docMk/>
          <pc:sldMk cId="2654844481" sldId="353"/>
        </pc:sldMkLst>
        <pc:spChg chg="mod">
          <ac:chgData name="Freek Metsch" userId="021ef47b-1d71-428a-9075-16ffbc2c7c18" providerId="ADAL" clId="{5F943916-16B0-4A90-AB74-AF6F27672B16}" dt="2025-10-02T13:01:19.340" v="3" actId="1076"/>
          <ac:spMkLst>
            <pc:docMk/>
            <pc:sldMk cId="2654844481" sldId="353"/>
            <ac:spMk id="2" creationId="{E7B981EE-3510-4BDA-8946-7C0E40FBCA56}"/>
          </ac:spMkLst>
        </pc:spChg>
        <pc:spChg chg="mod">
          <ac:chgData name="Freek Metsch" userId="021ef47b-1d71-428a-9075-16ffbc2c7c18" providerId="ADAL" clId="{5F943916-16B0-4A90-AB74-AF6F27672B16}" dt="2025-10-06T08:58:19.576" v="106" actId="14100"/>
          <ac:spMkLst>
            <pc:docMk/>
            <pc:sldMk cId="2654844481" sldId="353"/>
            <ac:spMk id="3" creationId="{28EA04F9-A40A-4FAD-B9EC-492C5DBA2260}"/>
          </ac:spMkLst>
        </pc:spChg>
        <pc:spChg chg="add mod">
          <ac:chgData name="Freek Metsch" userId="021ef47b-1d71-428a-9075-16ffbc2c7c18" providerId="ADAL" clId="{5F943916-16B0-4A90-AB74-AF6F27672B16}" dt="2025-10-06T08:58:43.125" v="112"/>
          <ac:spMkLst>
            <pc:docMk/>
            <pc:sldMk cId="2654844481" sldId="353"/>
            <ac:spMk id="6" creationId="{6B58EE72-4DF1-4721-C74B-132B4B3F72D9}"/>
          </ac:spMkLst>
        </pc:spChg>
        <pc:spChg chg="add mod">
          <ac:chgData name="Freek Metsch" userId="021ef47b-1d71-428a-9075-16ffbc2c7c18" providerId="ADAL" clId="{5F943916-16B0-4A90-AB74-AF6F27672B16}" dt="2025-10-06T08:58:54.664" v="117" actId="1076"/>
          <ac:spMkLst>
            <pc:docMk/>
            <pc:sldMk cId="2654844481" sldId="353"/>
            <ac:spMk id="7" creationId="{BA1CD365-209C-FC22-D4C1-13F6C48D3183}"/>
          </ac:spMkLst>
        </pc:spChg>
        <pc:picChg chg="add mod">
          <ac:chgData name="Freek Metsch" userId="021ef47b-1d71-428a-9075-16ffbc2c7c18" providerId="ADAL" clId="{5F943916-16B0-4A90-AB74-AF6F27672B16}" dt="2025-10-06T08:58:57.337" v="118" actId="1076"/>
          <ac:picMkLst>
            <pc:docMk/>
            <pc:sldMk cId="2654844481" sldId="353"/>
            <ac:picMk id="4" creationId="{D85EBE25-E78F-4A9B-06B4-CC345714C6CC}"/>
          </ac:picMkLst>
        </pc:picChg>
        <pc:picChg chg="add mod">
          <ac:chgData name="Freek Metsch" userId="021ef47b-1d71-428a-9075-16ffbc2c7c18" providerId="ADAL" clId="{5F943916-16B0-4A90-AB74-AF6F27672B16}" dt="2025-10-06T08:58:36.790" v="111"/>
          <ac:picMkLst>
            <pc:docMk/>
            <pc:sldMk cId="2654844481" sldId="353"/>
            <ac:picMk id="5" creationId="{873C940F-0C35-6EF9-EF57-E2EA9D14BE4E}"/>
          </ac:picMkLst>
        </pc:picChg>
      </pc:sldChg>
      <pc:sldChg chg="modSp mod">
        <pc:chgData name="Freek Metsch" userId="021ef47b-1d71-428a-9075-16ffbc2c7c18" providerId="ADAL" clId="{5F943916-16B0-4A90-AB74-AF6F27672B16}" dt="2025-10-02T13:06:49.160" v="14" actId="14100"/>
        <pc:sldMkLst>
          <pc:docMk/>
          <pc:sldMk cId="2054688051" sldId="354"/>
        </pc:sldMkLst>
        <pc:spChg chg="mod">
          <ac:chgData name="Freek Metsch" userId="021ef47b-1d71-428a-9075-16ffbc2c7c18" providerId="ADAL" clId="{5F943916-16B0-4A90-AB74-AF6F27672B16}" dt="2025-10-02T13:02:48.555" v="7" actId="1076"/>
          <ac:spMkLst>
            <pc:docMk/>
            <pc:sldMk cId="2054688051" sldId="354"/>
            <ac:spMk id="2" creationId="{E7B981EE-3510-4BDA-8946-7C0E40FBCA56}"/>
          </ac:spMkLst>
        </pc:spChg>
        <pc:spChg chg="mod">
          <ac:chgData name="Freek Metsch" userId="021ef47b-1d71-428a-9075-16ffbc2c7c18" providerId="ADAL" clId="{5F943916-16B0-4A90-AB74-AF6F27672B16}" dt="2025-10-02T13:06:49.160" v="14" actId="14100"/>
          <ac:spMkLst>
            <pc:docMk/>
            <pc:sldMk cId="2054688051" sldId="354"/>
            <ac:spMk id="3" creationId="{28EA04F9-A40A-4FAD-B9EC-492C5DBA2260}"/>
          </ac:spMkLst>
        </pc:spChg>
      </pc:sldChg>
      <pc:sldChg chg="modSp mod ord modAnim">
        <pc:chgData name="Freek Metsch" userId="021ef47b-1d71-428a-9075-16ffbc2c7c18" providerId="ADAL" clId="{5F943916-16B0-4A90-AB74-AF6F27672B16}" dt="2025-10-06T08:37:15.720" v="67"/>
        <pc:sldMkLst>
          <pc:docMk/>
          <pc:sldMk cId="3437641045" sldId="363"/>
        </pc:sldMkLst>
        <pc:spChg chg="mod">
          <ac:chgData name="Freek Metsch" userId="021ef47b-1d71-428a-9075-16ffbc2c7c18" providerId="ADAL" clId="{5F943916-16B0-4A90-AB74-AF6F27672B16}" dt="2025-10-06T08:36:47.617" v="63" actId="20577"/>
          <ac:spMkLst>
            <pc:docMk/>
            <pc:sldMk cId="3437641045" sldId="363"/>
            <ac:spMk id="2" creationId="{831B99D2-6B88-11B6-FD8F-91D1108F6903}"/>
          </ac:spMkLst>
        </pc:spChg>
        <pc:spChg chg="mod">
          <ac:chgData name="Freek Metsch" userId="021ef47b-1d71-428a-9075-16ffbc2c7c18" providerId="ADAL" clId="{5F943916-16B0-4A90-AB74-AF6F27672B16}" dt="2025-10-06T08:35:03.354" v="48" actId="14100"/>
          <ac:spMkLst>
            <pc:docMk/>
            <pc:sldMk cId="3437641045" sldId="363"/>
            <ac:spMk id="3" creationId="{D8A98FB3-936B-59DE-1CA1-6DAD481DDFC2}"/>
          </ac:spMkLst>
        </pc:spChg>
      </pc:sldChg>
      <pc:sldChg chg="modSp mod ord modAnim">
        <pc:chgData name="Freek Metsch" userId="021ef47b-1d71-428a-9075-16ffbc2c7c18" providerId="ADAL" clId="{5F943916-16B0-4A90-AB74-AF6F27672B16}" dt="2025-10-06T08:37:15.720" v="67"/>
        <pc:sldMkLst>
          <pc:docMk/>
          <pc:sldMk cId="4215277563" sldId="364"/>
        </pc:sldMkLst>
        <pc:spChg chg="mod">
          <ac:chgData name="Freek Metsch" userId="021ef47b-1d71-428a-9075-16ffbc2c7c18" providerId="ADAL" clId="{5F943916-16B0-4A90-AB74-AF6F27672B16}" dt="2025-10-06T08:36:27.350" v="53" actId="20577"/>
          <ac:spMkLst>
            <pc:docMk/>
            <pc:sldMk cId="4215277563" sldId="364"/>
            <ac:spMk id="3" creationId="{F4B4ED70-BD76-8116-5774-58091E23C7AA}"/>
          </ac:spMkLst>
        </pc:spChg>
      </pc:sldChg>
      <pc:sldChg chg="modSp mod">
        <pc:chgData name="Freek Metsch" userId="021ef47b-1d71-428a-9075-16ffbc2c7c18" providerId="ADAL" clId="{5F943916-16B0-4A90-AB74-AF6F27672B16}" dt="2025-10-02T13:07:34.455" v="18" actId="14100"/>
        <pc:sldMkLst>
          <pc:docMk/>
          <pc:sldMk cId="1571616702" sldId="371"/>
        </pc:sldMkLst>
        <pc:spChg chg="mod">
          <ac:chgData name="Freek Metsch" userId="021ef47b-1d71-428a-9075-16ffbc2c7c18" providerId="ADAL" clId="{5F943916-16B0-4A90-AB74-AF6F27672B16}" dt="2025-10-02T13:07:34.455" v="18" actId="14100"/>
          <ac:spMkLst>
            <pc:docMk/>
            <pc:sldMk cId="1571616702" sldId="371"/>
            <ac:spMk id="6" creationId="{EF99E70C-48DA-BDC8-CFE1-34B32442E3EB}"/>
          </ac:spMkLst>
        </pc:spChg>
      </pc:sldChg>
      <pc:sldChg chg="modSp mod">
        <pc:chgData name="Freek Metsch" userId="021ef47b-1d71-428a-9075-16ffbc2c7c18" providerId="ADAL" clId="{5F943916-16B0-4A90-AB74-AF6F27672B16}" dt="2025-10-02T13:07:52.375" v="19" actId="14100"/>
        <pc:sldMkLst>
          <pc:docMk/>
          <pc:sldMk cId="2988764780" sldId="372"/>
        </pc:sldMkLst>
        <pc:spChg chg="mod">
          <ac:chgData name="Freek Metsch" userId="021ef47b-1d71-428a-9075-16ffbc2c7c18" providerId="ADAL" clId="{5F943916-16B0-4A90-AB74-AF6F27672B16}" dt="2025-10-02T13:07:52.375" v="19" actId="14100"/>
          <ac:spMkLst>
            <pc:docMk/>
            <pc:sldMk cId="2988764780" sldId="372"/>
            <ac:spMk id="5" creationId="{BAE09C16-FA7C-1270-EB94-119672096D5F}"/>
          </ac:spMkLst>
        </pc:spChg>
      </pc:sldChg>
      <pc:sldChg chg="modSp mod">
        <pc:chgData name="Freek Metsch" userId="021ef47b-1d71-428a-9075-16ffbc2c7c18" providerId="ADAL" clId="{5F943916-16B0-4A90-AB74-AF6F27672B16}" dt="2025-10-02T13:08:49.490" v="24" actId="13926"/>
        <pc:sldMkLst>
          <pc:docMk/>
          <pc:sldMk cId="1009581296" sldId="373"/>
        </pc:sldMkLst>
        <pc:spChg chg="mod">
          <ac:chgData name="Freek Metsch" userId="021ef47b-1d71-428a-9075-16ffbc2c7c18" providerId="ADAL" clId="{5F943916-16B0-4A90-AB74-AF6F27672B16}" dt="2025-10-02T13:08:49.490" v="24" actId="13926"/>
          <ac:spMkLst>
            <pc:docMk/>
            <pc:sldMk cId="1009581296" sldId="373"/>
            <ac:spMk id="3" creationId="{E26B3A73-BF80-120E-1F28-4EC49235ACE7}"/>
          </ac:spMkLst>
        </pc:spChg>
        <pc:picChg chg="mod">
          <ac:chgData name="Freek Metsch" userId="021ef47b-1d71-428a-9075-16ffbc2c7c18" providerId="ADAL" clId="{5F943916-16B0-4A90-AB74-AF6F27672B16}" dt="2025-10-02T13:08:24.185" v="23" actId="1076"/>
          <ac:picMkLst>
            <pc:docMk/>
            <pc:sldMk cId="1009581296" sldId="373"/>
            <ac:picMk id="7" creationId="{7EB0ABB9-A3F8-BE6D-F728-F884291688EF}"/>
          </ac:picMkLst>
        </pc:picChg>
      </pc:sldChg>
      <pc:sldChg chg="modSp mod">
        <pc:chgData name="Freek Metsch" userId="021ef47b-1d71-428a-9075-16ffbc2c7c18" providerId="ADAL" clId="{5F943916-16B0-4A90-AB74-AF6F27672B16}" dt="2025-10-06T08:39:48.447" v="70" actId="14100"/>
        <pc:sldMkLst>
          <pc:docMk/>
          <pc:sldMk cId="2793273635" sldId="374"/>
        </pc:sldMkLst>
        <pc:spChg chg="mod">
          <ac:chgData name="Freek Metsch" userId="021ef47b-1d71-428a-9075-16ffbc2c7c18" providerId="ADAL" clId="{5F943916-16B0-4A90-AB74-AF6F27672B16}" dt="2025-10-06T08:39:42.975" v="69" actId="14100"/>
          <ac:spMkLst>
            <pc:docMk/>
            <pc:sldMk cId="2793273635" sldId="374"/>
            <ac:spMk id="3" creationId="{2C366862-573A-D72E-1134-1CE1E5FE7FE7}"/>
          </ac:spMkLst>
        </pc:spChg>
        <pc:picChg chg="mod">
          <ac:chgData name="Freek Metsch" userId="021ef47b-1d71-428a-9075-16ffbc2c7c18" providerId="ADAL" clId="{5F943916-16B0-4A90-AB74-AF6F27672B16}" dt="2025-10-06T08:39:48.447" v="70" actId="14100"/>
          <ac:picMkLst>
            <pc:docMk/>
            <pc:sldMk cId="2793273635" sldId="374"/>
            <ac:picMk id="5" creationId="{C8F598D8-2769-2C89-35CA-A47FA2182B0B}"/>
          </ac:picMkLst>
        </pc:picChg>
      </pc:sldChg>
      <pc:sldChg chg="addSp delSp modSp new mod setBg">
        <pc:chgData name="Freek Metsch" userId="021ef47b-1d71-428a-9075-16ffbc2c7c18" providerId="ADAL" clId="{5F943916-16B0-4A90-AB74-AF6F27672B16}" dt="2025-10-06T08:47:46.166" v="103" actId="26606"/>
        <pc:sldMkLst>
          <pc:docMk/>
          <pc:sldMk cId="2822115461" sldId="378"/>
        </pc:sldMkLst>
        <pc:spChg chg="mod">
          <ac:chgData name="Freek Metsch" userId="021ef47b-1d71-428a-9075-16ffbc2c7c18" providerId="ADAL" clId="{5F943916-16B0-4A90-AB74-AF6F27672B16}" dt="2025-10-06T08:47:46.166" v="103" actId="26606"/>
          <ac:spMkLst>
            <pc:docMk/>
            <pc:sldMk cId="2822115461" sldId="378"/>
            <ac:spMk id="2" creationId="{5C041D03-3762-B1D0-FD3B-FD272CE34368}"/>
          </ac:spMkLst>
        </pc:spChg>
        <pc:spChg chg="del">
          <ac:chgData name="Freek Metsch" userId="021ef47b-1d71-428a-9075-16ffbc2c7c18" providerId="ADAL" clId="{5F943916-16B0-4A90-AB74-AF6F27672B16}" dt="2025-10-06T08:47:46.166" v="103" actId="26606"/>
          <ac:spMkLst>
            <pc:docMk/>
            <pc:sldMk cId="2822115461" sldId="378"/>
            <ac:spMk id="3" creationId="{E4A4A27E-3646-2F53-6721-F398614D6379}"/>
          </ac:spMkLst>
        </pc:spChg>
        <pc:spChg chg="add">
          <ac:chgData name="Freek Metsch" userId="021ef47b-1d71-428a-9075-16ffbc2c7c18" providerId="ADAL" clId="{5F943916-16B0-4A90-AB74-AF6F27672B16}" dt="2025-10-06T08:47:46.166" v="103" actId="26606"/>
          <ac:spMkLst>
            <pc:docMk/>
            <pc:sldMk cId="2822115461" sldId="378"/>
            <ac:spMk id="1031" creationId="{D4771268-CB57-404A-9271-370EB28F6090}"/>
          </ac:spMkLst>
        </pc:spChg>
        <pc:picChg chg="add mod">
          <ac:chgData name="Freek Metsch" userId="021ef47b-1d71-428a-9075-16ffbc2c7c18" providerId="ADAL" clId="{5F943916-16B0-4A90-AB74-AF6F27672B16}" dt="2025-10-06T08:47:46.166" v="103" actId="26606"/>
          <ac:picMkLst>
            <pc:docMk/>
            <pc:sldMk cId="2822115461" sldId="378"/>
            <ac:picMk id="1026" creationId="{39FC837E-95D6-28FE-9C73-D7872574E8C7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921EC2-A899-4445-B33A-B766BBF8514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7AABB26-25A2-48A4-BD7C-1FE91B8B2424}">
      <dgm:prSet/>
      <dgm:spPr/>
      <dgm:t>
        <a:bodyPr/>
        <a:lstStyle/>
        <a:p>
          <a:pPr>
            <a:lnSpc>
              <a:spcPct val="100000"/>
            </a:lnSpc>
          </a:pPr>
          <a:r>
            <a:rPr lang="nl-NL" baseline="0"/>
            <a:t>Off or of?</a:t>
          </a:r>
          <a:endParaRPr lang="en-US"/>
        </a:p>
      </dgm:t>
    </dgm:pt>
    <dgm:pt modelId="{1EF2F2F0-80E3-4A54-ADD8-CD84F333B598}" type="parTrans" cxnId="{7E3736E7-1D32-4946-A2A3-8C8CF8CE4754}">
      <dgm:prSet/>
      <dgm:spPr/>
      <dgm:t>
        <a:bodyPr/>
        <a:lstStyle/>
        <a:p>
          <a:endParaRPr lang="en-US"/>
        </a:p>
      </dgm:t>
    </dgm:pt>
    <dgm:pt modelId="{101A9461-0B55-4C7D-A367-D6FE406A8562}" type="sibTrans" cxnId="{7E3736E7-1D32-4946-A2A3-8C8CF8CE4754}">
      <dgm:prSet/>
      <dgm:spPr/>
      <dgm:t>
        <a:bodyPr/>
        <a:lstStyle/>
        <a:p>
          <a:endParaRPr lang="en-US"/>
        </a:p>
      </dgm:t>
    </dgm:pt>
    <dgm:pt modelId="{32119DBF-BAAA-4F7A-84D0-3703B1E39D00}">
      <dgm:prSet/>
      <dgm:spPr/>
      <dgm:t>
        <a:bodyPr/>
        <a:lstStyle/>
        <a:p>
          <a:pPr>
            <a:lnSpc>
              <a:spcPct val="100000"/>
            </a:lnSpc>
          </a:pPr>
          <a:r>
            <a:rPr lang="nl-NL" b="1" baseline="0" dirty="0">
              <a:solidFill>
                <a:srgbClr val="FFC000"/>
              </a:solidFill>
            </a:rPr>
            <a:t>Off</a:t>
          </a:r>
          <a:r>
            <a:rPr lang="nl-NL" baseline="0" dirty="0"/>
            <a:t> is </a:t>
          </a:r>
          <a:r>
            <a:rPr lang="nl-NL" baseline="0" dirty="0" err="1"/>
            <a:t>the</a:t>
          </a:r>
          <a:r>
            <a:rPr lang="nl-NL" baseline="0" dirty="0"/>
            <a:t> </a:t>
          </a:r>
          <a:r>
            <a:rPr lang="nl-NL" baseline="0" dirty="0" err="1"/>
            <a:t>opposite</a:t>
          </a:r>
          <a:r>
            <a:rPr lang="nl-NL" baseline="0" dirty="0"/>
            <a:t> of </a:t>
          </a:r>
          <a:r>
            <a:rPr lang="nl-NL" b="1" baseline="0" dirty="0">
              <a:solidFill>
                <a:srgbClr val="FFC000"/>
              </a:solidFill>
            </a:rPr>
            <a:t>on</a:t>
          </a:r>
          <a:endParaRPr lang="en-US" dirty="0">
            <a:solidFill>
              <a:srgbClr val="FFC000"/>
            </a:solidFill>
          </a:endParaRPr>
        </a:p>
      </dgm:t>
    </dgm:pt>
    <dgm:pt modelId="{4994ECE3-988E-45A2-9176-674E7996DE39}" type="parTrans" cxnId="{C66CC240-05F5-42D5-88AF-E147EB22AF73}">
      <dgm:prSet/>
      <dgm:spPr/>
      <dgm:t>
        <a:bodyPr/>
        <a:lstStyle/>
        <a:p>
          <a:endParaRPr lang="en-US"/>
        </a:p>
      </dgm:t>
    </dgm:pt>
    <dgm:pt modelId="{AEFC8347-2089-4A08-ACDC-47956B05F025}" type="sibTrans" cxnId="{C66CC240-05F5-42D5-88AF-E147EB22AF73}">
      <dgm:prSet/>
      <dgm:spPr/>
      <dgm:t>
        <a:bodyPr/>
        <a:lstStyle/>
        <a:p>
          <a:endParaRPr lang="en-US"/>
        </a:p>
      </dgm:t>
    </dgm:pt>
    <dgm:pt modelId="{25BFDF09-152E-4CBC-80BF-D903D72580A1}">
      <dgm:prSet/>
      <dgm:spPr/>
      <dgm:t>
        <a:bodyPr/>
        <a:lstStyle/>
        <a:p>
          <a:pPr>
            <a:lnSpc>
              <a:spcPct val="100000"/>
            </a:lnSpc>
          </a:pPr>
          <a:r>
            <a:rPr lang="nl-NL" baseline="0" dirty="0"/>
            <a:t>He </a:t>
          </a:r>
          <a:r>
            <a:rPr lang="nl-NL" baseline="0" dirty="0" err="1"/>
            <a:t>switched</a:t>
          </a:r>
          <a:r>
            <a:rPr lang="nl-NL" baseline="0" dirty="0"/>
            <a:t> </a:t>
          </a:r>
          <a:r>
            <a:rPr lang="nl-NL" baseline="0" dirty="0" err="1"/>
            <a:t>the</a:t>
          </a:r>
          <a:r>
            <a:rPr lang="nl-NL" baseline="0" dirty="0"/>
            <a:t> computer </a:t>
          </a:r>
          <a:r>
            <a:rPr lang="nl-NL" b="1" baseline="0" dirty="0">
              <a:solidFill>
                <a:srgbClr val="FFC000"/>
              </a:solidFill>
            </a:rPr>
            <a:t>off</a:t>
          </a:r>
          <a:r>
            <a:rPr lang="nl-NL" baseline="0" dirty="0"/>
            <a:t> </a:t>
          </a:r>
          <a:r>
            <a:rPr lang="nl-NL" baseline="0" dirty="0" err="1"/>
            <a:t>and</a:t>
          </a:r>
          <a:r>
            <a:rPr lang="nl-NL" baseline="0" dirty="0"/>
            <a:t> on </a:t>
          </a:r>
          <a:r>
            <a:rPr lang="nl-NL" baseline="0" dirty="0" err="1"/>
            <a:t>again</a:t>
          </a:r>
          <a:r>
            <a:rPr lang="nl-NL" baseline="0" dirty="0"/>
            <a:t>.</a:t>
          </a:r>
          <a:endParaRPr lang="en-US" dirty="0"/>
        </a:p>
      </dgm:t>
    </dgm:pt>
    <dgm:pt modelId="{A358F53A-EBBF-4B61-9055-FDAAB896D061}" type="parTrans" cxnId="{7154E289-4615-4BAB-8397-806B8213E23D}">
      <dgm:prSet/>
      <dgm:spPr/>
      <dgm:t>
        <a:bodyPr/>
        <a:lstStyle/>
        <a:p>
          <a:endParaRPr lang="en-US"/>
        </a:p>
      </dgm:t>
    </dgm:pt>
    <dgm:pt modelId="{8B521C08-C768-4AE1-BB38-CC565B43B6B2}" type="sibTrans" cxnId="{7154E289-4615-4BAB-8397-806B8213E23D}">
      <dgm:prSet/>
      <dgm:spPr/>
      <dgm:t>
        <a:bodyPr/>
        <a:lstStyle/>
        <a:p>
          <a:endParaRPr lang="en-US"/>
        </a:p>
      </dgm:t>
    </dgm:pt>
    <dgm:pt modelId="{1243EFAD-089A-41AD-A950-353A10F00B00}">
      <dgm:prSet/>
      <dgm:spPr/>
      <dgm:t>
        <a:bodyPr/>
        <a:lstStyle/>
        <a:p>
          <a:pPr>
            <a:lnSpc>
              <a:spcPct val="100000"/>
            </a:lnSpc>
          </a:pPr>
          <a:r>
            <a:rPr lang="nl-NL" baseline="0" dirty="0"/>
            <a:t>The </a:t>
          </a:r>
          <a:r>
            <a:rPr lang="nl-NL" baseline="0" dirty="0" err="1"/>
            <a:t>book</a:t>
          </a:r>
          <a:r>
            <a:rPr lang="nl-NL" baseline="0" dirty="0"/>
            <a:t> was on </a:t>
          </a:r>
          <a:r>
            <a:rPr lang="nl-NL" baseline="0" dirty="0" err="1"/>
            <a:t>the</a:t>
          </a:r>
          <a:r>
            <a:rPr lang="nl-NL" baseline="0" dirty="0"/>
            <a:t> </a:t>
          </a:r>
          <a:r>
            <a:rPr lang="nl-NL" baseline="0" dirty="0" err="1"/>
            <a:t>table</a:t>
          </a:r>
          <a:r>
            <a:rPr lang="nl-NL" baseline="0" dirty="0"/>
            <a:t>, but </a:t>
          </a:r>
          <a:r>
            <a:rPr lang="nl-NL" baseline="0" dirty="0" err="1"/>
            <a:t>then</a:t>
          </a:r>
          <a:r>
            <a:rPr lang="nl-NL" baseline="0" dirty="0"/>
            <a:t> </a:t>
          </a:r>
          <a:r>
            <a:rPr lang="nl-NL" baseline="0" dirty="0" err="1"/>
            <a:t>it</a:t>
          </a:r>
          <a:r>
            <a:rPr lang="nl-NL" baseline="0" dirty="0"/>
            <a:t> </a:t>
          </a:r>
          <a:r>
            <a:rPr lang="nl-NL" baseline="0" dirty="0" err="1"/>
            <a:t>fell</a:t>
          </a:r>
          <a:r>
            <a:rPr lang="nl-NL" baseline="0" dirty="0"/>
            <a:t> </a:t>
          </a:r>
          <a:r>
            <a:rPr lang="nl-NL" b="1" baseline="0" dirty="0">
              <a:solidFill>
                <a:srgbClr val="FFC000"/>
              </a:solidFill>
            </a:rPr>
            <a:t>off</a:t>
          </a:r>
          <a:r>
            <a:rPr lang="nl-NL" baseline="0" dirty="0"/>
            <a:t>.</a:t>
          </a:r>
          <a:endParaRPr lang="en-US" dirty="0"/>
        </a:p>
      </dgm:t>
    </dgm:pt>
    <dgm:pt modelId="{C094354C-0F62-44E1-9C31-B79FF2B19503}" type="parTrans" cxnId="{AAF4DFA2-E7D1-49D3-9009-7F0104BC90A1}">
      <dgm:prSet/>
      <dgm:spPr/>
      <dgm:t>
        <a:bodyPr/>
        <a:lstStyle/>
        <a:p>
          <a:endParaRPr lang="en-US"/>
        </a:p>
      </dgm:t>
    </dgm:pt>
    <dgm:pt modelId="{5756B339-341C-4BCD-8075-C90527A72DB5}" type="sibTrans" cxnId="{AAF4DFA2-E7D1-49D3-9009-7F0104BC90A1}">
      <dgm:prSet/>
      <dgm:spPr/>
      <dgm:t>
        <a:bodyPr/>
        <a:lstStyle/>
        <a:p>
          <a:endParaRPr lang="en-US"/>
        </a:p>
      </dgm:t>
    </dgm:pt>
    <dgm:pt modelId="{44213021-7F16-4012-AA1D-68BF5E93F356}">
      <dgm:prSet/>
      <dgm:spPr/>
      <dgm:t>
        <a:bodyPr/>
        <a:lstStyle/>
        <a:p>
          <a:pPr>
            <a:lnSpc>
              <a:spcPct val="100000"/>
            </a:lnSpc>
          </a:pPr>
          <a:r>
            <a:rPr lang="nl-NL" b="1" baseline="0" dirty="0">
              <a:solidFill>
                <a:srgbClr val="FFC000"/>
              </a:solidFill>
            </a:rPr>
            <a:t>Of</a:t>
          </a:r>
          <a:r>
            <a:rPr lang="nl-NL" baseline="0" dirty="0"/>
            <a:t>  is </a:t>
          </a:r>
          <a:r>
            <a:rPr lang="nl-NL" baseline="0" dirty="0" err="1"/>
            <a:t>used</a:t>
          </a:r>
          <a:r>
            <a:rPr lang="nl-NL" baseline="0" dirty="0"/>
            <a:t> in </a:t>
          </a:r>
          <a:r>
            <a:rPr lang="nl-NL" baseline="0" dirty="0" err="1"/>
            <a:t>all</a:t>
          </a:r>
          <a:r>
            <a:rPr lang="nl-NL" baseline="0" dirty="0"/>
            <a:t> </a:t>
          </a:r>
          <a:r>
            <a:rPr lang="nl-NL" baseline="0" dirty="0" err="1"/>
            <a:t>other</a:t>
          </a:r>
          <a:r>
            <a:rPr lang="nl-NL" baseline="0" dirty="0"/>
            <a:t> cases (</a:t>
          </a:r>
          <a:r>
            <a:rPr lang="nl-NL" baseline="0" dirty="0" err="1"/>
            <a:t>usually</a:t>
          </a:r>
          <a:r>
            <a:rPr lang="nl-NL" baseline="0" dirty="0"/>
            <a:t> </a:t>
          </a:r>
          <a:r>
            <a:rPr lang="nl-NL" baseline="0" dirty="0" err="1"/>
            <a:t>translates</a:t>
          </a:r>
          <a:r>
            <a:rPr lang="nl-NL" baseline="0" dirty="0"/>
            <a:t> </a:t>
          </a:r>
          <a:r>
            <a:rPr lang="nl-NL" baseline="0" dirty="0" err="1"/>
            <a:t>to</a:t>
          </a:r>
          <a:r>
            <a:rPr lang="nl-NL" baseline="0" dirty="0"/>
            <a:t> Dutch ‘van’)</a:t>
          </a:r>
          <a:endParaRPr lang="en-US" dirty="0"/>
        </a:p>
      </dgm:t>
    </dgm:pt>
    <dgm:pt modelId="{C34E0E7E-D9FC-419F-BA56-D0EDD60462C1}" type="parTrans" cxnId="{FE15D9E0-F3AF-4B3E-B0D3-A7D71436D3B2}">
      <dgm:prSet/>
      <dgm:spPr/>
      <dgm:t>
        <a:bodyPr/>
        <a:lstStyle/>
        <a:p>
          <a:endParaRPr lang="en-US"/>
        </a:p>
      </dgm:t>
    </dgm:pt>
    <dgm:pt modelId="{55804607-658B-4444-97B3-618FFE194EDC}" type="sibTrans" cxnId="{FE15D9E0-F3AF-4B3E-B0D3-A7D71436D3B2}">
      <dgm:prSet/>
      <dgm:spPr/>
      <dgm:t>
        <a:bodyPr/>
        <a:lstStyle/>
        <a:p>
          <a:endParaRPr lang="en-US"/>
        </a:p>
      </dgm:t>
    </dgm:pt>
    <dgm:pt modelId="{BB6ED9B4-3875-434B-889F-1A05CFE591E8}">
      <dgm:prSet/>
      <dgm:spPr/>
      <dgm:t>
        <a:bodyPr/>
        <a:lstStyle/>
        <a:p>
          <a:pPr>
            <a:lnSpc>
              <a:spcPct val="100000"/>
            </a:lnSpc>
          </a:pPr>
          <a:r>
            <a:rPr lang="nl-NL" baseline="0" dirty="0"/>
            <a:t>He is </a:t>
          </a:r>
          <a:r>
            <a:rPr lang="nl-NL" baseline="0" dirty="0" err="1"/>
            <a:t>the</a:t>
          </a:r>
          <a:r>
            <a:rPr lang="nl-NL" baseline="0" dirty="0"/>
            <a:t> </a:t>
          </a:r>
          <a:r>
            <a:rPr lang="nl-NL" baseline="0" dirty="0" err="1"/>
            <a:t>head</a:t>
          </a:r>
          <a:r>
            <a:rPr lang="nl-NL" baseline="0" dirty="0"/>
            <a:t> </a:t>
          </a:r>
          <a:r>
            <a:rPr lang="nl-NL" b="1" baseline="0" dirty="0">
              <a:solidFill>
                <a:srgbClr val="FFC000"/>
              </a:solidFill>
            </a:rPr>
            <a:t>of</a:t>
          </a:r>
          <a:r>
            <a:rPr lang="nl-NL" b="1" baseline="0" dirty="0"/>
            <a:t> </a:t>
          </a:r>
          <a:r>
            <a:rPr lang="nl-NL" baseline="0" dirty="0" err="1"/>
            <a:t>our</a:t>
          </a:r>
          <a:r>
            <a:rPr lang="nl-NL" baseline="0" dirty="0"/>
            <a:t> </a:t>
          </a:r>
          <a:r>
            <a:rPr lang="nl-NL" baseline="0" dirty="0" err="1"/>
            <a:t>department</a:t>
          </a:r>
          <a:endParaRPr lang="en-US" dirty="0"/>
        </a:p>
      </dgm:t>
    </dgm:pt>
    <dgm:pt modelId="{459ED307-46F1-40F0-A431-A92484364B5D}" type="parTrans" cxnId="{2E24B2CA-5851-4C37-997B-90E893EECB62}">
      <dgm:prSet/>
      <dgm:spPr/>
      <dgm:t>
        <a:bodyPr/>
        <a:lstStyle/>
        <a:p>
          <a:endParaRPr lang="en-US"/>
        </a:p>
      </dgm:t>
    </dgm:pt>
    <dgm:pt modelId="{EE215239-B3BA-4144-8EB3-B35201900A7A}" type="sibTrans" cxnId="{2E24B2CA-5851-4C37-997B-90E893EECB62}">
      <dgm:prSet/>
      <dgm:spPr/>
      <dgm:t>
        <a:bodyPr/>
        <a:lstStyle/>
        <a:p>
          <a:endParaRPr lang="en-US"/>
        </a:p>
      </dgm:t>
    </dgm:pt>
    <dgm:pt modelId="{D13BB027-E70C-49A7-AE33-9AE7D986311B}">
      <dgm:prSet/>
      <dgm:spPr/>
      <dgm:t>
        <a:bodyPr/>
        <a:lstStyle/>
        <a:p>
          <a:pPr>
            <a:lnSpc>
              <a:spcPct val="100000"/>
            </a:lnSpc>
          </a:pPr>
          <a:r>
            <a:rPr lang="nl-NL" baseline="0" dirty="0" err="1"/>
            <a:t>She</a:t>
          </a:r>
          <a:r>
            <a:rPr lang="nl-NL" baseline="0" dirty="0"/>
            <a:t> </a:t>
          </a:r>
          <a:r>
            <a:rPr lang="nl-NL" baseline="0" dirty="0" err="1"/>
            <a:t>cried</a:t>
          </a:r>
          <a:r>
            <a:rPr lang="nl-NL" baseline="0" dirty="0"/>
            <a:t> </a:t>
          </a:r>
          <a:r>
            <a:rPr lang="nl-NL" baseline="0" dirty="0" err="1"/>
            <a:t>tears</a:t>
          </a:r>
          <a:r>
            <a:rPr lang="nl-NL" baseline="0" dirty="0"/>
            <a:t> </a:t>
          </a:r>
          <a:r>
            <a:rPr lang="nl-NL" b="1" baseline="0" dirty="0">
              <a:solidFill>
                <a:srgbClr val="FFC000"/>
              </a:solidFill>
            </a:rPr>
            <a:t>of</a:t>
          </a:r>
          <a:r>
            <a:rPr lang="nl-NL" baseline="0" dirty="0"/>
            <a:t> </a:t>
          </a:r>
          <a:r>
            <a:rPr lang="nl-NL" baseline="0" dirty="0" err="1"/>
            <a:t>happiness</a:t>
          </a:r>
          <a:r>
            <a:rPr lang="nl-NL" baseline="0" dirty="0"/>
            <a:t>.</a:t>
          </a:r>
          <a:endParaRPr lang="en-US" dirty="0"/>
        </a:p>
      </dgm:t>
    </dgm:pt>
    <dgm:pt modelId="{D50A3449-281F-4296-96AF-D0F4CD569507}" type="parTrans" cxnId="{3230EBFE-70C9-4681-9B54-9D5E35C887AF}">
      <dgm:prSet/>
      <dgm:spPr/>
      <dgm:t>
        <a:bodyPr/>
        <a:lstStyle/>
        <a:p>
          <a:endParaRPr lang="en-US"/>
        </a:p>
      </dgm:t>
    </dgm:pt>
    <dgm:pt modelId="{31C46711-F18B-4FF1-87BE-181F889FAF81}" type="sibTrans" cxnId="{3230EBFE-70C9-4681-9B54-9D5E35C887AF}">
      <dgm:prSet/>
      <dgm:spPr/>
      <dgm:t>
        <a:bodyPr/>
        <a:lstStyle/>
        <a:p>
          <a:endParaRPr lang="en-US"/>
        </a:p>
      </dgm:t>
    </dgm:pt>
    <dgm:pt modelId="{EE3C0720-75C1-4FF2-A449-B6188869BB64}" type="pres">
      <dgm:prSet presAssocID="{A8921EC2-A899-4445-B33A-B766BBF85148}" presName="root" presStyleCnt="0">
        <dgm:presLayoutVars>
          <dgm:dir/>
          <dgm:resizeHandles val="exact"/>
        </dgm:presLayoutVars>
      </dgm:prSet>
      <dgm:spPr/>
    </dgm:pt>
    <dgm:pt modelId="{243A2F6C-F105-4942-8B24-2A11C498859D}" type="pres">
      <dgm:prSet presAssocID="{C7AABB26-25A2-48A4-BD7C-1FE91B8B2424}" presName="compNode" presStyleCnt="0"/>
      <dgm:spPr/>
    </dgm:pt>
    <dgm:pt modelId="{313F2C49-241B-4975-83EA-7323D542FFDB}" type="pres">
      <dgm:prSet presAssocID="{C7AABB26-25A2-48A4-BD7C-1FE91B8B2424}" presName="bgRect" presStyleLbl="bgShp" presStyleIdx="0" presStyleCnt="3" custLinFactNeighborX="-3182" custLinFactNeighborY="-43"/>
      <dgm:spPr/>
    </dgm:pt>
    <dgm:pt modelId="{6DBE88D8-C853-4D30-B96F-06B101140C4B}" type="pres">
      <dgm:prSet presAssocID="{C7AABB26-25A2-48A4-BD7C-1FE91B8B242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wer"/>
        </a:ext>
      </dgm:extLst>
    </dgm:pt>
    <dgm:pt modelId="{A0F03CDB-572A-49A5-8DC7-8E6CDED27C11}" type="pres">
      <dgm:prSet presAssocID="{C7AABB26-25A2-48A4-BD7C-1FE91B8B2424}" presName="spaceRect" presStyleCnt="0"/>
      <dgm:spPr/>
    </dgm:pt>
    <dgm:pt modelId="{88F95F3B-401C-45B5-A0A6-512729081E54}" type="pres">
      <dgm:prSet presAssocID="{C7AABB26-25A2-48A4-BD7C-1FE91B8B2424}" presName="parTx" presStyleLbl="revTx" presStyleIdx="0" presStyleCnt="5">
        <dgm:presLayoutVars>
          <dgm:chMax val="0"/>
          <dgm:chPref val="0"/>
        </dgm:presLayoutVars>
      </dgm:prSet>
      <dgm:spPr/>
    </dgm:pt>
    <dgm:pt modelId="{BA5CE997-292F-40CC-8644-818783B97C21}" type="pres">
      <dgm:prSet presAssocID="{101A9461-0B55-4C7D-A367-D6FE406A8562}" presName="sibTrans" presStyleCnt="0"/>
      <dgm:spPr/>
    </dgm:pt>
    <dgm:pt modelId="{2554C99C-6CDC-49EA-A44A-8E63C3BCF78C}" type="pres">
      <dgm:prSet presAssocID="{32119DBF-BAAA-4F7A-84D0-3703B1E39D00}" presName="compNode" presStyleCnt="0"/>
      <dgm:spPr/>
    </dgm:pt>
    <dgm:pt modelId="{D4A20825-5141-475D-8BAF-584E57270156}" type="pres">
      <dgm:prSet presAssocID="{32119DBF-BAAA-4F7A-84D0-3703B1E39D00}" presName="bgRect" presStyleLbl="bgShp" presStyleIdx="1" presStyleCnt="3"/>
      <dgm:spPr/>
    </dgm:pt>
    <dgm:pt modelId="{59B43C96-F9F7-47B8-A801-CEF367F7A692}" type="pres">
      <dgm:prSet presAssocID="{32119DBF-BAAA-4F7A-84D0-3703B1E39D0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906F23DB-D1AB-4B00-9E07-8A1B8F76AE17}" type="pres">
      <dgm:prSet presAssocID="{32119DBF-BAAA-4F7A-84D0-3703B1E39D00}" presName="spaceRect" presStyleCnt="0"/>
      <dgm:spPr/>
    </dgm:pt>
    <dgm:pt modelId="{69BCF687-6CB0-485F-A709-686A52A5F960}" type="pres">
      <dgm:prSet presAssocID="{32119DBF-BAAA-4F7A-84D0-3703B1E39D00}" presName="parTx" presStyleLbl="revTx" presStyleIdx="1" presStyleCnt="5">
        <dgm:presLayoutVars>
          <dgm:chMax val="0"/>
          <dgm:chPref val="0"/>
        </dgm:presLayoutVars>
      </dgm:prSet>
      <dgm:spPr/>
    </dgm:pt>
    <dgm:pt modelId="{76DB694D-1274-4A2D-B7D0-DB733E4497CD}" type="pres">
      <dgm:prSet presAssocID="{32119DBF-BAAA-4F7A-84D0-3703B1E39D00}" presName="desTx" presStyleLbl="revTx" presStyleIdx="2" presStyleCnt="5">
        <dgm:presLayoutVars/>
      </dgm:prSet>
      <dgm:spPr/>
    </dgm:pt>
    <dgm:pt modelId="{F3B3A8F0-ABC7-4B02-8568-55FBD747026E}" type="pres">
      <dgm:prSet presAssocID="{AEFC8347-2089-4A08-ACDC-47956B05F025}" presName="sibTrans" presStyleCnt="0"/>
      <dgm:spPr/>
    </dgm:pt>
    <dgm:pt modelId="{6E7CC1D9-D83C-43B8-9B6E-70117C3EB3EF}" type="pres">
      <dgm:prSet presAssocID="{44213021-7F16-4012-AA1D-68BF5E93F356}" presName="compNode" presStyleCnt="0"/>
      <dgm:spPr/>
    </dgm:pt>
    <dgm:pt modelId="{FCB8C8A6-DC1F-4A32-AEDE-D75840B35C72}" type="pres">
      <dgm:prSet presAssocID="{44213021-7F16-4012-AA1D-68BF5E93F356}" presName="bgRect" presStyleLbl="bgShp" presStyleIdx="2" presStyleCnt="3"/>
      <dgm:spPr/>
    </dgm:pt>
    <dgm:pt modelId="{2EA3C0D5-FC2D-4BD8-B555-CB1A5FA766F2}" type="pres">
      <dgm:prSet presAssocID="{44213021-7F16-4012-AA1D-68BF5E93F35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stle scene"/>
        </a:ext>
      </dgm:extLst>
    </dgm:pt>
    <dgm:pt modelId="{AC153AA0-5478-49EC-A223-50F36FC6BA5E}" type="pres">
      <dgm:prSet presAssocID="{44213021-7F16-4012-AA1D-68BF5E93F356}" presName="spaceRect" presStyleCnt="0"/>
      <dgm:spPr/>
    </dgm:pt>
    <dgm:pt modelId="{D1DFFC54-F9DF-4A31-8CFC-B59268F71918}" type="pres">
      <dgm:prSet presAssocID="{44213021-7F16-4012-AA1D-68BF5E93F356}" presName="parTx" presStyleLbl="revTx" presStyleIdx="3" presStyleCnt="5">
        <dgm:presLayoutVars>
          <dgm:chMax val="0"/>
          <dgm:chPref val="0"/>
        </dgm:presLayoutVars>
      </dgm:prSet>
      <dgm:spPr/>
    </dgm:pt>
    <dgm:pt modelId="{30781D9D-25FB-4C5C-8D28-2C0A6AF940BB}" type="pres">
      <dgm:prSet presAssocID="{44213021-7F16-4012-AA1D-68BF5E93F356}" presName="desTx" presStyleLbl="revTx" presStyleIdx="4" presStyleCnt="5">
        <dgm:presLayoutVars/>
      </dgm:prSet>
      <dgm:spPr/>
    </dgm:pt>
  </dgm:ptLst>
  <dgm:cxnLst>
    <dgm:cxn modelId="{90BDA704-11FD-4C26-B1CF-B0D80C84D6D0}" type="presOf" srcId="{C7AABB26-25A2-48A4-BD7C-1FE91B8B2424}" destId="{88F95F3B-401C-45B5-A0A6-512729081E54}" srcOrd="0" destOrd="0" presId="urn:microsoft.com/office/officeart/2018/2/layout/IconVerticalSolidList"/>
    <dgm:cxn modelId="{70D2100F-44EA-4A1F-A2D1-2B5B3C3A51B0}" type="presOf" srcId="{32119DBF-BAAA-4F7A-84D0-3703B1E39D00}" destId="{69BCF687-6CB0-485F-A709-686A52A5F960}" srcOrd="0" destOrd="0" presId="urn:microsoft.com/office/officeart/2018/2/layout/IconVerticalSolidList"/>
    <dgm:cxn modelId="{C7462318-7700-4B96-8466-5FA546450CBA}" type="presOf" srcId="{A8921EC2-A899-4445-B33A-B766BBF85148}" destId="{EE3C0720-75C1-4FF2-A449-B6188869BB64}" srcOrd="0" destOrd="0" presId="urn:microsoft.com/office/officeart/2018/2/layout/IconVerticalSolidList"/>
    <dgm:cxn modelId="{C66CC240-05F5-42D5-88AF-E147EB22AF73}" srcId="{A8921EC2-A899-4445-B33A-B766BBF85148}" destId="{32119DBF-BAAA-4F7A-84D0-3703B1E39D00}" srcOrd="1" destOrd="0" parTransId="{4994ECE3-988E-45A2-9176-674E7996DE39}" sibTransId="{AEFC8347-2089-4A08-ACDC-47956B05F025}"/>
    <dgm:cxn modelId="{1D32AF75-3725-4A2F-BD86-665921A98C9E}" type="presOf" srcId="{BB6ED9B4-3875-434B-889F-1A05CFE591E8}" destId="{30781D9D-25FB-4C5C-8D28-2C0A6AF940BB}" srcOrd="0" destOrd="0" presId="urn:microsoft.com/office/officeart/2018/2/layout/IconVerticalSolidList"/>
    <dgm:cxn modelId="{7154E289-4615-4BAB-8397-806B8213E23D}" srcId="{32119DBF-BAAA-4F7A-84D0-3703B1E39D00}" destId="{25BFDF09-152E-4CBC-80BF-D903D72580A1}" srcOrd="0" destOrd="0" parTransId="{A358F53A-EBBF-4B61-9055-FDAAB896D061}" sibTransId="{8B521C08-C768-4AE1-BB38-CC565B43B6B2}"/>
    <dgm:cxn modelId="{0C20C98B-B14C-4A26-AD41-7C834715C4A2}" type="presOf" srcId="{D13BB027-E70C-49A7-AE33-9AE7D986311B}" destId="{30781D9D-25FB-4C5C-8D28-2C0A6AF940BB}" srcOrd="0" destOrd="1" presId="urn:microsoft.com/office/officeart/2018/2/layout/IconVerticalSolidList"/>
    <dgm:cxn modelId="{AAF4DFA2-E7D1-49D3-9009-7F0104BC90A1}" srcId="{32119DBF-BAAA-4F7A-84D0-3703B1E39D00}" destId="{1243EFAD-089A-41AD-A950-353A10F00B00}" srcOrd="1" destOrd="0" parTransId="{C094354C-0F62-44E1-9C31-B79FF2B19503}" sibTransId="{5756B339-341C-4BCD-8075-C90527A72DB5}"/>
    <dgm:cxn modelId="{2E24B2CA-5851-4C37-997B-90E893EECB62}" srcId="{44213021-7F16-4012-AA1D-68BF5E93F356}" destId="{BB6ED9B4-3875-434B-889F-1A05CFE591E8}" srcOrd="0" destOrd="0" parTransId="{459ED307-46F1-40F0-A431-A92484364B5D}" sibTransId="{EE215239-B3BA-4144-8EB3-B35201900A7A}"/>
    <dgm:cxn modelId="{532A96D5-91FE-40DE-B21D-B4AE434ECAD5}" type="presOf" srcId="{1243EFAD-089A-41AD-A950-353A10F00B00}" destId="{76DB694D-1274-4A2D-B7D0-DB733E4497CD}" srcOrd="0" destOrd="1" presId="urn:microsoft.com/office/officeart/2018/2/layout/IconVerticalSolidList"/>
    <dgm:cxn modelId="{FE15D9E0-F3AF-4B3E-B0D3-A7D71436D3B2}" srcId="{A8921EC2-A899-4445-B33A-B766BBF85148}" destId="{44213021-7F16-4012-AA1D-68BF5E93F356}" srcOrd="2" destOrd="0" parTransId="{C34E0E7E-D9FC-419F-BA56-D0EDD60462C1}" sibTransId="{55804607-658B-4444-97B3-618FFE194EDC}"/>
    <dgm:cxn modelId="{7E3736E7-1D32-4946-A2A3-8C8CF8CE4754}" srcId="{A8921EC2-A899-4445-B33A-B766BBF85148}" destId="{C7AABB26-25A2-48A4-BD7C-1FE91B8B2424}" srcOrd="0" destOrd="0" parTransId="{1EF2F2F0-80E3-4A54-ADD8-CD84F333B598}" sibTransId="{101A9461-0B55-4C7D-A367-D6FE406A8562}"/>
    <dgm:cxn modelId="{E9A8CDF6-E0D6-4C19-893B-2702352955FF}" type="presOf" srcId="{44213021-7F16-4012-AA1D-68BF5E93F356}" destId="{D1DFFC54-F9DF-4A31-8CFC-B59268F71918}" srcOrd="0" destOrd="0" presId="urn:microsoft.com/office/officeart/2018/2/layout/IconVerticalSolidList"/>
    <dgm:cxn modelId="{3230EBFE-70C9-4681-9B54-9D5E35C887AF}" srcId="{44213021-7F16-4012-AA1D-68BF5E93F356}" destId="{D13BB027-E70C-49A7-AE33-9AE7D986311B}" srcOrd="1" destOrd="0" parTransId="{D50A3449-281F-4296-96AF-D0F4CD569507}" sibTransId="{31C46711-F18B-4FF1-87BE-181F889FAF81}"/>
    <dgm:cxn modelId="{F9A11CFF-C0AC-4813-8ACB-B093EB08ECB5}" type="presOf" srcId="{25BFDF09-152E-4CBC-80BF-D903D72580A1}" destId="{76DB694D-1274-4A2D-B7D0-DB733E4497CD}" srcOrd="0" destOrd="0" presId="urn:microsoft.com/office/officeart/2018/2/layout/IconVerticalSolidList"/>
    <dgm:cxn modelId="{EF3CF483-F355-49C5-9FB4-89E6FC35254C}" type="presParOf" srcId="{EE3C0720-75C1-4FF2-A449-B6188869BB64}" destId="{243A2F6C-F105-4942-8B24-2A11C498859D}" srcOrd="0" destOrd="0" presId="urn:microsoft.com/office/officeart/2018/2/layout/IconVerticalSolidList"/>
    <dgm:cxn modelId="{582D4475-7C0C-46AD-B989-388CBA778ABA}" type="presParOf" srcId="{243A2F6C-F105-4942-8B24-2A11C498859D}" destId="{313F2C49-241B-4975-83EA-7323D542FFDB}" srcOrd="0" destOrd="0" presId="urn:microsoft.com/office/officeart/2018/2/layout/IconVerticalSolidList"/>
    <dgm:cxn modelId="{5988E5DC-1272-497D-966E-C213E1318EA7}" type="presParOf" srcId="{243A2F6C-F105-4942-8B24-2A11C498859D}" destId="{6DBE88D8-C853-4D30-B96F-06B101140C4B}" srcOrd="1" destOrd="0" presId="urn:microsoft.com/office/officeart/2018/2/layout/IconVerticalSolidList"/>
    <dgm:cxn modelId="{09DDDEB7-0DD5-4CC4-BCB8-6E844BFD4E5A}" type="presParOf" srcId="{243A2F6C-F105-4942-8B24-2A11C498859D}" destId="{A0F03CDB-572A-49A5-8DC7-8E6CDED27C11}" srcOrd="2" destOrd="0" presId="urn:microsoft.com/office/officeart/2018/2/layout/IconVerticalSolidList"/>
    <dgm:cxn modelId="{B9D996F2-2DC5-4F53-AD89-0C1A8C8F4549}" type="presParOf" srcId="{243A2F6C-F105-4942-8B24-2A11C498859D}" destId="{88F95F3B-401C-45B5-A0A6-512729081E54}" srcOrd="3" destOrd="0" presId="urn:microsoft.com/office/officeart/2018/2/layout/IconVerticalSolidList"/>
    <dgm:cxn modelId="{59135441-B575-4A2F-8223-61DB57B24CD6}" type="presParOf" srcId="{EE3C0720-75C1-4FF2-A449-B6188869BB64}" destId="{BA5CE997-292F-40CC-8644-818783B97C21}" srcOrd="1" destOrd="0" presId="urn:microsoft.com/office/officeart/2018/2/layout/IconVerticalSolidList"/>
    <dgm:cxn modelId="{4553C840-667D-402C-B4D8-234D2C878EEE}" type="presParOf" srcId="{EE3C0720-75C1-4FF2-A449-B6188869BB64}" destId="{2554C99C-6CDC-49EA-A44A-8E63C3BCF78C}" srcOrd="2" destOrd="0" presId="urn:microsoft.com/office/officeart/2018/2/layout/IconVerticalSolidList"/>
    <dgm:cxn modelId="{12777ED0-B0E0-40C7-8462-CF7293E8FD6D}" type="presParOf" srcId="{2554C99C-6CDC-49EA-A44A-8E63C3BCF78C}" destId="{D4A20825-5141-475D-8BAF-584E57270156}" srcOrd="0" destOrd="0" presId="urn:microsoft.com/office/officeart/2018/2/layout/IconVerticalSolidList"/>
    <dgm:cxn modelId="{DF0A9076-4457-4847-A42A-A9475B380A09}" type="presParOf" srcId="{2554C99C-6CDC-49EA-A44A-8E63C3BCF78C}" destId="{59B43C96-F9F7-47B8-A801-CEF367F7A692}" srcOrd="1" destOrd="0" presId="urn:microsoft.com/office/officeart/2018/2/layout/IconVerticalSolidList"/>
    <dgm:cxn modelId="{E51BBF55-9CF3-46D5-B864-5FE7EBBBEA51}" type="presParOf" srcId="{2554C99C-6CDC-49EA-A44A-8E63C3BCF78C}" destId="{906F23DB-D1AB-4B00-9E07-8A1B8F76AE17}" srcOrd="2" destOrd="0" presId="urn:microsoft.com/office/officeart/2018/2/layout/IconVerticalSolidList"/>
    <dgm:cxn modelId="{B1484A25-BFE7-49B7-96CA-79A92D303E81}" type="presParOf" srcId="{2554C99C-6CDC-49EA-A44A-8E63C3BCF78C}" destId="{69BCF687-6CB0-485F-A709-686A52A5F960}" srcOrd="3" destOrd="0" presId="urn:microsoft.com/office/officeart/2018/2/layout/IconVerticalSolidList"/>
    <dgm:cxn modelId="{65C5BC4F-83F4-4A75-9E0D-295DA4A8B0B8}" type="presParOf" srcId="{2554C99C-6CDC-49EA-A44A-8E63C3BCF78C}" destId="{76DB694D-1274-4A2D-B7D0-DB733E4497CD}" srcOrd="4" destOrd="0" presId="urn:microsoft.com/office/officeart/2018/2/layout/IconVerticalSolidList"/>
    <dgm:cxn modelId="{4EF12C49-3260-402A-B25C-A44761C431CB}" type="presParOf" srcId="{EE3C0720-75C1-4FF2-A449-B6188869BB64}" destId="{F3B3A8F0-ABC7-4B02-8568-55FBD747026E}" srcOrd="3" destOrd="0" presId="urn:microsoft.com/office/officeart/2018/2/layout/IconVerticalSolidList"/>
    <dgm:cxn modelId="{3BBA4089-66A6-4325-B566-FAE0ADB94DD5}" type="presParOf" srcId="{EE3C0720-75C1-4FF2-A449-B6188869BB64}" destId="{6E7CC1D9-D83C-43B8-9B6E-70117C3EB3EF}" srcOrd="4" destOrd="0" presId="urn:microsoft.com/office/officeart/2018/2/layout/IconVerticalSolidList"/>
    <dgm:cxn modelId="{1859F697-6DE5-43F5-A8F0-9DD4EE59B754}" type="presParOf" srcId="{6E7CC1D9-D83C-43B8-9B6E-70117C3EB3EF}" destId="{FCB8C8A6-DC1F-4A32-AEDE-D75840B35C72}" srcOrd="0" destOrd="0" presId="urn:microsoft.com/office/officeart/2018/2/layout/IconVerticalSolidList"/>
    <dgm:cxn modelId="{64E76157-268B-4B64-A850-70DA84BC2448}" type="presParOf" srcId="{6E7CC1D9-D83C-43B8-9B6E-70117C3EB3EF}" destId="{2EA3C0D5-FC2D-4BD8-B555-CB1A5FA766F2}" srcOrd="1" destOrd="0" presId="urn:microsoft.com/office/officeart/2018/2/layout/IconVerticalSolidList"/>
    <dgm:cxn modelId="{90379D48-C9B0-4C8A-A3F2-39BFF6D82D75}" type="presParOf" srcId="{6E7CC1D9-D83C-43B8-9B6E-70117C3EB3EF}" destId="{AC153AA0-5478-49EC-A223-50F36FC6BA5E}" srcOrd="2" destOrd="0" presId="urn:microsoft.com/office/officeart/2018/2/layout/IconVerticalSolidList"/>
    <dgm:cxn modelId="{18E0EA6F-F6FC-4A97-94CD-CF7AEF0F6609}" type="presParOf" srcId="{6E7CC1D9-D83C-43B8-9B6E-70117C3EB3EF}" destId="{D1DFFC54-F9DF-4A31-8CFC-B59268F71918}" srcOrd="3" destOrd="0" presId="urn:microsoft.com/office/officeart/2018/2/layout/IconVerticalSolidList"/>
    <dgm:cxn modelId="{F5B298D5-5BB7-4A4B-9EE3-5D138972A9A0}" type="presParOf" srcId="{6E7CC1D9-D83C-43B8-9B6E-70117C3EB3EF}" destId="{30781D9D-25FB-4C5C-8D28-2C0A6AF940BB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3F2C49-241B-4975-83EA-7323D542FFDB}">
      <dsp:nvSpPr>
        <dsp:cNvPr id="0" name=""/>
        <dsp:cNvSpPr/>
      </dsp:nvSpPr>
      <dsp:spPr>
        <a:xfrm>
          <a:off x="0" y="0"/>
          <a:ext cx="8961490" cy="15925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BE88D8-C853-4D30-B96F-06B101140C4B}">
      <dsp:nvSpPr>
        <dsp:cNvPr id="0" name=""/>
        <dsp:cNvSpPr/>
      </dsp:nvSpPr>
      <dsp:spPr>
        <a:xfrm>
          <a:off x="481732" y="358993"/>
          <a:ext cx="875876" cy="8758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F95F3B-401C-45B5-A0A6-512729081E54}">
      <dsp:nvSpPr>
        <dsp:cNvPr id="0" name=""/>
        <dsp:cNvSpPr/>
      </dsp:nvSpPr>
      <dsp:spPr>
        <a:xfrm>
          <a:off x="1839341" y="680"/>
          <a:ext cx="7122148" cy="1592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540" tIns="168540" rIns="168540" bIns="16854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kern="1200" baseline="0"/>
            <a:t>Off or of?</a:t>
          </a:r>
          <a:endParaRPr lang="en-US" sz="2500" kern="1200"/>
        </a:p>
      </dsp:txBody>
      <dsp:txXfrm>
        <a:off x="1839341" y="680"/>
        <a:ext cx="7122148" cy="1592503"/>
      </dsp:txXfrm>
    </dsp:sp>
    <dsp:sp modelId="{D4A20825-5141-475D-8BAF-584E57270156}">
      <dsp:nvSpPr>
        <dsp:cNvPr id="0" name=""/>
        <dsp:cNvSpPr/>
      </dsp:nvSpPr>
      <dsp:spPr>
        <a:xfrm>
          <a:off x="0" y="1991309"/>
          <a:ext cx="8961490" cy="15925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B43C96-F9F7-47B8-A801-CEF367F7A692}">
      <dsp:nvSpPr>
        <dsp:cNvPr id="0" name=""/>
        <dsp:cNvSpPr/>
      </dsp:nvSpPr>
      <dsp:spPr>
        <a:xfrm>
          <a:off x="481732" y="2349623"/>
          <a:ext cx="875876" cy="8758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BCF687-6CB0-485F-A709-686A52A5F960}">
      <dsp:nvSpPr>
        <dsp:cNvPr id="0" name=""/>
        <dsp:cNvSpPr/>
      </dsp:nvSpPr>
      <dsp:spPr>
        <a:xfrm>
          <a:off x="1839341" y="1991309"/>
          <a:ext cx="4032670" cy="1592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540" tIns="168540" rIns="168540" bIns="16854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b="1" kern="1200" baseline="0" dirty="0">
              <a:solidFill>
                <a:srgbClr val="FFC000"/>
              </a:solidFill>
            </a:rPr>
            <a:t>Off</a:t>
          </a:r>
          <a:r>
            <a:rPr lang="nl-NL" sz="2500" kern="1200" baseline="0" dirty="0"/>
            <a:t> is </a:t>
          </a:r>
          <a:r>
            <a:rPr lang="nl-NL" sz="2500" kern="1200" baseline="0" dirty="0" err="1"/>
            <a:t>the</a:t>
          </a:r>
          <a:r>
            <a:rPr lang="nl-NL" sz="2500" kern="1200" baseline="0" dirty="0"/>
            <a:t> </a:t>
          </a:r>
          <a:r>
            <a:rPr lang="nl-NL" sz="2500" kern="1200" baseline="0" dirty="0" err="1"/>
            <a:t>opposite</a:t>
          </a:r>
          <a:r>
            <a:rPr lang="nl-NL" sz="2500" kern="1200" baseline="0" dirty="0"/>
            <a:t> of </a:t>
          </a:r>
          <a:r>
            <a:rPr lang="nl-NL" sz="2500" b="1" kern="1200" baseline="0" dirty="0">
              <a:solidFill>
                <a:srgbClr val="FFC000"/>
              </a:solidFill>
            </a:rPr>
            <a:t>on</a:t>
          </a:r>
          <a:endParaRPr lang="en-US" sz="2500" kern="1200" dirty="0">
            <a:solidFill>
              <a:srgbClr val="FFC000"/>
            </a:solidFill>
          </a:endParaRPr>
        </a:p>
      </dsp:txBody>
      <dsp:txXfrm>
        <a:off x="1839341" y="1991309"/>
        <a:ext cx="4032670" cy="1592503"/>
      </dsp:txXfrm>
    </dsp:sp>
    <dsp:sp modelId="{76DB694D-1274-4A2D-B7D0-DB733E4497CD}">
      <dsp:nvSpPr>
        <dsp:cNvPr id="0" name=""/>
        <dsp:cNvSpPr/>
      </dsp:nvSpPr>
      <dsp:spPr>
        <a:xfrm>
          <a:off x="5872011" y="1991309"/>
          <a:ext cx="3089478" cy="1592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540" tIns="168540" rIns="168540" bIns="16854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 baseline="0" dirty="0"/>
            <a:t>He </a:t>
          </a:r>
          <a:r>
            <a:rPr lang="nl-NL" sz="1600" kern="1200" baseline="0" dirty="0" err="1"/>
            <a:t>switched</a:t>
          </a:r>
          <a:r>
            <a:rPr lang="nl-NL" sz="1600" kern="1200" baseline="0" dirty="0"/>
            <a:t> </a:t>
          </a:r>
          <a:r>
            <a:rPr lang="nl-NL" sz="1600" kern="1200" baseline="0" dirty="0" err="1"/>
            <a:t>the</a:t>
          </a:r>
          <a:r>
            <a:rPr lang="nl-NL" sz="1600" kern="1200" baseline="0" dirty="0"/>
            <a:t> computer </a:t>
          </a:r>
          <a:r>
            <a:rPr lang="nl-NL" sz="1600" b="1" kern="1200" baseline="0" dirty="0">
              <a:solidFill>
                <a:srgbClr val="FFC000"/>
              </a:solidFill>
            </a:rPr>
            <a:t>off</a:t>
          </a:r>
          <a:r>
            <a:rPr lang="nl-NL" sz="1600" kern="1200" baseline="0" dirty="0"/>
            <a:t> </a:t>
          </a:r>
          <a:r>
            <a:rPr lang="nl-NL" sz="1600" kern="1200" baseline="0" dirty="0" err="1"/>
            <a:t>and</a:t>
          </a:r>
          <a:r>
            <a:rPr lang="nl-NL" sz="1600" kern="1200" baseline="0" dirty="0"/>
            <a:t> on </a:t>
          </a:r>
          <a:r>
            <a:rPr lang="nl-NL" sz="1600" kern="1200" baseline="0" dirty="0" err="1"/>
            <a:t>again</a:t>
          </a:r>
          <a:r>
            <a:rPr lang="nl-NL" sz="1600" kern="1200" baseline="0" dirty="0"/>
            <a:t>.</a:t>
          </a:r>
          <a:endParaRPr lang="en-US" sz="160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 baseline="0" dirty="0"/>
            <a:t>The </a:t>
          </a:r>
          <a:r>
            <a:rPr lang="nl-NL" sz="1600" kern="1200" baseline="0" dirty="0" err="1"/>
            <a:t>book</a:t>
          </a:r>
          <a:r>
            <a:rPr lang="nl-NL" sz="1600" kern="1200" baseline="0" dirty="0"/>
            <a:t> was on </a:t>
          </a:r>
          <a:r>
            <a:rPr lang="nl-NL" sz="1600" kern="1200" baseline="0" dirty="0" err="1"/>
            <a:t>the</a:t>
          </a:r>
          <a:r>
            <a:rPr lang="nl-NL" sz="1600" kern="1200" baseline="0" dirty="0"/>
            <a:t> </a:t>
          </a:r>
          <a:r>
            <a:rPr lang="nl-NL" sz="1600" kern="1200" baseline="0" dirty="0" err="1"/>
            <a:t>table</a:t>
          </a:r>
          <a:r>
            <a:rPr lang="nl-NL" sz="1600" kern="1200" baseline="0" dirty="0"/>
            <a:t>, but </a:t>
          </a:r>
          <a:r>
            <a:rPr lang="nl-NL" sz="1600" kern="1200" baseline="0" dirty="0" err="1"/>
            <a:t>then</a:t>
          </a:r>
          <a:r>
            <a:rPr lang="nl-NL" sz="1600" kern="1200" baseline="0" dirty="0"/>
            <a:t> </a:t>
          </a:r>
          <a:r>
            <a:rPr lang="nl-NL" sz="1600" kern="1200" baseline="0" dirty="0" err="1"/>
            <a:t>it</a:t>
          </a:r>
          <a:r>
            <a:rPr lang="nl-NL" sz="1600" kern="1200" baseline="0" dirty="0"/>
            <a:t> </a:t>
          </a:r>
          <a:r>
            <a:rPr lang="nl-NL" sz="1600" kern="1200" baseline="0" dirty="0" err="1"/>
            <a:t>fell</a:t>
          </a:r>
          <a:r>
            <a:rPr lang="nl-NL" sz="1600" kern="1200" baseline="0" dirty="0"/>
            <a:t> </a:t>
          </a:r>
          <a:r>
            <a:rPr lang="nl-NL" sz="1600" b="1" kern="1200" baseline="0" dirty="0">
              <a:solidFill>
                <a:srgbClr val="FFC000"/>
              </a:solidFill>
            </a:rPr>
            <a:t>off</a:t>
          </a:r>
          <a:r>
            <a:rPr lang="nl-NL" sz="1600" kern="1200" baseline="0" dirty="0"/>
            <a:t>.</a:t>
          </a:r>
          <a:endParaRPr lang="en-US" sz="1600" kern="1200" dirty="0"/>
        </a:p>
      </dsp:txBody>
      <dsp:txXfrm>
        <a:off x="5872011" y="1991309"/>
        <a:ext cx="3089478" cy="1592503"/>
      </dsp:txXfrm>
    </dsp:sp>
    <dsp:sp modelId="{FCB8C8A6-DC1F-4A32-AEDE-D75840B35C72}">
      <dsp:nvSpPr>
        <dsp:cNvPr id="0" name=""/>
        <dsp:cNvSpPr/>
      </dsp:nvSpPr>
      <dsp:spPr>
        <a:xfrm>
          <a:off x="0" y="3981939"/>
          <a:ext cx="8961490" cy="15925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A3C0D5-FC2D-4BD8-B555-CB1A5FA766F2}">
      <dsp:nvSpPr>
        <dsp:cNvPr id="0" name=""/>
        <dsp:cNvSpPr/>
      </dsp:nvSpPr>
      <dsp:spPr>
        <a:xfrm>
          <a:off x="481732" y="4340252"/>
          <a:ext cx="875876" cy="8758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FFC54-F9DF-4A31-8CFC-B59268F71918}">
      <dsp:nvSpPr>
        <dsp:cNvPr id="0" name=""/>
        <dsp:cNvSpPr/>
      </dsp:nvSpPr>
      <dsp:spPr>
        <a:xfrm>
          <a:off x="1839341" y="3981939"/>
          <a:ext cx="4032670" cy="1592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540" tIns="168540" rIns="168540" bIns="16854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b="1" kern="1200" baseline="0" dirty="0">
              <a:solidFill>
                <a:srgbClr val="FFC000"/>
              </a:solidFill>
            </a:rPr>
            <a:t>Of</a:t>
          </a:r>
          <a:r>
            <a:rPr lang="nl-NL" sz="2500" kern="1200" baseline="0" dirty="0"/>
            <a:t>  is </a:t>
          </a:r>
          <a:r>
            <a:rPr lang="nl-NL" sz="2500" kern="1200" baseline="0" dirty="0" err="1"/>
            <a:t>used</a:t>
          </a:r>
          <a:r>
            <a:rPr lang="nl-NL" sz="2500" kern="1200" baseline="0" dirty="0"/>
            <a:t> in </a:t>
          </a:r>
          <a:r>
            <a:rPr lang="nl-NL" sz="2500" kern="1200" baseline="0" dirty="0" err="1"/>
            <a:t>all</a:t>
          </a:r>
          <a:r>
            <a:rPr lang="nl-NL" sz="2500" kern="1200" baseline="0" dirty="0"/>
            <a:t> </a:t>
          </a:r>
          <a:r>
            <a:rPr lang="nl-NL" sz="2500" kern="1200" baseline="0" dirty="0" err="1"/>
            <a:t>other</a:t>
          </a:r>
          <a:r>
            <a:rPr lang="nl-NL" sz="2500" kern="1200" baseline="0" dirty="0"/>
            <a:t> cases (</a:t>
          </a:r>
          <a:r>
            <a:rPr lang="nl-NL" sz="2500" kern="1200" baseline="0" dirty="0" err="1"/>
            <a:t>usually</a:t>
          </a:r>
          <a:r>
            <a:rPr lang="nl-NL" sz="2500" kern="1200" baseline="0" dirty="0"/>
            <a:t> </a:t>
          </a:r>
          <a:r>
            <a:rPr lang="nl-NL" sz="2500" kern="1200" baseline="0" dirty="0" err="1"/>
            <a:t>translates</a:t>
          </a:r>
          <a:r>
            <a:rPr lang="nl-NL" sz="2500" kern="1200" baseline="0" dirty="0"/>
            <a:t> </a:t>
          </a:r>
          <a:r>
            <a:rPr lang="nl-NL" sz="2500" kern="1200" baseline="0" dirty="0" err="1"/>
            <a:t>to</a:t>
          </a:r>
          <a:r>
            <a:rPr lang="nl-NL" sz="2500" kern="1200" baseline="0" dirty="0"/>
            <a:t> Dutch ‘van’)</a:t>
          </a:r>
          <a:endParaRPr lang="en-US" sz="2500" kern="1200" dirty="0"/>
        </a:p>
      </dsp:txBody>
      <dsp:txXfrm>
        <a:off x="1839341" y="3981939"/>
        <a:ext cx="4032670" cy="1592503"/>
      </dsp:txXfrm>
    </dsp:sp>
    <dsp:sp modelId="{30781D9D-25FB-4C5C-8D28-2C0A6AF940BB}">
      <dsp:nvSpPr>
        <dsp:cNvPr id="0" name=""/>
        <dsp:cNvSpPr/>
      </dsp:nvSpPr>
      <dsp:spPr>
        <a:xfrm>
          <a:off x="5872011" y="3981939"/>
          <a:ext cx="3089478" cy="1592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540" tIns="168540" rIns="168540" bIns="16854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 baseline="0" dirty="0"/>
            <a:t>He is </a:t>
          </a:r>
          <a:r>
            <a:rPr lang="nl-NL" sz="1600" kern="1200" baseline="0" dirty="0" err="1"/>
            <a:t>the</a:t>
          </a:r>
          <a:r>
            <a:rPr lang="nl-NL" sz="1600" kern="1200" baseline="0" dirty="0"/>
            <a:t> </a:t>
          </a:r>
          <a:r>
            <a:rPr lang="nl-NL" sz="1600" kern="1200" baseline="0" dirty="0" err="1"/>
            <a:t>head</a:t>
          </a:r>
          <a:r>
            <a:rPr lang="nl-NL" sz="1600" kern="1200" baseline="0" dirty="0"/>
            <a:t> </a:t>
          </a:r>
          <a:r>
            <a:rPr lang="nl-NL" sz="1600" b="1" kern="1200" baseline="0" dirty="0">
              <a:solidFill>
                <a:srgbClr val="FFC000"/>
              </a:solidFill>
            </a:rPr>
            <a:t>of</a:t>
          </a:r>
          <a:r>
            <a:rPr lang="nl-NL" sz="1600" b="1" kern="1200" baseline="0" dirty="0"/>
            <a:t> </a:t>
          </a:r>
          <a:r>
            <a:rPr lang="nl-NL" sz="1600" kern="1200" baseline="0" dirty="0" err="1"/>
            <a:t>our</a:t>
          </a:r>
          <a:r>
            <a:rPr lang="nl-NL" sz="1600" kern="1200" baseline="0" dirty="0"/>
            <a:t> </a:t>
          </a:r>
          <a:r>
            <a:rPr lang="nl-NL" sz="1600" kern="1200" baseline="0" dirty="0" err="1"/>
            <a:t>department</a:t>
          </a:r>
          <a:endParaRPr lang="en-US" sz="160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 baseline="0" dirty="0" err="1"/>
            <a:t>She</a:t>
          </a:r>
          <a:r>
            <a:rPr lang="nl-NL" sz="1600" kern="1200" baseline="0" dirty="0"/>
            <a:t> </a:t>
          </a:r>
          <a:r>
            <a:rPr lang="nl-NL" sz="1600" kern="1200" baseline="0" dirty="0" err="1"/>
            <a:t>cried</a:t>
          </a:r>
          <a:r>
            <a:rPr lang="nl-NL" sz="1600" kern="1200" baseline="0" dirty="0"/>
            <a:t> </a:t>
          </a:r>
          <a:r>
            <a:rPr lang="nl-NL" sz="1600" kern="1200" baseline="0" dirty="0" err="1"/>
            <a:t>tears</a:t>
          </a:r>
          <a:r>
            <a:rPr lang="nl-NL" sz="1600" kern="1200" baseline="0" dirty="0"/>
            <a:t> </a:t>
          </a:r>
          <a:r>
            <a:rPr lang="nl-NL" sz="1600" b="1" kern="1200" baseline="0" dirty="0">
              <a:solidFill>
                <a:srgbClr val="FFC000"/>
              </a:solidFill>
            </a:rPr>
            <a:t>of</a:t>
          </a:r>
          <a:r>
            <a:rPr lang="nl-NL" sz="1600" kern="1200" baseline="0" dirty="0"/>
            <a:t> </a:t>
          </a:r>
          <a:r>
            <a:rPr lang="nl-NL" sz="1600" kern="1200" baseline="0" dirty="0" err="1"/>
            <a:t>happiness</a:t>
          </a:r>
          <a:r>
            <a:rPr lang="nl-NL" sz="1600" kern="1200" baseline="0" dirty="0"/>
            <a:t>.</a:t>
          </a:r>
          <a:endParaRPr lang="en-US" sz="1600" kern="1200" dirty="0"/>
        </a:p>
      </dsp:txBody>
      <dsp:txXfrm>
        <a:off x="5872011" y="3981939"/>
        <a:ext cx="3089478" cy="15925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F8805E-CE5C-4873-9C75-66BD8C120CF5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7C48EF-A63E-44B8-8641-F9786CA0F8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1301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NL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5CD26C-F6AB-41F4-99F4-D64536D370A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65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NL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5C49F1-949C-47B1-813E-118A2D2DC57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860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NL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811A25-D3C4-4ED7-9720-0F2605922E2E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695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NL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5C35AE-F63C-4CF4-A29E-E46D382A4B9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73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NL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3889B5-3548-43DA-B33A-5FE31F6A39D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99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NL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FB59A9E-1365-4811-BDCE-834EACC00611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137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NL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77B027-DB18-4A07-8112-07C22C8FA4E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611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NL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E838A4-9FD5-4CB8-947E-F437136CC571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6072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NL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E838A4-9FD5-4CB8-947E-F437136CC571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176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NL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2AFE2B2-6292-4B4F-BB20-E71CCCBF4A45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6960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NL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2AFE2B2-6292-4B4F-BB20-E71CCCBF4A45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519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0CC6A-F0B6-4AD5-BEE7-AAA4BBBEFD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Padlet could be used to good effect here.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7C48EF-A63E-44B8-8641-F9786CA0F890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8653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nl-NL" dirty="0"/>
              <a:t>have /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watch</a:t>
            </a:r>
            <a:endParaRPr lang="nl-NL" dirty="0"/>
          </a:p>
          <a:p>
            <a:pPr marL="228600" indent="-228600">
              <a:buAutoNum type="arabicPeriod"/>
            </a:pPr>
            <a:r>
              <a:rPr lang="nl-NL" dirty="0"/>
              <a:t>Type-1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B7E026-AB14-4F4D-9DE3-4C6E04447BB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0484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nl-NL" dirty="0"/>
              <a:t>have /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watch</a:t>
            </a:r>
            <a:endParaRPr lang="nl-NL" dirty="0"/>
          </a:p>
          <a:p>
            <a:pPr marL="228600" indent="-228600">
              <a:buAutoNum type="arabicPeriod"/>
            </a:pPr>
            <a:r>
              <a:rPr lang="nl-NL" dirty="0"/>
              <a:t>Type-1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B7E026-AB14-4F4D-9DE3-4C6E04447BB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1793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nl-NL" dirty="0" err="1"/>
              <a:t>Returned</a:t>
            </a:r>
            <a:r>
              <a:rPr lang="nl-NL" dirty="0"/>
              <a:t>/</a:t>
            </a:r>
            <a:r>
              <a:rPr lang="nl-NL" dirty="0" err="1"/>
              <a:t>were</a:t>
            </a:r>
            <a:r>
              <a:rPr lang="nl-NL" baseline="0" dirty="0"/>
              <a:t> </a:t>
            </a:r>
            <a:r>
              <a:rPr lang="nl-NL" baseline="0" dirty="0" err="1"/>
              <a:t>to</a:t>
            </a:r>
            <a:r>
              <a:rPr lang="nl-NL" baseline="0" dirty="0"/>
              <a:t> return</a:t>
            </a:r>
            <a:r>
              <a:rPr lang="nl-NL" dirty="0"/>
              <a:t> </a:t>
            </a:r>
            <a:r>
              <a:rPr lang="nl-NL" baseline="0" dirty="0"/>
              <a:t> |  </a:t>
            </a:r>
            <a:r>
              <a:rPr lang="nl-NL" dirty="0"/>
              <a:t> </a:t>
            </a:r>
            <a:r>
              <a:rPr lang="nl-NL" dirty="0" err="1"/>
              <a:t>would</a:t>
            </a:r>
            <a:r>
              <a:rPr lang="nl-NL" baseline="0" dirty="0"/>
              <a:t> </a:t>
            </a:r>
            <a:r>
              <a:rPr lang="nl-NL" baseline="0" dirty="0" err="1"/>
              <a:t>be</a:t>
            </a:r>
            <a:r>
              <a:rPr lang="nl-NL" dirty="0"/>
              <a:t> </a:t>
            </a:r>
          </a:p>
          <a:p>
            <a:pPr marL="228600" indent="-228600">
              <a:buAutoNum type="arabicPeriod"/>
            </a:pPr>
            <a:r>
              <a:rPr lang="nl-NL" dirty="0"/>
              <a:t>Type-2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B7E026-AB14-4F4D-9DE3-4C6E04447BB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7009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nl-NL" dirty="0" err="1"/>
              <a:t>Returned</a:t>
            </a:r>
            <a:r>
              <a:rPr lang="nl-NL" dirty="0"/>
              <a:t>/</a:t>
            </a:r>
            <a:r>
              <a:rPr lang="nl-NL" dirty="0" err="1"/>
              <a:t>were</a:t>
            </a:r>
            <a:r>
              <a:rPr lang="nl-NL" baseline="0" dirty="0"/>
              <a:t> </a:t>
            </a:r>
            <a:r>
              <a:rPr lang="nl-NL" baseline="0" dirty="0" err="1"/>
              <a:t>to</a:t>
            </a:r>
            <a:r>
              <a:rPr lang="nl-NL" baseline="0" dirty="0"/>
              <a:t> return</a:t>
            </a:r>
            <a:r>
              <a:rPr lang="nl-NL" dirty="0"/>
              <a:t> </a:t>
            </a:r>
            <a:r>
              <a:rPr lang="nl-NL" baseline="0" dirty="0"/>
              <a:t> |  </a:t>
            </a:r>
            <a:r>
              <a:rPr lang="nl-NL" dirty="0"/>
              <a:t> </a:t>
            </a:r>
            <a:r>
              <a:rPr lang="nl-NL" dirty="0" err="1"/>
              <a:t>would</a:t>
            </a:r>
            <a:r>
              <a:rPr lang="nl-NL" baseline="0" dirty="0"/>
              <a:t> </a:t>
            </a:r>
            <a:r>
              <a:rPr lang="nl-NL" baseline="0" dirty="0" err="1"/>
              <a:t>be</a:t>
            </a:r>
            <a:r>
              <a:rPr lang="nl-NL" dirty="0"/>
              <a:t> </a:t>
            </a:r>
          </a:p>
          <a:p>
            <a:pPr marL="228600" indent="-228600">
              <a:buAutoNum type="arabicPeriod"/>
            </a:pPr>
            <a:r>
              <a:rPr lang="nl-NL" dirty="0"/>
              <a:t>Type-2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B7E026-AB14-4F4D-9DE3-4C6E04447BB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82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cap="all" spc="-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395C5C9-164C-46B3-A87E-7660D39D3106}" type="datetime2">
              <a:rPr lang="en-US" smtClean="0"/>
              <a:t>Monday, October 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584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DCFF8A-AAF8-4A12-8A91-9CA0EAF6CBB9}" type="datetime2">
              <a:rPr lang="en-US" smtClean="0"/>
              <a:t>Monday, October 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3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BCC25C3-021A-4B0B-8F70-0C181FE1CF45}" type="datetime2">
              <a:rPr lang="en-US" smtClean="0"/>
              <a:t>Monday, October 6,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00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C23D88D-8CEC-4ED9-A53B-5596187D9A16}" type="datetime2">
              <a:rPr lang="en-US" smtClean="0"/>
              <a:t>Monday, October 6,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15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D2CCD382-DFDA-4722-A27A-59C21AD112F2}" type="datetime2">
              <a:rPr lang="en-US" smtClean="0"/>
              <a:t>Monday, October 6,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1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2F2A30D-1C09-413F-AAB1-38F366000715}" type="datetime2">
              <a:rPr lang="en-US" smtClean="0"/>
              <a:t>Monday, October 6,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846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6DB82B9C-D65E-4F64-95C3-B10F3B00F0D9}" type="datetime2">
              <a:rPr lang="en-US" smtClean="0"/>
              <a:t>Monday, October 6,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75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B7F5FDCC-6AAC-4A08-B9E0-3793AB5E64C3}" type="datetime2">
              <a:rPr lang="en-US" smtClean="0"/>
              <a:t>Monday, October 6,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96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349FE94D-439C-40F1-900E-BC07940E3988}" type="datetime2">
              <a:rPr lang="en-US" smtClean="0"/>
              <a:t>Monday, October 6,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9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B75179A-1E2B-41AB-B400-4F1B4022FAEE}" type="datetime2">
              <a:rPr lang="en-US" smtClean="0"/>
              <a:t>Monday, October 6,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9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5681D0F-6595-4F14-8EF3-954CD87C797B}" type="datetime2">
              <a:rPr lang="en-US" smtClean="0"/>
              <a:t>Monday, October 6,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61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BCF14-23D7-1C26-EF09-1AFD518A8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688075-7E48-132E-45A8-9C2E4B46A7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BF805-93DA-D23E-A5D4-8593FE5A5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38C340E-CD93-4F07-B8C3-7B34B96F436D}" type="datetimeFigureOut">
              <a:rPr lang="en-US" smtClean="0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E60C6-21F8-1D69-CF91-6ACEEC455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8A82A-1B24-6F29-2714-47542A760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86C9A-E859-433F-8A1C-46C993754548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E75B1-9A95-CED8-220E-8FCAAE1D8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D08FC-D9D9-06AE-6BFF-EA08782CE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75B5A-CC4B-1822-746E-588BB7370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CB74F13-E9FD-40C6-95FB-AAA37E4E6704}" type="datetimeFigureOut">
              <a:rPr lang="en-US" smtClean="0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55B60-EAB1-905C-B5BE-87F72BD4E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F23FB-37AD-9B4A-C72A-0766EF2F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DF8CDC-5528-4361-8872-B9B674CF9652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9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9AA42-64F1-D53D-DA80-E5A4835A6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D4ACD-1559-22C5-A2C1-6864CFCA2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C9311-F838-E706-2C67-86389F054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87B0AC8-66C6-461F-9AE8-BA2DD997B938}" type="datetimeFigureOut">
              <a:rPr lang="en-US" smtClean="0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098AB-28B3-01F1-8A7D-D51EEBD35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8CDF6-FCEF-77ED-8610-6DD7B0BF8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54682B-9000-4C7B-A4EF-87A93C5C79A7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456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07A61-AD7D-D9ED-F4B9-2200028B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1D075-05C0-5C50-2C9C-B4F1D32AF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062A6-A364-8FC4-4439-A1C5C7903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81A35-D0B8-14AD-90F4-FB7E57FB7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B47FE77-A7D6-472F-991D-5F085CCF3567}" type="datetimeFigureOut">
              <a:rPr lang="en-US" smtClean="0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30AD6-8E91-BF58-F925-F6E0597F0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20E04-9512-CE97-CCCA-A362DDBEC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CAB5BC-960A-4F5D-92C5-5F2DD3089AC3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97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C5130-2E55-2CE0-0374-F6122B608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8B38D-A3FA-34F0-A3D2-F23EB9E53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4FF60-7D3A-185F-D109-CA4DE9151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D3AD84-9CA8-B98A-228D-E405166DFA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6FE1B5-EBF1-7EE5-C310-35502FB5D8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D43ACF-BAEF-5324-6E47-CB4D6E3FD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B1C091-4B93-4833-BCC6-4109BDFF8F91}" type="datetimeFigureOut">
              <a:rPr lang="en-US" smtClean="0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0272C4-5348-4FD1-25F4-CDC8F744E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E76F0B-706B-E0DF-A372-6405744F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9619B9-64F0-4CEA-B2F6-8EC6DFF417BE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437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C494-D939-5371-7A86-A3B07E5BC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F51DD7-DC20-E832-B6A6-A45289AD4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3717C9-A790-4FAE-AC68-50256C8AB752}" type="datetimeFigureOut">
              <a:rPr lang="en-US" smtClean="0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A587F-57E5-CAFB-0E7B-4410E2659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2E1F7C-AED4-44ED-0F1A-CA5F96AC6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DF6466-4554-462D-9496-5761E04A697E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9657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C1F926-0AB2-A76F-D38F-1575DB742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B754FFA-A10D-43F2-ABDF-DBCF530CEB34}" type="datetimeFigureOut">
              <a:rPr lang="en-US" smtClean="0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1AB2DD-53C4-E2C6-E9F6-7B6DC2FCE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8400C-DFC9-1718-FC32-8BC7E9A8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CE3712-CED0-476B-A8B8-152B3E560BD8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2329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0FE44-378F-F5A2-7106-74A479754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8B354-A613-BE7C-4D6C-BCF01F271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4AA85-3636-E3A3-5DD6-FE6A58A94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F58D0-4BD7-ADC6-B08D-AC9106DE1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3FDCD18-A3E5-49F2-A9D0-E3703CD76829}" type="datetimeFigureOut">
              <a:rPr lang="en-US" smtClean="0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F00B6-5EA4-7C1B-DD03-608820FAF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D737F-1CB4-643C-4C3E-8D7476603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30231D-EC98-4F26-B630-4EF7A0266B53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053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EC9D0-4C9E-F0D5-6CB6-0A5B5C733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3FFB24-2994-C3B2-0B09-3E7F3416F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575FD2-4FEC-4B17-83F0-73E6ED1F4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64676-D503-9ACD-F1EA-E1042C43C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5642604-2513-49D4-AC95-54FC07ED1A4E}" type="datetimeFigureOut">
              <a:rPr lang="en-US" smtClean="0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F6B23-CB1E-78B5-E6AC-9EC86F546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D75CB-41AF-CCC7-F2AB-0B6FBE167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8AD826-C8E6-4484-BB93-62AB3910F224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83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C0ED6-47C8-2803-5CD3-BF6DB29E1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B1BD48-18DC-E36F-36B1-ED6999FB7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0DC70-9E69-1B22-EF78-AB44C8FAD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1AB660-3C15-467B-80C4-8071D58FAA9A}" type="datetimeFigureOut">
              <a:rPr lang="en-US" smtClean="0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6D28F-19CE-5D68-02C1-93F79FDFA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3627D-4473-9901-A9CF-AAF091D1A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B130B-FB59-4964-BF3D-EB506D6C6D86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2330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526EDD-6F3B-8E4E-9650-44CEF530C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C4965D-09F6-269C-CC2E-A7FB22993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11B6C-5191-071F-DCD7-EB8126F61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D9EC3F-CCC4-4A30-BE87-F4FCC27E1FD6}" type="datetimeFigureOut">
              <a:rPr lang="en-US" smtClean="0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8D3F-4512-EBFA-5A1D-9066B3AA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50E90-9FD6-4CDB-F7EC-213507C7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00F90B-59BF-40A2-AF1E-D9DB4012E4BE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48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Monday, October 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3006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67" r:id="rId6"/>
    <p:sldLayoutId id="2147483663" r:id="rId7"/>
    <p:sldLayoutId id="2147483664" r:id="rId8"/>
    <p:sldLayoutId id="2147483665" r:id="rId9"/>
    <p:sldLayoutId id="2147483666" r:id="rId10"/>
    <p:sldLayoutId id="2147483668" r:id="rId11"/>
  </p:sldLayoutIdLst>
  <p:hf sldNum="0" hdr="0" ftr="0" dt="0"/>
  <p:txStyles>
    <p:titleStyle>
      <a:lvl1pPr algn="l" defTabSz="914400" rtl="0" eaLnBrk="1" latinLnBrk="0" hangingPunct="1">
        <a:lnSpc>
          <a:spcPct val="88000"/>
        </a:lnSpc>
        <a:spcBef>
          <a:spcPct val="0"/>
        </a:spcBef>
        <a:buNone/>
        <a:defRPr sz="4400" kern="1200" cap="none" spc="4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10F0C2-0D54-A5D8-A2DF-EA075C02E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C3741-DCFD-CC1E-4F01-D8B90FA38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3EB40-FA4B-8915-9774-40FFE0B2F0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2378003-317D-42B4-82A1-5C562775FC55}" type="datetimeFigureOut">
              <a:rPr lang="en-US" smtClean="0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097A6-A054-653F-BA56-77F80A25B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6AB2A-6E56-61D7-26E9-31E4B5AEAC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27E46A6-3E66-4F5C-9071-A01D24033389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334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office.com/e/9xF4TLDXZZ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1F4D251-B7D8-402D-950A-F9D15396E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AD4CE-7A4C-CF9A-0C98-1BDC85986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0000" y="728663"/>
            <a:ext cx="5015638" cy="2795737"/>
          </a:xfrm>
        </p:spPr>
        <p:txBody>
          <a:bodyPr>
            <a:normAutofit/>
          </a:bodyPr>
          <a:lstStyle/>
          <a:p>
            <a:r>
              <a:rPr lang="nl-NL" dirty="0"/>
              <a:t>Grammar &amp; Basics</a:t>
            </a:r>
            <a:endParaRPr lang="en-GB" dirty="0"/>
          </a:p>
        </p:txBody>
      </p:sp>
      <p:pic>
        <p:nvPicPr>
          <p:cNvPr id="4" name="Picture 3" descr="Wavy 3D art">
            <a:extLst>
              <a:ext uri="{FF2B5EF4-FFF2-40B4-BE49-F238E27FC236}">
                <a16:creationId xmlns:a16="http://schemas.microsoft.com/office/drawing/2014/main" id="{117AC299-C3BB-4AC5-7013-BFBBF1B103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726" r="12280" b="2"/>
          <a:stretch/>
        </p:blipFill>
        <p:spPr>
          <a:xfrm>
            <a:off x="1" y="10"/>
            <a:ext cx="5662934" cy="6857990"/>
          </a:xfrm>
          <a:custGeom>
            <a:avLst/>
            <a:gdLst/>
            <a:ahLst/>
            <a:cxnLst/>
            <a:rect l="l" t="t" r="r" b="b"/>
            <a:pathLst>
              <a:path w="5662934" h="6858000">
                <a:moveTo>
                  <a:pt x="0" y="0"/>
                </a:moveTo>
                <a:lnTo>
                  <a:pt x="5064602" y="0"/>
                </a:lnTo>
                <a:lnTo>
                  <a:pt x="4889880" y="279455"/>
                </a:lnTo>
                <a:cubicBezTo>
                  <a:pt x="4472355" y="1021447"/>
                  <a:pt x="4263593" y="1948936"/>
                  <a:pt x="4263593" y="3061922"/>
                </a:cubicBezTo>
                <a:cubicBezTo>
                  <a:pt x="4263593" y="3516203"/>
                  <a:pt x="4324186" y="3970483"/>
                  <a:pt x="4445372" y="4515619"/>
                </a:cubicBezTo>
                <a:cubicBezTo>
                  <a:pt x="4596855" y="5030470"/>
                  <a:pt x="4748338" y="5515036"/>
                  <a:pt x="4990710" y="5969316"/>
                </a:cubicBezTo>
                <a:cubicBezTo>
                  <a:pt x="5172489" y="6275955"/>
                  <a:pt x="5371310" y="6544265"/>
                  <a:pt x="5583977" y="6777438"/>
                </a:cubicBezTo>
                <a:lnTo>
                  <a:pt x="566293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E67870A8-BE17-461C-AD58-035AD7FA0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7291575">
            <a:off x="3479502" y="491434"/>
            <a:ext cx="2397877" cy="2244442"/>
          </a:xfrm>
          <a:custGeom>
            <a:avLst/>
            <a:gdLst>
              <a:gd name="T0" fmla="*/ 43 w 250"/>
              <a:gd name="T1" fmla="*/ 167 h 234"/>
              <a:gd name="T2" fmla="*/ 70 w 250"/>
              <a:gd name="T3" fmla="*/ 133 h 234"/>
              <a:gd name="T4" fmla="*/ 48 w 250"/>
              <a:gd name="T5" fmla="*/ 134 h 234"/>
              <a:gd name="T6" fmla="*/ 19 w 250"/>
              <a:gd name="T7" fmla="*/ 130 h 234"/>
              <a:gd name="T8" fmla="*/ 6 w 250"/>
              <a:gd name="T9" fmla="*/ 123 h 234"/>
              <a:gd name="T10" fmla="*/ 1 w 250"/>
              <a:gd name="T11" fmla="*/ 103 h 234"/>
              <a:gd name="T12" fmla="*/ 11 w 250"/>
              <a:gd name="T13" fmla="*/ 81 h 234"/>
              <a:gd name="T14" fmla="*/ 23 w 250"/>
              <a:gd name="T15" fmla="*/ 76 h 234"/>
              <a:gd name="T16" fmla="*/ 81 w 250"/>
              <a:gd name="T17" fmla="*/ 78 h 234"/>
              <a:gd name="T18" fmla="*/ 65 w 250"/>
              <a:gd name="T19" fmla="*/ 49 h 234"/>
              <a:gd name="T20" fmla="*/ 57 w 250"/>
              <a:gd name="T21" fmla="*/ 27 h 234"/>
              <a:gd name="T22" fmla="*/ 67 w 250"/>
              <a:gd name="T23" fmla="*/ 12 h 234"/>
              <a:gd name="T24" fmla="*/ 85 w 250"/>
              <a:gd name="T25" fmla="*/ 1 h 234"/>
              <a:gd name="T26" fmla="*/ 101 w 250"/>
              <a:gd name="T27" fmla="*/ 8 h 234"/>
              <a:gd name="T28" fmla="*/ 107 w 250"/>
              <a:gd name="T29" fmla="*/ 15 h 234"/>
              <a:gd name="T30" fmla="*/ 120 w 250"/>
              <a:gd name="T31" fmla="*/ 37 h 234"/>
              <a:gd name="T32" fmla="*/ 131 w 250"/>
              <a:gd name="T33" fmla="*/ 60 h 234"/>
              <a:gd name="T34" fmla="*/ 164 w 250"/>
              <a:gd name="T35" fmla="*/ 25 h 234"/>
              <a:gd name="T36" fmla="*/ 187 w 250"/>
              <a:gd name="T37" fmla="*/ 11 h 234"/>
              <a:gd name="T38" fmla="*/ 205 w 250"/>
              <a:gd name="T39" fmla="*/ 19 h 234"/>
              <a:gd name="T40" fmla="*/ 214 w 250"/>
              <a:gd name="T41" fmla="*/ 34 h 234"/>
              <a:gd name="T42" fmla="*/ 203 w 250"/>
              <a:gd name="T43" fmla="*/ 57 h 234"/>
              <a:gd name="T44" fmla="*/ 166 w 250"/>
              <a:gd name="T45" fmla="*/ 100 h 234"/>
              <a:gd name="T46" fmla="*/ 217 w 250"/>
              <a:gd name="T47" fmla="*/ 98 h 234"/>
              <a:gd name="T48" fmla="*/ 244 w 250"/>
              <a:gd name="T49" fmla="*/ 104 h 234"/>
              <a:gd name="T50" fmla="*/ 249 w 250"/>
              <a:gd name="T51" fmla="*/ 115 h 234"/>
              <a:gd name="T52" fmla="*/ 247 w 250"/>
              <a:gd name="T53" fmla="*/ 129 h 234"/>
              <a:gd name="T54" fmla="*/ 245 w 250"/>
              <a:gd name="T55" fmla="*/ 134 h 234"/>
              <a:gd name="T56" fmla="*/ 241 w 250"/>
              <a:gd name="T57" fmla="*/ 141 h 234"/>
              <a:gd name="T58" fmla="*/ 227 w 250"/>
              <a:gd name="T59" fmla="*/ 147 h 234"/>
              <a:gd name="T60" fmla="*/ 187 w 250"/>
              <a:gd name="T61" fmla="*/ 151 h 234"/>
              <a:gd name="T62" fmla="*/ 160 w 250"/>
              <a:gd name="T63" fmla="*/ 148 h 234"/>
              <a:gd name="T64" fmla="*/ 168 w 250"/>
              <a:gd name="T65" fmla="*/ 168 h 234"/>
              <a:gd name="T66" fmla="*/ 176 w 250"/>
              <a:gd name="T67" fmla="*/ 194 h 234"/>
              <a:gd name="T68" fmla="*/ 176 w 250"/>
              <a:gd name="T69" fmla="*/ 211 h 234"/>
              <a:gd name="T70" fmla="*/ 170 w 250"/>
              <a:gd name="T71" fmla="*/ 221 h 234"/>
              <a:gd name="T72" fmla="*/ 156 w 250"/>
              <a:gd name="T73" fmla="*/ 230 h 234"/>
              <a:gd name="T74" fmla="*/ 130 w 250"/>
              <a:gd name="T75" fmla="*/ 226 h 234"/>
              <a:gd name="T76" fmla="*/ 122 w 250"/>
              <a:gd name="T77" fmla="*/ 213 h 234"/>
              <a:gd name="T78" fmla="*/ 110 w 250"/>
              <a:gd name="T79" fmla="*/ 169 h 234"/>
              <a:gd name="T80" fmla="*/ 92 w 250"/>
              <a:gd name="T81" fmla="*/ 192 h 234"/>
              <a:gd name="T82" fmla="*/ 87 w 250"/>
              <a:gd name="T83" fmla="*/ 197 h 234"/>
              <a:gd name="T84" fmla="*/ 84 w 250"/>
              <a:gd name="T85" fmla="*/ 201 h 234"/>
              <a:gd name="T86" fmla="*/ 65 w 250"/>
              <a:gd name="T87" fmla="*/ 212 h 234"/>
              <a:gd name="T88" fmla="*/ 50 w 250"/>
              <a:gd name="T89" fmla="*/ 204 h 234"/>
              <a:gd name="T90" fmla="*/ 44 w 250"/>
              <a:gd name="T91" fmla="*/ 198 h 234"/>
              <a:gd name="T92" fmla="*/ 38 w 250"/>
              <a:gd name="T93" fmla="*/ 185 h 234"/>
              <a:gd name="T94" fmla="*/ 43 w 250"/>
              <a:gd name="T95" fmla="*/ 167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50" h="234">
                <a:moveTo>
                  <a:pt x="43" y="167"/>
                </a:moveTo>
                <a:cubicBezTo>
                  <a:pt x="70" y="133"/>
                  <a:pt x="70" y="133"/>
                  <a:pt x="70" y="133"/>
                </a:cubicBezTo>
                <a:cubicBezTo>
                  <a:pt x="60" y="134"/>
                  <a:pt x="61" y="134"/>
                  <a:pt x="48" y="134"/>
                </a:cubicBezTo>
                <a:cubicBezTo>
                  <a:pt x="34" y="133"/>
                  <a:pt x="24" y="132"/>
                  <a:pt x="19" y="130"/>
                </a:cubicBezTo>
                <a:cubicBezTo>
                  <a:pt x="13" y="128"/>
                  <a:pt x="9" y="126"/>
                  <a:pt x="6" y="123"/>
                </a:cubicBezTo>
                <a:cubicBezTo>
                  <a:pt x="1" y="119"/>
                  <a:pt x="0" y="112"/>
                  <a:pt x="1" y="103"/>
                </a:cubicBezTo>
                <a:cubicBezTo>
                  <a:pt x="2" y="93"/>
                  <a:pt x="6" y="86"/>
                  <a:pt x="11" y="81"/>
                </a:cubicBezTo>
                <a:cubicBezTo>
                  <a:pt x="15" y="77"/>
                  <a:pt x="18" y="76"/>
                  <a:pt x="23" y="76"/>
                </a:cubicBezTo>
                <a:cubicBezTo>
                  <a:pt x="81" y="78"/>
                  <a:pt x="81" y="78"/>
                  <a:pt x="81" y="78"/>
                </a:cubicBezTo>
                <a:cubicBezTo>
                  <a:pt x="65" y="49"/>
                  <a:pt x="65" y="49"/>
                  <a:pt x="65" y="49"/>
                </a:cubicBezTo>
                <a:cubicBezTo>
                  <a:pt x="58" y="40"/>
                  <a:pt x="56" y="33"/>
                  <a:pt x="57" y="27"/>
                </a:cubicBezTo>
                <a:cubicBezTo>
                  <a:pt x="58" y="21"/>
                  <a:pt x="62" y="16"/>
                  <a:pt x="67" y="12"/>
                </a:cubicBezTo>
                <a:cubicBezTo>
                  <a:pt x="74" y="6"/>
                  <a:pt x="80" y="2"/>
                  <a:pt x="85" y="1"/>
                </a:cubicBezTo>
                <a:cubicBezTo>
                  <a:pt x="90" y="0"/>
                  <a:pt x="95" y="2"/>
                  <a:pt x="101" y="8"/>
                </a:cubicBezTo>
                <a:cubicBezTo>
                  <a:pt x="104" y="11"/>
                  <a:pt x="106" y="13"/>
                  <a:pt x="107" y="15"/>
                </a:cubicBezTo>
                <a:cubicBezTo>
                  <a:pt x="110" y="19"/>
                  <a:pt x="112" y="20"/>
                  <a:pt x="120" y="37"/>
                </a:cubicBezTo>
                <a:cubicBezTo>
                  <a:pt x="129" y="55"/>
                  <a:pt x="128" y="51"/>
                  <a:pt x="131" y="60"/>
                </a:cubicBezTo>
                <a:cubicBezTo>
                  <a:pt x="164" y="25"/>
                  <a:pt x="164" y="25"/>
                  <a:pt x="164" y="25"/>
                </a:cubicBezTo>
                <a:cubicBezTo>
                  <a:pt x="173" y="16"/>
                  <a:pt x="180" y="11"/>
                  <a:pt x="187" y="11"/>
                </a:cubicBezTo>
                <a:cubicBezTo>
                  <a:pt x="193" y="10"/>
                  <a:pt x="200" y="13"/>
                  <a:pt x="205" y="19"/>
                </a:cubicBezTo>
                <a:cubicBezTo>
                  <a:pt x="210" y="24"/>
                  <a:pt x="213" y="29"/>
                  <a:pt x="214" y="34"/>
                </a:cubicBezTo>
                <a:cubicBezTo>
                  <a:pt x="214" y="39"/>
                  <a:pt x="211" y="47"/>
                  <a:pt x="203" y="57"/>
                </a:cubicBezTo>
                <a:cubicBezTo>
                  <a:pt x="166" y="100"/>
                  <a:pt x="166" y="100"/>
                  <a:pt x="166" y="100"/>
                </a:cubicBezTo>
                <a:cubicBezTo>
                  <a:pt x="217" y="98"/>
                  <a:pt x="217" y="98"/>
                  <a:pt x="217" y="98"/>
                </a:cubicBezTo>
                <a:cubicBezTo>
                  <a:pt x="229" y="96"/>
                  <a:pt x="238" y="98"/>
                  <a:pt x="244" y="104"/>
                </a:cubicBezTo>
                <a:cubicBezTo>
                  <a:pt x="247" y="107"/>
                  <a:pt x="249" y="111"/>
                  <a:pt x="249" y="115"/>
                </a:cubicBezTo>
                <a:cubicBezTo>
                  <a:pt x="250" y="120"/>
                  <a:pt x="249" y="124"/>
                  <a:pt x="247" y="129"/>
                </a:cubicBezTo>
                <a:cubicBezTo>
                  <a:pt x="247" y="130"/>
                  <a:pt x="246" y="132"/>
                  <a:pt x="245" y="134"/>
                </a:cubicBezTo>
                <a:cubicBezTo>
                  <a:pt x="244" y="137"/>
                  <a:pt x="243" y="140"/>
                  <a:pt x="241" y="141"/>
                </a:cubicBezTo>
                <a:cubicBezTo>
                  <a:pt x="239" y="144"/>
                  <a:pt x="234" y="146"/>
                  <a:pt x="227" y="147"/>
                </a:cubicBezTo>
                <a:cubicBezTo>
                  <a:pt x="221" y="149"/>
                  <a:pt x="207" y="150"/>
                  <a:pt x="187" y="151"/>
                </a:cubicBezTo>
                <a:cubicBezTo>
                  <a:pt x="175" y="152"/>
                  <a:pt x="161" y="148"/>
                  <a:pt x="160" y="148"/>
                </a:cubicBezTo>
                <a:cubicBezTo>
                  <a:pt x="161" y="151"/>
                  <a:pt x="165" y="161"/>
                  <a:pt x="168" y="168"/>
                </a:cubicBezTo>
                <a:cubicBezTo>
                  <a:pt x="168" y="171"/>
                  <a:pt x="173" y="181"/>
                  <a:pt x="176" y="194"/>
                </a:cubicBezTo>
                <a:cubicBezTo>
                  <a:pt x="179" y="206"/>
                  <a:pt x="176" y="203"/>
                  <a:pt x="176" y="211"/>
                </a:cubicBezTo>
                <a:cubicBezTo>
                  <a:pt x="176" y="214"/>
                  <a:pt x="174" y="217"/>
                  <a:pt x="170" y="221"/>
                </a:cubicBezTo>
                <a:cubicBezTo>
                  <a:pt x="166" y="226"/>
                  <a:pt x="161" y="228"/>
                  <a:pt x="156" y="230"/>
                </a:cubicBezTo>
                <a:cubicBezTo>
                  <a:pt x="147" y="234"/>
                  <a:pt x="137" y="233"/>
                  <a:pt x="130" y="226"/>
                </a:cubicBezTo>
                <a:cubicBezTo>
                  <a:pt x="127" y="223"/>
                  <a:pt x="125" y="219"/>
                  <a:pt x="122" y="213"/>
                </a:cubicBezTo>
                <a:cubicBezTo>
                  <a:pt x="118" y="188"/>
                  <a:pt x="117" y="189"/>
                  <a:pt x="110" y="169"/>
                </a:cubicBezTo>
                <a:cubicBezTo>
                  <a:pt x="92" y="192"/>
                  <a:pt x="92" y="192"/>
                  <a:pt x="92" y="192"/>
                </a:cubicBezTo>
                <a:cubicBezTo>
                  <a:pt x="90" y="193"/>
                  <a:pt x="88" y="195"/>
                  <a:pt x="87" y="197"/>
                </a:cubicBezTo>
                <a:cubicBezTo>
                  <a:pt x="86" y="198"/>
                  <a:pt x="85" y="200"/>
                  <a:pt x="84" y="201"/>
                </a:cubicBezTo>
                <a:cubicBezTo>
                  <a:pt x="76" y="209"/>
                  <a:pt x="70" y="212"/>
                  <a:pt x="65" y="212"/>
                </a:cubicBezTo>
                <a:cubicBezTo>
                  <a:pt x="60" y="211"/>
                  <a:pt x="55" y="209"/>
                  <a:pt x="50" y="204"/>
                </a:cubicBezTo>
                <a:cubicBezTo>
                  <a:pt x="50" y="203"/>
                  <a:pt x="48" y="202"/>
                  <a:pt x="44" y="198"/>
                </a:cubicBezTo>
                <a:cubicBezTo>
                  <a:pt x="41" y="195"/>
                  <a:pt x="39" y="191"/>
                  <a:pt x="38" y="185"/>
                </a:cubicBezTo>
                <a:cubicBezTo>
                  <a:pt x="37" y="179"/>
                  <a:pt x="39" y="173"/>
                  <a:pt x="43" y="16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E05DB21-E762-1120-D130-F6AADC8FAF0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480175" y="3830638"/>
            <a:ext cx="5014913" cy="22987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600" dirty="0">
                <a:solidFill>
                  <a:srgbClr val="FFFFFF"/>
                </a:solidFill>
              </a:rPr>
              <a:t>Prepositions </a:t>
            </a:r>
            <a:r>
              <a:rPr lang="en-US" sz="3600">
                <a:solidFill>
                  <a:srgbClr val="FFFFFF"/>
                </a:solidFill>
              </a:rPr>
              <a:t>&amp; Conditionals</a:t>
            </a:r>
            <a:endParaRPr lang="en-US" sz="3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560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B981EE-3510-4BDA-8946-7C0E40FBC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54" y="225910"/>
            <a:ext cx="11460161" cy="1477328"/>
          </a:xfrm>
        </p:spPr>
        <p:txBody>
          <a:bodyPr>
            <a:normAutofit/>
          </a:bodyPr>
          <a:lstStyle/>
          <a:p>
            <a:r>
              <a:rPr lang="en-US" dirty="0"/>
              <a:t>Getting started: what do you already know?</a:t>
            </a:r>
            <a:br>
              <a:rPr lang="en-US" dirty="0"/>
            </a:br>
            <a:r>
              <a:rPr lang="en-US" dirty="0"/>
              <a:t>Using the right preposition</a:t>
            </a:r>
            <a:endParaRPr lang="en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8EA04F9-A40A-4FAD-B9EC-492C5DBA2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1524001"/>
            <a:ext cx="7410070" cy="5334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Each sentence contains an error with the underlined preposition. In each case, Try your best to correct it to the right preposition.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</a:rPr>
              <a:t>She is engaged </a:t>
            </a:r>
            <a:r>
              <a:rPr lang="en-US" sz="1800" u="sng" dirty="0">
                <a:solidFill>
                  <a:srgbClr val="FFFFFF"/>
                </a:solidFill>
              </a:rPr>
              <a:t>with</a:t>
            </a:r>
            <a:r>
              <a:rPr lang="en-US" sz="1800" dirty="0">
                <a:solidFill>
                  <a:srgbClr val="FFFFFF"/>
                </a:solidFill>
              </a:rPr>
              <a:t> David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</a:rPr>
              <a:t>She entered </a:t>
            </a:r>
            <a:r>
              <a:rPr lang="en-US" sz="1800" u="sng" dirty="0">
                <a:solidFill>
                  <a:srgbClr val="FFFFFF"/>
                </a:solidFill>
              </a:rPr>
              <a:t>into</a:t>
            </a:r>
            <a:r>
              <a:rPr lang="en-US" sz="1800" dirty="0">
                <a:solidFill>
                  <a:srgbClr val="FFFFFF"/>
                </a:solidFill>
              </a:rPr>
              <a:t> the room.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</a:rPr>
              <a:t>He is intelligent, but he lacks </a:t>
            </a:r>
            <a:r>
              <a:rPr lang="en-US" sz="1800" u="sng" dirty="0">
                <a:solidFill>
                  <a:srgbClr val="FFFFFF"/>
                </a:solidFill>
              </a:rPr>
              <a:t>of</a:t>
            </a:r>
            <a:r>
              <a:rPr lang="en-US" sz="1800" dirty="0">
                <a:solidFill>
                  <a:srgbClr val="FFFFFF"/>
                </a:solidFill>
              </a:rPr>
              <a:t> experience.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u="sng" dirty="0">
                <a:solidFill>
                  <a:srgbClr val="FFFFFF"/>
                </a:solidFill>
              </a:rPr>
              <a:t>Except</a:t>
            </a:r>
            <a:r>
              <a:rPr lang="en-US" sz="1800" dirty="0">
                <a:solidFill>
                  <a:srgbClr val="FFFFFF"/>
                </a:solidFill>
              </a:rPr>
              <a:t> coats or sweaters, you are not allowed to wear outer clothing.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u="sng" dirty="0">
                <a:solidFill>
                  <a:srgbClr val="FFFFFF"/>
                </a:solidFill>
              </a:rPr>
              <a:t>On</a:t>
            </a:r>
            <a:r>
              <a:rPr lang="en-US" sz="1800" dirty="0">
                <a:solidFill>
                  <a:srgbClr val="FFFFFF"/>
                </a:solidFill>
              </a:rPr>
              <a:t> October, we went for a skiing vacation in Switzerland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</a:rPr>
              <a:t>Every summer I fly to Brazil and sit </a:t>
            </a:r>
            <a:r>
              <a:rPr lang="en-US" sz="1800" u="sng" dirty="0">
                <a:solidFill>
                  <a:srgbClr val="FFFFFF"/>
                </a:solidFill>
              </a:rPr>
              <a:t>in</a:t>
            </a:r>
            <a:r>
              <a:rPr lang="en-US" sz="1800" dirty="0">
                <a:solidFill>
                  <a:srgbClr val="FFFFFF"/>
                </a:solidFill>
              </a:rPr>
              <a:t> the beach.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</a:rPr>
              <a:t>He decided to protest </a:t>
            </a:r>
            <a:r>
              <a:rPr lang="en-US" sz="1800" u="sng" dirty="0">
                <a:solidFill>
                  <a:srgbClr val="FFFFFF"/>
                </a:solidFill>
              </a:rPr>
              <a:t>over</a:t>
            </a:r>
            <a:r>
              <a:rPr lang="en-US" sz="1800" dirty="0">
                <a:solidFill>
                  <a:srgbClr val="FFFFFF"/>
                </a:solidFill>
              </a:rPr>
              <a:t> the depiction of violence towards animals.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</a:rPr>
              <a:t>He told </a:t>
            </a:r>
            <a:r>
              <a:rPr lang="en-US" sz="1800" u="sng" dirty="0">
                <a:solidFill>
                  <a:srgbClr val="FFFFFF"/>
                </a:solidFill>
              </a:rPr>
              <a:t>to</a:t>
            </a:r>
            <a:r>
              <a:rPr lang="en-US" sz="1800" dirty="0">
                <a:solidFill>
                  <a:srgbClr val="FFFFFF"/>
                </a:solidFill>
              </a:rPr>
              <a:t> me that he liked it.</a:t>
            </a:r>
          </a:p>
        </p:txBody>
      </p:sp>
      <p:pic>
        <p:nvPicPr>
          <p:cNvPr id="4" name="Picture 2" descr="A qr code on a grey background&#10;&#10;AI-generated content may be incorrect.">
            <a:extLst>
              <a:ext uri="{FF2B5EF4-FFF2-40B4-BE49-F238E27FC236}">
                <a16:creationId xmlns:a16="http://schemas.microsoft.com/office/drawing/2014/main" id="{D85EBE25-E78F-4A9B-06B4-CC345714C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49" t="20754" r="20654" b="10557"/>
          <a:stretch>
            <a:fillRect/>
          </a:stretch>
        </p:blipFill>
        <p:spPr>
          <a:xfrm>
            <a:off x="7522494" y="828675"/>
            <a:ext cx="4588306" cy="5200650"/>
          </a:xfrm>
          <a:prstGeom prst="rect">
            <a:avLst/>
          </a:prstGeom>
          <a:noFill/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BA1CD365-209C-FC22-D4C1-13F6C48D3183}"/>
              </a:ext>
            </a:extLst>
          </p:cNvPr>
          <p:cNvSpPr txBox="1"/>
          <p:nvPr/>
        </p:nvSpPr>
        <p:spPr>
          <a:xfrm>
            <a:off x="7305373" y="1056907"/>
            <a:ext cx="52366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dirty="0">
                <a:solidFill>
                  <a:prstClr val="white"/>
                </a:solidFill>
                <a:latin typeface="Aptos" panose="02110004020202020204"/>
              </a:rPr>
              <a:t>Fill in Attendance</a:t>
            </a:r>
            <a:r>
              <a:rPr lang="en-US" b="1" dirty="0">
                <a:solidFill>
                  <a:prstClr val="white"/>
                </a:solidFill>
                <a:latin typeface="Aptos" panose="02110004020202020204"/>
              </a:rPr>
              <a:t>: </a:t>
            </a:r>
            <a:br>
              <a:rPr lang="en-US" b="1" dirty="0">
                <a:solidFill>
                  <a:prstClr val="white"/>
                </a:solidFill>
                <a:latin typeface="Aptos" panose="02110004020202020204"/>
              </a:rPr>
            </a:br>
            <a:r>
              <a:rPr lang="en-US" b="1" dirty="0">
                <a:solidFill>
                  <a:prstClr val="white"/>
                </a:solidFill>
                <a:latin typeface="Aptos" panose="0211000402020202020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https://forms.office.com/e/9xF4TLDXZZ</a:t>
            </a:r>
            <a:r>
              <a:rPr lang="en-US" b="1" dirty="0">
                <a:solidFill>
                  <a:prstClr val="white"/>
                </a:solidFill>
                <a:latin typeface="Aptos" panose="02110004020202020204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4844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1">
            <a:extLst>
              <a:ext uri="{FF2B5EF4-FFF2-40B4-BE49-F238E27FC236}">
                <a16:creationId xmlns:a16="http://schemas.microsoft.com/office/drawing/2014/main" id="{EE2C9455-915A-4F6A-803E-AE8FDA1874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97" b="-1"/>
          <a:stretch/>
        </p:blipFill>
        <p:spPr>
          <a:xfrm>
            <a:off x="500424" y="421284"/>
            <a:ext cx="11191152" cy="6015432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63B9E713-D0DE-C15A-EB03-F02A90ECCF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360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712" name="Rectangle 72711">
            <a:extLst>
              <a:ext uri="{FF2B5EF4-FFF2-40B4-BE49-F238E27FC236}">
                <a16:creationId xmlns:a16="http://schemas.microsoft.com/office/drawing/2014/main" id="{3F58D3F4-AD3E-4263-85BF-7EB712458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714" name="Rectangle 72713">
            <a:extLst>
              <a:ext uri="{FF2B5EF4-FFF2-40B4-BE49-F238E27FC236}">
                <a16:creationId xmlns:a16="http://schemas.microsoft.com/office/drawing/2014/main" id="{B383AC10-A272-4982-A610-DDA728D78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716" name="Freeform: Shape 72715">
            <a:extLst>
              <a:ext uri="{FF2B5EF4-FFF2-40B4-BE49-F238E27FC236}">
                <a16:creationId xmlns:a16="http://schemas.microsoft.com/office/drawing/2014/main" id="{F6FDED66-1461-4834-9923-329986747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95815" y="0"/>
            <a:ext cx="11196185" cy="6858000"/>
          </a:xfrm>
          <a:custGeom>
            <a:avLst/>
            <a:gdLst>
              <a:gd name="connsiteX0" fmla="*/ 678180 w 11196185"/>
              <a:gd name="connsiteY0" fmla="*/ 0 h 6858000"/>
              <a:gd name="connsiteX1" fmla="*/ 10577581 w 11196185"/>
              <a:gd name="connsiteY1" fmla="*/ 0 h 6858000"/>
              <a:gd name="connsiteX2" fmla="*/ 10716113 w 11196185"/>
              <a:gd name="connsiteY2" fmla="*/ 294338 h 6858000"/>
              <a:gd name="connsiteX3" fmla="*/ 11040720 w 11196185"/>
              <a:gd name="connsiteY3" fmla="*/ 992736 h 6858000"/>
              <a:gd name="connsiteX4" fmla="*/ 11188414 w 11196185"/>
              <a:gd name="connsiteY4" fmla="*/ 1350314 h 6858000"/>
              <a:gd name="connsiteX5" fmla="*/ 11196185 w 11196185"/>
              <a:gd name="connsiteY5" fmla="*/ 1382182 h 6858000"/>
              <a:gd name="connsiteX6" fmla="*/ 11196185 w 11196185"/>
              <a:gd name="connsiteY6" fmla="*/ 4121434 h 6858000"/>
              <a:gd name="connsiteX7" fmla="*/ 11176802 w 11196185"/>
              <a:gd name="connsiteY7" fmla="*/ 4304566 h 6858000"/>
              <a:gd name="connsiteX8" fmla="*/ 10289429 w 11196185"/>
              <a:gd name="connsiteY8" fmla="*/ 5937296 h 6858000"/>
              <a:gd name="connsiteX9" fmla="*/ 9411880 w 11196185"/>
              <a:gd name="connsiteY9" fmla="*/ 6851146 h 6858000"/>
              <a:gd name="connsiteX10" fmla="*/ 9402883 w 11196185"/>
              <a:gd name="connsiteY10" fmla="*/ 6858000 h 6858000"/>
              <a:gd name="connsiteX11" fmla="*/ 1880709 w 11196185"/>
              <a:gd name="connsiteY11" fmla="*/ 6858000 h 6858000"/>
              <a:gd name="connsiteX12" fmla="*/ 1838993 w 11196185"/>
              <a:gd name="connsiteY12" fmla="*/ 6821023 h 6858000"/>
              <a:gd name="connsiteX13" fmla="*/ 1110605 w 11196185"/>
              <a:gd name="connsiteY13" fmla="*/ 6101023 h 6858000"/>
              <a:gd name="connsiteX14" fmla="*/ 0 w 11196185"/>
              <a:gd name="connsiteY14" fmla="*/ 3022953 h 6858000"/>
              <a:gd name="connsiteX15" fmla="*/ 653297 w 11196185"/>
              <a:gd name="connsiteY15" fmla="*/ 431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196185" h="6858000">
                <a:moveTo>
                  <a:pt x="678180" y="0"/>
                </a:moveTo>
                <a:lnTo>
                  <a:pt x="10577581" y="0"/>
                </a:lnTo>
                <a:lnTo>
                  <a:pt x="10716113" y="294338"/>
                </a:lnTo>
                <a:cubicBezTo>
                  <a:pt x="10820232" y="519974"/>
                  <a:pt x="10926393" y="755332"/>
                  <a:pt x="11040720" y="992736"/>
                </a:cubicBezTo>
                <a:cubicBezTo>
                  <a:pt x="11101967" y="1099159"/>
                  <a:pt x="11150454" y="1219908"/>
                  <a:pt x="11188414" y="1350314"/>
                </a:cubicBezTo>
                <a:lnTo>
                  <a:pt x="11196185" y="1382182"/>
                </a:lnTo>
                <a:lnTo>
                  <a:pt x="11196185" y="4121434"/>
                </a:lnTo>
                <a:lnTo>
                  <a:pt x="11176802" y="4304566"/>
                </a:lnTo>
                <a:cubicBezTo>
                  <a:pt x="11053990" y="5160104"/>
                  <a:pt x="10546664" y="5536165"/>
                  <a:pt x="10289429" y="5937296"/>
                </a:cubicBezTo>
                <a:cubicBezTo>
                  <a:pt x="10175102" y="6195166"/>
                  <a:pt x="9816937" y="6534516"/>
                  <a:pt x="9411880" y="6851146"/>
                </a:cubicBezTo>
                <a:lnTo>
                  <a:pt x="9402883" y="6858000"/>
                </a:lnTo>
                <a:lnTo>
                  <a:pt x="1880709" y="6858000"/>
                </a:lnTo>
                <a:lnTo>
                  <a:pt x="1838993" y="6821023"/>
                </a:lnTo>
                <a:cubicBezTo>
                  <a:pt x="1404461" y="6426943"/>
                  <a:pt x="1110605" y="6101023"/>
                  <a:pt x="1110605" y="6101023"/>
                </a:cubicBezTo>
                <a:cubicBezTo>
                  <a:pt x="816622" y="5544351"/>
                  <a:pt x="0" y="3776098"/>
                  <a:pt x="0" y="3022953"/>
                </a:cubicBezTo>
                <a:cubicBezTo>
                  <a:pt x="0" y="2171572"/>
                  <a:pt x="195989" y="894500"/>
                  <a:pt x="653297" y="43119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3211353" y="638865"/>
            <a:ext cx="4991961" cy="1477328"/>
          </a:xfrm>
        </p:spPr>
        <p:txBody>
          <a:bodyPr wrap="square" anchor="ctr">
            <a:normAutofit/>
          </a:bodyPr>
          <a:lstStyle/>
          <a:p>
            <a:r>
              <a:rPr lang="nl-NL" altLang="en-US" dirty="0" err="1">
                <a:latin typeface="Arial Nova" panose="020B0504020202020204" pitchFamily="34" charset="0"/>
              </a:rPr>
              <a:t>Prepositions</a:t>
            </a:r>
            <a:endParaRPr lang="nl-NL" altLang="en-US" dirty="0">
              <a:latin typeface="Arial Nova" panose="020B0504020202020204" pitchFamily="34" charset="0"/>
            </a:endParaRPr>
          </a:p>
        </p:txBody>
      </p:sp>
      <p:sp>
        <p:nvSpPr>
          <p:cNvPr id="72718" name="Freeform 10">
            <a:extLst>
              <a:ext uri="{FF2B5EF4-FFF2-40B4-BE49-F238E27FC236}">
                <a16:creationId xmlns:a16="http://schemas.microsoft.com/office/drawing/2014/main" id="{1607CD53-0FF9-47E9-94AD-2BF64BA80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5824556">
            <a:off x="198004" y="426519"/>
            <a:ext cx="2955087" cy="2765998"/>
          </a:xfrm>
          <a:custGeom>
            <a:avLst/>
            <a:gdLst>
              <a:gd name="T0" fmla="*/ 43 w 250"/>
              <a:gd name="T1" fmla="*/ 167 h 234"/>
              <a:gd name="T2" fmla="*/ 70 w 250"/>
              <a:gd name="T3" fmla="*/ 133 h 234"/>
              <a:gd name="T4" fmla="*/ 48 w 250"/>
              <a:gd name="T5" fmla="*/ 134 h 234"/>
              <a:gd name="T6" fmla="*/ 19 w 250"/>
              <a:gd name="T7" fmla="*/ 130 h 234"/>
              <a:gd name="T8" fmla="*/ 6 w 250"/>
              <a:gd name="T9" fmla="*/ 123 h 234"/>
              <a:gd name="T10" fmla="*/ 1 w 250"/>
              <a:gd name="T11" fmla="*/ 103 h 234"/>
              <a:gd name="T12" fmla="*/ 11 w 250"/>
              <a:gd name="T13" fmla="*/ 81 h 234"/>
              <a:gd name="T14" fmla="*/ 23 w 250"/>
              <a:gd name="T15" fmla="*/ 76 h 234"/>
              <a:gd name="T16" fmla="*/ 81 w 250"/>
              <a:gd name="T17" fmla="*/ 78 h 234"/>
              <a:gd name="T18" fmla="*/ 65 w 250"/>
              <a:gd name="T19" fmla="*/ 49 h 234"/>
              <a:gd name="T20" fmla="*/ 57 w 250"/>
              <a:gd name="T21" fmla="*/ 27 h 234"/>
              <a:gd name="T22" fmla="*/ 67 w 250"/>
              <a:gd name="T23" fmla="*/ 12 h 234"/>
              <a:gd name="T24" fmla="*/ 85 w 250"/>
              <a:gd name="T25" fmla="*/ 1 h 234"/>
              <a:gd name="T26" fmla="*/ 101 w 250"/>
              <a:gd name="T27" fmla="*/ 8 h 234"/>
              <a:gd name="T28" fmla="*/ 107 w 250"/>
              <a:gd name="T29" fmla="*/ 15 h 234"/>
              <a:gd name="T30" fmla="*/ 120 w 250"/>
              <a:gd name="T31" fmla="*/ 37 h 234"/>
              <a:gd name="T32" fmla="*/ 131 w 250"/>
              <a:gd name="T33" fmla="*/ 60 h 234"/>
              <a:gd name="T34" fmla="*/ 164 w 250"/>
              <a:gd name="T35" fmla="*/ 25 h 234"/>
              <a:gd name="T36" fmla="*/ 187 w 250"/>
              <a:gd name="T37" fmla="*/ 11 h 234"/>
              <a:gd name="T38" fmla="*/ 205 w 250"/>
              <a:gd name="T39" fmla="*/ 19 h 234"/>
              <a:gd name="T40" fmla="*/ 214 w 250"/>
              <a:gd name="T41" fmla="*/ 34 h 234"/>
              <a:gd name="T42" fmla="*/ 203 w 250"/>
              <a:gd name="T43" fmla="*/ 57 h 234"/>
              <a:gd name="T44" fmla="*/ 166 w 250"/>
              <a:gd name="T45" fmla="*/ 100 h 234"/>
              <a:gd name="T46" fmla="*/ 217 w 250"/>
              <a:gd name="T47" fmla="*/ 98 h 234"/>
              <a:gd name="T48" fmla="*/ 244 w 250"/>
              <a:gd name="T49" fmla="*/ 104 h 234"/>
              <a:gd name="T50" fmla="*/ 249 w 250"/>
              <a:gd name="T51" fmla="*/ 115 h 234"/>
              <a:gd name="T52" fmla="*/ 247 w 250"/>
              <a:gd name="T53" fmla="*/ 129 h 234"/>
              <a:gd name="T54" fmla="*/ 245 w 250"/>
              <a:gd name="T55" fmla="*/ 134 h 234"/>
              <a:gd name="T56" fmla="*/ 241 w 250"/>
              <a:gd name="T57" fmla="*/ 141 h 234"/>
              <a:gd name="T58" fmla="*/ 227 w 250"/>
              <a:gd name="T59" fmla="*/ 147 h 234"/>
              <a:gd name="T60" fmla="*/ 187 w 250"/>
              <a:gd name="T61" fmla="*/ 151 h 234"/>
              <a:gd name="T62" fmla="*/ 160 w 250"/>
              <a:gd name="T63" fmla="*/ 148 h 234"/>
              <a:gd name="T64" fmla="*/ 168 w 250"/>
              <a:gd name="T65" fmla="*/ 168 h 234"/>
              <a:gd name="T66" fmla="*/ 176 w 250"/>
              <a:gd name="T67" fmla="*/ 194 h 234"/>
              <a:gd name="T68" fmla="*/ 176 w 250"/>
              <a:gd name="T69" fmla="*/ 211 h 234"/>
              <a:gd name="T70" fmla="*/ 170 w 250"/>
              <a:gd name="T71" fmla="*/ 221 h 234"/>
              <a:gd name="T72" fmla="*/ 156 w 250"/>
              <a:gd name="T73" fmla="*/ 230 h 234"/>
              <a:gd name="T74" fmla="*/ 130 w 250"/>
              <a:gd name="T75" fmla="*/ 226 h 234"/>
              <a:gd name="T76" fmla="*/ 122 w 250"/>
              <a:gd name="T77" fmla="*/ 213 h 234"/>
              <a:gd name="T78" fmla="*/ 110 w 250"/>
              <a:gd name="T79" fmla="*/ 169 h 234"/>
              <a:gd name="T80" fmla="*/ 92 w 250"/>
              <a:gd name="T81" fmla="*/ 192 h 234"/>
              <a:gd name="T82" fmla="*/ 87 w 250"/>
              <a:gd name="T83" fmla="*/ 197 h 234"/>
              <a:gd name="T84" fmla="*/ 84 w 250"/>
              <a:gd name="T85" fmla="*/ 201 h 234"/>
              <a:gd name="T86" fmla="*/ 65 w 250"/>
              <a:gd name="T87" fmla="*/ 212 h 234"/>
              <a:gd name="T88" fmla="*/ 50 w 250"/>
              <a:gd name="T89" fmla="*/ 204 h 234"/>
              <a:gd name="T90" fmla="*/ 44 w 250"/>
              <a:gd name="T91" fmla="*/ 198 h 234"/>
              <a:gd name="T92" fmla="*/ 38 w 250"/>
              <a:gd name="T93" fmla="*/ 185 h 234"/>
              <a:gd name="T94" fmla="*/ 43 w 250"/>
              <a:gd name="T95" fmla="*/ 167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50" h="234">
                <a:moveTo>
                  <a:pt x="43" y="167"/>
                </a:moveTo>
                <a:cubicBezTo>
                  <a:pt x="70" y="133"/>
                  <a:pt x="70" y="133"/>
                  <a:pt x="70" y="133"/>
                </a:cubicBezTo>
                <a:cubicBezTo>
                  <a:pt x="60" y="134"/>
                  <a:pt x="61" y="134"/>
                  <a:pt x="48" y="134"/>
                </a:cubicBezTo>
                <a:cubicBezTo>
                  <a:pt x="34" y="133"/>
                  <a:pt x="24" y="132"/>
                  <a:pt x="19" y="130"/>
                </a:cubicBezTo>
                <a:cubicBezTo>
                  <a:pt x="13" y="128"/>
                  <a:pt x="9" y="126"/>
                  <a:pt x="6" y="123"/>
                </a:cubicBezTo>
                <a:cubicBezTo>
                  <a:pt x="1" y="119"/>
                  <a:pt x="0" y="112"/>
                  <a:pt x="1" y="103"/>
                </a:cubicBezTo>
                <a:cubicBezTo>
                  <a:pt x="2" y="93"/>
                  <a:pt x="6" y="86"/>
                  <a:pt x="11" y="81"/>
                </a:cubicBezTo>
                <a:cubicBezTo>
                  <a:pt x="15" y="77"/>
                  <a:pt x="18" y="76"/>
                  <a:pt x="23" y="76"/>
                </a:cubicBezTo>
                <a:cubicBezTo>
                  <a:pt x="81" y="78"/>
                  <a:pt x="81" y="78"/>
                  <a:pt x="81" y="78"/>
                </a:cubicBezTo>
                <a:cubicBezTo>
                  <a:pt x="65" y="49"/>
                  <a:pt x="65" y="49"/>
                  <a:pt x="65" y="49"/>
                </a:cubicBezTo>
                <a:cubicBezTo>
                  <a:pt x="58" y="40"/>
                  <a:pt x="56" y="33"/>
                  <a:pt x="57" y="27"/>
                </a:cubicBezTo>
                <a:cubicBezTo>
                  <a:pt x="58" y="21"/>
                  <a:pt x="62" y="16"/>
                  <a:pt x="67" y="12"/>
                </a:cubicBezTo>
                <a:cubicBezTo>
                  <a:pt x="74" y="6"/>
                  <a:pt x="80" y="2"/>
                  <a:pt x="85" y="1"/>
                </a:cubicBezTo>
                <a:cubicBezTo>
                  <a:pt x="90" y="0"/>
                  <a:pt x="95" y="2"/>
                  <a:pt x="101" y="8"/>
                </a:cubicBezTo>
                <a:cubicBezTo>
                  <a:pt x="104" y="11"/>
                  <a:pt x="106" y="13"/>
                  <a:pt x="107" y="15"/>
                </a:cubicBezTo>
                <a:cubicBezTo>
                  <a:pt x="110" y="19"/>
                  <a:pt x="112" y="20"/>
                  <a:pt x="120" y="37"/>
                </a:cubicBezTo>
                <a:cubicBezTo>
                  <a:pt x="129" y="55"/>
                  <a:pt x="128" y="51"/>
                  <a:pt x="131" y="60"/>
                </a:cubicBezTo>
                <a:cubicBezTo>
                  <a:pt x="164" y="25"/>
                  <a:pt x="164" y="25"/>
                  <a:pt x="164" y="25"/>
                </a:cubicBezTo>
                <a:cubicBezTo>
                  <a:pt x="173" y="16"/>
                  <a:pt x="180" y="11"/>
                  <a:pt x="187" y="11"/>
                </a:cubicBezTo>
                <a:cubicBezTo>
                  <a:pt x="193" y="10"/>
                  <a:pt x="200" y="13"/>
                  <a:pt x="205" y="19"/>
                </a:cubicBezTo>
                <a:cubicBezTo>
                  <a:pt x="210" y="24"/>
                  <a:pt x="213" y="29"/>
                  <a:pt x="214" y="34"/>
                </a:cubicBezTo>
                <a:cubicBezTo>
                  <a:pt x="214" y="39"/>
                  <a:pt x="211" y="47"/>
                  <a:pt x="203" y="57"/>
                </a:cubicBezTo>
                <a:cubicBezTo>
                  <a:pt x="166" y="100"/>
                  <a:pt x="166" y="100"/>
                  <a:pt x="166" y="100"/>
                </a:cubicBezTo>
                <a:cubicBezTo>
                  <a:pt x="217" y="98"/>
                  <a:pt x="217" y="98"/>
                  <a:pt x="217" y="98"/>
                </a:cubicBezTo>
                <a:cubicBezTo>
                  <a:pt x="229" y="96"/>
                  <a:pt x="238" y="98"/>
                  <a:pt x="244" y="104"/>
                </a:cubicBezTo>
                <a:cubicBezTo>
                  <a:pt x="247" y="107"/>
                  <a:pt x="249" y="111"/>
                  <a:pt x="249" y="115"/>
                </a:cubicBezTo>
                <a:cubicBezTo>
                  <a:pt x="250" y="120"/>
                  <a:pt x="249" y="124"/>
                  <a:pt x="247" y="129"/>
                </a:cubicBezTo>
                <a:cubicBezTo>
                  <a:pt x="247" y="130"/>
                  <a:pt x="246" y="132"/>
                  <a:pt x="245" y="134"/>
                </a:cubicBezTo>
                <a:cubicBezTo>
                  <a:pt x="244" y="137"/>
                  <a:pt x="243" y="140"/>
                  <a:pt x="241" y="141"/>
                </a:cubicBezTo>
                <a:cubicBezTo>
                  <a:pt x="239" y="144"/>
                  <a:pt x="234" y="146"/>
                  <a:pt x="227" y="147"/>
                </a:cubicBezTo>
                <a:cubicBezTo>
                  <a:pt x="221" y="149"/>
                  <a:pt x="207" y="150"/>
                  <a:pt x="187" y="151"/>
                </a:cubicBezTo>
                <a:cubicBezTo>
                  <a:pt x="175" y="152"/>
                  <a:pt x="161" y="148"/>
                  <a:pt x="160" y="148"/>
                </a:cubicBezTo>
                <a:cubicBezTo>
                  <a:pt x="161" y="151"/>
                  <a:pt x="165" y="161"/>
                  <a:pt x="168" y="168"/>
                </a:cubicBezTo>
                <a:cubicBezTo>
                  <a:pt x="168" y="171"/>
                  <a:pt x="173" y="181"/>
                  <a:pt x="176" y="194"/>
                </a:cubicBezTo>
                <a:cubicBezTo>
                  <a:pt x="179" y="206"/>
                  <a:pt x="176" y="203"/>
                  <a:pt x="176" y="211"/>
                </a:cubicBezTo>
                <a:cubicBezTo>
                  <a:pt x="176" y="214"/>
                  <a:pt x="174" y="217"/>
                  <a:pt x="170" y="221"/>
                </a:cubicBezTo>
                <a:cubicBezTo>
                  <a:pt x="166" y="226"/>
                  <a:pt x="161" y="228"/>
                  <a:pt x="156" y="230"/>
                </a:cubicBezTo>
                <a:cubicBezTo>
                  <a:pt x="147" y="234"/>
                  <a:pt x="137" y="233"/>
                  <a:pt x="130" y="226"/>
                </a:cubicBezTo>
                <a:cubicBezTo>
                  <a:pt x="127" y="223"/>
                  <a:pt x="125" y="219"/>
                  <a:pt x="122" y="213"/>
                </a:cubicBezTo>
                <a:cubicBezTo>
                  <a:pt x="118" y="188"/>
                  <a:pt x="117" y="189"/>
                  <a:pt x="110" y="169"/>
                </a:cubicBezTo>
                <a:cubicBezTo>
                  <a:pt x="92" y="192"/>
                  <a:pt x="92" y="192"/>
                  <a:pt x="92" y="192"/>
                </a:cubicBezTo>
                <a:cubicBezTo>
                  <a:pt x="90" y="193"/>
                  <a:pt x="88" y="195"/>
                  <a:pt x="87" y="197"/>
                </a:cubicBezTo>
                <a:cubicBezTo>
                  <a:pt x="86" y="198"/>
                  <a:pt x="85" y="200"/>
                  <a:pt x="84" y="201"/>
                </a:cubicBezTo>
                <a:cubicBezTo>
                  <a:pt x="76" y="209"/>
                  <a:pt x="70" y="212"/>
                  <a:pt x="65" y="212"/>
                </a:cubicBezTo>
                <a:cubicBezTo>
                  <a:pt x="60" y="211"/>
                  <a:pt x="55" y="209"/>
                  <a:pt x="50" y="204"/>
                </a:cubicBezTo>
                <a:cubicBezTo>
                  <a:pt x="50" y="203"/>
                  <a:pt x="48" y="202"/>
                  <a:pt x="44" y="198"/>
                </a:cubicBezTo>
                <a:cubicBezTo>
                  <a:pt x="41" y="195"/>
                  <a:pt x="39" y="191"/>
                  <a:pt x="38" y="185"/>
                </a:cubicBezTo>
                <a:cubicBezTo>
                  <a:pt x="37" y="179"/>
                  <a:pt x="39" y="173"/>
                  <a:pt x="43" y="16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3211353" y="1927124"/>
            <a:ext cx="8489034" cy="3830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altLang="en-US" sz="2800" b="1" dirty="0"/>
              <a:t>Are </a:t>
            </a:r>
            <a:r>
              <a:rPr lang="nl-NL" altLang="en-US" sz="2800" b="1" dirty="0" err="1"/>
              <a:t>used</a:t>
            </a:r>
            <a:r>
              <a:rPr lang="nl-NL" altLang="en-US" sz="2800" b="1" dirty="0"/>
              <a:t> </a:t>
            </a:r>
            <a:r>
              <a:rPr lang="nl-NL" altLang="en-US" sz="2800" b="1" dirty="0" err="1"/>
              <a:t>to</a:t>
            </a:r>
            <a:r>
              <a:rPr lang="nl-NL" altLang="en-US" sz="2800" b="1" dirty="0"/>
              <a:t> </a:t>
            </a:r>
            <a:r>
              <a:rPr lang="nl-NL" altLang="en-US" sz="2800" b="1" dirty="0" err="1"/>
              <a:t>express</a:t>
            </a:r>
            <a:r>
              <a:rPr lang="nl-NL" altLang="en-US" sz="2800" dirty="0"/>
              <a:t>:</a:t>
            </a:r>
          </a:p>
          <a:p>
            <a:pPr marL="823913" lvl="1" indent="-457200">
              <a:buFont typeface="+mj-lt"/>
              <a:buAutoNum type="arabicPeriod"/>
            </a:pPr>
            <a:r>
              <a:rPr lang="nl-NL" altLang="en-US" sz="2800" b="1" dirty="0">
                <a:solidFill>
                  <a:srgbClr val="FFFFFF"/>
                </a:solidFill>
              </a:rPr>
              <a:t>Time</a:t>
            </a:r>
            <a:r>
              <a:rPr lang="nl-NL" altLang="en-US" sz="2800" dirty="0">
                <a:solidFill>
                  <a:schemeClr val="tx2"/>
                </a:solidFill>
              </a:rPr>
              <a:t>:</a:t>
            </a:r>
            <a:r>
              <a:rPr lang="nl-NL" altLang="en-US" sz="2800" dirty="0">
                <a:solidFill>
                  <a:srgbClr val="FFFFFF"/>
                </a:solidFill>
              </a:rPr>
              <a:t> </a:t>
            </a:r>
            <a:r>
              <a:rPr lang="nl-NL" altLang="en-US" sz="2800" dirty="0"/>
              <a:t>in, on, at, </a:t>
            </a:r>
            <a:r>
              <a:rPr lang="nl-NL" altLang="en-US" sz="2800" dirty="0" err="1"/>
              <a:t>after</a:t>
            </a:r>
            <a:r>
              <a:rPr lang="nl-NL" altLang="en-US" sz="2800" dirty="0"/>
              <a:t>, </a:t>
            </a:r>
            <a:r>
              <a:rPr lang="nl-NL" altLang="en-US" sz="2800" dirty="0" err="1"/>
              <a:t>before</a:t>
            </a:r>
            <a:r>
              <a:rPr lang="nl-NL" altLang="en-US" sz="2800" dirty="0"/>
              <a:t> etc.</a:t>
            </a:r>
          </a:p>
          <a:p>
            <a:pPr marL="823913" lvl="1" indent="-457200">
              <a:buFont typeface="+mj-lt"/>
              <a:buAutoNum type="arabicPeriod"/>
            </a:pPr>
            <a:r>
              <a:rPr lang="nl-NL" altLang="en-US" sz="2800" b="1" dirty="0" err="1">
                <a:solidFill>
                  <a:srgbClr val="FFFFFF"/>
                </a:solidFill>
              </a:rPr>
              <a:t>Position</a:t>
            </a:r>
            <a:r>
              <a:rPr lang="nl-NL" altLang="en-US" sz="2800" dirty="0"/>
              <a:t>: in, on, at, </a:t>
            </a:r>
            <a:r>
              <a:rPr lang="nl-NL" altLang="en-US" sz="2800" dirty="0" err="1"/>
              <a:t>behind</a:t>
            </a:r>
            <a:r>
              <a:rPr lang="nl-NL" altLang="en-US" sz="2800" dirty="0"/>
              <a:t>, in front of etc.</a:t>
            </a:r>
          </a:p>
          <a:p>
            <a:pPr marL="823913" lvl="1" indent="-457200">
              <a:buFont typeface="+mj-lt"/>
              <a:buAutoNum type="arabicPeriod"/>
            </a:pPr>
            <a:r>
              <a:rPr lang="nl-NL" altLang="en-US" sz="2800" b="1" dirty="0" err="1">
                <a:solidFill>
                  <a:srgbClr val="FFFFFF"/>
                </a:solidFill>
              </a:rPr>
              <a:t>Movement</a:t>
            </a:r>
            <a:r>
              <a:rPr lang="nl-NL" altLang="en-US" sz="2800" dirty="0"/>
              <a:t>: </a:t>
            </a:r>
            <a:r>
              <a:rPr lang="nl-NL" altLang="en-US" sz="2800" dirty="0" err="1"/>
              <a:t>into</a:t>
            </a:r>
            <a:r>
              <a:rPr lang="nl-NL" altLang="en-US" sz="2800" dirty="0"/>
              <a:t>, out of, off, </a:t>
            </a:r>
            <a:r>
              <a:rPr lang="nl-NL" altLang="en-US" sz="2800" dirty="0" err="1"/>
              <a:t>across</a:t>
            </a:r>
            <a:r>
              <a:rPr lang="nl-NL" altLang="en-US" sz="2800" dirty="0"/>
              <a:t>, </a:t>
            </a:r>
            <a:r>
              <a:rPr lang="nl-NL" altLang="en-US" sz="2800" dirty="0" err="1"/>
              <a:t>from</a:t>
            </a:r>
            <a:r>
              <a:rPr lang="nl-NL" altLang="en-US" sz="2800" dirty="0"/>
              <a:t> etc.</a:t>
            </a:r>
          </a:p>
          <a:p>
            <a:pPr marL="823913" lvl="1" indent="-457200">
              <a:buFont typeface="+mj-lt"/>
              <a:buAutoNum type="arabicPeriod"/>
            </a:pPr>
            <a:r>
              <a:rPr lang="nl-NL" altLang="en-US" sz="2800" b="1" dirty="0" err="1">
                <a:solidFill>
                  <a:srgbClr val="FFFFFF"/>
                </a:solidFill>
              </a:rPr>
              <a:t>Other</a:t>
            </a:r>
            <a:r>
              <a:rPr lang="nl-NL" altLang="en-US" sz="2800" b="1" dirty="0">
                <a:solidFill>
                  <a:srgbClr val="FFFFFF"/>
                </a:solidFill>
              </a:rPr>
              <a:t> relations</a:t>
            </a:r>
            <a:r>
              <a:rPr lang="nl-NL" altLang="en-US" sz="2800" dirty="0"/>
              <a:t>: </a:t>
            </a:r>
            <a:r>
              <a:rPr lang="nl-NL" altLang="en-US" sz="2800" dirty="0" err="1"/>
              <a:t>by</a:t>
            </a:r>
            <a:r>
              <a:rPr lang="nl-NL" altLang="en-US" sz="2800" dirty="0"/>
              <a:t>, </a:t>
            </a:r>
            <a:r>
              <a:rPr lang="nl-NL" altLang="en-US" sz="2800" dirty="0" err="1"/>
              <a:t>about</a:t>
            </a:r>
            <a:r>
              <a:rPr lang="nl-NL" altLang="en-US" sz="2800" dirty="0"/>
              <a:t> etc.</a:t>
            </a:r>
          </a:p>
          <a:p>
            <a:endParaRPr lang="nl-NL" altLang="en-US" dirty="0"/>
          </a:p>
          <a:p>
            <a:endParaRPr lang="nl-NL" altLang="en-US" dirty="0"/>
          </a:p>
        </p:txBody>
      </p:sp>
    </p:spTree>
    <p:extLst>
      <p:ext uri="{BB962C8B-B14F-4D97-AF65-F5344CB8AC3E}">
        <p14:creationId xmlns:p14="http://schemas.microsoft.com/office/powerpoint/2010/main" val="122659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B981EE-3510-4BDA-8946-7C0E40FBC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17" y="161059"/>
            <a:ext cx="11448322" cy="1477328"/>
          </a:xfrm>
        </p:spPr>
        <p:txBody>
          <a:bodyPr/>
          <a:lstStyle/>
          <a:p>
            <a:r>
              <a:rPr lang="en-US" dirty="0"/>
              <a:t>KEY</a:t>
            </a:r>
            <a:br>
              <a:rPr lang="en-US" dirty="0"/>
            </a:br>
            <a:r>
              <a:rPr lang="en-US" dirty="0"/>
              <a:t>Using the right preposition</a:t>
            </a:r>
            <a:endParaRPr lang="en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8EA04F9-A40A-4FAD-B9EC-492C5DBA2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217" y="2825496"/>
            <a:ext cx="11987783" cy="387144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800" dirty="0"/>
              <a:t>She is engaged </a:t>
            </a:r>
            <a:r>
              <a:rPr lang="en-US" sz="1800" b="1" dirty="0">
                <a:solidFill>
                  <a:srgbClr val="FFC000">
                    <a:alpha val="58000"/>
                  </a:srgbClr>
                </a:solidFill>
              </a:rPr>
              <a:t>to</a:t>
            </a:r>
            <a:r>
              <a:rPr lang="en-US" sz="1800" dirty="0"/>
              <a:t> David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She </a:t>
            </a:r>
            <a:r>
              <a:rPr lang="en-US" sz="1800" u="sng" dirty="0"/>
              <a:t>entered</a:t>
            </a:r>
            <a:r>
              <a:rPr lang="en-US" sz="1800" dirty="0"/>
              <a:t> the room. </a:t>
            </a:r>
            <a:r>
              <a:rPr lang="en-US" sz="1800" i="1" dirty="0">
                <a:solidFill>
                  <a:srgbClr val="FFFF00">
                    <a:alpha val="58000"/>
                  </a:srgbClr>
                </a:solidFill>
              </a:rPr>
              <a:t>[no preposition!]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He is intelligent, but he </a:t>
            </a:r>
            <a:r>
              <a:rPr lang="en-US" sz="1800" u="sng" dirty="0"/>
              <a:t>lacks</a:t>
            </a:r>
            <a:r>
              <a:rPr lang="en-US" sz="1800" dirty="0"/>
              <a:t> experience. </a:t>
            </a:r>
            <a:r>
              <a:rPr lang="en-US" sz="1800" i="1" dirty="0">
                <a:solidFill>
                  <a:srgbClr val="FFFF00">
                    <a:alpha val="58000"/>
                  </a:srgbClr>
                </a:solidFill>
              </a:rPr>
              <a:t>[no preposition!]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Except</a:t>
            </a:r>
            <a:r>
              <a:rPr lang="en-US" sz="1800" dirty="0">
                <a:solidFill>
                  <a:srgbClr val="FFC000">
                    <a:alpha val="58000"/>
                  </a:srgbClr>
                </a:solidFill>
              </a:rPr>
              <a:t> </a:t>
            </a:r>
            <a:r>
              <a:rPr lang="en-US" sz="1800" b="1" dirty="0">
                <a:solidFill>
                  <a:srgbClr val="FFC000">
                    <a:alpha val="58000"/>
                  </a:srgbClr>
                </a:solidFill>
              </a:rPr>
              <a:t>for </a:t>
            </a:r>
            <a:r>
              <a:rPr lang="en-US" sz="1800" dirty="0"/>
              <a:t>coats or sweaters, you are not allowed to wear outer clothing. </a:t>
            </a:r>
            <a:r>
              <a:rPr lang="en-US" sz="1800" i="1" dirty="0">
                <a:solidFill>
                  <a:srgbClr val="FFFF00">
                    <a:alpha val="58000"/>
                  </a:srgbClr>
                </a:solidFill>
              </a:rPr>
              <a:t>[preposition is needed!]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dirty="0">
                <a:solidFill>
                  <a:srgbClr val="FFC000">
                    <a:alpha val="58000"/>
                  </a:srgbClr>
                </a:solidFill>
              </a:rPr>
              <a:t>In</a:t>
            </a:r>
            <a:r>
              <a:rPr lang="en-US" sz="1800" dirty="0">
                <a:solidFill>
                  <a:srgbClr val="FFC000">
                    <a:alpha val="58000"/>
                  </a:srgbClr>
                </a:solidFill>
              </a:rPr>
              <a:t> </a:t>
            </a:r>
            <a:r>
              <a:rPr lang="en-US" sz="1800" dirty="0"/>
              <a:t>October, we went for a skiing vacation in Switzerland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Every summer I fly to Brazil and sit </a:t>
            </a:r>
            <a:r>
              <a:rPr lang="en-US" sz="1800" b="1" dirty="0">
                <a:solidFill>
                  <a:srgbClr val="FFC000">
                    <a:alpha val="58000"/>
                  </a:srgbClr>
                </a:solidFill>
              </a:rPr>
              <a:t>on/at</a:t>
            </a:r>
            <a:r>
              <a:rPr lang="en-US" sz="1800" dirty="0">
                <a:solidFill>
                  <a:srgbClr val="FFC000">
                    <a:alpha val="58000"/>
                  </a:srgbClr>
                </a:solidFill>
              </a:rPr>
              <a:t> </a:t>
            </a:r>
            <a:r>
              <a:rPr lang="en-US" sz="1800" dirty="0"/>
              <a:t>the beach. </a:t>
            </a:r>
            <a:r>
              <a:rPr lang="en-US" sz="1800" i="1" dirty="0">
                <a:solidFill>
                  <a:srgbClr val="FFFF00">
                    <a:alpha val="58000"/>
                  </a:srgbClr>
                </a:solidFill>
              </a:rPr>
              <a:t>[meanings differ slightly, though both are correct]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He decided to protest </a:t>
            </a:r>
            <a:r>
              <a:rPr lang="en-US" sz="1800" b="1" dirty="0">
                <a:solidFill>
                  <a:srgbClr val="FFC000">
                    <a:alpha val="58000"/>
                  </a:srgbClr>
                </a:solidFill>
              </a:rPr>
              <a:t>against</a:t>
            </a:r>
            <a:r>
              <a:rPr lang="en-US" sz="1800" dirty="0"/>
              <a:t> the depiction of violence towards animals. </a:t>
            </a:r>
            <a:r>
              <a:rPr lang="en-US" sz="1800" i="1" dirty="0">
                <a:solidFill>
                  <a:srgbClr val="FFFF00">
                    <a:alpha val="58000"/>
                  </a:srgbClr>
                </a:solidFill>
              </a:rPr>
              <a:t>[also correct: no preposition]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He </a:t>
            </a:r>
            <a:r>
              <a:rPr lang="en-US" sz="1800" u="sng" dirty="0"/>
              <a:t>told</a:t>
            </a:r>
            <a:r>
              <a:rPr lang="en-US" sz="1800" dirty="0"/>
              <a:t> me that he liked it. </a:t>
            </a:r>
            <a:r>
              <a:rPr lang="en-US" sz="1800" i="1" dirty="0">
                <a:solidFill>
                  <a:srgbClr val="FFFF00">
                    <a:alpha val="58000"/>
                  </a:srgbClr>
                </a:solidFill>
              </a:rPr>
              <a:t>[no preposition!]</a:t>
            </a:r>
            <a:endParaRPr lang="en-US" sz="1800" dirty="0">
              <a:solidFill>
                <a:srgbClr val="FFFF00">
                  <a:alpha val="58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688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el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835974"/>
          </a:xfrm>
        </p:spPr>
        <p:txBody>
          <a:bodyPr/>
          <a:lstStyle/>
          <a:p>
            <a:pPr eaLnBrk="1" hangingPunct="1"/>
            <a:r>
              <a:rPr lang="nl-NL" altLang="en-US" sz="5400" dirty="0" err="1"/>
              <a:t>Prepositions</a:t>
            </a:r>
            <a:endParaRPr lang="en-US" alt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720000" y="1543666"/>
            <a:ext cx="10728325" cy="4225310"/>
          </a:xfrm>
        </p:spPr>
        <p:txBody>
          <a:bodyPr>
            <a:normAutofit fontScale="70000" lnSpcReduction="20000"/>
          </a:bodyPr>
          <a:lstStyle/>
          <a:p>
            <a:pPr eaLnBrk="1" hangingPunct="1"/>
            <a:r>
              <a:rPr lang="nl-NL" altLang="en-US" sz="2400" dirty="0">
                <a:solidFill>
                  <a:srgbClr val="FFFFFF"/>
                </a:solidFill>
              </a:rPr>
              <a:t>Can </a:t>
            </a:r>
            <a:r>
              <a:rPr lang="nl-NL" altLang="en-US" sz="2400" dirty="0" err="1">
                <a:solidFill>
                  <a:srgbClr val="FFFFFF"/>
                </a:solidFill>
              </a:rPr>
              <a:t>be</a:t>
            </a:r>
            <a:r>
              <a:rPr lang="nl-NL" altLang="en-US" sz="2400" dirty="0">
                <a:solidFill>
                  <a:srgbClr val="FFFFFF"/>
                </a:solidFill>
              </a:rPr>
              <a:t> </a:t>
            </a:r>
            <a:r>
              <a:rPr lang="nl-NL" altLang="en-US" sz="2400" dirty="0" err="1">
                <a:solidFill>
                  <a:srgbClr val="FFFFFF"/>
                </a:solidFill>
              </a:rPr>
              <a:t>confusing</a:t>
            </a:r>
            <a:r>
              <a:rPr lang="nl-NL" altLang="en-US" sz="2400" dirty="0">
                <a:solidFill>
                  <a:srgbClr val="FFFFFF"/>
                </a:solidFill>
              </a:rPr>
              <a:t> </a:t>
            </a:r>
            <a:r>
              <a:rPr lang="nl-NL" altLang="en-US" sz="2400" dirty="0" err="1">
                <a:solidFill>
                  <a:srgbClr val="FFFFFF"/>
                </a:solidFill>
              </a:rPr>
              <a:t>for</a:t>
            </a:r>
            <a:r>
              <a:rPr lang="nl-NL" altLang="en-US" sz="2400" dirty="0">
                <a:solidFill>
                  <a:srgbClr val="FFFFFF"/>
                </a:solidFill>
              </a:rPr>
              <a:t> </a:t>
            </a:r>
            <a:r>
              <a:rPr lang="nl-NL" altLang="en-US" sz="2400">
                <a:solidFill>
                  <a:srgbClr val="FFFFFF"/>
                </a:solidFill>
              </a:rPr>
              <a:t>Dutch native speakers </a:t>
            </a:r>
            <a:r>
              <a:rPr lang="nl-NL" altLang="en-US" sz="2400" dirty="0">
                <a:solidFill>
                  <a:srgbClr val="FFFFFF"/>
                </a:solidFill>
              </a:rPr>
              <a:t>as </a:t>
            </a:r>
            <a:r>
              <a:rPr lang="nl-NL" altLang="en-US" sz="2400" dirty="0" err="1">
                <a:solidFill>
                  <a:srgbClr val="FFFFFF"/>
                </a:solidFill>
              </a:rPr>
              <a:t>they</a:t>
            </a:r>
            <a:r>
              <a:rPr lang="nl-NL" altLang="en-US" sz="2400" dirty="0">
                <a:solidFill>
                  <a:srgbClr val="FFFFFF"/>
                </a:solidFill>
              </a:rPr>
              <a:t> are </a:t>
            </a:r>
            <a:r>
              <a:rPr lang="nl-NL" altLang="en-US" sz="2400" dirty="0" err="1">
                <a:solidFill>
                  <a:srgbClr val="FFFFFF"/>
                </a:solidFill>
              </a:rPr>
              <a:t>not</a:t>
            </a:r>
            <a:r>
              <a:rPr lang="nl-NL" altLang="en-US" sz="2400" dirty="0">
                <a:solidFill>
                  <a:srgbClr val="FFFFFF"/>
                </a:solidFill>
              </a:rPr>
              <a:t> </a:t>
            </a:r>
            <a:r>
              <a:rPr lang="nl-NL" altLang="en-US" sz="2400" i="1" dirty="0" err="1">
                <a:solidFill>
                  <a:srgbClr val="FFFFFF"/>
                </a:solidFill>
              </a:rPr>
              <a:t>always</a:t>
            </a:r>
            <a:r>
              <a:rPr lang="nl-NL" altLang="en-US" sz="2400" dirty="0">
                <a:solidFill>
                  <a:srgbClr val="FFFFFF"/>
                </a:solidFill>
              </a:rPr>
              <a:t> the </a:t>
            </a:r>
            <a:r>
              <a:rPr lang="nl-NL" altLang="en-US" sz="2400" dirty="0" err="1">
                <a:solidFill>
                  <a:srgbClr val="FFFFFF"/>
                </a:solidFill>
              </a:rPr>
              <a:t>same</a:t>
            </a:r>
            <a:r>
              <a:rPr lang="nl-NL" altLang="en-US" sz="2400" dirty="0">
                <a:solidFill>
                  <a:srgbClr val="FFFFFF"/>
                </a:solidFill>
              </a:rPr>
              <a:t> in </a:t>
            </a:r>
            <a:r>
              <a:rPr lang="nl-NL" altLang="en-US" sz="2400" dirty="0" err="1">
                <a:solidFill>
                  <a:srgbClr val="FFFFFF"/>
                </a:solidFill>
              </a:rPr>
              <a:t>translation</a:t>
            </a:r>
            <a:endParaRPr lang="nl-NL" altLang="en-US" sz="2400" dirty="0">
              <a:solidFill>
                <a:srgbClr val="FFFFFF"/>
              </a:solidFill>
            </a:endParaRPr>
          </a:p>
          <a:p>
            <a:pPr lvl="1" eaLnBrk="1" hangingPunct="1"/>
            <a:r>
              <a:rPr lang="nl-NL" altLang="en-US" sz="2400" dirty="0">
                <a:solidFill>
                  <a:srgbClr val="FFFFFF"/>
                </a:solidFill>
              </a:rPr>
              <a:t>He is </a:t>
            </a:r>
            <a:r>
              <a:rPr lang="nl-NL" altLang="en-US" sz="2400" b="1" dirty="0">
                <a:solidFill>
                  <a:srgbClr val="FFFF00"/>
                </a:solidFill>
              </a:rPr>
              <a:t>in</a:t>
            </a:r>
            <a:r>
              <a:rPr lang="nl-NL" altLang="en-US" sz="2400" dirty="0">
                <a:solidFill>
                  <a:srgbClr val="FFFFFF"/>
                </a:solidFill>
              </a:rPr>
              <a:t> the garden </a:t>
            </a:r>
            <a:r>
              <a:rPr lang="nl-NL" altLang="en-US" sz="2400" dirty="0">
                <a:solidFill>
                  <a:srgbClr val="FFFFFF"/>
                </a:solidFill>
                <a:sym typeface="Wingdings" pitchFamily="2" charset="2"/>
              </a:rPr>
              <a:t> </a:t>
            </a:r>
            <a:r>
              <a:rPr lang="nl-NL" altLang="en-US" sz="2400" i="1" dirty="0">
                <a:solidFill>
                  <a:srgbClr val="FFFFFF"/>
                </a:solidFill>
                <a:sym typeface="Wingdings" pitchFamily="2" charset="2"/>
              </a:rPr>
              <a:t>hij </a:t>
            </a:r>
            <a:r>
              <a:rPr lang="nl-NL" altLang="en-US" sz="2400" i="1">
                <a:solidFill>
                  <a:srgbClr val="FFFFFF"/>
                </a:solidFill>
                <a:sym typeface="Wingdings" pitchFamily="2" charset="2"/>
              </a:rPr>
              <a:t>is </a:t>
            </a:r>
            <a:r>
              <a:rPr lang="nl-NL" altLang="en-US" sz="2400" b="1" i="1">
                <a:solidFill>
                  <a:srgbClr val="FFFF00"/>
                </a:solidFill>
                <a:sym typeface="Wingdings" pitchFamily="2" charset="2"/>
              </a:rPr>
              <a:t>in</a:t>
            </a:r>
            <a:r>
              <a:rPr lang="nl-NL" altLang="en-US" sz="2400" i="1">
                <a:solidFill>
                  <a:srgbClr val="FFFF00"/>
                </a:solidFill>
                <a:sym typeface="Wingdings" pitchFamily="2" charset="2"/>
              </a:rPr>
              <a:t> </a:t>
            </a:r>
            <a:r>
              <a:rPr lang="nl-NL" altLang="en-US" sz="2400" i="1" dirty="0">
                <a:solidFill>
                  <a:srgbClr val="FFFFFF"/>
                </a:solidFill>
                <a:sym typeface="Wingdings" pitchFamily="2" charset="2"/>
              </a:rPr>
              <a:t>de tuin</a:t>
            </a:r>
          </a:p>
          <a:p>
            <a:pPr lvl="1" eaLnBrk="1" hangingPunct="1"/>
            <a:r>
              <a:rPr lang="nl-NL" altLang="en-US" sz="2400" dirty="0">
                <a:solidFill>
                  <a:srgbClr val="FFFFFF"/>
                </a:solidFill>
                <a:sym typeface="Wingdings" pitchFamily="2" charset="2"/>
              </a:rPr>
              <a:t>He </a:t>
            </a:r>
            <a:r>
              <a:rPr lang="nl-NL" altLang="en-US" sz="2400" dirty="0" err="1">
                <a:solidFill>
                  <a:srgbClr val="FFFFFF"/>
                </a:solidFill>
                <a:sym typeface="Wingdings" pitchFamily="2" charset="2"/>
              </a:rPr>
              <a:t>will</a:t>
            </a:r>
            <a:r>
              <a:rPr lang="nl-NL" altLang="en-US" sz="2400" dirty="0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nl-NL" altLang="en-US" sz="2400" dirty="0" err="1">
                <a:solidFill>
                  <a:srgbClr val="FFFFFF"/>
                </a:solidFill>
                <a:sym typeface="Wingdings" pitchFamily="2" charset="2"/>
              </a:rPr>
              <a:t>be</a:t>
            </a:r>
            <a:r>
              <a:rPr lang="nl-NL" altLang="en-US" sz="2400" dirty="0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nl-NL" altLang="en-US" sz="2400" dirty="0" err="1">
                <a:solidFill>
                  <a:srgbClr val="FFFFFF"/>
                </a:solidFill>
                <a:sym typeface="Wingdings" pitchFamily="2" charset="2"/>
              </a:rPr>
              <a:t>there</a:t>
            </a:r>
            <a:r>
              <a:rPr lang="nl-NL" altLang="en-US" sz="2400" dirty="0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nl-NL" altLang="en-US" sz="2400" b="1" dirty="0">
                <a:solidFill>
                  <a:srgbClr val="FFFF00"/>
                </a:solidFill>
                <a:sym typeface="Wingdings" pitchFamily="2" charset="2"/>
              </a:rPr>
              <a:t>in</a:t>
            </a:r>
            <a:r>
              <a:rPr lang="nl-NL" altLang="en-US" sz="2400" dirty="0">
                <a:solidFill>
                  <a:srgbClr val="FFFFFF"/>
                </a:solidFill>
                <a:sym typeface="Wingdings" pitchFamily="2" charset="2"/>
              </a:rPr>
              <a:t> 5 minutes  </a:t>
            </a:r>
            <a:r>
              <a:rPr lang="nl-NL" altLang="en-US" sz="2400" i="1" dirty="0">
                <a:solidFill>
                  <a:srgbClr val="FFFFFF"/>
                </a:solidFill>
                <a:sym typeface="Wingdings" pitchFamily="2" charset="2"/>
              </a:rPr>
              <a:t>hij is er </a:t>
            </a:r>
            <a:r>
              <a:rPr lang="nl-NL" altLang="en-US" sz="2400" b="1" i="1" dirty="0">
                <a:solidFill>
                  <a:srgbClr val="FFFF00"/>
                </a:solidFill>
                <a:sym typeface="Wingdings" pitchFamily="2" charset="2"/>
              </a:rPr>
              <a:t>over</a:t>
            </a:r>
            <a:r>
              <a:rPr lang="nl-NL" altLang="en-US" sz="2400" i="1" dirty="0">
                <a:solidFill>
                  <a:srgbClr val="FFFFFF"/>
                </a:solidFill>
                <a:sym typeface="Wingdings" pitchFamily="2" charset="2"/>
              </a:rPr>
              <a:t>  5 minuten</a:t>
            </a:r>
          </a:p>
          <a:p>
            <a:pPr lvl="1" eaLnBrk="1" hangingPunct="1"/>
            <a:endParaRPr lang="nl-NL" altLang="en-US" sz="2400" i="1" dirty="0">
              <a:solidFill>
                <a:srgbClr val="FFFFFF"/>
              </a:solidFill>
              <a:sym typeface="Wingdings" pitchFamily="2" charset="2"/>
            </a:endParaRPr>
          </a:p>
          <a:p>
            <a:pPr eaLnBrk="1" hangingPunct="1"/>
            <a:r>
              <a:rPr lang="nl-NL" altLang="en-US" sz="2400" u="sng">
                <a:solidFill>
                  <a:srgbClr val="FFFFFF"/>
                </a:solidFill>
                <a:sym typeface="Wingdings" pitchFamily="2" charset="2"/>
              </a:rPr>
              <a:t>Find logical patterns</a:t>
            </a:r>
            <a:endParaRPr lang="nl-NL" altLang="en-US" sz="2400" u="sng" dirty="0">
              <a:solidFill>
                <a:srgbClr val="FFFFFF"/>
              </a:solidFill>
              <a:sym typeface="Wingdings" pitchFamily="2" charset="2"/>
            </a:endParaRPr>
          </a:p>
          <a:p>
            <a:pPr lvl="1" eaLnBrk="1" hangingPunct="1"/>
            <a:r>
              <a:rPr lang="nl-NL" altLang="en-US" sz="2400">
                <a:solidFill>
                  <a:srgbClr val="FFFFFF"/>
                </a:solidFill>
                <a:sym typeface="Wingdings" pitchFamily="2" charset="2"/>
              </a:rPr>
              <a:t>If you already know it’s “</a:t>
            </a:r>
            <a:r>
              <a:rPr lang="nl-NL" altLang="en-US" sz="2400" b="1">
                <a:solidFill>
                  <a:srgbClr val="FFFF00"/>
                </a:solidFill>
                <a:sym typeface="Wingdings" pitchFamily="2" charset="2"/>
              </a:rPr>
              <a:t>in</a:t>
            </a:r>
            <a:r>
              <a:rPr lang="nl-NL" altLang="en-US" sz="2400" b="1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nl-NL" altLang="en-US" sz="2400">
                <a:solidFill>
                  <a:srgbClr val="FFFFFF"/>
                </a:solidFill>
                <a:sym typeface="Wingdings" pitchFamily="2" charset="2"/>
              </a:rPr>
              <a:t>September”, it must also be “</a:t>
            </a:r>
            <a:r>
              <a:rPr lang="nl-NL" altLang="en-US" sz="2400" b="1">
                <a:solidFill>
                  <a:srgbClr val="FFFF00"/>
                </a:solidFill>
                <a:sym typeface="Wingdings" pitchFamily="2" charset="2"/>
              </a:rPr>
              <a:t>in </a:t>
            </a:r>
            <a:r>
              <a:rPr lang="nl-NL" altLang="en-US" sz="2400">
                <a:solidFill>
                  <a:srgbClr val="FFFFFF"/>
                </a:solidFill>
                <a:sym typeface="Wingdings" pitchFamily="2" charset="2"/>
              </a:rPr>
              <a:t>October”, etc. </a:t>
            </a:r>
            <a:endParaRPr lang="nl-NL" altLang="en-US" sz="2400" dirty="0">
              <a:solidFill>
                <a:srgbClr val="FFFFFF"/>
              </a:solidFill>
              <a:sym typeface="Wingdings" pitchFamily="2" charset="2"/>
            </a:endParaRPr>
          </a:p>
          <a:p>
            <a:pPr lvl="1" eaLnBrk="1" hangingPunct="1"/>
            <a:r>
              <a:rPr lang="nl-NL" altLang="en-US" sz="2400" err="1">
                <a:solidFill>
                  <a:srgbClr val="FFFFFF"/>
                </a:solidFill>
                <a:sym typeface="Wingdings" pitchFamily="2" charset="2"/>
              </a:rPr>
              <a:t>If</a:t>
            </a:r>
            <a:r>
              <a:rPr lang="nl-NL" altLang="en-US" sz="2400">
                <a:solidFill>
                  <a:srgbClr val="FFFFFF"/>
                </a:solidFill>
                <a:sym typeface="Wingdings" pitchFamily="2" charset="2"/>
              </a:rPr>
              <a:t> you know it’s “</a:t>
            </a:r>
            <a:r>
              <a:rPr lang="nl-NL" altLang="en-US" sz="2400" b="1">
                <a:solidFill>
                  <a:srgbClr val="FFFF00"/>
                </a:solidFill>
                <a:sym typeface="Wingdings" pitchFamily="2" charset="2"/>
              </a:rPr>
              <a:t>at </a:t>
            </a:r>
            <a:r>
              <a:rPr lang="nl-NL" altLang="en-US" sz="2400">
                <a:solidFill>
                  <a:srgbClr val="FFFFFF"/>
                </a:solidFill>
                <a:sym typeface="Wingdings" pitchFamily="2" charset="2"/>
              </a:rPr>
              <a:t>lunch”, then it must also be “</a:t>
            </a:r>
            <a:r>
              <a:rPr lang="nl-NL" altLang="en-US" sz="2400" b="1">
                <a:solidFill>
                  <a:srgbClr val="FFFF00"/>
                </a:solidFill>
                <a:sym typeface="Wingdings" pitchFamily="2" charset="2"/>
              </a:rPr>
              <a:t>at</a:t>
            </a:r>
            <a:r>
              <a:rPr lang="nl-NL" altLang="en-US" sz="2400" b="1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nl-NL" altLang="en-US" sz="2400">
                <a:solidFill>
                  <a:srgbClr val="FFFFFF"/>
                </a:solidFill>
                <a:sym typeface="Wingdings" pitchFamily="2" charset="2"/>
              </a:rPr>
              <a:t>dinner”</a:t>
            </a:r>
            <a:endParaRPr lang="nl-NL" altLang="en-US" sz="2400" dirty="0">
              <a:solidFill>
                <a:srgbClr val="FFFFFF"/>
              </a:solidFill>
              <a:sym typeface="Wingdings" pitchFamily="2" charset="2"/>
            </a:endParaRPr>
          </a:p>
          <a:p>
            <a:pPr marL="457200" lvl="1" indent="0" eaLnBrk="1" hangingPunct="1">
              <a:buNone/>
            </a:pPr>
            <a:endParaRPr lang="nl-NL" altLang="en-US" sz="2400" dirty="0">
              <a:solidFill>
                <a:srgbClr val="FFFFFF"/>
              </a:solidFill>
              <a:sym typeface="Wingdings" pitchFamily="2" charset="2"/>
            </a:endParaRPr>
          </a:p>
          <a:p>
            <a:pPr eaLnBrk="1" hangingPunct="1"/>
            <a:r>
              <a:rPr lang="en-US" altLang="en-US" sz="2400" dirty="0">
                <a:solidFill>
                  <a:srgbClr val="FFFFFF"/>
                </a:solidFill>
              </a:rPr>
              <a:t>Other ways to learn them</a:t>
            </a:r>
          </a:p>
          <a:p>
            <a:pPr lvl="1" eaLnBrk="1" hangingPunct="1"/>
            <a:r>
              <a:rPr lang="en-US" altLang="en-US" sz="2400" dirty="0">
                <a:solidFill>
                  <a:srgbClr val="FFFFFF"/>
                </a:solidFill>
              </a:rPr>
              <a:t>Dictionary </a:t>
            </a:r>
          </a:p>
          <a:p>
            <a:pPr lvl="1" eaLnBrk="1" hangingPunct="1"/>
            <a:r>
              <a:rPr lang="en-US" altLang="en-US" sz="2400" dirty="0">
                <a:solidFill>
                  <a:srgbClr val="FFFFFF"/>
                </a:solidFill>
              </a:rPr>
              <a:t>Read a lot </a:t>
            </a:r>
          </a:p>
          <a:p>
            <a:pPr lvl="1" eaLnBrk="1" hangingPunct="1"/>
            <a:r>
              <a:rPr lang="en-US" altLang="en-US" sz="2400" dirty="0">
                <a:solidFill>
                  <a:srgbClr val="FFFFFF"/>
                </a:solidFill>
              </a:rPr>
              <a:t>Learn often used </a:t>
            </a:r>
            <a:r>
              <a:rPr lang="en-US" altLang="en-US" sz="2400">
                <a:solidFill>
                  <a:srgbClr val="FFFFFF"/>
                </a:solidFill>
              </a:rPr>
              <a:t>phrases off by </a:t>
            </a:r>
            <a:r>
              <a:rPr lang="en-US" altLang="en-US" sz="2400" dirty="0">
                <a:solidFill>
                  <a:srgbClr val="FFFFFF"/>
                </a:solidFill>
              </a:rPr>
              <a:t>heart</a:t>
            </a:r>
          </a:p>
        </p:txBody>
      </p:sp>
    </p:spTree>
    <p:extLst>
      <p:ext uri="{BB962C8B-B14F-4D97-AF65-F5344CB8AC3E}">
        <p14:creationId xmlns:p14="http://schemas.microsoft.com/office/powerpoint/2010/main" val="2497055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B950CAB9-F0AE-414E-805C-776919054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227C80BC-190C-4813-9BAE-C4B56C5C7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042" y="633600"/>
            <a:ext cx="3095626" cy="1477328"/>
          </a:xfrm>
        </p:spPr>
        <p:txBody>
          <a:bodyPr>
            <a:normAutofit/>
          </a:bodyPr>
          <a:lstStyle/>
          <a:p>
            <a:r>
              <a:rPr lang="nl-NL" sz="4000" dirty="0" err="1">
                <a:solidFill>
                  <a:schemeClr val="tx2"/>
                </a:solidFill>
              </a:rPr>
              <a:t>Confusing</a:t>
            </a:r>
            <a:r>
              <a:rPr lang="nl-NL" sz="4000" dirty="0">
                <a:solidFill>
                  <a:schemeClr val="tx2"/>
                </a:solidFill>
              </a:rPr>
              <a:t> cases –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8272" y="633600"/>
            <a:ext cx="7830054" cy="27192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nl-NL" dirty="0" err="1">
                <a:solidFill>
                  <a:schemeClr val="tx2"/>
                </a:solidFill>
              </a:rPr>
              <a:t>Some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prepositions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that</a:t>
            </a:r>
            <a:r>
              <a:rPr lang="nl-NL" dirty="0">
                <a:solidFill>
                  <a:schemeClr val="tx2"/>
                </a:solidFill>
              </a:rPr>
              <a:t> look </a:t>
            </a:r>
            <a:r>
              <a:rPr lang="nl-NL" dirty="0" err="1">
                <a:solidFill>
                  <a:schemeClr val="tx2"/>
                </a:solidFill>
              </a:rPr>
              <a:t>alike</a:t>
            </a:r>
            <a:r>
              <a:rPr lang="nl-NL" dirty="0">
                <a:solidFill>
                  <a:schemeClr val="tx2"/>
                </a:solidFill>
              </a:rPr>
              <a:t> or translate </a:t>
            </a:r>
            <a:r>
              <a:rPr lang="nl-NL" dirty="0" err="1">
                <a:solidFill>
                  <a:schemeClr val="tx2"/>
                </a:solidFill>
              </a:rPr>
              <a:t>to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the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same</a:t>
            </a:r>
            <a:r>
              <a:rPr lang="nl-NL" dirty="0">
                <a:solidFill>
                  <a:schemeClr val="tx2"/>
                </a:solidFill>
              </a:rPr>
              <a:t> Dutch word are </a:t>
            </a:r>
            <a:r>
              <a:rPr lang="nl-NL" dirty="0" err="1">
                <a:solidFill>
                  <a:schemeClr val="tx2"/>
                </a:solidFill>
              </a:rPr>
              <a:t>discussed</a:t>
            </a:r>
            <a:r>
              <a:rPr lang="nl-NL" dirty="0">
                <a:solidFill>
                  <a:schemeClr val="tx2"/>
                </a:solidFill>
              </a:rPr>
              <a:t> on </a:t>
            </a:r>
            <a:r>
              <a:rPr lang="nl-NL" dirty="0" err="1">
                <a:solidFill>
                  <a:schemeClr val="tx2"/>
                </a:solidFill>
              </a:rPr>
              <a:t>the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following</a:t>
            </a:r>
            <a:r>
              <a:rPr lang="nl-NL" dirty="0">
                <a:solidFill>
                  <a:schemeClr val="tx2"/>
                </a:solidFill>
              </a:rPr>
              <a:t> slides</a:t>
            </a:r>
          </a:p>
          <a:p>
            <a:pPr marL="0" indent="0">
              <a:lnSpc>
                <a:spcPct val="110000"/>
              </a:lnSpc>
              <a:buNone/>
            </a:pPr>
            <a:endParaRPr lang="nl-NL" dirty="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nl-NL" dirty="0" err="1">
                <a:solidFill>
                  <a:schemeClr val="tx2"/>
                </a:solidFill>
              </a:rPr>
              <a:t>After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that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some</a:t>
            </a:r>
            <a:r>
              <a:rPr lang="nl-NL" dirty="0">
                <a:solidFill>
                  <a:schemeClr val="tx2"/>
                </a:solidFill>
              </a:rPr>
              <a:t> common mistakes </a:t>
            </a:r>
            <a:r>
              <a:rPr lang="nl-NL" dirty="0" err="1">
                <a:solidFill>
                  <a:schemeClr val="tx2"/>
                </a:solidFill>
              </a:rPr>
              <a:t>based</a:t>
            </a:r>
            <a:r>
              <a:rPr lang="nl-NL" dirty="0">
                <a:solidFill>
                  <a:schemeClr val="tx2"/>
                </a:solidFill>
              </a:rPr>
              <a:t> on ‘</a:t>
            </a:r>
            <a:r>
              <a:rPr lang="nl-NL" dirty="0" err="1">
                <a:solidFill>
                  <a:schemeClr val="tx2"/>
                </a:solidFill>
              </a:rPr>
              <a:t>false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friends</a:t>
            </a:r>
            <a:r>
              <a:rPr lang="nl-NL" dirty="0">
                <a:solidFill>
                  <a:schemeClr val="tx2"/>
                </a:solidFill>
              </a:rPr>
              <a:t>’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nl-NL" dirty="0">
                <a:solidFill>
                  <a:schemeClr val="tx2"/>
                </a:solidFill>
              </a:rPr>
              <a:t>(= </a:t>
            </a:r>
            <a:r>
              <a:rPr lang="nl-NL" dirty="0" err="1">
                <a:solidFill>
                  <a:schemeClr val="tx2"/>
                </a:solidFill>
              </a:rPr>
              <a:t>words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that</a:t>
            </a:r>
            <a:r>
              <a:rPr lang="nl-NL" dirty="0">
                <a:solidFill>
                  <a:schemeClr val="tx2"/>
                </a:solidFill>
              </a:rPr>
              <a:t> look </a:t>
            </a:r>
            <a:r>
              <a:rPr lang="nl-NL" dirty="0" err="1">
                <a:solidFill>
                  <a:schemeClr val="tx2"/>
                </a:solidFill>
              </a:rPr>
              <a:t>alike</a:t>
            </a:r>
            <a:r>
              <a:rPr lang="nl-NL" dirty="0">
                <a:solidFill>
                  <a:schemeClr val="tx2"/>
                </a:solidFill>
              </a:rPr>
              <a:t> in </a:t>
            </a:r>
            <a:r>
              <a:rPr lang="nl-NL" dirty="0" err="1">
                <a:solidFill>
                  <a:schemeClr val="tx2"/>
                </a:solidFill>
              </a:rPr>
              <a:t>two</a:t>
            </a:r>
            <a:r>
              <a:rPr lang="nl-NL" dirty="0">
                <a:solidFill>
                  <a:schemeClr val="tx2"/>
                </a:solidFill>
              </a:rPr>
              <a:t> different </a:t>
            </a:r>
            <a:r>
              <a:rPr lang="nl-NL" dirty="0" err="1">
                <a:solidFill>
                  <a:schemeClr val="tx2"/>
                </a:solidFill>
              </a:rPr>
              <a:t>languages</a:t>
            </a:r>
            <a:r>
              <a:rPr lang="nl-NL" dirty="0">
                <a:solidFill>
                  <a:schemeClr val="tx2"/>
                </a:solidFill>
              </a:rPr>
              <a:t> but </a:t>
            </a:r>
            <a:r>
              <a:rPr lang="nl-NL" dirty="0" err="1">
                <a:solidFill>
                  <a:schemeClr val="tx2"/>
                </a:solidFill>
              </a:rPr>
              <a:t>don’t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mean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the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same</a:t>
            </a:r>
            <a:r>
              <a:rPr lang="nl-NL" dirty="0">
                <a:solidFill>
                  <a:schemeClr val="tx2"/>
                </a:solidFill>
              </a:rPr>
              <a:t>) are </a:t>
            </a:r>
            <a:r>
              <a:rPr lang="nl-NL" dirty="0" err="1">
                <a:solidFill>
                  <a:schemeClr val="tx2"/>
                </a:solidFill>
              </a:rPr>
              <a:t>discussed</a:t>
            </a:r>
            <a:endParaRPr lang="nl-NL" dirty="0">
              <a:solidFill>
                <a:schemeClr val="tx2"/>
              </a:solidFill>
            </a:endParaRPr>
          </a:p>
        </p:txBody>
      </p:sp>
      <p:pic>
        <p:nvPicPr>
          <p:cNvPr id="15" name="Picture 4" descr="Scribbles on a notebook">
            <a:extLst>
              <a:ext uri="{FF2B5EF4-FFF2-40B4-BE49-F238E27FC236}">
                <a16:creationId xmlns:a16="http://schemas.microsoft.com/office/drawing/2014/main" id="{A0D5E85F-DB46-5398-54F1-AD6E5F9C81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719" b="30111"/>
          <a:stretch/>
        </p:blipFill>
        <p:spPr>
          <a:xfrm>
            <a:off x="20" y="3932902"/>
            <a:ext cx="12191980" cy="2925098"/>
          </a:xfrm>
          <a:custGeom>
            <a:avLst/>
            <a:gdLst/>
            <a:ahLst/>
            <a:cxnLst/>
            <a:rect l="l" t="t" r="r" b="b"/>
            <a:pathLst>
              <a:path w="12192000" h="4273465">
                <a:moveTo>
                  <a:pt x="5674827" y="107"/>
                </a:moveTo>
                <a:cubicBezTo>
                  <a:pt x="6770307" y="-2269"/>
                  <a:pt x="8062055" y="35744"/>
                  <a:pt x="8986322" y="35744"/>
                </a:cubicBezTo>
                <a:cubicBezTo>
                  <a:pt x="10233527" y="52639"/>
                  <a:pt x="11168930" y="69533"/>
                  <a:pt x="12015248" y="52639"/>
                </a:cubicBezTo>
                <a:lnTo>
                  <a:pt x="12192000" y="60460"/>
                </a:lnTo>
                <a:lnTo>
                  <a:pt x="12192000" y="4273465"/>
                </a:lnTo>
                <a:lnTo>
                  <a:pt x="0" y="4273465"/>
                </a:lnTo>
                <a:lnTo>
                  <a:pt x="0" y="65877"/>
                </a:lnTo>
                <a:lnTo>
                  <a:pt x="107413" y="52639"/>
                </a:lnTo>
                <a:cubicBezTo>
                  <a:pt x="716168" y="1955"/>
                  <a:pt x="1725810" y="137111"/>
                  <a:pt x="4665650" y="18850"/>
                </a:cubicBezTo>
                <a:cubicBezTo>
                  <a:pt x="4966315" y="6179"/>
                  <a:pt x="5309667" y="899"/>
                  <a:pt x="5674827" y="10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4562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520" name="Rectangle 64519">
            <a:extLst>
              <a:ext uri="{FF2B5EF4-FFF2-40B4-BE49-F238E27FC236}">
                <a16:creationId xmlns:a16="http://schemas.microsoft.com/office/drawing/2014/main" id="{5173AA7E-FB13-4C7C-BE86-ECAD9E590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522" name="Rectangle 64521">
            <a:extLst>
              <a:ext uri="{FF2B5EF4-FFF2-40B4-BE49-F238E27FC236}">
                <a16:creationId xmlns:a16="http://schemas.microsoft.com/office/drawing/2014/main" id="{1B6EC153-DED3-475F-9AE0-D69887DF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524" name="Freeform: Shape 64523">
            <a:extLst>
              <a:ext uri="{FF2B5EF4-FFF2-40B4-BE49-F238E27FC236}">
                <a16:creationId xmlns:a16="http://schemas.microsoft.com/office/drawing/2014/main" id="{A8756A1B-6950-48DF-9439-2314515C3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0"/>
            <a:ext cx="4789061" cy="6858000"/>
          </a:xfrm>
          <a:custGeom>
            <a:avLst/>
            <a:gdLst>
              <a:gd name="connsiteX0" fmla="*/ 0 w 4789061"/>
              <a:gd name="connsiteY0" fmla="*/ 0 h 6858000"/>
              <a:gd name="connsiteX1" fmla="*/ 4248416 w 4789061"/>
              <a:gd name="connsiteY1" fmla="*/ 0 h 6858000"/>
              <a:gd name="connsiteX2" fmla="*/ 4442571 w 4789061"/>
              <a:gd name="connsiteY2" fmla="*/ 413260 h 6858000"/>
              <a:gd name="connsiteX3" fmla="*/ 4652176 w 4789061"/>
              <a:gd name="connsiteY3" fmla="*/ 4153439 h 6858000"/>
              <a:gd name="connsiteX4" fmla="*/ 3478386 w 4789061"/>
              <a:gd name="connsiteY4" fmla="*/ 6758958 h 6858000"/>
              <a:gd name="connsiteX5" fmla="*/ 3423920 w 4789061"/>
              <a:gd name="connsiteY5" fmla="*/ 6858000 h 6858000"/>
              <a:gd name="connsiteX6" fmla="*/ 0 w 47890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89061" h="6858000">
                <a:moveTo>
                  <a:pt x="0" y="0"/>
                </a:moveTo>
                <a:lnTo>
                  <a:pt x="4248416" y="0"/>
                </a:lnTo>
                <a:lnTo>
                  <a:pt x="4442571" y="413260"/>
                </a:lnTo>
                <a:cubicBezTo>
                  <a:pt x="5071387" y="1505896"/>
                  <a:pt x="4652176" y="3775219"/>
                  <a:pt x="4652176" y="4153439"/>
                </a:cubicBezTo>
                <a:cubicBezTo>
                  <a:pt x="4652176" y="5624297"/>
                  <a:pt x="3855675" y="6170615"/>
                  <a:pt x="3478386" y="6758958"/>
                </a:cubicBezTo>
                <a:lnTo>
                  <a:pt x="342392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19200"/>
            <a:ext cx="3095626" cy="3241599"/>
          </a:xfrm>
        </p:spPr>
        <p:txBody>
          <a:bodyPr>
            <a:normAutofit/>
          </a:bodyPr>
          <a:lstStyle/>
          <a:p>
            <a:pPr eaLnBrk="1" hangingPunct="1"/>
            <a:r>
              <a:rPr lang="nl-NL" altLang="en-US" sz="4000" dirty="0" err="1"/>
              <a:t>Confusing</a:t>
            </a:r>
            <a:r>
              <a:rPr lang="nl-NL" altLang="en-US" sz="4000" dirty="0"/>
              <a:t> cases - II</a:t>
            </a:r>
          </a:p>
        </p:txBody>
      </p:sp>
      <p:sp>
        <p:nvSpPr>
          <p:cNvPr id="64526" name="Freeform 10">
            <a:extLst>
              <a:ext uri="{FF2B5EF4-FFF2-40B4-BE49-F238E27FC236}">
                <a16:creationId xmlns:a16="http://schemas.microsoft.com/office/drawing/2014/main" id="{F85A6BBD-7399-450C-8FA5-F8AE24156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4394617">
            <a:off x="2970833" y="4308884"/>
            <a:ext cx="2069886" cy="1937439"/>
          </a:xfrm>
          <a:custGeom>
            <a:avLst/>
            <a:gdLst>
              <a:gd name="T0" fmla="*/ 43 w 250"/>
              <a:gd name="T1" fmla="*/ 167 h 234"/>
              <a:gd name="T2" fmla="*/ 70 w 250"/>
              <a:gd name="T3" fmla="*/ 133 h 234"/>
              <a:gd name="T4" fmla="*/ 48 w 250"/>
              <a:gd name="T5" fmla="*/ 134 h 234"/>
              <a:gd name="T6" fmla="*/ 19 w 250"/>
              <a:gd name="T7" fmla="*/ 130 h 234"/>
              <a:gd name="T8" fmla="*/ 6 w 250"/>
              <a:gd name="T9" fmla="*/ 123 h 234"/>
              <a:gd name="T10" fmla="*/ 1 w 250"/>
              <a:gd name="T11" fmla="*/ 103 h 234"/>
              <a:gd name="T12" fmla="*/ 11 w 250"/>
              <a:gd name="T13" fmla="*/ 81 h 234"/>
              <a:gd name="T14" fmla="*/ 23 w 250"/>
              <a:gd name="T15" fmla="*/ 76 h 234"/>
              <a:gd name="T16" fmla="*/ 81 w 250"/>
              <a:gd name="T17" fmla="*/ 78 h 234"/>
              <a:gd name="T18" fmla="*/ 65 w 250"/>
              <a:gd name="T19" fmla="*/ 49 h 234"/>
              <a:gd name="T20" fmla="*/ 57 w 250"/>
              <a:gd name="T21" fmla="*/ 27 h 234"/>
              <a:gd name="T22" fmla="*/ 67 w 250"/>
              <a:gd name="T23" fmla="*/ 12 h 234"/>
              <a:gd name="T24" fmla="*/ 85 w 250"/>
              <a:gd name="T25" fmla="*/ 1 h 234"/>
              <a:gd name="T26" fmla="*/ 101 w 250"/>
              <a:gd name="T27" fmla="*/ 8 h 234"/>
              <a:gd name="T28" fmla="*/ 107 w 250"/>
              <a:gd name="T29" fmla="*/ 15 h 234"/>
              <a:gd name="T30" fmla="*/ 120 w 250"/>
              <a:gd name="T31" fmla="*/ 37 h 234"/>
              <a:gd name="T32" fmla="*/ 131 w 250"/>
              <a:gd name="T33" fmla="*/ 60 h 234"/>
              <a:gd name="T34" fmla="*/ 164 w 250"/>
              <a:gd name="T35" fmla="*/ 25 h 234"/>
              <a:gd name="T36" fmla="*/ 187 w 250"/>
              <a:gd name="T37" fmla="*/ 11 h 234"/>
              <a:gd name="T38" fmla="*/ 205 w 250"/>
              <a:gd name="T39" fmla="*/ 19 h 234"/>
              <a:gd name="T40" fmla="*/ 214 w 250"/>
              <a:gd name="T41" fmla="*/ 34 h 234"/>
              <a:gd name="T42" fmla="*/ 203 w 250"/>
              <a:gd name="T43" fmla="*/ 57 h 234"/>
              <a:gd name="T44" fmla="*/ 166 w 250"/>
              <a:gd name="T45" fmla="*/ 100 h 234"/>
              <a:gd name="T46" fmla="*/ 217 w 250"/>
              <a:gd name="T47" fmla="*/ 98 h 234"/>
              <a:gd name="T48" fmla="*/ 244 w 250"/>
              <a:gd name="T49" fmla="*/ 104 h 234"/>
              <a:gd name="T50" fmla="*/ 249 w 250"/>
              <a:gd name="T51" fmla="*/ 115 h 234"/>
              <a:gd name="T52" fmla="*/ 247 w 250"/>
              <a:gd name="T53" fmla="*/ 129 h 234"/>
              <a:gd name="T54" fmla="*/ 245 w 250"/>
              <a:gd name="T55" fmla="*/ 134 h 234"/>
              <a:gd name="T56" fmla="*/ 241 w 250"/>
              <a:gd name="T57" fmla="*/ 141 h 234"/>
              <a:gd name="T58" fmla="*/ 227 w 250"/>
              <a:gd name="T59" fmla="*/ 147 h 234"/>
              <a:gd name="T60" fmla="*/ 187 w 250"/>
              <a:gd name="T61" fmla="*/ 151 h 234"/>
              <a:gd name="T62" fmla="*/ 160 w 250"/>
              <a:gd name="T63" fmla="*/ 148 h 234"/>
              <a:gd name="T64" fmla="*/ 168 w 250"/>
              <a:gd name="T65" fmla="*/ 168 h 234"/>
              <a:gd name="T66" fmla="*/ 176 w 250"/>
              <a:gd name="T67" fmla="*/ 194 h 234"/>
              <a:gd name="T68" fmla="*/ 176 w 250"/>
              <a:gd name="T69" fmla="*/ 211 h 234"/>
              <a:gd name="T70" fmla="*/ 170 w 250"/>
              <a:gd name="T71" fmla="*/ 221 h 234"/>
              <a:gd name="T72" fmla="*/ 156 w 250"/>
              <a:gd name="T73" fmla="*/ 230 h 234"/>
              <a:gd name="T74" fmla="*/ 130 w 250"/>
              <a:gd name="T75" fmla="*/ 226 h 234"/>
              <a:gd name="T76" fmla="*/ 122 w 250"/>
              <a:gd name="T77" fmla="*/ 213 h 234"/>
              <a:gd name="T78" fmla="*/ 110 w 250"/>
              <a:gd name="T79" fmla="*/ 169 h 234"/>
              <a:gd name="T80" fmla="*/ 92 w 250"/>
              <a:gd name="T81" fmla="*/ 192 h 234"/>
              <a:gd name="T82" fmla="*/ 87 w 250"/>
              <a:gd name="T83" fmla="*/ 197 h 234"/>
              <a:gd name="T84" fmla="*/ 84 w 250"/>
              <a:gd name="T85" fmla="*/ 201 h 234"/>
              <a:gd name="T86" fmla="*/ 65 w 250"/>
              <a:gd name="T87" fmla="*/ 212 h 234"/>
              <a:gd name="T88" fmla="*/ 50 w 250"/>
              <a:gd name="T89" fmla="*/ 204 h 234"/>
              <a:gd name="T90" fmla="*/ 44 w 250"/>
              <a:gd name="T91" fmla="*/ 198 h 234"/>
              <a:gd name="T92" fmla="*/ 38 w 250"/>
              <a:gd name="T93" fmla="*/ 185 h 234"/>
              <a:gd name="T94" fmla="*/ 43 w 250"/>
              <a:gd name="T95" fmla="*/ 167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50" h="234">
                <a:moveTo>
                  <a:pt x="43" y="167"/>
                </a:moveTo>
                <a:cubicBezTo>
                  <a:pt x="70" y="133"/>
                  <a:pt x="70" y="133"/>
                  <a:pt x="70" y="133"/>
                </a:cubicBezTo>
                <a:cubicBezTo>
                  <a:pt x="60" y="134"/>
                  <a:pt x="61" y="134"/>
                  <a:pt x="48" y="134"/>
                </a:cubicBezTo>
                <a:cubicBezTo>
                  <a:pt x="34" y="133"/>
                  <a:pt x="24" y="132"/>
                  <a:pt x="19" y="130"/>
                </a:cubicBezTo>
                <a:cubicBezTo>
                  <a:pt x="13" y="128"/>
                  <a:pt x="9" y="126"/>
                  <a:pt x="6" y="123"/>
                </a:cubicBezTo>
                <a:cubicBezTo>
                  <a:pt x="1" y="119"/>
                  <a:pt x="0" y="112"/>
                  <a:pt x="1" y="103"/>
                </a:cubicBezTo>
                <a:cubicBezTo>
                  <a:pt x="2" y="93"/>
                  <a:pt x="6" y="86"/>
                  <a:pt x="11" y="81"/>
                </a:cubicBezTo>
                <a:cubicBezTo>
                  <a:pt x="15" y="77"/>
                  <a:pt x="18" y="76"/>
                  <a:pt x="23" y="76"/>
                </a:cubicBezTo>
                <a:cubicBezTo>
                  <a:pt x="81" y="78"/>
                  <a:pt x="81" y="78"/>
                  <a:pt x="81" y="78"/>
                </a:cubicBezTo>
                <a:cubicBezTo>
                  <a:pt x="65" y="49"/>
                  <a:pt x="65" y="49"/>
                  <a:pt x="65" y="49"/>
                </a:cubicBezTo>
                <a:cubicBezTo>
                  <a:pt x="58" y="40"/>
                  <a:pt x="56" y="33"/>
                  <a:pt x="57" y="27"/>
                </a:cubicBezTo>
                <a:cubicBezTo>
                  <a:pt x="58" y="21"/>
                  <a:pt x="62" y="16"/>
                  <a:pt x="67" y="12"/>
                </a:cubicBezTo>
                <a:cubicBezTo>
                  <a:pt x="74" y="6"/>
                  <a:pt x="80" y="2"/>
                  <a:pt x="85" y="1"/>
                </a:cubicBezTo>
                <a:cubicBezTo>
                  <a:pt x="90" y="0"/>
                  <a:pt x="95" y="2"/>
                  <a:pt x="101" y="8"/>
                </a:cubicBezTo>
                <a:cubicBezTo>
                  <a:pt x="104" y="11"/>
                  <a:pt x="106" y="13"/>
                  <a:pt x="107" y="15"/>
                </a:cubicBezTo>
                <a:cubicBezTo>
                  <a:pt x="110" y="19"/>
                  <a:pt x="112" y="20"/>
                  <a:pt x="120" y="37"/>
                </a:cubicBezTo>
                <a:cubicBezTo>
                  <a:pt x="129" y="55"/>
                  <a:pt x="128" y="51"/>
                  <a:pt x="131" y="60"/>
                </a:cubicBezTo>
                <a:cubicBezTo>
                  <a:pt x="164" y="25"/>
                  <a:pt x="164" y="25"/>
                  <a:pt x="164" y="25"/>
                </a:cubicBezTo>
                <a:cubicBezTo>
                  <a:pt x="173" y="16"/>
                  <a:pt x="180" y="11"/>
                  <a:pt x="187" y="11"/>
                </a:cubicBezTo>
                <a:cubicBezTo>
                  <a:pt x="193" y="10"/>
                  <a:pt x="200" y="13"/>
                  <a:pt x="205" y="19"/>
                </a:cubicBezTo>
                <a:cubicBezTo>
                  <a:pt x="210" y="24"/>
                  <a:pt x="213" y="29"/>
                  <a:pt x="214" y="34"/>
                </a:cubicBezTo>
                <a:cubicBezTo>
                  <a:pt x="214" y="39"/>
                  <a:pt x="211" y="47"/>
                  <a:pt x="203" y="57"/>
                </a:cubicBezTo>
                <a:cubicBezTo>
                  <a:pt x="166" y="100"/>
                  <a:pt x="166" y="100"/>
                  <a:pt x="166" y="100"/>
                </a:cubicBezTo>
                <a:cubicBezTo>
                  <a:pt x="217" y="98"/>
                  <a:pt x="217" y="98"/>
                  <a:pt x="217" y="98"/>
                </a:cubicBezTo>
                <a:cubicBezTo>
                  <a:pt x="229" y="96"/>
                  <a:pt x="238" y="98"/>
                  <a:pt x="244" y="104"/>
                </a:cubicBezTo>
                <a:cubicBezTo>
                  <a:pt x="247" y="107"/>
                  <a:pt x="249" y="111"/>
                  <a:pt x="249" y="115"/>
                </a:cubicBezTo>
                <a:cubicBezTo>
                  <a:pt x="250" y="120"/>
                  <a:pt x="249" y="124"/>
                  <a:pt x="247" y="129"/>
                </a:cubicBezTo>
                <a:cubicBezTo>
                  <a:pt x="247" y="130"/>
                  <a:pt x="246" y="132"/>
                  <a:pt x="245" y="134"/>
                </a:cubicBezTo>
                <a:cubicBezTo>
                  <a:pt x="244" y="137"/>
                  <a:pt x="243" y="140"/>
                  <a:pt x="241" y="141"/>
                </a:cubicBezTo>
                <a:cubicBezTo>
                  <a:pt x="239" y="144"/>
                  <a:pt x="234" y="146"/>
                  <a:pt x="227" y="147"/>
                </a:cubicBezTo>
                <a:cubicBezTo>
                  <a:pt x="221" y="149"/>
                  <a:pt x="207" y="150"/>
                  <a:pt x="187" y="151"/>
                </a:cubicBezTo>
                <a:cubicBezTo>
                  <a:pt x="175" y="152"/>
                  <a:pt x="161" y="148"/>
                  <a:pt x="160" y="148"/>
                </a:cubicBezTo>
                <a:cubicBezTo>
                  <a:pt x="161" y="151"/>
                  <a:pt x="165" y="161"/>
                  <a:pt x="168" y="168"/>
                </a:cubicBezTo>
                <a:cubicBezTo>
                  <a:pt x="168" y="171"/>
                  <a:pt x="173" y="181"/>
                  <a:pt x="176" y="194"/>
                </a:cubicBezTo>
                <a:cubicBezTo>
                  <a:pt x="179" y="206"/>
                  <a:pt x="176" y="203"/>
                  <a:pt x="176" y="211"/>
                </a:cubicBezTo>
                <a:cubicBezTo>
                  <a:pt x="176" y="214"/>
                  <a:pt x="174" y="217"/>
                  <a:pt x="170" y="221"/>
                </a:cubicBezTo>
                <a:cubicBezTo>
                  <a:pt x="166" y="226"/>
                  <a:pt x="161" y="228"/>
                  <a:pt x="156" y="230"/>
                </a:cubicBezTo>
                <a:cubicBezTo>
                  <a:pt x="147" y="234"/>
                  <a:pt x="137" y="233"/>
                  <a:pt x="130" y="226"/>
                </a:cubicBezTo>
                <a:cubicBezTo>
                  <a:pt x="127" y="223"/>
                  <a:pt x="125" y="219"/>
                  <a:pt x="122" y="213"/>
                </a:cubicBezTo>
                <a:cubicBezTo>
                  <a:pt x="118" y="188"/>
                  <a:pt x="117" y="189"/>
                  <a:pt x="110" y="169"/>
                </a:cubicBezTo>
                <a:cubicBezTo>
                  <a:pt x="92" y="192"/>
                  <a:pt x="92" y="192"/>
                  <a:pt x="92" y="192"/>
                </a:cubicBezTo>
                <a:cubicBezTo>
                  <a:pt x="90" y="193"/>
                  <a:pt x="88" y="195"/>
                  <a:pt x="87" y="197"/>
                </a:cubicBezTo>
                <a:cubicBezTo>
                  <a:pt x="86" y="198"/>
                  <a:pt x="85" y="200"/>
                  <a:pt x="84" y="201"/>
                </a:cubicBezTo>
                <a:cubicBezTo>
                  <a:pt x="76" y="209"/>
                  <a:pt x="70" y="212"/>
                  <a:pt x="65" y="212"/>
                </a:cubicBezTo>
                <a:cubicBezTo>
                  <a:pt x="60" y="211"/>
                  <a:pt x="55" y="209"/>
                  <a:pt x="50" y="204"/>
                </a:cubicBezTo>
                <a:cubicBezTo>
                  <a:pt x="50" y="203"/>
                  <a:pt x="48" y="202"/>
                  <a:pt x="44" y="198"/>
                </a:cubicBezTo>
                <a:cubicBezTo>
                  <a:pt x="41" y="195"/>
                  <a:pt x="39" y="191"/>
                  <a:pt x="38" y="185"/>
                </a:cubicBezTo>
                <a:cubicBezTo>
                  <a:pt x="37" y="179"/>
                  <a:pt x="39" y="173"/>
                  <a:pt x="43" y="1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xfrm>
            <a:off x="6444000" y="633599"/>
            <a:ext cx="4991962" cy="5914287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nl-NL" altLang="en-US" sz="2000" b="1" dirty="0">
                <a:solidFill>
                  <a:srgbClr val="FFC000"/>
                </a:solidFill>
              </a:rPr>
              <a:t>Write</a:t>
            </a:r>
            <a:r>
              <a:rPr lang="nl-NL" altLang="en-US" sz="2000" dirty="0">
                <a:solidFill>
                  <a:srgbClr val="FFC000"/>
                </a:solidFill>
              </a:rPr>
              <a:t> a </a:t>
            </a:r>
            <a:r>
              <a:rPr lang="nl-NL" altLang="en-US" sz="2000" dirty="0" err="1">
                <a:solidFill>
                  <a:srgbClr val="FFC000"/>
                </a:solidFill>
              </a:rPr>
              <a:t>sentence</a:t>
            </a:r>
            <a:r>
              <a:rPr lang="nl-NL" altLang="en-US" sz="2000" dirty="0">
                <a:solidFill>
                  <a:srgbClr val="FFC000"/>
                </a:solidFill>
              </a:rPr>
              <a:t> (in pairs or </a:t>
            </a:r>
            <a:r>
              <a:rPr lang="nl-NL" altLang="en-US" sz="2000" dirty="0" err="1">
                <a:solidFill>
                  <a:srgbClr val="FFC000"/>
                </a:solidFill>
              </a:rPr>
              <a:t>threes</a:t>
            </a:r>
            <a:r>
              <a:rPr lang="nl-NL" altLang="en-US" sz="2000" dirty="0">
                <a:solidFill>
                  <a:srgbClr val="FFC000"/>
                </a:solidFill>
              </a:rPr>
              <a:t>) with </a:t>
            </a:r>
            <a:r>
              <a:rPr lang="nl-NL" altLang="en-US" sz="2000" dirty="0" err="1">
                <a:solidFill>
                  <a:srgbClr val="FFC000"/>
                </a:solidFill>
              </a:rPr>
              <a:t>both</a:t>
            </a:r>
            <a:r>
              <a:rPr lang="nl-NL" altLang="en-US" sz="2000" dirty="0">
                <a:solidFill>
                  <a:srgbClr val="FFC000"/>
                </a:solidFill>
              </a:rPr>
              <a:t> </a:t>
            </a:r>
            <a:r>
              <a:rPr lang="nl-NL" altLang="en-US" sz="2000" dirty="0" err="1">
                <a:solidFill>
                  <a:srgbClr val="FFC000"/>
                </a:solidFill>
              </a:rPr>
              <a:t>and</a:t>
            </a:r>
            <a:r>
              <a:rPr lang="nl-NL" altLang="en-US" sz="2000" dirty="0">
                <a:solidFill>
                  <a:srgbClr val="FFC000"/>
                </a:solidFill>
              </a:rPr>
              <a:t> </a:t>
            </a:r>
            <a:r>
              <a:rPr lang="nl-NL" altLang="en-US" sz="2000" dirty="0" err="1">
                <a:solidFill>
                  <a:srgbClr val="FFC000"/>
                </a:solidFill>
              </a:rPr>
              <a:t>explain</a:t>
            </a:r>
            <a:r>
              <a:rPr lang="nl-NL" altLang="en-US" sz="2000" dirty="0">
                <a:solidFill>
                  <a:srgbClr val="FFC000"/>
                </a:solidFill>
              </a:rPr>
              <a:t> </a:t>
            </a:r>
            <a:r>
              <a:rPr lang="nl-NL" altLang="en-US" sz="2000" dirty="0" err="1">
                <a:solidFill>
                  <a:srgbClr val="FFC000"/>
                </a:solidFill>
              </a:rPr>
              <a:t>the</a:t>
            </a:r>
            <a:r>
              <a:rPr lang="nl-NL" altLang="en-US" sz="2000" dirty="0">
                <a:solidFill>
                  <a:srgbClr val="FFC000"/>
                </a:solidFill>
              </a:rPr>
              <a:t> </a:t>
            </a:r>
            <a:r>
              <a:rPr lang="nl-NL" altLang="en-US" sz="2000" dirty="0" err="1">
                <a:solidFill>
                  <a:srgbClr val="FFC000"/>
                </a:solidFill>
              </a:rPr>
              <a:t>difference</a:t>
            </a:r>
            <a:r>
              <a:rPr lang="nl-NL" altLang="en-US" sz="2000" dirty="0">
                <a:solidFill>
                  <a:srgbClr val="FFC000"/>
                </a:solidFill>
              </a:rPr>
              <a:t> </a:t>
            </a:r>
            <a:r>
              <a:rPr lang="nl-NL" altLang="en-US" sz="2000" dirty="0" err="1">
                <a:solidFill>
                  <a:srgbClr val="FFC000"/>
                </a:solidFill>
              </a:rPr>
              <a:t>between</a:t>
            </a:r>
            <a:r>
              <a:rPr lang="nl-NL" altLang="en-US" sz="2000" dirty="0">
                <a:solidFill>
                  <a:srgbClr val="FFC000"/>
                </a:solidFill>
              </a:rPr>
              <a:t> </a:t>
            </a:r>
            <a:r>
              <a:rPr lang="nl-NL" altLang="en-US" sz="2000" dirty="0" err="1">
                <a:solidFill>
                  <a:srgbClr val="FFC000"/>
                </a:solidFill>
              </a:rPr>
              <a:t>them</a:t>
            </a:r>
            <a:r>
              <a:rPr lang="nl-NL" altLang="en-US" sz="2000" dirty="0">
                <a:solidFill>
                  <a:srgbClr val="FFC000"/>
                </a:solidFill>
              </a:rPr>
              <a:t>.</a:t>
            </a:r>
          </a:p>
          <a:p>
            <a:pPr marL="0" indent="0" eaLnBrk="1" hangingPunct="1">
              <a:lnSpc>
                <a:spcPct val="110000"/>
              </a:lnSpc>
              <a:buNone/>
            </a:pPr>
            <a:endParaRPr lang="nl-NL" altLang="en-US" dirty="0">
              <a:solidFill>
                <a:srgbClr val="FFC000">
                  <a:alpha val="58000"/>
                </a:srgbClr>
              </a:solidFill>
            </a:endParaRPr>
          </a:p>
          <a:p>
            <a:pPr marL="0" indent="0" eaLnBrk="1" hangingPunct="1">
              <a:lnSpc>
                <a:spcPct val="110000"/>
              </a:lnSpc>
              <a:buNone/>
            </a:pPr>
            <a:r>
              <a:rPr lang="nl-NL" altLang="en-US" dirty="0" err="1">
                <a:solidFill>
                  <a:srgbClr val="FFC000">
                    <a:alpha val="58000"/>
                  </a:srgbClr>
                </a:solidFill>
              </a:rPr>
              <a:t>During</a:t>
            </a:r>
            <a:r>
              <a:rPr lang="nl-NL" altLang="en-US" dirty="0">
                <a:solidFill>
                  <a:srgbClr val="FFC000">
                    <a:alpha val="58000"/>
                  </a:srgbClr>
                </a:solidFill>
              </a:rPr>
              <a:t> or </a:t>
            </a:r>
            <a:r>
              <a:rPr lang="nl-NL" altLang="en-US" dirty="0" err="1">
                <a:solidFill>
                  <a:srgbClr val="FFC000">
                    <a:alpha val="58000"/>
                  </a:srgbClr>
                </a:solidFill>
              </a:rPr>
              <a:t>for</a:t>
            </a:r>
            <a:r>
              <a:rPr lang="nl-NL" altLang="en-US" dirty="0">
                <a:solidFill>
                  <a:srgbClr val="FFC000">
                    <a:alpha val="58000"/>
                  </a:srgbClr>
                </a:solidFill>
              </a:rPr>
              <a:t>?</a:t>
            </a:r>
          </a:p>
          <a:p>
            <a:pPr eaLnBrk="1" hangingPunct="1">
              <a:lnSpc>
                <a:spcPct val="110000"/>
              </a:lnSpc>
            </a:pPr>
            <a:r>
              <a:rPr lang="nl-NL" altLang="en-US" b="1" dirty="0">
                <a:solidFill>
                  <a:srgbClr val="FFC000">
                    <a:alpha val="58000"/>
                  </a:srgbClr>
                </a:solidFill>
              </a:rPr>
              <a:t>For</a:t>
            </a:r>
            <a:r>
              <a:rPr lang="nl-NL" altLang="en-US" dirty="0">
                <a:solidFill>
                  <a:srgbClr val="FFC000">
                    <a:alpha val="58000"/>
                  </a:srgbClr>
                </a:solidFill>
              </a:rPr>
              <a:t> </a:t>
            </a:r>
            <a:r>
              <a:rPr lang="nl-NL" altLang="en-US" dirty="0"/>
              <a:t>= </a:t>
            </a:r>
            <a:r>
              <a:rPr lang="nl-NL" altLang="en-US" dirty="0" err="1"/>
              <a:t>how</a:t>
            </a:r>
            <a:r>
              <a:rPr lang="nl-NL" altLang="en-US" dirty="0"/>
              <a:t> long</a:t>
            </a:r>
          </a:p>
          <a:p>
            <a:pPr lvl="1" eaLnBrk="1" hangingPunct="1">
              <a:lnSpc>
                <a:spcPct val="110000"/>
              </a:lnSpc>
            </a:pPr>
            <a:r>
              <a:rPr lang="nl-NL" altLang="en-US" dirty="0"/>
              <a:t>He </a:t>
            </a:r>
            <a:r>
              <a:rPr lang="nl-NL" altLang="en-US" dirty="0" err="1"/>
              <a:t>worked</a:t>
            </a:r>
            <a:r>
              <a:rPr lang="nl-NL" altLang="en-US" dirty="0"/>
              <a:t> here </a:t>
            </a:r>
            <a:r>
              <a:rPr lang="nl-NL" altLang="en-US" b="1" dirty="0" err="1">
                <a:solidFill>
                  <a:srgbClr val="FFC000">
                    <a:alpha val="58000"/>
                  </a:srgbClr>
                </a:solidFill>
              </a:rPr>
              <a:t>for</a:t>
            </a:r>
            <a:r>
              <a:rPr lang="nl-NL" altLang="en-US" dirty="0"/>
              <a:t> 2 </a:t>
            </a:r>
            <a:r>
              <a:rPr lang="nl-NL" altLang="en-US" dirty="0" err="1"/>
              <a:t>months</a:t>
            </a:r>
            <a:r>
              <a:rPr lang="nl-NL" altLang="en-US" dirty="0"/>
              <a:t>.</a:t>
            </a:r>
          </a:p>
          <a:p>
            <a:pPr eaLnBrk="1" hangingPunct="1">
              <a:lnSpc>
                <a:spcPct val="110000"/>
              </a:lnSpc>
            </a:pPr>
            <a:r>
              <a:rPr lang="nl-NL" altLang="en-US" b="1" dirty="0">
                <a:solidFill>
                  <a:srgbClr val="FFC000">
                    <a:alpha val="58000"/>
                  </a:srgbClr>
                </a:solidFill>
              </a:rPr>
              <a:t>During</a:t>
            </a:r>
            <a:r>
              <a:rPr lang="nl-NL" altLang="en-US" dirty="0">
                <a:solidFill>
                  <a:srgbClr val="FFC000">
                    <a:alpha val="58000"/>
                  </a:srgbClr>
                </a:solidFill>
              </a:rPr>
              <a:t> </a:t>
            </a:r>
            <a:r>
              <a:rPr lang="nl-NL" altLang="en-US" dirty="0"/>
              <a:t>= </a:t>
            </a:r>
            <a:r>
              <a:rPr lang="nl-NL" altLang="en-US" dirty="0" err="1"/>
              <a:t>when</a:t>
            </a:r>
            <a:endParaRPr lang="nl-NL" altLang="en-US" dirty="0"/>
          </a:p>
          <a:p>
            <a:pPr lvl="1" eaLnBrk="1" hangingPunct="1">
              <a:lnSpc>
                <a:spcPct val="110000"/>
              </a:lnSpc>
            </a:pPr>
            <a:r>
              <a:rPr lang="nl-NL" altLang="en-US" dirty="0"/>
              <a:t>We met </a:t>
            </a:r>
            <a:r>
              <a:rPr lang="nl-NL" altLang="en-US" dirty="0" err="1"/>
              <a:t>some</a:t>
            </a:r>
            <a:r>
              <a:rPr lang="nl-NL" altLang="en-US" dirty="0"/>
              <a:t> </a:t>
            </a:r>
            <a:r>
              <a:rPr lang="nl-NL" altLang="en-US" dirty="0" err="1"/>
              <a:t>nice</a:t>
            </a:r>
            <a:r>
              <a:rPr lang="nl-NL" altLang="en-US" dirty="0"/>
              <a:t> </a:t>
            </a:r>
            <a:r>
              <a:rPr lang="nl-NL" altLang="en-US" dirty="0" err="1"/>
              <a:t>people</a:t>
            </a:r>
            <a:r>
              <a:rPr lang="nl-NL" altLang="en-US" dirty="0"/>
              <a:t> </a:t>
            </a:r>
            <a:r>
              <a:rPr lang="nl-NL" altLang="en-US" b="1" dirty="0" err="1">
                <a:solidFill>
                  <a:srgbClr val="FFC000">
                    <a:alpha val="58000"/>
                  </a:srgbClr>
                </a:solidFill>
              </a:rPr>
              <a:t>during</a:t>
            </a:r>
            <a:r>
              <a:rPr lang="nl-NL" altLang="en-US" dirty="0"/>
              <a:t> </a:t>
            </a:r>
            <a:r>
              <a:rPr lang="nl-NL" altLang="en-US" dirty="0" err="1"/>
              <a:t>our</a:t>
            </a:r>
            <a:r>
              <a:rPr lang="nl-NL" altLang="en-US" dirty="0"/>
              <a:t> </a:t>
            </a:r>
            <a:r>
              <a:rPr lang="nl-NL" altLang="en-US" dirty="0" err="1"/>
              <a:t>holiday</a:t>
            </a:r>
            <a:r>
              <a:rPr lang="nl-NL" altLang="en-US" dirty="0"/>
              <a:t>.</a:t>
            </a:r>
          </a:p>
          <a:p>
            <a:pPr marL="457200" lvl="1" indent="0" eaLnBrk="1" hangingPunct="1">
              <a:lnSpc>
                <a:spcPct val="110000"/>
              </a:lnSpc>
              <a:buNone/>
            </a:pPr>
            <a:endParaRPr lang="nl-NL" altLang="en-US" dirty="0"/>
          </a:p>
          <a:p>
            <a:pPr eaLnBrk="1" hangingPunct="1">
              <a:lnSpc>
                <a:spcPct val="110000"/>
              </a:lnSpc>
            </a:pPr>
            <a:r>
              <a:rPr lang="nl-NL" altLang="en-US" dirty="0" err="1"/>
              <a:t>Compare</a:t>
            </a:r>
            <a:r>
              <a:rPr lang="nl-NL" altLang="en-US" dirty="0"/>
              <a:t>:</a:t>
            </a:r>
          </a:p>
          <a:p>
            <a:pPr lvl="1" eaLnBrk="1" hangingPunct="1">
              <a:lnSpc>
                <a:spcPct val="110000"/>
              </a:lnSpc>
            </a:pPr>
            <a:r>
              <a:rPr lang="nl-NL" altLang="en-US" dirty="0"/>
              <a:t>I </a:t>
            </a:r>
            <a:r>
              <a:rPr lang="nl-NL" altLang="en-US" dirty="0" err="1"/>
              <a:t>fell</a:t>
            </a:r>
            <a:r>
              <a:rPr lang="nl-NL" altLang="en-US" dirty="0"/>
              <a:t> </a:t>
            </a:r>
            <a:r>
              <a:rPr lang="nl-NL" altLang="en-US" dirty="0" err="1"/>
              <a:t>asleep</a:t>
            </a:r>
            <a:r>
              <a:rPr lang="nl-NL" altLang="en-US" dirty="0"/>
              <a:t> </a:t>
            </a:r>
            <a:r>
              <a:rPr lang="nl-NL" altLang="en-US" b="1" dirty="0" err="1"/>
              <a:t>during</a:t>
            </a:r>
            <a:r>
              <a:rPr lang="nl-NL" altLang="en-US" dirty="0"/>
              <a:t> </a:t>
            </a:r>
            <a:r>
              <a:rPr lang="nl-NL" altLang="en-US" dirty="0" err="1"/>
              <a:t>the</a:t>
            </a:r>
            <a:r>
              <a:rPr lang="nl-NL" altLang="en-US" dirty="0"/>
              <a:t> movie. I </a:t>
            </a:r>
            <a:r>
              <a:rPr lang="nl-NL" altLang="en-US" dirty="0" err="1"/>
              <a:t>slept</a:t>
            </a:r>
            <a:r>
              <a:rPr lang="nl-NL" altLang="en-US" dirty="0"/>
              <a:t> </a:t>
            </a:r>
            <a:r>
              <a:rPr lang="nl-NL" altLang="en-US" b="1" dirty="0" err="1"/>
              <a:t>for</a:t>
            </a:r>
            <a:r>
              <a:rPr lang="nl-NL" altLang="en-US" dirty="0"/>
              <a:t> half </a:t>
            </a:r>
            <a:r>
              <a:rPr lang="nl-NL" altLang="en-US" dirty="0" err="1"/>
              <a:t>an</a:t>
            </a:r>
            <a:r>
              <a:rPr lang="nl-NL" altLang="en-US" dirty="0"/>
              <a:t> </a:t>
            </a:r>
            <a:r>
              <a:rPr lang="nl-NL" altLang="en-US" dirty="0" err="1"/>
              <a:t>hour</a:t>
            </a:r>
            <a:r>
              <a:rPr lang="nl-NL" altLang="en-US" dirty="0"/>
              <a:t>.</a:t>
            </a:r>
          </a:p>
          <a:p>
            <a:pPr marL="457200" lvl="1" indent="0" eaLnBrk="1" hangingPunct="1">
              <a:lnSpc>
                <a:spcPct val="110000"/>
              </a:lnSpc>
              <a:buNone/>
            </a:pPr>
            <a:endParaRPr lang="nl-NL" altLang="en-US" dirty="0"/>
          </a:p>
          <a:p>
            <a:pPr marL="457200" lvl="1" indent="0" eaLnBrk="1" hangingPunct="1">
              <a:lnSpc>
                <a:spcPct val="110000"/>
              </a:lnSpc>
              <a:buNone/>
            </a:pPr>
            <a:endParaRPr lang="nl-NL" altLang="en-US" dirty="0"/>
          </a:p>
          <a:p>
            <a:pPr eaLnBrk="1" hangingPunct="1">
              <a:lnSpc>
                <a:spcPct val="110000"/>
              </a:lnSpc>
            </a:pPr>
            <a:r>
              <a:rPr lang="nl-NL" altLang="en-US" dirty="0" err="1"/>
              <a:t>Note</a:t>
            </a:r>
            <a:r>
              <a:rPr lang="nl-NL" altLang="en-US" dirty="0"/>
              <a:t>: </a:t>
            </a:r>
            <a:r>
              <a:rPr lang="nl-NL" altLang="en-US" b="1" dirty="0" err="1"/>
              <a:t>while</a:t>
            </a:r>
            <a:r>
              <a:rPr lang="nl-NL" altLang="en-US" dirty="0"/>
              <a:t> is </a:t>
            </a:r>
            <a:r>
              <a:rPr lang="nl-NL" altLang="en-US" u="sng" dirty="0" err="1"/>
              <a:t>not</a:t>
            </a:r>
            <a:r>
              <a:rPr lang="nl-NL" altLang="en-US" dirty="0"/>
              <a:t> a </a:t>
            </a:r>
            <a:r>
              <a:rPr lang="nl-NL" altLang="en-US" dirty="0" err="1"/>
              <a:t>preposition</a:t>
            </a:r>
            <a:r>
              <a:rPr lang="nl-NL" altLang="en-US" dirty="0"/>
              <a:t>, but a </a:t>
            </a:r>
            <a:r>
              <a:rPr lang="nl-NL" altLang="en-US" dirty="0" err="1"/>
              <a:t>linking</a:t>
            </a:r>
            <a:r>
              <a:rPr lang="nl-NL" altLang="en-US" dirty="0"/>
              <a:t> word, </a:t>
            </a:r>
            <a:r>
              <a:rPr lang="nl-NL" altLang="en-US" dirty="0" err="1"/>
              <a:t>so</a:t>
            </a:r>
            <a:r>
              <a:rPr lang="nl-NL" altLang="en-US" dirty="0"/>
              <a:t> </a:t>
            </a:r>
            <a:r>
              <a:rPr lang="nl-NL" altLang="en-US" dirty="0" err="1"/>
              <a:t>it’s</a:t>
            </a:r>
            <a:r>
              <a:rPr lang="nl-NL" altLang="en-US" dirty="0"/>
              <a:t> </a:t>
            </a:r>
            <a:r>
              <a:rPr lang="nl-NL" altLang="en-US" dirty="0" err="1"/>
              <a:t>followed</a:t>
            </a:r>
            <a:r>
              <a:rPr lang="nl-NL" altLang="en-US" dirty="0"/>
              <a:t> </a:t>
            </a:r>
            <a:r>
              <a:rPr lang="nl-NL" altLang="en-US" dirty="0" err="1"/>
              <a:t>by</a:t>
            </a:r>
            <a:r>
              <a:rPr lang="nl-NL" altLang="en-US" dirty="0"/>
              <a:t> a clause/</a:t>
            </a:r>
            <a:r>
              <a:rPr lang="nl-NL" altLang="en-US" dirty="0" err="1"/>
              <a:t>sentence</a:t>
            </a:r>
            <a:r>
              <a:rPr lang="nl-NL" altLang="en-US" dirty="0"/>
              <a:t> (</a:t>
            </a:r>
            <a:r>
              <a:rPr lang="nl-NL" altLang="en-US" dirty="0" err="1"/>
              <a:t>with</a:t>
            </a:r>
            <a:r>
              <a:rPr lang="nl-NL" altLang="en-US" dirty="0"/>
              <a:t> subject </a:t>
            </a:r>
            <a:r>
              <a:rPr lang="nl-NL" altLang="en-US" dirty="0" err="1"/>
              <a:t>and</a:t>
            </a:r>
            <a:r>
              <a:rPr lang="nl-NL" altLang="en-US" dirty="0"/>
              <a:t> </a:t>
            </a:r>
            <a:r>
              <a:rPr lang="nl-NL" altLang="en-US" dirty="0" err="1"/>
              <a:t>verb</a:t>
            </a:r>
            <a:r>
              <a:rPr lang="nl-NL" altLang="en-US" dirty="0"/>
              <a:t>)</a:t>
            </a:r>
          </a:p>
          <a:p>
            <a:pPr lvl="1" eaLnBrk="1" hangingPunct="1">
              <a:lnSpc>
                <a:spcPct val="110000"/>
              </a:lnSpc>
            </a:pPr>
            <a:r>
              <a:rPr lang="nl-NL" altLang="en-US" dirty="0"/>
              <a:t>We met </a:t>
            </a:r>
            <a:r>
              <a:rPr lang="nl-NL" altLang="en-US" dirty="0" err="1"/>
              <a:t>some</a:t>
            </a:r>
            <a:r>
              <a:rPr lang="nl-NL" altLang="en-US" dirty="0"/>
              <a:t> </a:t>
            </a:r>
            <a:r>
              <a:rPr lang="nl-NL" altLang="en-US" dirty="0" err="1"/>
              <a:t>nice</a:t>
            </a:r>
            <a:r>
              <a:rPr lang="nl-NL" altLang="en-US" dirty="0"/>
              <a:t> </a:t>
            </a:r>
            <a:r>
              <a:rPr lang="nl-NL" altLang="en-US" dirty="0" err="1"/>
              <a:t>people</a:t>
            </a:r>
            <a:r>
              <a:rPr lang="nl-NL" altLang="en-US" dirty="0"/>
              <a:t> </a:t>
            </a:r>
            <a:r>
              <a:rPr lang="nl-NL" altLang="en-US" b="1" dirty="0" err="1"/>
              <a:t>while</a:t>
            </a:r>
            <a:r>
              <a:rPr lang="nl-NL" altLang="en-US" b="1" dirty="0"/>
              <a:t> </a:t>
            </a:r>
            <a:r>
              <a:rPr lang="nl-NL" altLang="en-US" dirty="0"/>
              <a:t>we </a:t>
            </a:r>
            <a:r>
              <a:rPr lang="nl-NL" altLang="en-US" dirty="0" err="1"/>
              <a:t>were</a:t>
            </a:r>
            <a:r>
              <a:rPr lang="nl-NL" altLang="en-US" dirty="0"/>
              <a:t> on </a:t>
            </a:r>
            <a:r>
              <a:rPr lang="nl-NL" altLang="en-US" dirty="0" err="1"/>
              <a:t>holiday</a:t>
            </a:r>
            <a:r>
              <a:rPr lang="nl-NL" altLang="en-US" dirty="0"/>
              <a:t>.</a:t>
            </a:r>
          </a:p>
          <a:p>
            <a:pPr eaLnBrk="1" hangingPunct="1">
              <a:lnSpc>
                <a:spcPct val="110000"/>
              </a:lnSpc>
            </a:pPr>
            <a:endParaRPr lang="nl-NL" altLang="en-US" sz="1700" dirty="0"/>
          </a:p>
        </p:txBody>
      </p:sp>
    </p:spTree>
    <p:extLst>
      <p:ext uri="{BB962C8B-B14F-4D97-AF65-F5344CB8AC3E}">
        <p14:creationId xmlns:p14="http://schemas.microsoft.com/office/powerpoint/2010/main" val="211454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548" name="Rectangle 65543">
            <a:extLst>
              <a:ext uri="{FF2B5EF4-FFF2-40B4-BE49-F238E27FC236}">
                <a16:creationId xmlns:a16="http://schemas.microsoft.com/office/drawing/2014/main" id="{5ED9E2D9-EE69-4775-8CE5-9EAC35AD2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549" name="Rectangle 65545">
            <a:extLst>
              <a:ext uri="{FF2B5EF4-FFF2-40B4-BE49-F238E27FC236}">
                <a16:creationId xmlns:a16="http://schemas.microsoft.com/office/drawing/2014/main" id="{3D75B673-1FA7-415E-8B2E-7A0550C8B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6480000" y="223654"/>
            <a:ext cx="4991961" cy="1477328"/>
          </a:xfrm>
        </p:spPr>
        <p:txBody>
          <a:bodyPr wrap="square" anchor="ctr">
            <a:normAutofit/>
          </a:bodyPr>
          <a:lstStyle/>
          <a:p>
            <a:pPr eaLnBrk="1" hangingPunct="1"/>
            <a:r>
              <a:rPr lang="nl-NL" altLang="en-US" sz="3600" dirty="0" err="1"/>
              <a:t>Confusing</a:t>
            </a:r>
            <a:r>
              <a:rPr lang="nl-NL" altLang="en-US" sz="3600" dirty="0"/>
              <a:t> cases - III</a:t>
            </a:r>
          </a:p>
        </p:txBody>
      </p:sp>
      <p:pic>
        <p:nvPicPr>
          <p:cNvPr id="3" name="Picture 2" descr="Red dot with arrows pointing to it">
            <a:extLst>
              <a:ext uri="{FF2B5EF4-FFF2-40B4-BE49-F238E27FC236}">
                <a16:creationId xmlns:a16="http://schemas.microsoft.com/office/drawing/2014/main" id="{05296C3B-6E9D-4D7D-B928-ECA0E4BB74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0" r="12838" b="-1"/>
          <a:stretch/>
        </p:blipFill>
        <p:spPr>
          <a:xfrm>
            <a:off x="20" y="10"/>
            <a:ext cx="5903704" cy="6857990"/>
          </a:xfrm>
          <a:custGeom>
            <a:avLst/>
            <a:gdLst/>
            <a:ahLst/>
            <a:cxnLst/>
            <a:rect l="l" t="t" r="r" b="b"/>
            <a:pathLst>
              <a:path w="5903724" h="6858000">
                <a:moveTo>
                  <a:pt x="0" y="0"/>
                </a:moveTo>
                <a:lnTo>
                  <a:pt x="5886178" y="0"/>
                </a:lnTo>
                <a:lnTo>
                  <a:pt x="5890522" y="42009"/>
                </a:lnTo>
                <a:cubicBezTo>
                  <a:pt x="5948302" y="788432"/>
                  <a:pt x="5795211" y="5194623"/>
                  <a:pt x="5836720" y="6279216"/>
                </a:cubicBezTo>
                <a:cubicBezTo>
                  <a:pt x="5842686" y="6384211"/>
                  <a:pt x="5845802" y="6526851"/>
                  <a:pt x="5846540" y="6699667"/>
                </a:cubicBezTo>
                <a:lnTo>
                  <a:pt x="584650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6480000" y="1700982"/>
            <a:ext cx="4991962" cy="4056892"/>
          </a:xfrm>
        </p:spPr>
        <p:txBody>
          <a:bodyPr>
            <a:normAutofit fontScale="77500" lnSpcReduction="20000"/>
          </a:bodyPr>
          <a:lstStyle/>
          <a:p>
            <a:pPr marL="0" indent="0" eaLnBrk="1" hangingPunct="1">
              <a:buNone/>
            </a:pPr>
            <a:r>
              <a:rPr lang="nl-NL" altLang="en-US" sz="2400" b="1" dirty="0">
                <a:solidFill>
                  <a:srgbClr val="FFC000"/>
                </a:solidFill>
              </a:rPr>
              <a:t>Write</a:t>
            </a:r>
            <a:r>
              <a:rPr lang="nl-NL" altLang="en-US" sz="2400" dirty="0">
                <a:solidFill>
                  <a:srgbClr val="FFC000"/>
                </a:solidFill>
              </a:rPr>
              <a:t> a </a:t>
            </a:r>
            <a:r>
              <a:rPr lang="nl-NL" altLang="en-US" sz="2400" dirty="0" err="1">
                <a:solidFill>
                  <a:srgbClr val="FFC000"/>
                </a:solidFill>
              </a:rPr>
              <a:t>sentence</a:t>
            </a:r>
            <a:r>
              <a:rPr lang="nl-NL" altLang="en-US" sz="2400" dirty="0">
                <a:solidFill>
                  <a:srgbClr val="FFC000"/>
                </a:solidFill>
              </a:rPr>
              <a:t> (in pairs or </a:t>
            </a:r>
            <a:r>
              <a:rPr lang="nl-NL" altLang="en-US" sz="2400" dirty="0" err="1">
                <a:solidFill>
                  <a:srgbClr val="FFC000"/>
                </a:solidFill>
              </a:rPr>
              <a:t>threes</a:t>
            </a:r>
            <a:r>
              <a:rPr lang="nl-NL" altLang="en-US" sz="2400" dirty="0">
                <a:solidFill>
                  <a:srgbClr val="FFC000"/>
                </a:solidFill>
              </a:rPr>
              <a:t>) with </a:t>
            </a:r>
            <a:r>
              <a:rPr lang="nl-NL" altLang="en-US" sz="2400" dirty="0" err="1">
                <a:solidFill>
                  <a:srgbClr val="FFC000"/>
                </a:solidFill>
              </a:rPr>
              <a:t>both</a:t>
            </a:r>
            <a:r>
              <a:rPr lang="nl-NL" altLang="en-US" sz="2400" dirty="0">
                <a:solidFill>
                  <a:srgbClr val="FFC000"/>
                </a:solidFill>
              </a:rPr>
              <a:t> </a:t>
            </a:r>
            <a:r>
              <a:rPr lang="nl-NL" altLang="en-US" sz="2400" dirty="0" err="1">
                <a:solidFill>
                  <a:srgbClr val="FFC000"/>
                </a:solidFill>
              </a:rPr>
              <a:t>and</a:t>
            </a:r>
            <a:r>
              <a:rPr lang="nl-NL" altLang="en-US" sz="2400" dirty="0">
                <a:solidFill>
                  <a:srgbClr val="FFC000"/>
                </a:solidFill>
              </a:rPr>
              <a:t> </a:t>
            </a:r>
            <a:r>
              <a:rPr lang="nl-NL" altLang="en-US" sz="2400" dirty="0" err="1">
                <a:solidFill>
                  <a:srgbClr val="FFC000"/>
                </a:solidFill>
              </a:rPr>
              <a:t>explain</a:t>
            </a:r>
            <a:r>
              <a:rPr lang="nl-NL" altLang="en-US" sz="2400" dirty="0">
                <a:solidFill>
                  <a:srgbClr val="FFC000"/>
                </a:solidFill>
              </a:rPr>
              <a:t> </a:t>
            </a:r>
            <a:r>
              <a:rPr lang="nl-NL" altLang="en-US" sz="2400" dirty="0" err="1">
                <a:solidFill>
                  <a:srgbClr val="FFC000"/>
                </a:solidFill>
              </a:rPr>
              <a:t>the</a:t>
            </a:r>
            <a:r>
              <a:rPr lang="nl-NL" altLang="en-US" sz="2400" dirty="0">
                <a:solidFill>
                  <a:srgbClr val="FFC000"/>
                </a:solidFill>
              </a:rPr>
              <a:t> </a:t>
            </a:r>
            <a:r>
              <a:rPr lang="nl-NL" altLang="en-US" sz="2400" dirty="0" err="1">
                <a:solidFill>
                  <a:srgbClr val="FFC000"/>
                </a:solidFill>
              </a:rPr>
              <a:t>difference</a:t>
            </a:r>
            <a:r>
              <a:rPr lang="nl-NL" altLang="en-US" sz="2400" dirty="0">
                <a:solidFill>
                  <a:srgbClr val="FFC000"/>
                </a:solidFill>
              </a:rPr>
              <a:t> </a:t>
            </a:r>
            <a:r>
              <a:rPr lang="nl-NL" altLang="en-US" sz="2400" dirty="0" err="1">
                <a:solidFill>
                  <a:srgbClr val="FFC000"/>
                </a:solidFill>
              </a:rPr>
              <a:t>between</a:t>
            </a:r>
            <a:r>
              <a:rPr lang="nl-NL" altLang="en-US" sz="2400" dirty="0">
                <a:solidFill>
                  <a:srgbClr val="FFC000"/>
                </a:solidFill>
              </a:rPr>
              <a:t> </a:t>
            </a:r>
            <a:r>
              <a:rPr lang="nl-NL" altLang="en-US" sz="2400" dirty="0" err="1">
                <a:solidFill>
                  <a:srgbClr val="FFC000"/>
                </a:solidFill>
              </a:rPr>
              <a:t>them</a:t>
            </a:r>
            <a:r>
              <a:rPr lang="nl-NL" altLang="en-US" sz="2400" dirty="0">
                <a:solidFill>
                  <a:srgbClr val="FFC000"/>
                </a:solidFill>
              </a:rPr>
              <a:t>.</a:t>
            </a:r>
          </a:p>
          <a:p>
            <a:pPr eaLnBrk="1" hangingPunct="1"/>
            <a:r>
              <a:rPr lang="nl-NL" altLang="en-US" sz="2400" dirty="0">
                <a:solidFill>
                  <a:srgbClr val="FFC000"/>
                </a:solidFill>
              </a:rPr>
              <a:t>In</a:t>
            </a:r>
            <a:r>
              <a:rPr lang="nl-NL" altLang="en-US" sz="2400" dirty="0"/>
              <a:t> or </a:t>
            </a:r>
            <a:r>
              <a:rPr lang="nl-NL" altLang="en-US" sz="2400" dirty="0" err="1">
                <a:solidFill>
                  <a:srgbClr val="FFC000"/>
                </a:solidFill>
              </a:rPr>
              <a:t>into</a:t>
            </a:r>
            <a:r>
              <a:rPr lang="nl-NL" altLang="en-US" sz="2400" dirty="0"/>
              <a:t>?</a:t>
            </a:r>
          </a:p>
          <a:p>
            <a:pPr eaLnBrk="1" hangingPunct="1"/>
            <a:r>
              <a:rPr lang="nl-NL" altLang="en-US" sz="2400" b="1" dirty="0">
                <a:solidFill>
                  <a:srgbClr val="FFC000"/>
                </a:solidFill>
              </a:rPr>
              <a:t>In</a:t>
            </a:r>
            <a:r>
              <a:rPr lang="nl-NL" altLang="en-US" sz="2400" dirty="0">
                <a:solidFill>
                  <a:srgbClr val="FFC000"/>
                </a:solidFill>
              </a:rPr>
              <a:t> </a:t>
            </a:r>
            <a:r>
              <a:rPr lang="nl-NL" altLang="en-US" sz="2400" dirty="0"/>
              <a:t>= </a:t>
            </a:r>
            <a:r>
              <a:rPr lang="nl-NL" altLang="en-US" sz="2400" dirty="0" err="1"/>
              <a:t>position</a:t>
            </a:r>
            <a:endParaRPr lang="nl-NL" altLang="en-US" sz="2400" dirty="0"/>
          </a:p>
          <a:p>
            <a:pPr lvl="1" eaLnBrk="1" hangingPunct="1"/>
            <a:r>
              <a:rPr lang="nl-NL" altLang="en-US" sz="2400" dirty="0" err="1"/>
              <a:t>I’m</a:t>
            </a:r>
            <a:r>
              <a:rPr lang="nl-NL" altLang="en-US" sz="2400" dirty="0"/>
              <a:t> </a:t>
            </a:r>
            <a:r>
              <a:rPr lang="nl-NL" altLang="en-US" sz="2400" b="1" dirty="0">
                <a:solidFill>
                  <a:srgbClr val="FFC000">
                    <a:alpha val="58000"/>
                  </a:srgbClr>
                </a:solidFill>
              </a:rPr>
              <a:t>in</a:t>
            </a:r>
            <a:r>
              <a:rPr lang="nl-NL" altLang="en-US" sz="2400" dirty="0">
                <a:solidFill>
                  <a:srgbClr val="FFC000">
                    <a:alpha val="58000"/>
                  </a:srgbClr>
                </a:solidFill>
              </a:rPr>
              <a:t> </a:t>
            </a:r>
            <a:r>
              <a:rPr lang="nl-NL" altLang="en-US" sz="2400" dirty="0" err="1"/>
              <a:t>the</a:t>
            </a:r>
            <a:r>
              <a:rPr lang="nl-NL" altLang="en-US" sz="2400" dirty="0"/>
              <a:t> bathroom.</a:t>
            </a:r>
          </a:p>
          <a:p>
            <a:pPr eaLnBrk="1" hangingPunct="1"/>
            <a:r>
              <a:rPr lang="nl-NL" altLang="en-US" sz="2400" b="1" dirty="0" err="1">
                <a:solidFill>
                  <a:srgbClr val="FFC000">
                    <a:alpha val="58000"/>
                  </a:srgbClr>
                </a:solidFill>
              </a:rPr>
              <a:t>I</a:t>
            </a:r>
            <a:r>
              <a:rPr lang="nl-NL" altLang="en-US" sz="2400" b="1" dirty="0" err="1">
                <a:solidFill>
                  <a:srgbClr val="FFC000"/>
                </a:solidFill>
              </a:rPr>
              <a:t>nto</a:t>
            </a:r>
            <a:r>
              <a:rPr lang="nl-NL" altLang="en-US" sz="2400" dirty="0"/>
              <a:t> = </a:t>
            </a:r>
            <a:r>
              <a:rPr lang="nl-NL" altLang="en-US" sz="2400" dirty="0" err="1"/>
              <a:t>movement</a:t>
            </a:r>
            <a:endParaRPr lang="nl-NL" altLang="en-US" sz="2400" dirty="0"/>
          </a:p>
          <a:p>
            <a:pPr lvl="1" eaLnBrk="1" hangingPunct="1"/>
            <a:r>
              <a:rPr lang="nl-NL" altLang="en-US" sz="2400" dirty="0"/>
              <a:t>He </a:t>
            </a:r>
            <a:r>
              <a:rPr lang="nl-NL" altLang="en-US" sz="2400" dirty="0" err="1"/>
              <a:t>walked</a:t>
            </a:r>
            <a:r>
              <a:rPr lang="nl-NL" altLang="en-US" sz="2400" dirty="0">
                <a:solidFill>
                  <a:srgbClr val="FFC000"/>
                </a:solidFill>
              </a:rPr>
              <a:t> </a:t>
            </a:r>
            <a:r>
              <a:rPr lang="nl-NL" altLang="en-US" sz="2400" b="1" dirty="0" err="1">
                <a:solidFill>
                  <a:srgbClr val="FFC000"/>
                </a:solidFill>
              </a:rPr>
              <a:t>into</a:t>
            </a:r>
            <a:r>
              <a:rPr lang="nl-NL" altLang="en-US" sz="2400" dirty="0">
                <a:solidFill>
                  <a:srgbClr val="FFC000"/>
                </a:solidFill>
              </a:rPr>
              <a:t> </a:t>
            </a:r>
            <a:r>
              <a:rPr lang="nl-NL" altLang="en-US" sz="2400" dirty="0" err="1"/>
              <a:t>the</a:t>
            </a:r>
            <a:r>
              <a:rPr lang="nl-NL" altLang="en-US" sz="2400" dirty="0"/>
              <a:t> bathroom.</a:t>
            </a:r>
          </a:p>
          <a:p>
            <a:pPr marL="457200" lvl="1" indent="0" eaLnBrk="1" hangingPunct="1">
              <a:buNone/>
            </a:pPr>
            <a:endParaRPr lang="nl-NL" altLang="en-US" sz="2400" dirty="0"/>
          </a:p>
          <a:p>
            <a:pPr eaLnBrk="1" hangingPunct="1"/>
            <a:r>
              <a:rPr lang="nl-NL" altLang="en-US" sz="2400" dirty="0"/>
              <a:t>The </a:t>
            </a:r>
            <a:r>
              <a:rPr lang="nl-NL" altLang="en-US" sz="2400" dirty="0" err="1"/>
              <a:t>opposite</a:t>
            </a:r>
            <a:r>
              <a:rPr lang="nl-NL" altLang="en-US" sz="2400" dirty="0"/>
              <a:t> of </a:t>
            </a:r>
            <a:r>
              <a:rPr lang="nl-NL" altLang="en-US" sz="2400" i="1" dirty="0" err="1"/>
              <a:t>into</a:t>
            </a:r>
            <a:r>
              <a:rPr lang="nl-NL" altLang="en-US" sz="2400" dirty="0"/>
              <a:t> is </a:t>
            </a:r>
            <a:r>
              <a:rPr lang="nl-NL" altLang="en-US" sz="2400" i="1" dirty="0">
                <a:solidFill>
                  <a:srgbClr val="FFC000">
                    <a:alpha val="58000"/>
                  </a:srgbClr>
                </a:solidFill>
              </a:rPr>
              <a:t>out of</a:t>
            </a:r>
          </a:p>
          <a:p>
            <a:pPr lvl="1" eaLnBrk="1" hangingPunct="1"/>
            <a:r>
              <a:rPr lang="nl-NL" altLang="en-US" sz="2400" dirty="0"/>
              <a:t>I </a:t>
            </a:r>
            <a:r>
              <a:rPr lang="nl-NL" altLang="en-US" sz="2400" dirty="0" err="1"/>
              <a:t>told</a:t>
            </a:r>
            <a:r>
              <a:rPr lang="nl-NL" altLang="en-US" sz="2400" dirty="0"/>
              <a:t> </a:t>
            </a:r>
            <a:r>
              <a:rPr lang="nl-NL" altLang="en-US" sz="2400" dirty="0" err="1"/>
              <a:t>him</a:t>
            </a:r>
            <a:r>
              <a:rPr lang="nl-NL" altLang="en-US" sz="2400" dirty="0"/>
              <a:t> </a:t>
            </a:r>
            <a:r>
              <a:rPr lang="nl-NL" altLang="en-US" sz="2400" dirty="0" err="1"/>
              <a:t>to</a:t>
            </a:r>
            <a:r>
              <a:rPr lang="nl-NL" altLang="en-US" sz="2400" dirty="0"/>
              <a:t> get </a:t>
            </a:r>
            <a:r>
              <a:rPr lang="nl-NL" altLang="en-US" sz="2400" b="1" dirty="0">
                <a:solidFill>
                  <a:srgbClr val="FFC000">
                    <a:alpha val="58000"/>
                  </a:srgbClr>
                </a:solidFill>
              </a:rPr>
              <a:t>out of </a:t>
            </a:r>
            <a:r>
              <a:rPr lang="nl-NL" altLang="en-US" sz="2400" dirty="0" err="1"/>
              <a:t>the</a:t>
            </a:r>
            <a:r>
              <a:rPr lang="nl-NL" altLang="en-US" sz="2400" dirty="0"/>
              <a:t> bathroom.</a:t>
            </a:r>
          </a:p>
        </p:txBody>
      </p:sp>
    </p:spTree>
    <p:extLst>
      <p:ext uri="{BB962C8B-B14F-4D97-AF65-F5344CB8AC3E}">
        <p14:creationId xmlns:p14="http://schemas.microsoft.com/office/powerpoint/2010/main" val="3834953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119" name="Rectangle 47118">
            <a:extLst>
              <a:ext uri="{FF2B5EF4-FFF2-40B4-BE49-F238E27FC236}">
                <a16:creationId xmlns:a16="http://schemas.microsoft.com/office/drawing/2014/main" id="{05D1035C-3BF0-4FE0-B3A3-1062F8600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106" name="Titel 1"/>
          <p:cNvSpPr>
            <a:spLocks noGrp="1"/>
          </p:cNvSpPr>
          <p:nvPr>
            <p:ph type="title"/>
          </p:nvPr>
        </p:nvSpPr>
        <p:spPr>
          <a:xfrm>
            <a:off x="719998" y="0"/>
            <a:ext cx="4991961" cy="1477328"/>
          </a:xfrm>
        </p:spPr>
        <p:txBody>
          <a:bodyPr wrap="square" anchor="ctr">
            <a:normAutofit/>
          </a:bodyPr>
          <a:lstStyle/>
          <a:p>
            <a:pPr eaLnBrk="1" hangingPunct="1"/>
            <a:r>
              <a:rPr lang="nl-NL" altLang="en-US" sz="3200" dirty="0" err="1"/>
              <a:t>Confusing</a:t>
            </a:r>
            <a:r>
              <a:rPr lang="nl-NL" altLang="en-US" sz="3200" dirty="0"/>
              <a:t> cases - IV</a:t>
            </a:r>
            <a:endParaRPr lang="en-US" altLang="en-US" sz="3200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719999" y="1356852"/>
            <a:ext cx="5662937" cy="440102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nl-NL" altLang="en-US" sz="2000" b="1" dirty="0">
                <a:solidFill>
                  <a:srgbClr val="FFC000"/>
                </a:solidFill>
              </a:rPr>
              <a:t>Write</a:t>
            </a:r>
            <a:r>
              <a:rPr lang="nl-NL" altLang="en-US" sz="2000" dirty="0">
                <a:solidFill>
                  <a:srgbClr val="FFC000"/>
                </a:solidFill>
              </a:rPr>
              <a:t> a </a:t>
            </a:r>
            <a:r>
              <a:rPr lang="nl-NL" altLang="en-US" sz="2000" dirty="0" err="1">
                <a:solidFill>
                  <a:srgbClr val="FFC000"/>
                </a:solidFill>
              </a:rPr>
              <a:t>sentence</a:t>
            </a:r>
            <a:r>
              <a:rPr lang="nl-NL" altLang="en-US" sz="2000" dirty="0">
                <a:solidFill>
                  <a:srgbClr val="FFC000"/>
                </a:solidFill>
              </a:rPr>
              <a:t> (in pairs or </a:t>
            </a:r>
            <a:r>
              <a:rPr lang="nl-NL" altLang="en-US" sz="2000" dirty="0" err="1">
                <a:solidFill>
                  <a:srgbClr val="FFC000"/>
                </a:solidFill>
              </a:rPr>
              <a:t>threes</a:t>
            </a:r>
            <a:r>
              <a:rPr lang="nl-NL" altLang="en-US" sz="2000" dirty="0">
                <a:solidFill>
                  <a:srgbClr val="FFC000"/>
                </a:solidFill>
              </a:rPr>
              <a:t>) with </a:t>
            </a:r>
            <a:r>
              <a:rPr lang="nl-NL" altLang="en-US" sz="2000" dirty="0" err="1">
                <a:solidFill>
                  <a:srgbClr val="FFC000"/>
                </a:solidFill>
              </a:rPr>
              <a:t>both</a:t>
            </a:r>
            <a:r>
              <a:rPr lang="nl-NL" altLang="en-US" sz="2000" dirty="0">
                <a:solidFill>
                  <a:srgbClr val="FFC000"/>
                </a:solidFill>
              </a:rPr>
              <a:t> </a:t>
            </a:r>
            <a:r>
              <a:rPr lang="nl-NL" altLang="en-US" sz="2000" dirty="0" err="1">
                <a:solidFill>
                  <a:srgbClr val="FFC000"/>
                </a:solidFill>
              </a:rPr>
              <a:t>and</a:t>
            </a:r>
            <a:r>
              <a:rPr lang="nl-NL" altLang="en-US" sz="2000" dirty="0">
                <a:solidFill>
                  <a:srgbClr val="FFC000"/>
                </a:solidFill>
              </a:rPr>
              <a:t> </a:t>
            </a:r>
            <a:r>
              <a:rPr lang="nl-NL" altLang="en-US" sz="2000" dirty="0" err="1">
                <a:solidFill>
                  <a:srgbClr val="FFC000"/>
                </a:solidFill>
              </a:rPr>
              <a:t>explain</a:t>
            </a:r>
            <a:r>
              <a:rPr lang="nl-NL" altLang="en-US" sz="2000" dirty="0">
                <a:solidFill>
                  <a:srgbClr val="FFC000"/>
                </a:solidFill>
              </a:rPr>
              <a:t> </a:t>
            </a:r>
            <a:r>
              <a:rPr lang="nl-NL" altLang="en-US" sz="2000" dirty="0" err="1">
                <a:solidFill>
                  <a:srgbClr val="FFC000"/>
                </a:solidFill>
              </a:rPr>
              <a:t>the</a:t>
            </a:r>
            <a:r>
              <a:rPr lang="nl-NL" altLang="en-US" sz="2000" dirty="0">
                <a:solidFill>
                  <a:srgbClr val="FFC000"/>
                </a:solidFill>
              </a:rPr>
              <a:t> </a:t>
            </a:r>
            <a:r>
              <a:rPr lang="nl-NL" altLang="en-US" sz="2000" dirty="0" err="1">
                <a:solidFill>
                  <a:srgbClr val="FFC000"/>
                </a:solidFill>
              </a:rPr>
              <a:t>difference</a:t>
            </a:r>
            <a:r>
              <a:rPr lang="nl-NL" altLang="en-US" sz="2000" dirty="0">
                <a:solidFill>
                  <a:srgbClr val="FFC000"/>
                </a:solidFill>
              </a:rPr>
              <a:t> </a:t>
            </a:r>
            <a:r>
              <a:rPr lang="nl-NL" altLang="en-US" sz="2000" dirty="0" err="1">
                <a:solidFill>
                  <a:srgbClr val="FFC000"/>
                </a:solidFill>
              </a:rPr>
              <a:t>between</a:t>
            </a:r>
            <a:r>
              <a:rPr lang="nl-NL" altLang="en-US" sz="2000" dirty="0">
                <a:solidFill>
                  <a:srgbClr val="FFC000"/>
                </a:solidFill>
              </a:rPr>
              <a:t> </a:t>
            </a:r>
            <a:r>
              <a:rPr lang="nl-NL" altLang="en-US" sz="2000" dirty="0" err="1">
                <a:solidFill>
                  <a:srgbClr val="FFC000"/>
                </a:solidFill>
              </a:rPr>
              <a:t>them</a:t>
            </a:r>
            <a:r>
              <a:rPr lang="nl-NL" altLang="en-US" sz="2000" dirty="0">
                <a:solidFill>
                  <a:srgbClr val="FFC000"/>
                </a:solidFill>
              </a:rPr>
              <a:t>.</a:t>
            </a:r>
          </a:p>
          <a:p>
            <a:pPr eaLnBrk="1" hangingPunct="1">
              <a:lnSpc>
                <a:spcPct val="110000"/>
              </a:lnSpc>
            </a:pPr>
            <a:r>
              <a:rPr lang="nl-NL" altLang="en-US" sz="2100" dirty="0" err="1">
                <a:solidFill>
                  <a:srgbClr val="FFC000">
                    <a:alpha val="58000"/>
                  </a:srgbClr>
                </a:solidFill>
              </a:rPr>
              <a:t>To</a:t>
            </a:r>
            <a:r>
              <a:rPr lang="nl-NL" altLang="en-US" sz="2100" dirty="0">
                <a:solidFill>
                  <a:srgbClr val="FFC000">
                    <a:alpha val="58000"/>
                  </a:srgbClr>
                </a:solidFill>
              </a:rPr>
              <a:t> or </a:t>
            </a:r>
            <a:r>
              <a:rPr lang="nl-NL" altLang="en-US" sz="2100" dirty="0" err="1">
                <a:solidFill>
                  <a:srgbClr val="FFC000">
                    <a:alpha val="58000"/>
                  </a:srgbClr>
                </a:solidFill>
              </a:rPr>
              <a:t>till</a:t>
            </a:r>
            <a:r>
              <a:rPr lang="nl-NL" altLang="en-US" sz="2100" dirty="0">
                <a:solidFill>
                  <a:srgbClr val="FFC000">
                    <a:alpha val="58000"/>
                  </a:srgbClr>
                </a:solidFill>
              </a:rPr>
              <a:t>?</a:t>
            </a:r>
          </a:p>
          <a:p>
            <a:pPr eaLnBrk="1" hangingPunct="1">
              <a:lnSpc>
                <a:spcPct val="110000"/>
              </a:lnSpc>
            </a:pPr>
            <a:r>
              <a:rPr lang="nl-NL" altLang="en-US" sz="2100" b="1" dirty="0" err="1">
                <a:solidFill>
                  <a:srgbClr val="FFC000">
                    <a:alpha val="58000"/>
                  </a:srgbClr>
                </a:solidFill>
              </a:rPr>
              <a:t>To</a:t>
            </a:r>
            <a:r>
              <a:rPr lang="nl-NL" altLang="en-US" sz="2100" dirty="0"/>
              <a:t> = </a:t>
            </a:r>
            <a:r>
              <a:rPr lang="nl-NL" altLang="en-US" sz="2100" dirty="0" err="1"/>
              <a:t>movement</a:t>
            </a:r>
            <a:endParaRPr lang="nl-NL" altLang="en-US" sz="2100" dirty="0"/>
          </a:p>
          <a:p>
            <a:pPr lvl="1" eaLnBrk="1" hangingPunct="1">
              <a:lnSpc>
                <a:spcPct val="110000"/>
              </a:lnSpc>
            </a:pPr>
            <a:r>
              <a:rPr lang="nl-NL" altLang="en-US" sz="2100" dirty="0"/>
              <a:t>We </a:t>
            </a:r>
            <a:r>
              <a:rPr lang="nl-NL" altLang="en-US" sz="2100" dirty="0" err="1"/>
              <a:t>drove</a:t>
            </a:r>
            <a:r>
              <a:rPr lang="nl-NL" altLang="en-US" sz="2100" dirty="0"/>
              <a:t> </a:t>
            </a:r>
            <a:r>
              <a:rPr lang="nl-NL" altLang="en-US" sz="2100" b="1" dirty="0" err="1"/>
              <a:t>to</a:t>
            </a:r>
            <a:r>
              <a:rPr lang="nl-NL" altLang="en-US" sz="2100" dirty="0"/>
              <a:t> Paris, but </a:t>
            </a:r>
            <a:r>
              <a:rPr lang="nl-NL" altLang="en-US" sz="2100" dirty="0" err="1"/>
              <a:t>then</a:t>
            </a:r>
            <a:r>
              <a:rPr lang="nl-NL" altLang="en-US" sz="2100" dirty="0"/>
              <a:t> we had </a:t>
            </a:r>
            <a:r>
              <a:rPr lang="nl-NL" altLang="en-US" sz="2100" dirty="0" err="1">
                <a:solidFill>
                  <a:srgbClr val="FFC000">
                    <a:alpha val="58000"/>
                  </a:srgbClr>
                </a:solidFill>
              </a:rPr>
              <a:t>to</a:t>
            </a:r>
            <a:r>
              <a:rPr lang="nl-NL" altLang="en-US" sz="2100" dirty="0"/>
              <a:t> take a rest.</a:t>
            </a:r>
          </a:p>
          <a:p>
            <a:pPr eaLnBrk="1" hangingPunct="1">
              <a:lnSpc>
                <a:spcPct val="110000"/>
              </a:lnSpc>
            </a:pPr>
            <a:r>
              <a:rPr lang="nl-NL" altLang="en-US" sz="2100" b="1" dirty="0" err="1">
                <a:solidFill>
                  <a:srgbClr val="FFC000">
                    <a:alpha val="58000"/>
                  </a:srgbClr>
                </a:solidFill>
              </a:rPr>
              <a:t>Till</a:t>
            </a:r>
            <a:r>
              <a:rPr lang="nl-NL" altLang="en-US" sz="2100" dirty="0"/>
              <a:t> = time</a:t>
            </a:r>
          </a:p>
          <a:p>
            <a:pPr lvl="1" eaLnBrk="1" hangingPunct="1">
              <a:lnSpc>
                <a:spcPct val="110000"/>
              </a:lnSpc>
            </a:pPr>
            <a:r>
              <a:rPr lang="nl-NL" altLang="en-US" sz="2100" dirty="0"/>
              <a:t>My </a:t>
            </a:r>
            <a:r>
              <a:rPr lang="nl-NL" altLang="en-US" sz="2100" dirty="0" err="1"/>
              <a:t>wife</a:t>
            </a:r>
            <a:r>
              <a:rPr lang="nl-NL" altLang="en-US" sz="2100" dirty="0"/>
              <a:t> </a:t>
            </a:r>
            <a:r>
              <a:rPr lang="nl-NL" altLang="en-US" sz="2100" dirty="0" err="1"/>
              <a:t>dr</a:t>
            </a:r>
            <a:r>
              <a:rPr lang="nl-NL" altLang="en-US" sz="2100" dirty="0" err="1">
                <a:solidFill>
                  <a:schemeClr val="tx2">
                    <a:alpha val="58000"/>
                  </a:schemeClr>
                </a:solidFill>
              </a:rPr>
              <a:t>o</a:t>
            </a:r>
            <a:r>
              <a:rPr lang="nl-NL" altLang="en-US" sz="2100" dirty="0" err="1"/>
              <a:t>ve</a:t>
            </a:r>
            <a:r>
              <a:rPr lang="nl-NL" altLang="en-US" sz="2100" dirty="0"/>
              <a:t> </a:t>
            </a:r>
            <a:r>
              <a:rPr lang="nl-NL" altLang="en-US" sz="2100" b="1" dirty="0" err="1">
                <a:solidFill>
                  <a:srgbClr val="FFC000">
                    <a:alpha val="58000"/>
                  </a:srgbClr>
                </a:solidFill>
              </a:rPr>
              <a:t>till</a:t>
            </a:r>
            <a:r>
              <a:rPr lang="nl-NL" altLang="en-US" sz="2100" dirty="0">
                <a:solidFill>
                  <a:srgbClr val="FFC000">
                    <a:alpha val="58000"/>
                  </a:srgbClr>
                </a:solidFill>
              </a:rPr>
              <a:t> </a:t>
            </a:r>
            <a:r>
              <a:rPr lang="nl-NL" altLang="en-US" sz="2100" dirty="0"/>
              <a:t>7.00, </a:t>
            </a:r>
            <a:r>
              <a:rPr lang="nl-NL" altLang="en-US" sz="2100" dirty="0" err="1"/>
              <a:t>and</a:t>
            </a:r>
            <a:r>
              <a:rPr lang="nl-NL" altLang="en-US" sz="2100" dirty="0"/>
              <a:t> </a:t>
            </a:r>
            <a:r>
              <a:rPr lang="nl-NL" altLang="en-US" sz="2100" dirty="0" err="1"/>
              <a:t>then</a:t>
            </a:r>
            <a:r>
              <a:rPr lang="nl-NL" altLang="en-US" sz="2100" dirty="0"/>
              <a:t> I </a:t>
            </a:r>
            <a:r>
              <a:rPr lang="nl-NL" altLang="en-US" sz="2100" dirty="0" err="1"/>
              <a:t>took</a:t>
            </a:r>
            <a:r>
              <a:rPr lang="nl-NL" altLang="en-US" sz="2100" dirty="0"/>
              <a:t> over.</a:t>
            </a:r>
          </a:p>
          <a:p>
            <a:pPr eaLnBrk="1" hangingPunct="1">
              <a:lnSpc>
                <a:spcPct val="110000"/>
              </a:lnSpc>
            </a:pPr>
            <a:endParaRPr lang="nl-NL" altLang="en-US" sz="2100" dirty="0"/>
          </a:p>
          <a:p>
            <a:pPr eaLnBrk="1" hangingPunct="1">
              <a:lnSpc>
                <a:spcPct val="110000"/>
              </a:lnSpc>
            </a:pPr>
            <a:r>
              <a:rPr lang="nl-NL" altLang="en-US" sz="2100" dirty="0" err="1"/>
              <a:t>Note</a:t>
            </a:r>
            <a:r>
              <a:rPr lang="nl-NL" altLang="en-US" sz="2100" dirty="0"/>
              <a:t>: ‘</a:t>
            </a:r>
            <a:r>
              <a:rPr lang="nl-NL" altLang="en-US" sz="2100" dirty="0" err="1"/>
              <a:t>too</a:t>
            </a:r>
            <a:r>
              <a:rPr lang="nl-NL" altLang="en-US" sz="2100" dirty="0"/>
              <a:t>’ </a:t>
            </a:r>
            <a:r>
              <a:rPr lang="nl-NL" altLang="en-US" sz="2100" dirty="0" err="1"/>
              <a:t>with</a:t>
            </a:r>
            <a:r>
              <a:rPr lang="nl-NL" altLang="en-US" sz="2100" dirty="0"/>
              <a:t> </a:t>
            </a:r>
            <a:r>
              <a:rPr lang="nl-NL" altLang="en-US" sz="2100" dirty="0" err="1"/>
              <a:t>two</a:t>
            </a:r>
            <a:r>
              <a:rPr lang="nl-NL" altLang="en-US" sz="2100" dirty="0"/>
              <a:t> o’s is </a:t>
            </a:r>
            <a:r>
              <a:rPr lang="nl-NL" altLang="en-US" sz="2100" u="sng" dirty="0" err="1"/>
              <a:t>not</a:t>
            </a:r>
            <a:r>
              <a:rPr lang="nl-NL" altLang="en-US" sz="2100" u="sng" dirty="0"/>
              <a:t> a </a:t>
            </a:r>
            <a:r>
              <a:rPr lang="nl-NL" altLang="en-US" sz="2100" u="sng" dirty="0" err="1"/>
              <a:t>prepostion</a:t>
            </a:r>
            <a:r>
              <a:rPr lang="nl-NL" altLang="en-US" sz="2100" dirty="0"/>
              <a:t>, </a:t>
            </a:r>
            <a:r>
              <a:rPr lang="nl-NL" altLang="en-US" sz="2100" dirty="0" err="1"/>
              <a:t>and</a:t>
            </a:r>
            <a:r>
              <a:rPr lang="nl-NL" altLang="en-US" sz="2100" dirty="0"/>
              <a:t> </a:t>
            </a:r>
            <a:r>
              <a:rPr lang="nl-NL" altLang="en-US" sz="2100" dirty="0" err="1"/>
              <a:t>can</a:t>
            </a:r>
            <a:r>
              <a:rPr lang="nl-NL" altLang="en-US" sz="2100" dirty="0"/>
              <a:t> </a:t>
            </a:r>
            <a:r>
              <a:rPr lang="nl-NL" altLang="en-US" sz="2100" dirty="0" err="1"/>
              <a:t>mean</a:t>
            </a:r>
            <a:r>
              <a:rPr lang="nl-NL" altLang="en-US" sz="2100" dirty="0"/>
              <a:t>:</a:t>
            </a:r>
          </a:p>
          <a:p>
            <a:pPr lvl="1" eaLnBrk="1" hangingPunct="1">
              <a:lnSpc>
                <a:spcPct val="110000"/>
              </a:lnSpc>
            </a:pPr>
            <a:r>
              <a:rPr lang="nl-NL" altLang="en-US" sz="2100" dirty="0"/>
              <a:t>‘</a:t>
            </a:r>
            <a:r>
              <a:rPr lang="nl-NL" altLang="en-US" sz="2100" dirty="0" err="1"/>
              <a:t>also</a:t>
            </a:r>
            <a:r>
              <a:rPr lang="nl-NL" altLang="en-US" sz="2100" dirty="0"/>
              <a:t>’: I </a:t>
            </a:r>
            <a:r>
              <a:rPr lang="nl-NL" altLang="en-US" sz="2100" dirty="0" err="1"/>
              <a:t>saw</a:t>
            </a:r>
            <a:r>
              <a:rPr lang="nl-NL" altLang="en-US" sz="2100" dirty="0"/>
              <a:t> </a:t>
            </a:r>
            <a:r>
              <a:rPr lang="nl-NL" altLang="en-US" sz="2100" dirty="0" err="1"/>
              <a:t>him</a:t>
            </a:r>
            <a:r>
              <a:rPr lang="nl-NL" altLang="en-US" sz="2100" dirty="0"/>
              <a:t> </a:t>
            </a:r>
            <a:r>
              <a:rPr lang="nl-NL" altLang="en-US" sz="2100" b="1" dirty="0" err="1"/>
              <a:t>too</a:t>
            </a:r>
            <a:r>
              <a:rPr lang="nl-NL" altLang="en-US" sz="2100" dirty="0"/>
              <a:t>.</a:t>
            </a:r>
          </a:p>
          <a:p>
            <a:pPr lvl="1" eaLnBrk="1" hangingPunct="1">
              <a:lnSpc>
                <a:spcPct val="110000"/>
              </a:lnSpc>
            </a:pPr>
            <a:r>
              <a:rPr lang="nl-NL" altLang="en-US" sz="2100" dirty="0"/>
              <a:t>Dutch ‘te’: He drank </a:t>
            </a:r>
            <a:r>
              <a:rPr lang="nl-NL" altLang="en-US" sz="2100" b="1" dirty="0" err="1"/>
              <a:t>too</a:t>
            </a:r>
            <a:r>
              <a:rPr lang="nl-NL" altLang="en-US" sz="2100" dirty="0"/>
              <a:t> </a:t>
            </a:r>
            <a:r>
              <a:rPr lang="nl-NL" altLang="en-US" sz="2100" dirty="0" err="1"/>
              <a:t>much</a:t>
            </a:r>
            <a:r>
              <a:rPr lang="nl-NL" altLang="en-US" sz="2100" dirty="0"/>
              <a:t>.</a:t>
            </a:r>
          </a:p>
          <a:p>
            <a:pPr lvl="1" eaLnBrk="1" hangingPunct="1">
              <a:lnSpc>
                <a:spcPct val="110000"/>
              </a:lnSpc>
            </a:pPr>
            <a:endParaRPr lang="en-US" altLang="en-US" sz="1400" dirty="0"/>
          </a:p>
        </p:txBody>
      </p:sp>
      <p:pic>
        <p:nvPicPr>
          <p:cNvPr id="47108" name="Picture 47107" descr="A railroad extending through the desert">
            <a:extLst>
              <a:ext uri="{FF2B5EF4-FFF2-40B4-BE49-F238E27FC236}">
                <a16:creationId xmlns:a16="http://schemas.microsoft.com/office/drawing/2014/main" id="{9332F639-89C5-9657-F845-914F923642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17" r="2" b="2"/>
          <a:stretch/>
        </p:blipFill>
        <p:spPr>
          <a:xfrm>
            <a:off x="6529065" y="10"/>
            <a:ext cx="5662937" cy="6857990"/>
          </a:xfrm>
          <a:custGeom>
            <a:avLst/>
            <a:gdLst/>
            <a:ahLst/>
            <a:cxnLst/>
            <a:rect l="l" t="t" r="r" b="b"/>
            <a:pathLst>
              <a:path w="5662937" h="6858000">
                <a:moveTo>
                  <a:pt x="598332" y="0"/>
                </a:moveTo>
                <a:lnTo>
                  <a:pt x="5662937" y="0"/>
                </a:lnTo>
                <a:lnTo>
                  <a:pt x="5662937" y="6858000"/>
                </a:lnTo>
                <a:lnTo>
                  <a:pt x="0" y="6858000"/>
                </a:lnTo>
                <a:lnTo>
                  <a:pt x="78957" y="6777438"/>
                </a:lnTo>
                <a:cubicBezTo>
                  <a:pt x="291624" y="6544265"/>
                  <a:pt x="490445" y="6275955"/>
                  <a:pt x="672224" y="5969316"/>
                </a:cubicBezTo>
                <a:cubicBezTo>
                  <a:pt x="914596" y="5515036"/>
                  <a:pt x="1066079" y="5030470"/>
                  <a:pt x="1217562" y="4515619"/>
                </a:cubicBezTo>
                <a:cubicBezTo>
                  <a:pt x="1338748" y="3970483"/>
                  <a:pt x="1399341" y="3516203"/>
                  <a:pt x="1399341" y="3061922"/>
                </a:cubicBezTo>
                <a:cubicBezTo>
                  <a:pt x="1399341" y="1948936"/>
                  <a:pt x="1190579" y="1021447"/>
                  <a:pt x="773055" y="27945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29310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595" name="Rectangle 67592">
            <a:extLst>
              <a:ext uri="{FF2B5EF4-FFF2-40B4-BE49-F238E27FC236}">
                <a16:creationId xmlns:a16="http://schemas.microsoft.com/office/drawing/2014/main" id="{7F532A73-CC48-4B70-913D-D8D4400F8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742949" y="186580"/>
            <a:ext cx="3107463" cy="619665"/>
          </a:xfrm>
        </p:spPr>
        <p:txBody>
          <a:bodyPr>
            <a:normAutofit/>
          </a:bodyPr>
          <a:lstStyle/>
          <a:p>
            <a:pPr eaLnBrk="1" hangingPunct="1"/>
            <a:r>
              <a:rPr lang="nl-NL" altLang="en-US" dirty="0" err="1"/>
              <a:t>Confusing</a:t>
            </a:r>
            <a:r>
              <a:rPr lang="nl-NL" altLang="en-US" dirty="0"/>
              <a:t> cases - V</a:t>
            </a:r>
          </a:p>
        </p:txBody>
      </p:sp>
      <p:graphicFrame>
        <p:nvGraphicFramePr>
          <p:cNvPr id="67596" name="Rectangle 3">
            <a:extLst>
              <a:ext uri="{FF2B5EF4-FFF2-40B4-BE49-F238E27FC236}">
                <a16:creationId xmlns:a16="http://schemas.microsoft.com/office/drawing/2014/main" id="{BF7BFA40-1371-975F-8E64-FE02B6F399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8271789"/>
              </p:ext>
            </p:extLst>
          </p:nvPr>
        </p:nvGraphicFramePr>
        <p:xfrm>
          <a:off x="1615255" y="806245"/>
          <a:ext cx="8961490" cy="55751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47667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7596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624" name="Rectangle 68623">
            <a:extLst>
              <a:ext uri="{FF2B5EF4-FFF2-40B4-BE49-F238E27FC236}">
                <a16:creationId xmlns:a16="http://schemas.microsoft.com/office/drawing/2014/main" id="{769CF112-CE49-4CE6-991F-E4A6FCAD4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613" name="Picture 68612" descr="Woman peeking out a window">
            <a:extLst>
              <a:ext uri="{FF2B5EF4-FFF2-40B4-BE49-F238E27FC236}">
                <a16:creationId xmlns:a16="http://schemas.microsoft.com/office/drawing/2014/main" id="{98038D55-1A7B-42C5-3D94-995796DE8E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355" r="26354" b="-1"/>
          <a:stretch/>
        </p:blipFill>
        <p:spPr>
          <a:xfrm>
            <a:off x="7333307" y="10"/>
            <a:ext cx="4858695" cy="6857990"/>
          </a:xfrm>
          <a:custGeom>
            <a:avLst/>
            <a:gdLst/>
            <a:ahLst/>
            <a:cxnLst/>
            <a:rect l="l" t="t" r="r" b="b"/>
            <a:pathLst>
              <a:path w="4858695" h="6858000">
                <a:moveTo>
                  <a:pt x="492746" y="0"/>
                </a:moveTo>
                <a:lnTo>
                  <a:pt x="4858695" y="0"/>
                </a:lnTo>
                <a:lnTo>
                  <a:pt x="4858695" y="6858000"/>
                </a:lnTo>
                <a:lnTo>
                  <a:pt x="0" y="6858000"/>
                </a:lnTo>
                <a:lnTo>
                  <a:pt x="8292" y="6849586"/>
                </a:lnTo>
                <a:cubicBezTo>
                  <a:pt x="364724" y="6471364"/>
                  <a:pt x="1039362" y="5693031"/>
                  <a:pt x="1267733" y="4893468"/>
                </a:cubicBezTo>
                <a:cubicBezTo>
                  <a:pt x="1496104" y="4093905"/>
                  <a:pt x="1464141" y="2947616"/>
                  <a:pt x="1378520" y="2052209"/>
                </a:cubicBezTo>
                <a:cubicBezTo>
                  <a:pt x="1292899" y="1156802"/>
                  <a:pt x="980727" y="345663"/>
                  <a:pt x="492746" y="0"/>
                </a:cubicBezTo>
                <a:close/>
              </a:path>
            </a:pathLst>
          </a:custGeom>
        </p:spPr>
      </p:pic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452284"/>
            <a:ext cx="6923812" cy="1644244"/>
          </a:xfrm>
        </p:spPr>
        <p:txBody>
          <a:bodyPr wrap="square" anchor="ctr">
            <a:normAutofit/>
          </a:bodyPr>
          <a:lstStyle/>
          <a:p>
            <a:pPr eaLnBrk="1" hangingPunct="1"/>
            <a:r>
              <a:rPr lang="nl-NL" altLang="en-US" sz="3600" dirty="0" err="1"/>
              <a:t>Confusing</a:t>
            </a:r>
            <a:r>
              <a:rPr lang="nl-NL" altLang="en-US" sz="3600" dirty="0"/>
              <a:t> cases - VI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719999" y="1720645"/>
            <a:ext cx="6923813" cy="4086389"/>
          </a:xfrm>
        </p:spPr>
        <p:txBody>
          <a:bodyPr>
            <a:normAutofit/>
          </a:bodyPr>
          <a:lstStyle/>
          <a:p>
            <a:pPr eaLnBrk="1" hangingPunct="1"/>
            <a:r>
              <a:rPr lang="nl-NL" altLang="en-US" dirty="0" err="1">
                <a:solidFill>
                  <a:srgbClr val="FFC000">
                    <a:alpha val="58000"/>
                  </a:srgbClr>
                </a:solidFill>
              </a:rPr>
              <a:t>Before</a:t>
            </a:r>
            <a:r>
              <a:rPr lang="nl-NL" altLang="en-US" dirty="0"/>
              <a:t>, </a:t>
            </a:r>
            <a:r>
              <a:rPr lang="nl-NL" altLang="en-US" dirty="0">
                <a:solidFill>
                  <a:srgbClr val="FFC000">
                    <a:alpha val="58000"/>
                  </a:srgbClr>
                </a:solidFill>
              </a:rPr>
              <a:t>in front of </a:t>
            </a:r>
            <a:r>
              <a:rPr lang="nl-NL" altLang="en-US" dirty="0"/>
              <a:t>or </a:t>
            </a:r>
            <a:r>
              <a:rPr lang="nl-NL" altLang="en-US" dirty="0" err="1">
                <a:solidFill>
                  <a:srgbClr val="FFC000">
                    <a:alpha val="58000"/>
                  </a:srgbClr>
                </a:solidFill>
              </a:rPr>
              <a:t>for</a:t>
            </a:r>
            <a:r>
              <a:rPr lang="nl-NL" altLang="en-US" dirty="0"/>
              <a:t>?</a:t>
            </a:r>
          </a:p>
          <a:p>
            <a:pPr eaLnBrk="1" hangingPunct="1"/>
            <a:r>
              <a:rPr lang="nl-NL" altLang="en-US" b="1" dirty="0" err="1">
                <a:solidFill>
                  <a:srgbClr val="FFC000">
                    <a:alpha val="58000"/>
                  </a:srgbClr>
                </a:solidFill>
              </a:rPr>
              <a:t>Before</a:t>
            </a:r>
            <a:r>
              <a:rPr lang="nl-NL" altLang="en-US" dirty="0"/>
              <a:t> = time</a:t>
            </a:r>
          </a:p>
          <a:p>
            <a:pPr lvl="1" eaLnBrk="1" hangingPunct="1"/>
            <a:r>
              <a:rPr lang="nl-NL" altLang="en-US" dirty="0" err="1"/>
              <a:t>Shall</a:t>
            </a:r>
            <a:r>
              <a:rPr lang="nl-NL" altLang="en-US" dirty="0"/>
              <a:t> we meet </a:t>
            </a:r>
            <a:r>
              <a:rPr lang="nl-NL" altLang="en-US" b="1" dirty="0" err="1">
                <a:solidFill>
                  <a:srgbClr val="FFC000">
                    <a:alpha val="58000"/>
                  </a:srgbClr>
                </a:solidFill>
              </a:rPr>
              <a:t>before</a:t>
            </a:r>
            <a:r>
              <a:rPr lang="nl-NL" altLang="en-US" dirty="0">
                <a:solidFill>
                  <a:srgbClr val="FFC000">
                    <a:alpha val="58000"/>
                  </a:srgbClr>
                </a:solidFill>
              </a:rPr>
              <a:t> </a:t>
            </a:r>
            <a:r>
              <a:rPr lang="nl-NL" altLang="en-US" dirty="0"/>
              <a:t>7:00?</a:t>
            </a:r>
          </a:p>
          <a:p>
            <a:pPr eaLnBrk="1" hangingPunct="1"/>
            <a:r>
              <a:rPr lang="nl-NL" altLang="en-US" b="1" dirty="0">
                <a:solidFill>
                  <a:srgbClr val="FFC000">
                    <a:alpha val="58000"/>
                  </a:srgbClr>
                </a:solidFill>
              </a:rPr>
              <a:t>In front of </a:t>
            </a:r>
            <a:r>
              <a:rPr lang="nl-NL" altLang="en-US" dirty="0"/>
              <a:t>= </a:t>
            </a:r>
            <a:r>
              <a:rPr lang="nl-NL" altLang="en-US" dirty="0" err="1"/>
              <a:t>position</a:t>
            </a:r>
            <a:endParaRPr lang="nl-NL" altLang="en-US" dirty="0"/>
          </a:p>
          <a:p>
            <a:pPr lvl="1" eaLnBrk="1" hangingPunct="1"/>
            <a:r>
              <a:rPr lang="nl-NL" altLang="en-US" dirty="0"/>
              <a:t>Ok, </a:t>
            </a:r>
            <a:r>
              <a:rPr lang="nl-NL" altLang="en-US" dirty="0" err="1"/>
              <a:t>I’ll</a:t>
            </a:r>
            <a:r>
              <a:rPr lang="nl-NL" altLang="en-US" dirty="0"/>
              <a:t> </a:t>
            </a:r>
            <a:r>
              <a:rPr lang="nl-NL" altLang="en-US" dirty="0" err="1"/>
              <a:t>be</a:t>
            </a:r>
            <a:r>
              <a:rPr lang="nl-NL" altLang="en-US" dirty="0"/>
              <a:t> </a:t>
            </a:r>
            <a:r>
              <a:rPr lang="nl-NL" altLang="en-US" dirty="0" err="1"/>
              <a:t>waiting</a:t>
            </a:r>
            <a:r>
              <a:rPr lang="nl-NL" altLang="en-US" dirty="0"/>
              <a:t> </a:t>
            </a:r>
            <a:r>
              <a:rPr lang="nl-NL" altLang="en-US" b="1" dirty="0">
                <a:solidFill>
                  <a:srgbClr val="FFC000">
                    <a:alpha val="58000"/>
                  </a:srgbClr>
                </a:solidFill>
              </a:rPr>
              <a:t>in front of </a:t>
            </a:r>
            <a:r>
              <a:rPr lang="nl-NL" altLang="en-US" dirty="0" err="1"/>
              <a:t>the</a:t>
            </a:r>
            <a:r>
              <a:rPr lang="nl-NL" altLang="en-US" dirty="0"/>
              <a:t> restaurant.</a:t>
            </a:r>
          </a:p>
          <a:p>
            <a:pPr eaLnBrk="1" hangingPunct="1"/>
            <a:r>
              <a:rPr lang="nl-NL" altLang="en-US" b="1" dirty="0">
                <a:solidFill>
                  <a:srgbClr val="FFC000">
                    <a:alpha val="58000"/>
                  </a:srgbClr>
                </a:solidFill>
              </a:rPr>
              <a:t>For</a:t>
            </a:r>
            <a:r>
              <a:rPr lang="nl-NL" altLang="en-US" dirty="0">
                <a:solidFill>
                  <a:srgbClr val="FFC000">
                    <a:alpha val="58000"/>
                  </a:srgbClr>
                </a:solidFill>
              </a:rPr>
              <a:t> </a:t>
            </a:r>
            <a:r>
              <a:rPr lang="nl-NL" altLang="en-US" dirty="0"/>
              <a:t>= </a:t>
            </a:r>
            <a:r>
              <a:rPr lang="nl-NL" altLang="en-US" dirty="0" err="1"/>
              <a:t>other</a:t>
            </a:r>
            <a:endParaRPr lang="nl-NL" altLang="en-US" dirty="0"/>
          </a:p>
          <a:p>
            <a:pPr lvl="1" eaLnBrk="1" hangingPunct="1"/>
            <a:r>
              <a:rPr lang="nl-NL" altLang="en-US" dirty="0"/>
              <a:t>I </a:t>
            </a:r>
            <a:r>
              <a:rPr lang="nl-NL" altLang="en-US" dirty="0" err="1"/>
              <a:t>will</a:t>
            </a:r>
            <a:r>
              <a:rPr lang="nl-NL" altLang="en-US" dirty="0"/>
              <a:t> </a:t>
            </a:r>
            <a:r>
              <a:rPr lang="nl-NL" altLang="en-US" dirty="0" err="1"/>
              <a:t>bring</a:t>
            </a:r>
            <a:r>
              <a:rPr lang="nl-NL" altLang="en-US" dirty="0"/>
              <a:t> </a:t>
            </a:r>
            <a:r>
              <a:rPr lang="nl-NL" altLang="en-US" dirty="0" err="1"/>
              <a:t>something</a:t>
            </a:r>
            <a:r>
              <a:rPr lang="nl-NL" altLang="en-US" dirty="0"/>
              <a:t> special </a:t>
            </a:r>
            <a:r>
              <a:rPr lang="nl-NL" altLang="en-US" b="1" dirty="0" err="1">
                <a:solidFill>
                  <a:srgbClr val="FFC000">
                    <a:alpha val="58000"/>
                  </a:srgbClr>
                </a:solidFill>
              </a:rPr>
              <a:t>for</a:t>
            </a:r>
            <a:r>
              <a:rPr lang="nl-NL" altLang="en-US" dirty="0"/>
              <a:t> </a:t>
            </a:r>
            <a:r>
              <a:rPr lang="nl-NL" altLang="en-US" dirty="0" err="1"/>
              <a:t>you</a:t>
            </a:r>
            <a:r>
              <a:rPr lang="nl-NL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0665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D1035C-3BF0-4FE0-B3A3-1062F8600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4991961" cy="1477328"/>
          </a:xfrm>
        </p:spPr>
        <p:txBody>
          <a:bodyPr wrap="square" anchor="ctr">
            <a:normAutofit/>
          </a:bodyPr>
          <a:lstStyle/>
          <a:p>
            <a:r>
              <a:rPr lang="nl-NL" sz="4000" dirty="0" err="1"/>
              <a:t>Confusing</a:t>
            </a:r>
            <a:r>
              <a:rPr lang="nl-NL" sz="4000" dirty="0"/>
              <a:t> cases - VII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368" y="1858297"/>
            <a:ext cx="7204800" cy="4027396"/>
          </a:xfrm>
        </p:spPr>
        <p:txBody>
          <a:bodyPr>
            <a:normAutofit/>
          </a:bodyPr>
          <a:lstStyle/>
          <a:p>
            <a:r>
              <a:rPr lang="nl-NL" sz="1900" dirty="0">
                <a:solidFill>
                  <a:srgbClr val="FFC000">
                    <a:alpha val="58000"/>
                  </a:srgbClr>
                </a:solidFill>
              </a:rPr>
              <a:t>As or like?</a:t>
            </a:r>
          </a:p>
          <a:p>
            <a:endParaRPr lang="nl-NL" sz="1900" dirty="0"/>
          </a:p>
          <a:p>
            <a:r>
              <a:rPr lang="nl-NL" sz="1900" b="1" dirty="0">
                <a:solidFill>
                  <a:srgbClr val="FFC000">
                    <a:alpha val="58000"/>
                  </a:srgbClr>
                </a:solidFill>
              </a:rPr>
              <a:t>As </a:t>
            </a:r>
            <a:r>
              <a:rPr lang="nl-NL" sz="1900" b="1" dirty="0" err="1">
                <a:solidFill>
                  <a:srgbClr val="FFFFFF"/>
                </a:solidFill>
              </a:rPr>
              <a:t>refers</a:t>
            </a:r>
            <a:r>
              <a:rPr lang="nl-NL" sz="1900" b="1" dirty="0">
                <a:solidFill>
                  <a:srgbClr val="FFFFFF"/>
                </a:solidFill>
              </a:rPr>
              <a:t> </a:t>
            </a:r>
            <a:r>
              <a:rPr lang="nl-NL" sz="1900" b="1" dirty="0" err="1">
                <a:solidFill>
                  <a:srgbClr val="FFFFFF"/>
                </a:solidFill>
              </a:rPr>
              <a:t>to</a:t>
            </a:r>
            <a:r>
              <a:rPr lang="nl-NL" sz="1900" b="1" dirty="0">
                <a:solidFill>
                  <a:srgbClr val="FFFFFF"/>
                </a:solidFill>
              </a:rPr>
              <a:t> a job or </a:t>
            </a:r>
            <a:r>
              <a:rPr lang="nl-NL" sz="1900" b="1" dirty="0" err="1">
                <a:solidFill>
                  <a:srgbClr val="FFFFFF"/>
                </a:solidFill>
              </a:rPr>
              <a:t>function</a:t>
            </a:r>
            <a:endParaRPr lang="nl-NL" sz="1900" b="1" dirty="0">
              <a:solidFill>
                <a:srgbClr val="FFFFFF"/>
              </a:solidFill>
            </a:endParaRPr>
          </a:p>
          <a:p>
            <a:pPr lvl="1"/>
            <a:r>
              <a:rPr lang="nl-NL" sz="1900" dirty="0"/>
              <a:t>He </a:t>
            </a:r>
            <a:r>
              <a:rPr lang="nl-NL" sz="1900" dirty="0" err="1"/>
              <a:t>works</a:t>
            </a:r>
            <a:r>
              <a:rPr lang="nl-NL" sz="1900" dirty="0"/>
              <a:t> </a:t>
            </a:r>
            <a:r>
              <a:rPr lang="nl-NL" sz="1900" b="1" dirty="0">
                <a:solidFill>
                  <a:srgbClr val="FFC000">
                    <a:alpha val="58000"/>
                  </a:srgbClr>
                </a:solidFill>
              </a:rPr>
              <a:t>as</a:t>
            </a:r>
            <a:r>
              <a:rPr lang="nl-NL" sz="1900" dirty="0"/>
              <a:t> a clown at </a:t>
            </a:r>
            <a:r>
              <a:rPr lang="nl-NL" sz="1900" dirty="0" err="1"/>
              <a:t>children’s</a:t>
            </a:r>
            <a:r>
              <a:rPr lang="nl-NL" sz="1900" dirty="0"/>
              <a:t> </a:t>
            </a:r>
            <a:r>
              <a:rPr lang="nl-NL" sz="1900" dirty="0" err="1"/>
              <a:t>parties</a:t>
            </a:r>
            <a:r>
              <a:rPr lang="nl-NL" sz="1900" dirty="0"/>
              <a:t>.</a:t>
            </a:r>
          </a:p>
          <a:p>
            <a:pPr marL="457200" lvl="1" indent="0">
              <a:buNone/>
            </a:pPr>
            <a:endParaRPr lang="nl-NL" sz="1900" dirty="0"/>
          </a:p>
          <a:p>
            <a:r>
              <a:rPr lang="nl-NL" sz="1900" b="1" dirty="0">
                <a:solidFill>
                  <a:srgbClr val="FFC000">
                    <a:alpha val="58000"/>
                  </a:srgbClr>
                </a:solidFill>
              </a:rPr>
              <a:t>Like</a:t>
            </a:r>
            <a:r>
              <a:rPr lang="nl-NL" sz="1900" b="1" dirty="0"/>
              <a:t> </a:t>
            </a:r>
            <a:r>
              <a:rPr lang="nl-NL" sz="1900" b="1" dirty="0">
                <a:solidFill>
                  <a:srgbClr val="FFFFFF"/>
                </a:solidFill>
              </a:rPr>
              <a:t>is </a:t>
            </a:r>
            <a:r>
              <a:rPr lang="nl-NL" sz="1900" b="1" dirty="0" err="1">
                <a:solidFill>
                  <a:srgbClr val="FFFFFF"/>
                </a:solidFill>
              </a:rPr>
              <a:t>used</a:t>
            </a:r>
            <a:r>
              <a:rPr lang="nl-NL" sz="1900" b="1" dirty="0">
                <a:solidFill>
                  <a:srgbClr val="FFFFFF"/>
                </a:solidFill>
              </a:rPr>
              <a:t> </a:t>
            </a:r>
            <a:r>
              <a:rPr lang="nl-NL" sz="1900" b="1" dirty="0" err="1">
                <a:solidFill>
                  <a:srgbClr val="FFFFFF"/>
                </a:solidFill>
              </a:rPr>
              <a:t>to</a:t>
            </a:r>
            <a:r>
              <a:rPr lang="nl-NL" sz="1900" b="1" dirty="0">
                <a:solidFill>
                  <a:srgbClr val="FFFFFF"/>
                </a:solidFill>
              </a:rPr>
              <a:t> talk </a:t>
            </a:r>
            <a:r>
              <a:rPr lang="nl-NL" sz="1900" b="1" dirty="0" err="1">
                <a:solidFill>
                  <a:srgbClr val="FFFFFF"/>
                </a:solidFill>
              </a:rPr>
              <a:t>about</a:t>
            </a:r>
            <a:r>
              <a:rPr lang="nl-NL" sz="1900" b="1" dirty="0">
                <a:solidFill>
                  <a:srgbClr val="FFFFFF"/>
                </a:solidFill>
              </a:rPr>
              <a:t> </a:t>
            </a:r>
            <a:r>
              <a:rPr lang="nl-NL" sz="1900" b="1" dirty="0" err="1">
                <a:solidFill>
                  <a:srgbClr val="FFFFFF"/>
                </a:solidFill>
              </a:rPr>
              <a:t>things</a:t>
            </a:r>
            <a:r>
              <a:rPr lang="nl-NL" sz="1900" b="1" dirty="0">
                <a:solidFill>
                  <a:srgbClr val="FFFFFF"/>
                </a:solidFill>
              </a:rPr>
              <a:t> </a:t>
            </a:r>
            <a:r>
              <a:rPr lang="nl-NL" sz="1900" b="1" dirty="0" err="1">
                <a:solidFill>
                  <a:srgbClr val="FFFFFF"/>
                </a:solidFill>
              </a:rPr>
              <a:t>being</a:t>
            </a:r>
            <a:r>
              <a:rPr lang="nl-NL" sz="1900" b="1" dirty="0">
                <a:solidFill>
                  <a:srgbClr val="FFFFFF"/>
                </a:solidFill>
              </a:rPr>
              <a:t> </a:t>
            </a:r>
            <a:r>
              <a:rPr lang="nl-NL" sz="1900" b="1" dirty="0" err="1">
                <a:solidFill>
                  <a:srgbClr val="FFFFFF"/>
                </a:solidFill>
              </a:rPr>
              <a:t>similar</a:t>
            </a:r>
            <a:endParaRPr lang="nl-NL" sz="1900" b="1" dirty="0">
              <a:solidFill>
                <a:srgbClr val="FFFFFF"/>
              </a:solidFill>
            </a:endParaRPr>
          </a:p>
          <a:p>
            <a:pPr lvl="1"/>
            <a:r>
              <a:rPr lang="nl-NL" sz="1900" dirty="0"/>
              <a:t>He </a:t>
            </a:r>
            <a:r>
              <a:rPr lang="nl-NL" sz="1900" dirty="0" err="1"/>
              <a:t>acted</a:t>
            </a:r>
            <a:r>
              <a:rPr lang="nl-NL" sz="1900" dirty="0"/>
              <a:t> </a:t>
            </a:r>
            <a:r>
              <a:rPr lang="nl-NL" sz="1900" b="1" dirty="0">
                <a:solidFill>
                  <a:srgbClr val="FFC000">
                    <a:alpha val="58000"/>
                  </a:srgbClr>
                </a:solidFill>
              </a:rPr>
              <a:t>like</a:t>
            </a:r>
            <a:r>
              <a:rPr lang="nl-NL" sz="1900" dirty="0"/>
              <a:t> a clown in class </a:t>
            </a:r>
            <a:r>
              <a:rPr lang="nl-NL" sz="1900" dirty="0" err="1"/>
              <a:t>today</a:t>
            </a:r>
            <a:r>
              <a:rPr lang="nl-NL" sz="1900" dirty="0"/>
              <a:t>.</a:t>
            </a:r>
          </a:p>
        </p:txBody>
      </p:sp>
      <p:pic>
        <p:nvPicPr>
          <p:cNvPr id="6" name="Picture 4" descr="Fake glasses, nose, and moustache, graffiti and red wig on a wooden surface">
            <a:extLst>
              <a:ext uri="{FF2B5EF4-FFF2-40B4-BE49-F238E27FC236}">
                <a16:creationId xmlns:a16="http://schemas.microsoft.com/office/drawing/2014/main" id="{ABFA4AC9-8870-E3E3-3FC0-E61B8DE000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703" r="178" b="-1"/>
          <a:stretch/>
        </p:blipFill>
        <p:spPr>
          <a:xfrm>
            <a:off x="6529065" y="10"/>
            <a:ext cx="5662937" cy="6857990"/>
          </a:xfrm>
          <a:custGeom>
            <a:avLst/>
            <a:gdLst/>
            <a:ahLst/>
            <a:cxnLst/>
            <a:rect l="l" t="t" r="r" b="b"/>
            <a:pathLst>
              <a:path w="5662937" h="6858000">
                <a:moveTo>
                  <a:pt x="598332" y="0"/>
                </a:moveTo>
                <a:lnTo>
                  <a:pt x="5662937" y="0"/>
                </a:lnTo>
                <a:lnTo>
                  <a:pt x="5662937" y="6858000"/>
                </a:lnTo>
                <a:lnTo>
                  <a:pt x="0" y="6858000"/>
                </a:lnTo>
                <a:lnTo>
                  <a:pt x="78957" y="6777438"/>
                </a:lnTo>
                <a:cubicBezTo>
                  <a:pt x="291624" y="6544265"/>
                  <a:pt x="490445" y="6275955"/>
                  <a:pt x="672224" y="5969316"/>
                </a:cubicBezTo>
                <a:cubicBezTo>
                  <a:pt x="914596" y="5515036"/>
                  <a:pt x="1066079" y="5030470"/>
                  <a:pt x="1217562" y="4515619"/>
                </a:cubicBezTo>
                <a:cubicBezTo>
                  <a:pt x="1338748" y="3970483"/>
                  <a:pt x="1399341" y="3516203"/>
                  <a:pt x="1399341" y="3061922"/>
                </a:cubicBezTo>
                <a:cubicBezTo>
                  <a:pt x="1399341" y="1948936"/>
                  <a:pt x="1190579" y="1021447"/>
                  <a:pt x="773055" y="279455"/>
                </a:cubicBezTo>
                <a:close/>
              </a:path>
            </a:pathLst>
          </a:custGeom>
        </p:spPr>
      </p:pic>
      <p:sp>
        <p:nvSpPr>
          <p:cNvPr id="4" name="Rectangle 3" descr="Balloon Animal">
            <a:extLst>
              <a:ext uri="{FF2B5EF4-FFF2-40B4-BE49-F238E27FC236}">
                <a16:creationId xmlns:a16="http://schemas.microsoft.com/office/drawing/2014/main" id="{E91F5016-8AD2-F316-C508-3994B361B382}"/>
              </a:ext>
            </a:extLst>
          </p:cNvPr>
          <p:cNvSpPr/>
          <p:nvPr/>
        </p:nvSpPr>
        <p:spPr>
          <a:xfrm>
            <a:off x="6027620" y="2772943"/>
            <a:ext cx="1120710" cy="1120710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 dirty="0"/>
          </a:p>
        </p:txBody>
      </p:sp>
      <p:sp>
        <p:nvSpPr>
          <p:cNvPr id="7" name="Rectangle 6" descr="Joker Hat">
            <a:extLst>
              <a:ext uri="{FF2B5EF4-FFF2-40B4-BE49-F238E27FC236}">
                <a16:creationId xmlns:a16="http://schemas.microsoft.com/office/drawing/2014/main" id="{554C7190-5D6D-404A-C733-BBB280676854}"/>
              </a:ext>
            </a:extLst>
          </p:cNvPr>
          <p:cNvSpPr/>
          <p:nvPr/>
        </p:nvSpPr>
        <p:spPr>
          <a:xfrm>
            <a:off x="5929104" y="4454013"/>
            <a:ext cx="1120710" cy="1120710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096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3">
            <a:extLst>
              <a:ext uri="{FF2B5EF4-FFF2-40B4-BE49-F238E27FC236}">
                <a16:creationId xmlns:a16="http://schemas.microsoft.com/office/drawing/2014/main" id="{769CF112-CE49-4CE6-991F-E4A6FCAD4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 descr="Calendar on table">
            <a:extLst>
              <a:ext uri="{FF2B5EF4-FFF2-40B4-BE49-F238E27FC236}">
                <a16:creationId xmlns:a16="http://schemas.microsoft.com/office/drawing/2014/main" id="{CA6EAB80-B900-1ABF-C805-EF6DF0648F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19" r="45189" b="-1"/>
          <a:stretch/>
        </p:blipFill>
        <p:spPr>
          <a:xfrm>
            <a:off x="7333307" y="10"/>
            <a:ext cx="4858695" cy="6857990"/>
          </a:xfrm>
          <a:custGeom>
            <a:avLst/>
            <a:gdLst/>
            <a:ahLst/>
            <a:cxnLst/>
            <a:rect l="l" t="t" r="r" b="b"/>
            <a:pathLst>
              <a:path w="4858695" h="6858000">
                <a:moveTo>
                  <a:pt x="492746" y="0"/>
                </a:moveTo>
                <a:lnTo>
                  <a:pt x="4858695" y="0"/>
                </a:lnTo>
                <a:lnTo>
                  <a:pt x="4858695" y="6858000"/>
                </a:lnTo>
                <a:lnTo>
                  <a:pt x="0" y="6858000"/>
                </a:lnTo>
                <a:lnTo>
                  <a:pt x="8292" y="6849586"/>
                </a:lnTo>
                <a:cubicBezTo>
                  <a:pt x="364724" y="6471364"/>
                  <a:pt x="1039362" y="5693031"/>
                  <a:pt x="1267733" y="4893468"/>
                </a:cubicBezTo>
                <a:cubicBezTo>
                  <a:pt x="1496104" y="4093905"/>
                  <a:pt x="1464141" y="2947616"/>
                  <a:pt x="1378520" y="2052209"/>
                </a:cubicBezTo>
                <a:cubicBezTo>
                  <a:pt x="1292899" y="1156802"/>
                  <a:pt x="980727" y="345663"/>
                  <a:pt x="492746" y="0"/>
                </a:cubicBez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97" y="361462"/>
            <a:ext cx="6923812" cy="1477328"/>
          </a:xfrm>
        </p:spPr>
        <p:txBody>
          <a:bodyPr wrap="square" anchor="ctr">
            <a:normAutofit/>
          </a:bodyPr>
          <a:lstStyle/>
          <a:p>
            <a:r>
              <a:rPr lang="nl-NL" altLang="en-US" sz="3600" dirty="0" err="1"/>
              <a:t>Confusing</a:t>
            </a:r>
            <a:r>
              <a:rPr lang="nl-NL" altLang="en-US" sz="3600" dirty="0"/>
              <a:t> cases - VIII</a:t>
            </a:r>
            <a:endParaRPr lang="nl-NL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9" y="1622324"/>
            <a:ext cx="6923813" cy="4135550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rgbClr val="FFC000">
                    <a:alpha val="58000"/>
                  </a:srgbClr>
                </a:solidFill>
              </a:rPr>
              <a:t>In time </a:t>
            </a:r>
            <a:r>
              <a:rPr lang="nl-NL" dirty="0"/>
              <a:t>or </a:t>
            </a:r>
            <a:r>
              <a:rPr lang="nl-NL" dirty="0">
                <a:solidFill>
                  <a:srgbClr val="FFC000">
                    <a:alpha val="58000"/>
                  </a:srgbClr>
                </a:solidFill>
              </a:rPr>
              <a:t>on time</a:t>
            </a:r>
            <a:r>
              <a:rPr lang="nl-NL" dirty="0"/>
              <a:t>?</a:t>
            </a:r>
          </a:p>
          <a:p>
            <a:r>
              <a:rPr lang="nl-NL" b="1" dirty="0">
                <a:solidFill>
                  <a:srgbClr val="FFC000">
                    <a:alpha val="58000"/>
                  </a:srgbClr>
                </a:solidFill>
              </a:rPr>
              <a:t>In time </a:t>
            </a:r>
            <a:r>
              <a:rPr lang="nl-NL" b="1" dirty="0"/>
              <a:t>means </a:t>
            </a:r>
            <a:r>
              <a:rPr lang="nl-NL" b="1" dirty="0">
                <a:solidFill>
                  <a:srgbClr val="FFFFFF"/>
                </a:solidFill>
              </a:rPr>
              <a:t>‘</a:t>
            </a:r>
            <a:r>
              <a:rPr lang="nl-NL" b="1" dirty="0" err="1">
                <a:solidFill>
                  <a:srgbClr val="FFFFFF"/>
                </a:solidFill>
              </a:rPr>
              <a:t>early</a:t>
            </a:r>
            <a:r>
              <a:rPr lang="nl-NL" b="1" dirty="0">
                <a:solidFill>
                  <a:srgbClr val="FFFFFF"/>
                </a:solidFill>
              </a:rPr>
              <a:t> </a:t>
            </a:r>
            <a:r>
              <a:rPr lang="nl-NL" b="1" dirty="0" err="1">
                <a:solidFill>
                  <a:srgbClr val="FFFFFF"/>
                </a:solidFill>
              </a:rPr>
              <a:t>enough</a:t>
            </a:r>
            <a:r>
              <a:rPr lang="nl-NL" b="1" dirty="0">
                <a:solidFill>
                  <a:srgbClr val="FFFFFF"/>
                </a:solidFill>
              </a:rPr>
              <a:t>’</a:t>
            </a:r>
          </a:p>
          <a:p>
            <a:pPr lvl="1"/>
            <a:r>
              <a:rPr lang="nl-NL" dirty="0"/>
              <a:t>I was </a:t>
            </a:r>
            <a:r>
              <a:rPr lang="nl-NL" b="1" dirty="0">
                <a:solidFill>
                  <a:srgbClr val="FFC000">
                    <a:alpha val="58000"/>
                  </a:srgbClr>
                </a:solidFill>
              </a:rPr>
              <a:t>in time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announcement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winner.</a:t>
            </a:r>
          </a:p>
          <a:p>
            <a:pPr marL="457200" lvl="1" indent="0">
              <a:buNone/>
            </a:pPr>
            <a:endParaRPr lang="nl-NL" dirty="0"/>
          </a:p>
          <a:p>
            <a:r>
              <a:rPr lang="nl-NL" b="1" dirty="0">
                <a:solidFill>
                  <a:srgbClr val="FFC000">
                    <a:alpha val="58000"/>
                  </a:srgbClr>
                </a:solidFill>
              </a:rPr>
              <a:t>On time </a:t>
            </a:r>
            <a:r>
              <a:rPr lang="nl-NL" b="1" dirty="0"/>
              <a:t>means </a:t>
            </a:r>
            <a:r>
              <a:rPr lang="nl-NL" b="1" dirty="0">
                <a:solidFill>
                  <a:srgbClr val="FFFFFF"/>
                </a:solidFill>
              </a:rPr>
              <a:t>‘at </a:t>
            </a:r>
            <a:r>
              <a:rPr lang="nl-NL" b="1" dirty="0" err="1">
                <a:solidFill>
                  <a:srgbClr val="FFFFFF"/>
                </a:solidFill>
              </a:rPr>
              <a:t>the</a:t>
            </a:r>
            <a:r>
              <a:rPr lang="nl-NL" b="1" dirty="0">
                <a:solidFill>
                  <a:srgbClr val="FFFFFF"/>
                </a:solidFill>
              </a:rPr>
              <a:t> right time’ </a:t>
            </a:r>
            <a:r>
              <a:rPr lang="nl-NL" b="1" dirty="0"/>
              <a:t>or  </a:t>
            </a:r>
            <a:r>
              <a:rPr lang="nl-NL" b="1" dirty="0">
                <a:solidFill>
                  <a:srgbClr val="FFFFFF"/>
                </a:solidFill>
              </a:rPr>
              <a:t>‘on </a:t>
            </a:r>
            <a:r>
              <a:rPr lang="nl-NL" b="1" dirty="0" err="1">
                <a:solidFill>
                  <a:srgbClr val="FFFFFF"/>
                </a:solidFill>
              </a:rPr>
              <a:t>schedule</a:t>
            </a:r>
            <a:r>
              <a:rPr lang="nl-NL" dirty="0">
                <a:solidFill>
                  <a:srgbClr val="FFFFFF"/>
                </a:solidFill>
              </a:rPr>
              <a:t>’</a:t>
            </a:r>
          </a:p>
          <a:p>
            <a:pPr lvl="1"/>
            <a:r>
              <a:rPr lang="nl-NL" dirty="0"/>
              <a:t>The show </a:t>
            </a:r>
            <a:r>
              <a:rPr lang="nl-NL" dirty="0" err="1"/>
              <a:t>started</a:t>
            </a:r>
            <a:r>
              <a:rPr lang="nl-NL" dirty="0"/>
              <a:t> </a:t>
            </a:r>
            <a:r>
              <a:rPr lang="nl-NL" dirty="0">
                <a:solidFill>
                  <a:srgbClr val="FFC000">
                    <a:alpha val="58000"/>
                  </a:srgbClr>
                </a:solidFill>
              </a:rPr>
              <a:t>right </a:t>
            </a:r>
            <a:r>
              <a:rPr lang="nl-NL" b="1" dirty="0">
                <a:solidFill>
                  <a:srgbClr val="FFC000">
                    <a:alpha val="58000"/>
                  </a:srgbClr>
                </a:solidFill>
              </a:rPr>
              <a:t>on time</a:t>
            </a:r>
            <a:r>
              <a:rPr lang="nl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2100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324100" y="679895"/>
            <a:ext cx="7543800" cy="1450757"/>
          </a:xfrm>
        </p:spPr>
        <p:txBody>
          <a:bodyPr>
            <a:normAutofit/>
          </a:bodyPr>
          <a:lstStyle/>
          <a:p>
            <a:r>
              <a:rPr lang="nl-NL" altLang="en-US" sz="3600" dirty="0"/>
              <a:t>Common mistakes </a:t>
            </a:r>
            <a:r>
              <a:rPr lang="nl-NL" altLang="en-US" sz="3600" dirty="0" err="1"/>
              <a:t>by</a:t>
            </a:r>
            <a:r>
              <a:rPr lang="nl-NL" altLang="en-US" sz="3600" dirty="0"/>
              <a:t> </a:t>
            </a:r>
            <a:r>
              <a:rPr lang="nl-NL" altLang="en-US" sz="3600"/>
              <a:t>Dutch native speakers </a:t>
            </a:r>
            <a:r>
              <a:rPr lang="nl-NL" altLang="en-US" sz="3600" dirty="0"/>
              <a:t>- I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2346960" y="1356852"/>
            <a:ext cx="7543801" cy="451224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l-NL" dirty="0" err="1"/>
              <a:t>Which</a:t>
            </a:r>
            <a:r>
              <a:rPr lang="nl-NL" dirty="0"/>
              <a:t> is correct? </a:t>
            </a:r>
            <a:r>
              <a:rPr lang="nl-NL" dirty="0" err="1"/>
              <a:t>Explain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difference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highlight </a:t>
            </a:r>
            <a:r>
              <a:rPr lang="nl-NL" dirty="0" err="1"/>
              <a:t>the</a:t>
            </a:r>
            <a:r>
              <a:rPr lang="nl-NL" dirty="0"/>
              <a:t> error</a:t>
            </a:r>
          </a:p>
          <a:p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I’m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not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good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b="1" dirty="0">
                <a:solidFill>
                  <a:schemeClr val="tx2">
                    <a:lumMod val="90000"/>
                  </a:schemeClr>
                </a:solidFill>
              </a:rPr>
              <a:t>in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English</a:t>
            </a:r>
          </a:p>
          <a:p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I’m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not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good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b="1" dirty="0">
                <a:solidFill>
                  <a:schemeClr val="tx2">
                    <a:lumMod val="90000"/>
                  </a:schemeClr>
                </a:solidFill>
              </a:rPr>
              <a:t>at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English</a:t>
            </a:r>
          </a:p>
          <a:p>
            <a:pPr marL="0" indent="0">
              <a:buNone/>
            </a:pPr>
            <a:endParaRPr lang="nl-NL" dirty="0">
              <a:solidFill>
                <a:schemeClr val="tx2">
                  <a:lumMod val="90000"/>
                </a:schemeClr>
              </a:solidFill>
            </a:endParaRPr>
          </a:p>
          <a:p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I’m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still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b="1" dirty="0">
                <a:solidFill>
                  <a:schemeClr val="tx2">
                    <a:lumMod val="90000"/>
                  </a:schemeClr>
                </a:solidFill>
              </a:rPr>
              <a:t>at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school</a:t>
            </a:r>
          </a:p>
          <a:p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I’m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still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b="1" dirty="0">
                <a:solidFill>
                  <a:schemeClr val="tx2">
                    <a:lumMod val="90000"/>
                  </a:schemeClr>
                </a:solidFill>
              </a:rPr>
              <a:t>in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school</a:t>
            </a:r>
          </a:p>
          <a:p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I’m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still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b="1" dirty="0">
                <a:solidFill>
                  <a:schemeClr val="tx2">
                    <a:lumMod val="90000"/>
                  </a:schemeClr>
                </a:solidFill>
              </a:rPr>
              <a:t>on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school</a:t>
            </a:r>
          </a:p>
          <a:p>
            <a:pPr marL="0" indent="0">
              <a:buNone/>
            </a:pPr>
            <a:endParaRPr lang="nl-NL" dirty="0">
              <a:solidFill>
                <a:schemeClr val="tx2">
                  <a:lumMod val="90000"/>
                </a:schemeClr>
              </a:solidFill>
            </a:endParaRPr>
          </a:p>
          <a:p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I was </a:t>
            </a:r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sitting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b="1" dirty="0">
                <a:solidFill>
                  <a:schemeClr val="tx2">
                    <a:lumMod val="90000"/>
                  </a:schemeClr>
                </a:solidFill>
              </a:rPr>
              <a:t>at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the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computer</a:t>
            </a:r>
          </a:p>
          <a:p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I was </a:t>
            </a:r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sitting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b="1" dirty="0" err="1">
                <a:solidFill>
                  <a:schemeClr val="tx2">
                    <a:lumMod val="90000"/>
                  </a:schemeClr>
                </a:solidFill>
              </a:rPr>
              <a:t>behind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the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computer.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58922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324100" y="679895"/>
            <a:ext cx="7543800" cy="1450757"/>
          </a:xfrm>
        </p:spPr>
        <p:txBody>
          <a:bodyPr>
            <a:normAutofit/>
          </a:bodyPr>
          <a:lstStyle/>
          <a:p>
            <a:r>
              <a:rPr lang="nl-NL" altLang="en-US" sz="3600" dirty="0"/>
              <a:t>Common mistakes </a:t>
            </a:r>
            <a:r>
              <a:rPr lang="nl-NL" altLang="en-US" sz="3600" dirty="0" err="1"/>
              <a:t>by</a:t>
            </a:r>
            <a:r>
              <a:rPr lang="nl-NL" altLang="en-US" sz="3600" dirty="0"/>
              <a:t> </a:t>
            </a:r>
            <a:r>
              <a:rPr lang="nl-NL" altLang="en-US" sz="3600"/>
              <a:t>Dutch native speakers </a:t>
            </a:r>
            <a:r>
              <a:rPr lang="nl-NL" altLang="en-US" sz="3600" dirty="0"/>
              <a:t>- I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2346960" y="1356852"/>
            <a:ext cx="7543801" cy="451224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l-NL" dirty="0" err="1"/>
              <a:t>Which</a:t>
            </a:r>
            <a:r>
              <a:rPr lang="nl-NL" dirty="0"/>
              <a:t> is correct? </a:t>
            </a:r>
            <a:r>
              <a:rPr lang="nl-NL" dirty="0" err="1"/>
              <a:t>Explain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difference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highlight </a:t>
            </a:r>
            <a:r>
              <a:rPr lang="nl-NL" dirty="0" err="1"/>
              <a:t>the</a:t>
            </a:r>
            <a:r>
              <a:rPr lang="nl-NL" dirty="0"/>
              <a:t> error</a:t>
            </a:r>
          </a:p>
          <a:p>
            <a:r>
              <a:rPr lang="nl-NL" dirty="0" err="1"/>
              <a:t>I’m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good</a:t>
            </a:r>
            <a:r>
              <a:rPr lang="nl-NL" dirty="0"/>
              <a:t> </a:t>
            </a:r>
            <a:r>
              <a:rPr lang="nl-NL" b="1" dirty="0">
                <a:solidFill>
                  <a:srgbClr val="FF0000"/>
                </a:solidFill>
              </a:rPr>
              <a:t>in</a:t>
            </a:r>
            <a:r>
              <a:rPr lang="nl-NL" dirty="0"/>
              <a:t> English</a:t>
            </a:r>
          </a:p>
          <a:p>
            <a:r>
              <a:rPr lang="nl-NL" dirty="0" err="1"/>
              <a:t>I’m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good</a:t>
            </a:r>
            <a:r>
              <a:rPr lang="nl-NL" dirty="0"/>
              <a:t> </a:t>
            </a:r>
            <a:r>
              <a:rPr lang="nl-NL" b="1" dirty="0">
                <a:solidFill>
                  <a:srgbClr val="00B050"/>
                </a:solidFill>
              </a:rPr>
              <a:t>at</a:t>
            </a:r>
            <a:r>
              <a:rPr lang="nl-NL" dirty="0"/>
              <a:t> English</a:t>
            </a:r>
          </a:p>
          <a:p>
            <a:pPr marL="0" indent="0">
              <a:buNone/>
            </a:pPr>
            <a:endParaRPr lang="nl-NL" dirty="0"/>
          </a:p>
          <a:p>
            <a:r>
              <a:rPr lang="nl-NL" dirty="0" err="1"/>
              <a:t>I’m</a:t>
            </a:r>
            <a:r>
              <a:rPr lang="nl-NL" dirty="0"/>
              <a:t> </a:t>
            </a:r>
            <a:r>
              <a:rPr lang="nl-NL" dirty="0" err="1"/>
              <a:t>still</a:t>
            </a:r>
            <a:r>
              <a:rPr lang="nl-NL" dirty="0"/>
              <a:t> </a:t>
            </a:r>
            <a:r>
              <a:rPr lang="nl-NL" b="1" dirty="0">
                <a:solidFill>
                  <a:srgbClr val="00B050"/>
                </a:solidFill>
              </a:rPr>
              <a:t>at</a:t>
            </a:r>
            <a:r>
              <a:rPr lang="nl-NL" dirty="0"/>
              <a:t> school</a:t>
            </a:r>
          </a:p>
          <a:p>
            <a:r>
              <a:rPr lang="nl-NL" dirty="0" err="1"/>
              <a:t>I’m</a:t>
            </a:r>
            <a:r>
              <a:rPr lang="nl-NL" dirty="0"/>
              <a:t> </a:t>
            </a:r>
            <a:r>
              <a:rPr lang="nl-NL" dirty="0" err="1"/>
              <a:t>still</a:t>
            </a:r>
            <a:r>
              <a:rPr lang="nl-NL" dirty="0"/>
              <a:t> </a:t>
            </a:r>
            <a:r>
              <a:rPr lang="nl-NL" b="1" dirty="0">
                <a:solidFill>
                  <a:srgbClr val="00B050"/>
                </a:solidFill>
              </a:rPr>
              <a:t>in</a:t>
            </a:r>
            <a:r>
              <a:rPr lang="nl-NL" dirty="0"/>
              <a:t> school</a:t>
            </a:r>
          </a:p>
          <a:p>
            <a:r>
              <a:rPr lang="nl-NL" dirty="0" err="1"/>
              <a:t>I’m</a:t>
            </a:r>
            <a:r>
              <a:rPr lang="nl-NL" dirty="0"/>
              <a:t> </a:t>
            </a:r>
            <a:r>
              <a:rPr lang="nl-NL" dirty="0" err="1"/>
              <a:t>still</a:t>
            </a:r>
            <a:r>
              <a:rPr lang="nl-NL" dirty="0"/>
              <a:t> </a:t>
            </a:r>
            <a:r>
              <a:rPr lang="nl-NL" b="1" dirty="0">
                <a:solidFill>
                  <a:srgbClr val="FF0000"/>
                </a:solidFill>
              </a:rPr>
              <a:t>on</a:t>
            </a:r>
            <a:r>
              <a:rPr lang="nl-NL" dirty="0"/>
              <a:t> school</a:t>
            </a:r>
          </a:p>
          <a:p>
            <a:pPr marL="0" indent="0">
              <a:buNone/>
            </a:pPr>
            <a:endParaRPr lang="nl-NL" dirty="0"/>
          </a:p>
          <a:p>
            <a:r>
              <a:rPr lang="nl-NL" dirty="0"/>
              <a:t>I was </a:t>
            </a:r>
            <a:r>
              <a:rPr lang="nl-NL" dirty="0" err="1"/>
              <a:t>sitting</a:t>
            </a:r>
            <a:r>
              <a:rPr lang="nl-NL" dirty="0"/>
              <a:t> </a:t>
            </a:r>
            <a:r>
              <a:rPr lang="nl-NL" b="1" dirty="0">
                <a:solidFill>
                  <a:srgbClr val="00B050"/>
                </a:solidFill>
              </a:rPr>
              <a:t>at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computer</a:t>
            </a:r>
          </a:p>
          <a:p>
            <a:r>
              <a:rPr lang="nl-NL" dirty="0"/>
              <a:t>I was </a:t>
            </a:r>
            <a:r>
              <a:rPr lang="nl-NL" dirty="0" err="1"/>
              <a:t>sitting</a:t>
            </a:r>
            <a:r>
              <a:rPr lang="nl-NL" dirty="0"/>
              <a:t> </a:t>
            </a:r>
            <a:r>
              <a:rPr lang="nl-NL" b="1" dirty="0" err="1">
                <a:solidFill>
                  <a:srgbClr val="FF0000"/>
                </a:solidFill>
              </a:rPr>
              <a:t>behind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computer.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01366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AutoShape 2"/>
          <p:cNvSpPr>
            <a:spLocks noGrp="1" noChangeArrowheads="1"/>
          </p:cNvSpPr>
          <p:nvPr>
            <p:ph type="title"/>
          </p:nvPr>
        </p:nvSpPr>
        <p:spPr>
          <a:xfrm>
            <a:off x="2133600" y="619200"/>
            <a:ext cx="9314722" cy="1477328"/>
          </a:xfrm>
        </p:spPr>
        <p:txBody>
          <a:bodyPr>
            <a:normAutofit/>
          </a:bodyPr>
          <a:lstStyle/>
          <a:p>
            <a:r>
              <a:rPr lang="nl-NL" altLang="en-US" sz="3600" dirty="0"/>
              <a:t>Common mistakes </a:t>
            </a:r>
            <a:r>
              <a:rPr lang="nl-NL" altLang="en-US" sz="3600" dirty="0" err="1"/>
              <a:t>by</a:t>
            </a:r>
            <a:r>
              <a:rPr lang="nl-NL" altLang="en-US" sz="3600" dirty="0"/>
              <a:t> </a:t>
            </a:r>
            <a:r>
              <a:rPr lang="nl-NL" altLang="en-US" sz="3600"/>
              <a:t>Dutch native speakers </a:t>
            </a:r>
            <a:r>
              <a:rPr lang="nl-NL" altLang="en-US" sz="3600" dirty="0"/>
              <a:t>- II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1966452" y="1376516"/>
            <a:ext cx="9481873" cy="43924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/>
              <a:t>Which is correct? Explain the difference to highlight the error</a:t>
            </a:r>
          </a:p>
          <a:p>
            <a:pPr>
              <a:defRPr/>
            </a:pPr>
            <a:r>
              <a:rPr lang="nl-NL">
                <a:solidFill>
                  <a:schemeClr val="tx2">
                    <a:lumMod val="90000"/>
                  </a:schemeClr>
                </a:solidFill>
              </a:rPr>
              <a:t>I 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go to school </a:t>
            </a:r>
            <a:r>
              <a:rPr lang="nl-NL" b="1" dirty="0">
                <a:solidFill>
                  <a:schemeClr val="tx2">
                    <a:lumMod val="90000"/>
                  </a:schemeClr>
                </a:solidFill>
              </a:rPr>
              <a:t>with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the train.</a:t>
            </a:r>
          </a:p>
          <a:p>
            <a:pPr>
              <a:defRPr/>
            </a:pP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I go to school </a:t>
            </a:r>
            <a:r>
              <a:rPr lang="nl-NL" b="1" dirty="0" err="1">
                <a:solidFill>
                  <a:schemeClr val="tx2">
                    <a:lumMod val="90000"/>
                  </a:schemeClr>
                </a:solidFill>
              </a:rPr>
              <a:t>by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train.</a:t>
            </a:r>
          </a:p>
          <a:p>
            <a:pPr marL="0" indent="0">
              <a:buNone/>
              <a:defRPr/>
            </a:pPr>
            <a:endParaRPr lang="nl-NL" dirty="0">
              <a:solidFill>
                <a:schemeClr val="tx2">
                  <a:lumMod val="90000"/>
                </a:schemeClr>
              </a:solidFill>
            </a:endParaRPr>
          </a:p>
          <a:p>
            <a:pPr>
              <a:lnSpc>
                <a:spcPct val="90000"/>
              </a:lnSpc>
              <a:defRPr/>
            </a:pP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He has </a:t>
            </a:r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worked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here </a:t>
            </a:r>
            <a:r>
              <a:rPr lang="nl-NL" b="1" dirty="0" err="1">
                <a:solidFill>
                  <a:schemeClr val="tx2">
                    <a:lumMod val="90000"/>
                  </a:schemeClr>
                </a:solidFill>
              </a:rPr>
              <a:t>since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two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months</a:t>
            </a:r>
            <a:endParaRPr lang="nl-NL" dirty="0">
              <a:solidFill>
                <a:schemeClr val="tx2">
                  <a:lumMod val="90000"/>
                </a:schemeClr>
              </a:solidFill>
            </a:endParaRPr>
          </a:p>
          <a:p>
            <a:pPr>
              <a:lnSpc>
                <a:spcPct val="90000"/>
              </a:lnSpc>
              <a:defRPr/>
            </a:pP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He has </a:t>
            </a:r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worked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here </a:t>
            </a:r>
            <a:r>
              <a:rPr lang="nl-NL" b="1" dirty="0" err="1">
                <a:solidFill>
                  <a:schemeClr val="tx2">
                    <a:lumMod val="90000"/>
                  </a:schemeClr>
                </a:solidFill>
              </a:rPr>
              <a:t>for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two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months</a:t>
            </a:r>
            <a:endParaRPr lang="nl-NL" dirty="0">
              <a:solidFill>
                <a:schemeClr val="tx2">
                  <a:lumMod val="9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lang="nl-NL" dirty="0">
              <a:solidFill>
                <a:schemeClr val="tx2">
                  <a:lumMod val="90000"/>
                </a:schemeClr>
              </a:solidFill>
            </a:endParaRPr>
          </a:p>
          <a:p>
            <a:pPr>
              <a:defRPr/>
            </a:pP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I </a:t>
            </a:r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am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b="1" dirty="0">
                <a:solidFill>
                  <a:schemeClr val="tx2">
                    <a:lumMod val="90000"/>
                  </a:schemeClr>
                </a:solidFill>
              </a:rPr>
              <a:t>at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the </a:t>
            </a:r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baker’s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.</a:t>
            </a:r>
          </a:p>
          <a:p>
            <a:pPr>
              <a:defRPr/>
            </a:pP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I </a:t>
            </a:r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am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b="1" dirty="0" err="1">
                <a:solidFill>
                  <a:schemeClr val="tx2">
                    <a:lumMod val="90000"/>
                  </a:schemeClr>
                </a:solidFill>
              </a:rPr>
              <a:t>by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the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2">
                    <a:lumMod val="90000"/>
                  </a:schemeClr>
                </a:solidFill>
              </a:rPr>
              <a:t>baker’s</a:t>
            </a:r>
            <a:r>
              <a:rPr lang="nl-NL" dirty="0">
                <a:solidFill>
                  <a:schemeClr val="tx2">
                    <a:lumMod val="90000"/>
                  </a:schemeClr>
                </a:solidFill>
              </a:rPr>
              <a:t>.</a:t>
            </a:r>
          </a:p>
          <a:p>
            <a:pPr eaLnBrk="1" hangingPunct="1">
              <a:defRPr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1533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AutoShape 2"/>
          <p:cNvSpPr>
            <a:spLocks noGrp="1" noChangeArrowheads="1"/>
          </p:cNvSpPr>
          <p:nvPr>
            <p:ph type="title"/>
          </p:nvPr>
        </p:nvSpPr>
        <p:spPr>
          <a:xfrm>
            <a:off x="2133600" y="619200"/>
            <a:ext cx="9314722" cy="1477328"/>
          </a:xfrm>
        </p:spPr>
        <p:txBody>
          <a:bodyPr>
            <a:normAutofit/>
          </a:bodyPr>
          <a:lstStyle/>
          <a:p>
            <a:r>
              <a:rPr lang="nl-NL" altLang="en-US" sz="3600" dirty="0"/>
              <a:t>Common mistakes </a:t>
            </a:r>
            <a:r>
              <a:rPr lang="nl-NL" altLang="en-US" sz="3600" dirty="0" err="1"/>
              <a:t>by</a:t>
            </a:r>
            <a:r>
              <a:rPr lang="nl-NL" altLang="en-US" sz="3600" dirty="0"/>
              <a:t> </a:t>
            </a:r>
            <a:r>
              <a:rPr lang="nl-NL" altLang="en-US" sz="3600"/>
              <a:t>Dutch native speakers </a:t>
            </a:r>
            <a:r>
              <a:rPr lang="nl-NL" altLang="en-US" sz="3600" dirty="0"/>
              <a:t>- II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1966452" y="1376516"/>
            <a:ext cx="9481873" cy="4392459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nl-NL"/>
              <a:t>Which is correct? Explain the difference to highlight the error</a:t>
            </a:r>
          </a:p>
          <a:p>
            <a:pPr>
              <a:defRPr/>
            </a:pPr>
            <a:r>
              <a:rPr lang="nl-NL"/>
              <a:t>I </a:t>
            </a:r>
            <a:r>
              <a:rPr lang="nl-NL" dirty="0"/>
              <a:t>go to school </a:t>
            </a:r>
            <a:r>
              <a:rPr lang="nl-NL" b="1" dirty="0">
                <a:solidFill>
                  <a:srgbClr val="FF0000">
                    <a:alpha val="58000"/>
                  </a:srgbClr>
                </a:solidFill>
              </a:rPr>
              <a:t>with</a:t>
            </a:r>
            <a:r>
              <a:rPr lang="nl-NL" dirty="0"/>
              <a:t> the train.</a:t>
            </a:r>
          </a:p>
          <a:p>
            <a:pPr>
              <a:defRPr/>
            </a:pPr>
            <a:r>
              <a:rPr lang="nl-NL" dirty="0"/>
              <a:t>I go to school </a:t>
            </a:r>
            <a:r>
              <a:rPr lang="nl-NL" b="1" dirty="0" err="1">
                <a:solidFill>
                  <a:srgbClr val="00B050"/>
                </a:solidFill>
              </a:rPr>
              <a:t>by</a:t>
            </a:r>
            <a:r>
              <a:rPr lang="nl-NL" dirty="0"/>
              <a:t> train.</a:t>
            </a:r>
          </a:p>
          <a:p>
            <a:pPr marL="0" indent="0">
              <a:buNone/>
              <a:defRPr/>
            </a:pPr>
            <a:endParaRPr lang="nl-NL" dirty="0"/>
          </a:p>
          <a:p>
            <a:pPr>
              <a:lnSpc>
                <a:spcPct val="90000"/>
              </a:lnSpc>
              <a:defRPr/>
            </a:pPr>
            <a:r>
              <a:rPr lang="nl-NL" dirty="0"/>
              <a:t>He has </a:t>
            </a:r>
            <a:r>
              <a:rPr lang="nl-NL" dirty="0" err="1"/>
              <a:t>worked</a:t>
            </a:r>
            <a:r>
              <a:rPr lang="nl-NL" dirty="0"/>
              <a:t> here </a:t>
            </a:r>
            <a:r>
              <a:rPr lang="nl-NL" b="1" dirty="0" err="1">
                <a:solidFill>
                  <a:srgbClr val="FF0000">
                    <a:alpha val="58000"/>
                  </a:srgbClr>
                </a:solidFill>
              </a:rPr>
              <a:t>since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months</a:t>
            </a:r>
            <a:endParaRPr lang="nl-NL" dirty="0"/>
          </a:p>
          <a:p>
            <a:pPr>
              <a:lnSpc>
                <a:spcPct val="90000"/>
              </a:lnSpc>
              <a:defRPr/>
            </a:pPr>
            <a:r>
              <a:rPr lang="nl-NL" dirty="0"/>
              <a:t>He has </a:t>
            </a:r>
            <a:r>
              <a:rPr lang="nl-NL" dirty="0" err="1"/>
              <a:t>worked</a:t>
            </a:r>
            <a:r>
              <a:rPr lang="nl-NL" dirty="0"/>
              <a:t> here </a:t>
            </a:r>
            <a:r>
              <a:rPr lang="nl-NL" b="1" dirty="0" err="1">
                <a:solidFill>
                  <a:srgbClr val="00B050"/>
                </a:solidFill>
              </a:rPr>
              <a:t>for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months</a:t>
            </a:r>
            <a:endParaRPr lang="nl-NL" dirty="0"/>
          </a:p>
          <a:p>
            <a:pPr marL="0" indent="0">
              <a:lnSpc>
                <a:spcPct val="90000"/>
              </a:lnSpc>
              <a:buNone/>
              <a:defRPr/>
            </a:pPr>
            <a:endParaRPr lang="nl-NL" dirty="0"/>
          </a:p>
          <a:p>
            <a:pPr>
              <a:defRPr/>
            </a:pPr>
            <a:r>
              <a:rPr lang="nl-NL" dirty="0"/>
              <a:t>I </a:t>
            </a:r>
            <a:r>
              <a:rPr lang="nl-NL" dirty="0" err="1"/>
              <a:t>am</a:t>
            </a:r>
            <a:r>
              <a:rPr lang="nl-NL" dirty="0"/>
              <a:t> </a:t>
            </a:r>
            <a:r>
              <a:rPr lang="nl-NL" b="1" dirty="0">
                <a:solidFill>
                  <a:srgbClr val="00B050"/>
                </a:solidFill>
              </a:rPr>
              <a:t>at</a:t>
            </a:r>
            <a:r>
              <a:rPr lang="nl-NL" dirty="0"/>
              <a:t> the </a:t>
            </a:r>
            <a:r>
              <a:rPr lang="nl-NL" dirty="0" err="1"/>
              <a:t>baker’s</a:t>
            </a:r>
            <a:r>
              <a:rPr lang="nl-NL" dirty="0"/>
              <a:t>.</a:t>
            </a:r>
          </a:p>
          <a:p>
            <a:pPr>
              <a:defRPr/>
            </a:pPr>
            <a:r>
              <a:rPr lang="nl-NL" dirty="0"/>
              <a:t>I </a:t>
            </a:r>
            <a:r>
              <a:rPr lang="nl-NL" dirty="0" err="1"/>
              <a:t>am</a:t>
            </a:r>
            <a:r>
              <a:rPr lang="nl-NL" dirty="0"/>
              <a:t> </a:t>
            </a:r>
            <a:r>
              <a:rPr lang="nl-NL" b="1" dirty="0" err="1">
                <a:solidFill>
                  <a:srgbClr val="FF0000">
                    <a:alpha val="58000"/>
                  </a:srgbClr>
                </a:solidFill>
              </a:rPr>
              <a:t>by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baker’s</a:t>
            </a:r>
            <a:r>
              <a:rPr lang="nl-NL" dirty="0"/>
              <a:t>.</a:t>
            </a:r>
          </a:p>
          <a:p>
            <a:pPr eaLnBrk="1" hangingPunct="1">
              <a:defRPr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55625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B99D2-6B88-11B6-FD8F-91D1108F6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" y="619200"/>
            <a:ext cx="11256298" cy="1477328"/>
          </a:xfrm>
        </p:spPr>
        <p:txBody>
          <a:bodyPr/>
          <a:lstStyle/>
          <a:p>
            <a:r>
              <a:rPr lang="nl-NL" dirty="0" err="1"/>
              <a:t>Exercise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98FB3-936B-59DE-1CA1-6DAD481DD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" y="1737360"/>
            <a:ext cx="12073128" cy="512064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l-NL" dirty="0"/>
              <a:t>1.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_________________</a:t>
            </a:r>
            <a:r>
              <a:rPr lang="nl-NL" dirty="0"/>
              <a:t> 10 </a:t>
            </a:r>
            <a:r>
              <a:rPr lang="nl-NL" dirty="0" err="1"/>
              <a:t>o’clock</a:t>
            </a:r>
            <a:r>
              <a:rPr lang="nl-NL" dirty="0"/>
              <a:t> PM,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_________________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latest</a:t>
            </a:r>
            <a:r>
              <a:rPr lang="nl-NL" dirty="0"/>
              <a:t>, I </a:t>
            </a:r>
            <a:r>
              <a:rPr lang="nl-NL" dirty="0" err="1"/>
              <a:t>will</a:t>
            </a:r>
            <a:r>
              <a:rPr lang="nl-NL" dirty="0"/>
              <a:t> have </a:t>
            </a:r>
            <a:r>
              <a:rPr lang="nl-NL" dirty="0" err="1"/>
              <a:t>handed</a:t>
            </a:r>
            <a:r>
              <a:rPr lang="nl-NL" dirty="0"/>
              <a:t> in </a:t>
            </a:r>
            <a:r>
              <a:rPr lang="nl-NL" dirty="0" err="1"/>
              <a:t>my</a:t>
            </a:r>
            <a:r>
              <a:rPr lang="nl-NL" dirty="0"/>
              <a:t> essay. </a:t>
            </a:r>
          </a:p>
          <a:p>
            <a:pPr marL="0" indent="0">
              <a:buNone/>
            </a:pPr>
            <a:r>
              <a:rPr lang="nl-NL" dirty="0"/>
              <a:t>2.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 _________________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year’s</a:t>
            </a:r>
            <a:r>
              <a:rPr lang="nl-NL" dirty="0"/>
              <a:t> time, I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receiving</a:t>
            </a:r>
            <a:r>
              <a:rPr lang="nl-NL" dirty="0"/>
              <a:t> </a:t>
            </a:r>
            <a:r>
              <a:rPr lang="nl-NL" dirty="0" err="1"/>
              <a:t>my</a:t>
            </a:r>
            <a:r>
              <a:rPr lang="nl-NL" dirty="0"/>
              <a:t> diploma!</a:t>
            </a:r>
          </a:p>
          <a:p>
            <a:pPr marL="0" indent="0">
              <a:buNone/>
            </a:pPr>
            <a:r>
              <a:rPr lang="nl-NL" dirty="0"/>
              <a:t>3. I </a:t>
            </a:r>
            <a:r>
              <a:rPr lang="nl-NL" dirty="0" err="1"/>
              <a:t>arrived</a:t>
            </a:r>
            <a:r>
              <a:rPr lang="nl-NL" dirty="0"/>
              <a:t> </a:t>
            </a:r>
            <a:r>
              <a:rPr lang="nl-NL" dirty="0" err="1"/>
              <a:t>so</a:t>
            </a:r>
            <a:r>
              <a:rPr lang="nl-NL" dirty="0"/>
              <a:t> </a:t>
            </a:r>
            <a:r>
              <a:rPr lang="nl-NL" dirty="0" err="1"/>
              <a:t>early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main</a:t>
            </a:r>
            <a:r>
              <a:rPr lang="nl-NL" dirty="0"/>
              <a:t> </a:t>
            </a:r>
            <a:r>
              <a:rPr lang="nl-NL" dirty="0" err="1"/>
              <a:t>doors</a:t>
            </a:r>
            <a:r>
              <a:rPr lang="nl-NL" dirty="0"/>
              <a:t> </a:t>
            </a:r>
            <a:r>
              <a:rPr lang="nl-NL" dirty="0" err="1"/>
              <a:t>weren’t</a:t>
            </a:r>
            <a:r>
              <a:rPr lang="nl-NL" dirty="0"/>
              <a:t> even open </a:t>
            </a:r>
            <a:r>
              <a:rPr lang="nl-NL" dirty="0" err="1"/>
              <a:t>yet</a:t>
            </a:r>
            <a:r>
              <a:rPr lang="nl-NL" dirty="0"/>
              <a:t>. </a:t>
            </a:r>
            <a:r>
              <a:rPr lang="nl-NL" dirty="0" err="1"/>
              <a:t>So</a:t>
            </a:r>
            <a:r>
              <a:rPr lang="nl-NL" dirty="0"/>
              <a:t> I </a:t>
            </a:r>
            <a:r>
              <a:rPr lang="nl-NL" dirty="0" err="1"/>
              <a:t>just</a:t>
            </a:r>
            <a:r>
              <a:rPr lang="nl-NL" dirty="0"/>
              <a:t> </a:t>
            </a:r>
            <a:r>
              <a:rPr lang="nl-NL" dirty="0" err="1"/>
              <a:t>stood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_________________ </a:t>
            </a:r>
            <a:r>
              <a:rPr lang="nl-NL" dirty="0" err="1"/>
              <a:t>the</a:t>
            </a:r>
            <a:r>
              <a:rPr lang="nl-NL" dirty="0"/>
              <a:t> building </a:t>
            </a:r>
            <a:r>
              <a:rPr lang="nl-NL" dirty="0" err="1"/>
              <a:t>until</a:t>
            </a:r>
            <a:r>
              <a:rPr lang="nl-NL" dirty="0"/>
              <a:t> I was </a:t>
            </a:r>
            <a:r>
              <a:rPr lang="nl-NL" dirty="0" err="1"/>
              <a:t>allowed</a:t>
            </a:r>
            <a:r>
              <a:rPr lang="nl-NL" dirty="0"/>
              <a:t> in.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_________________</a:t>
            </a:r>
            <a:r>
              <a:rPr lang="nl-NL" dirty="0"/>
              <a:t> a moment I </a:t>
            </a:r>
            <a:r>
              <a:rPr lang="nl-NL" dirty="0" err="1"/>
              <a:t>considered</a:t>
            </a:r>
            <a:r>
              <a:rPr lang="nl-NL" dirty="0"/>
              <a:t> </a:t>
            </a:r>
            <a:r>
              <a:rPr lang="nl-NL" dirty="0" err="1"/>
              <a:t>walking</a:t>
            </a:r>
            <a:r>
              <a:rPr lang="nl-NL" dirty="0"/>
              <a:t>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_________________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building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back door. But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_________________ </a:t>
            </a:r>
            <a:r>
              <a:rPr lang="nl-NL" dirty="0"/>
              <a:t>course, I </a:t>
            </a:r>
            <a:r>
              <a:rPr lang="nl-NL" dirty="0" err="1"/>
              <a:t>knew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would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locked</a:t>
            </a:r>
            <a:r>
              <a:rPr lang="nl-NL" dirty="0"/>
              <a:t> as well. </a:t>
            </a:r>
          </a:p>
          <a:p>
            <a:pPr marL="0" indent="0">
              <a:buNone/>
            </a:pPr>
            <a:r>
              <a:rPr lang="nl-NL" dirty="0"/>
              <a:t>4. </a:t>
            </a:r>
            <a:r>
              <a:rPr lang="nl-NL" dirty="0" err="1"/>
              <a:t>I’m</a:t>
            </a:r>
            <a:r>
              <a:rPr lang="nl-NL" dirty="0"/>
              <a:t> </a:t>
            </a:r>
            <a:r>
              <a:rPr lang="nl-NL" dirty="0" err="1"/>
              <a:t>so</a:t>
            </a:r>
            <a:r>
              <a:rPr lang="nl-NL" dirty="0"/>
              <a:t> bad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_________________</a:t>
            </a:r>
            <a:r>
              <a:rPr lang="nl-NL" dirty="0"/>
              <a:t> </a:t>
            </a:r>
            <a:r>
              <a:rPr lang="nl-NL" dirty="0" err="1"/>
              <a:t>organizing</a:t>
            </a:r>
            <a:r>
              <a:rPr lang="nl-NL" dirty="0"/>
              <a:t> </a:t>
            </a:r>
            <a:r>
              <a:rPr lang="nl-NL" dirty="0" err="1"/>
              <a:t>my</a:t>
            </a:r>
            <a:r>
              <a:rPr lang="nl-NL" dirty="0"/>
              <a:t> </a:t>
            </a:r>
            <a:r>
              <a:rPr lang="nl-NL" dirty="0" err="1"/>
              <a:t>day</a:t>
            </a:r>
            <a:r>
              <a:rPr lang="nl-NL" dirty="0"/>
              <a:t>. I </a:t>
            </a:r>
            <a:r>
              <a:rPr lang="nl-NL" dirty="0" err="1"/>
              <a:t>hardly</a:t>
            </a:r>
            <a:r>
              <a:rPr lang="nl-NL" dirty="0"/>
              <a:t> even wake up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_________________ </a:t>
            </a:r>
            <a:r>
              <a:rPr lang="nl-NL" dirty="0"/>
              <a:t>time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eat</a:t>
            </a:r>
            <a:r>
              <a:rPr lang="nl-NL" dirty="0"/>
              <a:t> a proper </a:t>
            </a:r>
            <a:r>
              <a:rPr lang="nl-NL" dirty="0" err="1"/>
              <a:t>breakfast</a:t>
            </a:r>
            <a:r>
              <a:rPr lang="nl-NL" dirty="0"/>
              <a:t>. </a:t>
            </a:r>
          </a:p>
          <a:p>
            <a:pPr marL="0" indent="0">
              <a:buNone/>
            </a:pPr>
            <a:r>
              <a:rPr lang="nl-NL" dirty="0"/>
              <a:t>But </a:t>
            </a:r>
            <a:r>
              <a:rPr lang="nl-NL" dirty="0" err="1"/>
              <a:t>then</a:t>
            </a:r>
            <a:r>
              <a:rPr lang="nl-NL" dirty="0"/>
              <a:t> </a:t>
            </a:r>
            <a:r>
              <a:rPr lang="nl-NL" dirty="0" err="1"/>
              <a:t>again</a:t>
            </a:r>
            <a:r>
              <a:rPr lang="nl-NL" dirty="0"/>
              <a:t>, I have </a:t>
            </a:r>
            <a:r>
              <a:rPr lang="nl-NL" dirty="0" err="1"/>
              <a:t>noticed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my</a:t>
            </a:r>
            <a:r>
              <a:rPr lang="nl-NL" dirty="0"/>
              <a:t> 9:00 </a:t>
            </a:r>
            <a:r>
              <a:rPr lang="nl-NL" dirty="0" err="1"/>
              <a:t>lecture</a:t>
            </a:r>
            <a:r>
              <a:rPr lang="nl-NL" dirty="0"/>
              <a:t> never </a:t>
            </a:r>
            <a:r>
              <a:rPr lang="nl-NL" dirty="0" err="1"/>
              <a:t>seems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start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_________________</a:t>
            </a:r>
            <a:r>
              <a:rPr lang="nl-NL" dirty="0"/>
              <a:t> time. </a:t>
            </a:r>
          </a:p>
          <a:p>
            <a:pPr marL="0" indent="0">
              <a:buNone/>
            </a:pPr>
            <a:r>
              <a:rPr lang="nl-NL" dirty="0"/>
              <a:t>My professor is </a:t>
            </a:r>
            <a:r>
              <a:rPr lang="nl-NL" dirty="0" err="1"/>
              <a:t>usually</a:t>
            </a:r>
            <a:r>
              <a:rPr lang="nl-NL" dirty="0"/>
              <a:t> five minutes late. I </a:t>
            </a:r>
            <a:r>
              <a:rPr lang="nl-NL" dirty="0" err="1"/>
              <a:t>hear</a:t>
            </a:r>
            <a:r>
              <a:rPr lang="nl-NL" dirty="0"/>
              <a:t> </a:t>
            </a:r>
            <a:r>
              <a:rPr lang="nl-NL" dirty="0" err="1"/>
              <a:t>she’s</a:t>
            </a:r>
            <a:r>
              <a:rPr lang="nl-NL" dirty="0"/>
              <a:t> been </a:t>
            </a:r>
            <a:r>
              <a:rPr lang="nl-NL" dirty="0" err="1"/>
              <a:t>doing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_________________</a:t>
            </a:r>
            <a:r>
              <a:rPr lang="nl-NL" dirty="0"/>
              <a:t> </a:t>
            </a:r>
            <a:r>
              <a:rPr lang="nl-NL" dirty="0" err="1"/>
              <a:t>many</a:t>
            </a:r>
            <a:r>
              <a:rPr lang="nl-NL" dirty="0"/>
              <a:t> </a:t>
            </a:r>
            <a:r>
              <a:rPr lang="nl-NL" dirty="0" err="1"/>
              <a:t>years</a:t>
            </a:r>
            <a:r>
              <a:rPr lang="nl-NL" dirty="0"/>
              <a:t>, but </a:t>
            </a:r>
            <a:r>
              <a:rPr lang="nl-NL" dirty="0" err="1"/>
              <a:t>she</a:t>
            </a:r>
            <a:r>
              <a:rPr lang="nl-NL" dirty="0"/>
              <a:t> </a:t>
            </a:r>
            <a:r>
              <a:rPr lang="nl-NL" dirty="0" err="1"/>
              <a:t>just</a:t>
            </a:r>
            <a:r>
              <a:rPr lang="nl-NL" dirty="0"/>
              <a:t> </a:t>
            </a:r>
            <a:r>
              <a:rPr lang="nl-NL" dirty="0" err="1"/>
              <a:t>gets</a:t>
            </a:r>
            <a:r>
              <a:rPr lang="nl-NL" dirty="0"/>
              <a:t> </a:t>
            </a:r>
            <a:r>
              <a:rPr lang="nl-NL" dirty="0" err="1"/>
              <a:t>away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it. </a:t>
            </a:r>
          </a:p>
          <a:p>
            <a:pPr marL="0" indent="0">
              <a:buNone/>
            </a:pPr>
            <a:r>
              <a:rPr lang="nl-NL" dirty="0"/>
              <a:t>I </a:t>
            </a:r>
            <a:r>
              <a:rPr lang="nl-NL" dirty="0" err="1"/>
              <a:t>probably</a:t>
            </a:r>
            <a:r>
              <a:rPr lang="nl-NL" dirty="0"/>
              <a:t> </a:t>
            </a:r>
            <a:r>
              <a:rPr lang="nl-NL" dirty="0" err="1"/>
              <a:t>arrive</a:t>
            </a:r>
            <a:r>
              <a:rPr lang="nl-NL" dirty="0"/>
              <a:t>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_________________</a:t>
            </a:r>
            <a:r>
              <a:rPr lang="nl-NL" dirty="0"/>
              <a:t> school even </a:t>
            </a:r>
            <a:r>
              <a:rPr lang="nl-NL" dirty="0" err="1"/>
              <a:t>before</a:t>
            </a:r>
            <a:r>
              <a:rPr lang="nl-NL" dirty="0"/>
              <a:t> </a:t>
            </a:r>
            <a:r>
              <a:rPr lang="nl-NL" dirty="0" err="1"/>
              <a:t>she</a:t>
            </a:r>
            <a:r>
              <a:rPr lang="nl-NL" dirty="0"/>
              <a:t> does! </a:t>
            </a:r>
          </a:p>
          <a:p>
            <a:pPr marL="0" indent="0">
              <a:buNone/>
            </a:pPr>
            <a:r>
              <a:rPr lang="nl-NL" dirty="0"/>
              <a:t>Well </a:t>
            </a:r>
            <a:r>
              <a:rPr lang="nl-NL" dirty="0" err="1"/>
              <a:t>maybe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, but </a:t>
            </a:r>
            <a:r>
              <a:rPr lang="nl-NL" dirty="0" err="1"/>
              <a:t>I’m</a:t>
            </a:r>
            <a:r>
              <a:rPr lang="nl-NL" dirty="0"/>
              <a:t> </a:t>
            </a:r>
            <a:r>
              <a:rPr lang="nl-NL" dirty="0" err="1"/>
              <a:t>certainly</a:t>
            </a:r>
            <a:r>
              <a:rPr lang="nl-NL" dirty="0"/>
              <a:t>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_________________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classroom,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_________________</a:t>
            </a:r>
            <a:r>
              <a:rPr lang="nl-NL" dirty="0"/>
              <a:t> </a:t>
            </a:r>
            <a:r>
              <a:rPr lang="nl-NL" dirty="0" err="1"/>
              <a:t>my</a:t>
            </a:r>
            <a:r>
              <a:rPr lang="nl-NL" dirty="0"/>
              <a:t> desk, first.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_________________</a:t>
            </a:r>
            <a:r>
              <a:rPr lang="nl-NL" dirty="0"/>
              <a:t> </a:t>
            </a:r>
            <a:r>
              <a:rPr lang="nl-NL" dirty="0" err="1"/>
              <a:t>least</a:t>
            </a:r>
            <a:r>
              <a:rPr lang="nl-NL" dirty="0"/>
              <a:t>, most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_________________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time. </a:t>
            </a:r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3764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B5197-BAD9-1CAD-9784-21C142869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0C460-27A4-5BD9-5AF3-50F3F423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4ED70-BD76-8116-5774-58091E23C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" y="2096528"/>
            <a:ext cx="12073128" cy="47614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dirty="0"/>
              <a:t>1. </a:t>
            </a:r>
            <a:r>
              <a:rPr lang="nl-NL" b="1" dirty="0" err="1">
                <a:solidFill>
                  <a:srgbClr val="00B050">
                    <a:alpha val="58000"/>
                  </a:srgbClr>
                </a:solidFill>
              </a:rPr>
              <a:t>By</a:t>
            </a:r>
            <a:r>
              <a:rPr lang="nl-NL" dirty="0"/>
              <a:t> 10 </a:t>
            </a:r>
            <a:r>
              <a:rPr lang="nl-NL" dirty="0" err="1"/>
              <a:t>o’clock</a:t>
            </a:r>
            <a:r>
              <a:rPr lang="nl-NL" dirty="0"/>
              <a:t> PM,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at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latest</a:t>
            </a:r>
            <a:r>
              <a:rPr lang="nl-NL" dirty="0"/>
              <a:t>, I </a:t>
            </a:r>
            <a:r>
              <a:rPr lang="nl-NL" dirty="0" err="1"/>
              <a:t>will</a:t>
            </a:r>
            <a:r>
              <a:rPr lang="nl-NL" dirty="0"/>
              <a:t> have </a:t>
            </a:r>
            <a:r>
              <a:rPr lang="nl-NL" dirty="0" err="1"/>
              <a:t>handed</a:t>
            </a:r>
            <a:r>
              <a:rPr lang="nl-NL" dirty="0"/>
              <a:t> in </a:t>
            </a:r>
            <a:r>
              <a:rPr lang="nl-NL" dirty="0" err="1"/>
              <a:t>my</a:t>
            </a:r>
            <a:r>
              <a:rPr lang="nl-NL" dirty="0"/>
              <a:t> essay. </a:t>
            </a:r>
          </a:p>
          <a:p>
            <a:pPr marL="0" indent="0">
              <a:buNone/>
            </a:pPr>
            <a:r>
              <a:rPr lang="nl-NL" dirty="0"/>
              <a:t>2.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 In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year’s</a:t>
            </a:r>
            <a:r>
              <a:rPr lang="nl-NL" dirty="0"/>
              <a:t> time, I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receiving</a:t>
            </a:r>
            <a:r>
              <a:rPr lang="nl-NL" dirty="0"/>
              <a:t> </a:t>
            </a:r>
            <a:r>
              <a:rPr lang="nl-NL" dirty="0" err="1"/>
              <a:t>my</a:t>
            </a:r>
            <a:r>
              <a:rPr lang="nl-NL" dirty="0"/>
              <a:t> diploma!</a:t>
            </a:r>
          </a:p>
          <a:p>
            <a:pPr marL="0" indent="0">
              <a:buNone/>
            </a:pPr>
            <a:r>
              <a:rPr lang="nl-NL" dirty="0"/>
              <a:t>3. I </a:t>
            </a:r>
            <a:r>
              <a:rPr lang="nl-NL" dirty="0" err="1"/>
              <a:t>arrived</a:t>
            </a:r>
            <a:r>
              <a:rPr lang="nl-NL" dirty="0"/>
              <a:t> </a:t>
            </a:r>
            <a:r>
              <a:rPr lang="nl-NL" dirty="0" err="1"/>
              <a:t>so</a:t>
            </a:r>
            <a:r>
              <a:rPr lang="nl-NL" dirty="0"/>
              <a:t> </a:t>
            </a:r>
            <a:r>
              <a:rPr lang="nl-NL" dirty="0" err="1"/>
              <a:t>early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main</a:t>
            </a:r>
            <a:r>
              <a:rPr lang="nl-NL" dirty="0"/>
              <a:t> </a:t>
            </a:r>
            <a:r>
              <a:rPr lang="nl-NL" dirty="0" err="1"/>
              <a:t>doors</a:t>
            </a:r>
            <a:r>
              <a:rPr lang="nl-NL" dirty="0"/>
              <a:t> </a:t>
            </a:r>
            <a:r>
              <a:rPr lang="nl-NL" dirty="0" err="1"/>
              <a:t>weren’t</a:t>
            </a:r>
            <a:r>
              <a:rPr lang="nl-NL" dirty="0"/>
              <a:t> even open </a:t>
            </a:r>
            <a:r>
              <a:rPr lang="nl-NL" dirty="0" err="1"/>
              <a:t>yet</a:t>
            </a:r>
            <a:r>
              <a:rPr lang="nl-NL" dirty="0"/>
              <a:t>. </a:t>
            </a:r>
            <a:r>
              <a:rPr lang="nl-NL" dirty="0" err="1"/>
              <a:t>So</a:t>
            </a:r>
            <a:r>
              <a:rPr lang="nl-NL" dirty="0"/>
              <a:t> I </a:t>
            </a:r>
            <a:r>
              <a:rPr lang="nl-NL" dirty="0" err="1"/>
              <a:t>just</a:t>
            </a:r>
            <a:r>
              <a:rPr lang="nl-NL" dirty="0"/>
              <a:t> </a:t>
            </a:r>
            <a:r>
              <a:rPr lang="nl-NL" dirty="0" err="1"/>
              <a:t>stood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in front of </a:t>
            </a:r>
            <a:r>
              <a:rPr lang="nl-NL" dirty="0" err="1"/>
              <a:t>the</a:t>
            </a:r>
            <a:r>
              <a:rPr lang="nl-NL" dirty="0"/>
              <a:t> building </a:t>
            </a:r>
            <a:r>
              <a:rPr lang="nl-NL" dirty="0" err="1"/>
              <a:t>until</a:t>
            </a:r>
            <a:r>
              <a:rPr lang="nl-NL" dirty="0"/>
              <a:t> I was </a:t>
            </a:r>
            <a:r>
              <a:rPr lang="nl-NL" dirty="0" err="1"/>
              <a:t>allowed</a:t>
            </a:r>
            <a:r>
              <a:rPr lang="nl-NL" dirty="0"/>
              <a:t> in.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For</a:t>
            </a:r>
            <a:r>
              <a:rPr lang="nl-NL" dirty="0"/>
              <a:t> a moment I </a:t>
            </a:r>
            <a:r>
              <a:rPr lang="nl-NL" dirty="0" err="1"/>
              <a:t>considered</a:t>
            </a:r>
            <a:r>
              <a:rPr lang="nl-NL" dirty="0"/>
              <a:t> </a:t>
            </a:r>
            <a:r>
              <a:rPr lang="nl-NL" dirty="0" err="1"/>
              <a:t>walking</a:t>
            </a:r>
            <a:r>
              <a:rPr lang="nl-NL" dirty="0"/>
              <a:t> </a:t>
            </a:r>
            <a:r>
              <a:rPr lang="nl-NL" b="1" dirty="0" err="1">
                <a:solidFill>
                  <a:srgbClr val="00B050">
                    <a:alpha val="58000"/>
                  </a:srgbClr>
                </a:solidFill>
              </a:rPr>
              <a:t>around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building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back door. But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of </a:t>
            </a:r>
            <a:r>
              <a:rPr lang="nl-NL" dirty="0"/>
              <a:t>course, I </a:t>
            </a:r>
            <a:r>
              <a:rPr lang="nl-NL" dirty="0" err="1"/>
              <a:t>knew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would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locked</a:t>
            </a:r>
            <a:r>
              <a:rPr lang="nl-NL" dirty="0"/>
              <a:t> as well. </a:t>
            </a:r>
          </a:p>
          <a:p>
            <a:pPr marL="0" indent="0">
              <a:buNone/>
            </a:pPr>
            <a:r>
              <a:rPr lang="nl-NL" dirty="0"/>
              <a:t>4. </a:t>
            </a:r>
            <a:r>
              <a:rPr lang="nl-NL" dirty="0" err="1"/>
              <a:t>I’m</a:t>
            </a:r>
            <a:r>
              <a:rPr lang="nl-NL" dirty="0"/>
              <a:t> </a:t>
            </a:r>
            <a:r>
              <a:rPr lang="nl-NL" dirty="0" err="1"/>
              <a:t>so</a:t>
            </a:r>
            <a:r>
              <a:rPr lang="nl-NL" dirty="0"/>
              <a:t> bad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at</a:t>
            </a:r>
            <a:r>
              <a:rPr lang="nl-NL" dirty="0"/>
              <a:t> </a:t>
            </a:r>
            <a:r>
              <a:rPr lang="nl-NL" dirty="0" err="1"/>
              <a:t>organizing</a:t>
            </a:r>
            <a:r>
              <a:rPr lang="nl-NL" dirty="0"/>
              <a:t> </a:t>
            </a:r>
            <a:r>
              <a:rPr lang="nl-NL" dirty="0" err="1"/>
              <a:t>my</a:t>
            </a:r>
            <a:r>
              <a:rPr lang="nl-NL" dirty="0"/>
              <a:t> </a:t>
            </a:r>
            <a:r>
              <a:rPr lang="nl-NL" dirty="0" err="1"/>
              <a:t>day</a:t>
            </a:r>
            <a:r>
              <a:rPr lang="nl-NL" dirty="0"/>
              <a:t>. I </a:t>
            </a:r>
            <a:r>
              <a:rPr lang="nl-NL" dirty="0" err="1"/>
              <a:t>hardly</a:t>
            </a:r>
            <a:r>
              <a:rPr lang="nl-NL" dirty="0"/>
              <a:t> even wake up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in </a:t>
            </a:r>
            <a:r>
              <a:rPr lang="nl-NL" dirty="0"/>
              <a:t>time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eat</a:t>
            </a:r>
            <a:r>
              <a:rPr lang="nl-NL" dirty="0"/>
              <a:t> a proper </a:t>
            </a:r>
            <a:r>
              <a:rPr lang="nl-NL" dirty="0" err="1"/>
              <a:t>breakfast</a:t>
            </a:r>
            <a:r>
              <a:rPr lang="nl-NL" dirty="0"/>
              <a:t>. </a:t>
            </a:r>
          </a:p>
          <a:p>
            <a:pPr marL="0" indent="0">
              <a:buNone/>
            </a:pPr>
            <a:r>
              <a:rPr lang="nl-NL" dirty="0"/>
              <a:t>But </a:t>
            </a:r>
            <a:r>
              <a:rPr lang="nl-NL" dirty="0" err="1"/>
              <a:t>then</a:t>
            </a:r>
            <a:r>
              <a:rPr lang="nl-NL" dirty="0"/>
              <a:t> </a:t>
            </a:r>
            <a:r>
              <a:rPr lang="nl-NL" dirty="0" err="1"/>
              <a:t>again</a:t>
            </a:r>
            <a:r>
              <a:rPr lang="nl-NL" dirty="0"/>
              <a:t>, I have </a:t>
            </a:r>
            <a:r>
              <a:rPr lang="nl-NL" dirty="0" err="1"/>
              <a:t>noticed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my</a:t>
            </a:r>
            <a:r>
              <a:rPr lang="nl-NL" dirty="0"/>
              <a:t> 9:00 </a:t>
            </a:r>
            <a:r>
              <a:rPr lang="nl-NL" dirty="0" err="1"/>
              <a:t>lecture</a:t>
            </a:r>
            <a:r>
              <a:rPr lang="nl-NL" dirty="0"/>
              <a:t> never </a:t>
            </a:r>
            <a:r>
              <a:rPr lang="nl-NL" dirty="0" err="1"/>
              <a:t>seems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start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on</a:t>
            </a:r>
            <a:r>
              <a:rPr lang="nl-NL" dirty="0"/>
              <a:t> time. </a:t>
            </a:r>
          </a:p>
          <a:p>
            <a:pPr marL="0" indent="0">
              <a:buNone/>
            </a:pPr>
            <a:r>
              <a:rPr lang="nl-NL" dirty="0"/>
              <a:t>My professor is </a:t>
            </a:r>
            <a:r>
              <a:rPr lang="nl-NL" dirty="0" err="1"/>
              <a:t>usually</a:t>
            </a:r>
            <a:r>
              <a:rPr lang="nl-NL" dirty="0"/>
              <a:t> five minutes late. I </a:t>
            </a:r>
            <a:r>
              <a:rPr lang="nl-NL" dirty="0" err="1"/>
              <a:t>hear</a:t>
            </a:r>
            <a:r>
              <a:rPr lang="nl-NL" dirty="0"/>
              <a:t> </a:t>
            </a:r>
            <a:r>
              <a:rPr lang="nl-NL" dirty="0" err="1"/>
              <a:t>she’s</a:t>
            </a:r>
            <a:r>
              <a:rPr lang="nl-NL" dirty="0"/>
              <a:t> been </a:t>
            </a:r>
            <a:r>
              <a:rPr lang="nl-NL" dirty="0" err="1"/>
              <a:t>doing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b="1" dirty="0" err="1">
                <a:solidFill>
                  <a:srgbClr val="00B050">
                    <a:alpha val="58000"/>
                  </a:srgbClr>
                </a:solidFill>
              </a:rPr>
              <a:t>for</a:t>
            </a:r>
            <a:r>
              <a:rPr lang="nl-NL" dirty="0"/>
              <a:t> </a:t>
            </a:r>
            <a:r>
              <a:rPr lang="nl-NL" dirty="0" err="1"/>
              <a:t>many</a:t>
            </a:r>
            <a:r>
              <a:rPr lang="nl-NL" dirty="0"/>
              <a:t> </a:t>
            </a:r>
            <a:r>
              <a:rPr lang="nl-NL" dirty="0" err="1"/>
              <a:t>years</a:t>
            </a:r>
            <a:r>
              <a:rPr lang="nl-NL" dirty="0"/>
              <a:t>, but </a:t>
            </a:r>
            <a:r>
              <a:rPr lang="nl-NL" dirty="0" err="1"/>
              <a:t>she</a:t>
            </a:r>
            <a:r>
              <a:rPr lang="nl-NL" dirty="0"/>
              <a:t> </a:t>
            </a:r>
            <a:r>
              <a:rPr lang="nl-NL" dirty="0" err="1"/>
              <a:t>just</a:t>
            </a:r>
            <a:r>
              <a:rPr lang="nl-NL" dirty="0"/>
              <a:t> </a:t>
            </a:r>
            <a:r>
              <a:rPr lang="nl-NL" dirty="0" err="1"/>
              <a:t>gets</a:t>
            </a:r>
            <a:r>
              <a:rPr lang="nl-NL" dirty="0"/>
              <a:t> </a:t>
            </a:r>
            <a:r>
              <a:rPr lang="nl-NL" dirty="0" err="1"/>
              <a:t>away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it. </a:t>
            </a:r>
          </a:p>
          <a:p>
            <a:pPr marL="0" indent="0">
              <a:buNone/>
            </a:pPr>
            <a:r>
              <a:rPr lang="nl-NL" dirty="0"/>
              <a:t>I </a:t>
            </a:r>
            <a:r>
              <a:rPr lang="nl-NL" dirty="0" err="1"/>
              <a:t>probably</a:t>
            </a:r>
            <a:r>
              <a:rPr lang="nl-NL" dirty="0"/>
              <a:t> </a:t>
            </a:r>
            <a:r>
              <a:rPr lang="nl-NL" dirty="0" err="1"/>
              <a:t>arrive</a:t>
            </a:r>
            <a:r>
              <a:rPr lang="nl-NL" dirty="0"/>
              <a:t>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at</a:t>
            </a:r>
            <a:r>
              <a:rPr lang="nl-NL" dirty="0"/>
              <a:t> school even </a:t>
            </a:r>
            <a:r>
              <a:rPr lang="nl-NL" dirty="0" err="1"/>
              <a:t>before</a:t>
            </a:r>
            <a:r>
              <a:rPr lang="nl-NL" dirty="0"/>
              <a:t> </a:t>
            </a:r>
            <a:r>
              <a:rPr lang="nl-NL" dirty="0" err="1"/>
              <a:t>she</a:t>
            </a:r>
            <a:r>
              <a:rPr lang="nl-NL" dirty="0"/>
              <a:t> does! </a:t>
            </a:r>
          </a:p>
          <a:p>
            <a:pPr marL="0" indent="0">
              <a:buNone/>
            </a:pPr>
            <a:r>
              <a:rPr lang="nl-NL" dirty="0"/>
              <a:t>Well </a:t>
            </a:r>
            <a:r>
              <a:rPr lang="nl-NL" dirty="0" err="1"/>
              <a:t>maybe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, but </a:t>
            </a:r>
            <a:r>
              <a:rPr lang="nl-NL" dirty="0" err="1"/>
              <a:t>I’m</a:t>
            </a:r>
            <a:r>
              <a:rPr lang="nl-NL" dirty="0"/>
              <a:t> </a:t>
            </a:r>
            <a:r>
              <a:rPr lang="nl-NL" dirty="0" err="1"/>
              <a:t>certainly</a:t>
            </a:r>
            <a:r>
              <a:rPr lang="nl-NL" dirty="0"/>
              <a:t>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in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classroom,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at</a:t>
            </a:r>
            <a:r>
              <a:rPr lang="nl-NL" dirty="0"/>
              <a:t> </a:t>
            </a:r>
            <a:r>
              <a:rPr lang="nl-NL" dirty="0" err="1"/>
              <a:t>my</a:t>
            </a:r>
            <a:r>
              <a:rPr lang="nl-NL" dirty="0"/>
              <a:t> desk, first.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At</a:t>
            </a:r>
            <a:r>
              <a:rPr lang="nl-NL" dirty="0"/>
              <a:t> </a:t>
            </a:r>
            <a:r>
              <a:rPr lang="nl-NL" dirty="0" err="1"/>
              <a:t>least</a:t>
            </a:r>
            <a:r>
              <a:rPr lang="nl-NL" dirty="0"/>
              <a:t>, most </a:t>
            </a:r>
            <a:r>
              <a:rPr lang="nl-NL" b="1" dirty="0">
                <a:solidFill>
                  <a:srgbClr val="00B050">
                    <a:alpha val="58000"/>
                  </a:srgbClr>
                </a:solidFill>
              </a:rPr>
              <a:t>of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time. </a:t>
            </a:r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1527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71500" y="639098"/>
            <a:ext cx="3609804" cy="3686015"/>
          </a:xfrm>
        </p:spPr>
        <p:txBody>
          <a:bodyPr>
            <a:normAutofit/>
          </a:bodyPr>
          <a:lstStyle/>
          <a:p>
            <a:r>
              <a:rPr lang="en-US" sz="6800"/>
              <a:t>Grammar &amp;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71499" y="4455621"/>
            <a:ext cx="3621826" cy="1238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If-Conditionals</a:t>
            </a:r>
          </a:p>
        </p:txBody>
      </p:sp>
      <p:pic>
        <p:nvPicPr>
          <p:cNvPr id="5" name="Afbeelding 4" descr="Bruine alpacasnuit">
            <a:extLst>
              <a:ext uri="{FF2B5EF4-FFF2-40B4-BE49-F238E27FC236}">
                <a16:creationId xmlns:a16="http://schemas.microsoft.com/office/drawing/2014/main" id="{EE13EA68-43F7-4F7D-A29E-7A054FEDE53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22" r="25711" b="-1"/>
          <a:stretch/>
        </p:blipFill>
        <p:spPr>
          <a:xfrm>
            <a:off x="1524020" y="10"/>
            <a:ext cx="4571980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3B5BD-5CD8-468E-A409-3327FD13ED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/>
              <a:t>Grammar – conditionals 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617B01-7BC2-4CCF-92BD-A2714B9DD3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/>
              <a:t>Week 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0643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9378E77-EEFC-65C5-D850-4BBF174CA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7"/>
            <a:ext cx="11353800" cy="1325563"/>
          </a:xfrm>
        </p:spPr>
        <p:txBody>
          <a:bodyPr/>
          <a:lstStyle/>
          <a:p>
            <a:r>
              <a:rPr lang="en-US"/>
              <a:t>Conditional sentences</a:t>
            </a:r>
            <a:endParaRPr lang="LID4096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99E70C-48DA-BDC8-CFE1-34B32442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889" y="1563624"/>
            <a:ext cx="11618540" cy="5294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What are they? 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“if”-sentences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3 different types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do conditional sentences contain? </a:t>
            </a:r>
            <a:r>
              <a:rPr lang="en-US" u="sng" dirty="0"/>
              <a:t>Two</a:t>
            </a:r>
            <a:r>
              <a:rPr lang="en-US" dirty="0"/>
              <a:t> clauses: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a</a:t>
            </a:r>
            <a:r>
              <a:rPr lang="en-US" dirty="0"/>
              <a:t> conditional clause: begins with the </a:t>
            </a:r>
            <a:r>
              <a:rPr lang="en-US" dirty="0" err="1"/>
              <a:t>word“if</a:t>
            </a:r>
            <a:r>
              <a:rPr lang="en-US" dirty="0"/>
              <a:t>” (or “when”/ “whenever”/ “anytime”) + VERB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a</a:t>
            </a:r>
            <a:r>
              <a:rPr lang="en-US" dirty="0"/>
              <a:t> main clause: which also has a VERB</a:t>
            </a: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dirty="0"/>
              <a:t>Example: </a:t>
            </a:r>
            <a:r>
              <a:rPr lang="en-US" dirty="0">
                <a:solidFill>
                  <a:srgbClr val="0070C0"/>
                </a:solidFill>
              </a:rPr>
              <a:t>“If I lived another 100 years, I still would not be able to figure this out.”</a:t>
            </a:r>
          </a:p>
          <a:p>
            <a:pPr marL="0" indent="0">
              <a:buNone/>
            </a:pPr>
            <a:r>
              <a:rPr lang="en-US" i="1" dirty="0"/>
              <a:t>*The “if” clause often comes first, but it doesn’t need to.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Trickiest part about conditionals: getting the </a:t>
            </a:r>
            <a:r>
              <a:rPr lang="en-US" u="sng" dirty="0"/>
              <a:t>verb tenses</a:t>
            </a:r>
            <a:r>
              <a:rPr lang="en-US" dirty="0"/>
              <a:t> right. </a:t>
            </a:r>
          </a:p>
          <a:p>
            <a:pPr marL="0" indent="0">
              <a:buNone/>
            </a:pPr>
            <a:r>
              <a:rPr lang="en-US" dirty="0"/>
              <a:t>So here’s a run-down of the 3 different combinations of verb tenses you will need to know…</a:t>
            </a:r>
          </a:p>
          <a:p>
            <a:pPr marL="0" indent="0">
              <a:buNone/>
            </a:pPr>
            <a:r>
              <a:rPr lang="en-US" dirty="0"/>
              <a:t>															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616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F0A19-F59E-BA0B-CAC2-9D65EFDB6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7"/>
            <a:ext cx="12192000" cy="1325563"/>
          </a:xfrm>
        </p:spPr>
        <p:txBody>
          <a:bodyPr/>
          <a:lstStyle/>
          <a:p>
            <a:r>
              <a:rPr lang="en-US"/>
              <a:t>All 3 possibilities of verb tenses found in conditional sentences</a:t>
            </a:r>
            <a:endParaRPr lang="LID4096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E09C16-FA7C-1270-EB94-119672096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472" y="1825625"/>
            <a:ext cx="11006328" cy="4351338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If you </a:t>
            </a:r>
            <a:r>
              <a:rPr lang="en-US" b="1" dirty="0">
                <a:solidFill>
                  <a:srgbClr val="0070C0"/>
                </a:solidFill>
              </a:rPr>
              <a:t>ask</a:t>
            </a:r>
            <a:r>
              <a:rPr lang="en-US" dirty="0">
                <a:solidFill>
                  <a:srgbClr val="0070C0"/>
                </a:solidFill>
              </a:rPr>
              <a:t> me for help, I </a:t>
            </a:r>
            <a:r>
              <a:rPr lang="en-US" b="1" dirty="0">
                <a:solidFill>
                  <a:srgbClr val="0070C0"/>
                </a:solidFill>
              </a:rPr>
              <a:t>will give </a:t>
            </a:r>
            <a:r>
              <a:rPr lang="en-US" dirty="0">
                <a:solidFill>
                  <a:srgbClr val="0070C0"/>
                </a:solidFill>
              </a:rPr>
              <a:t>it to you.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If you </a:t>
            </a:r>
            <a:r>
              <a:rPr lang="en-US" b="1" dirty="0">
                <a:solidFill>
                  <a:srgbClr val="0070C0"/>
                </a:solidFill>
              </a:rPr>
              <a:t>asked</a:t>
            </a:r>
            <a:r>
              <a:rPr lang="en-US" dirty="0">
                <a:solidFill>
                  <a:srgbClr val="0070C0"/>
                </a:solidFill>
              </a:rPr>
              <a:t> me for help, I </a:t>
            </a:r>
            <a:r>
              <a:rPr lang="en-US" b="1" dirty="0">
                <a:solidFill>
                  <a:srgbClr val="0070C0"/>
                </a:solidFill>
              </a:rPr>
              <a:t>would give </a:t>
            </a:r>
            <a:r>
              <a:rPr lang="en-US" dirty="0">
                <a:solidFill>
                  <a:srgbClr val="0070C0"/>
                </a:solidFill>
              </a:rPr>
              <a:t>it to you.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If you </a:t>
            </a:r>
            <a:r>
              <a:rPr lang="en-US" b="1" dirty="0">
                <a:solidFill>
                  <a:srgbClr val="0070C0"/>
                </a:solidFill>
              </a:rPr>
              <a:t>had asked </a:t>
            </a:r>
            <a:r>
              <a:rPr lang="en-US" dirty="0">
                <a:solidFill>
                  <a:srgbClr val="0070C0"/>
                </a:solidFill>
              </a:rPr>
              <a:t>me for help, I </a:t>
            </a:r>
            <a:r>
              <a:rPr lang="en-US" b="1" dirty="0">
                <a:solidFill>
                  <a:srgbClr val="0070C0"/>
                </a:solidFill>
              </a:rPr>
              <a:t>would have given </a:t>
            </a:r>
            <a:r>
              <a:rPr lang="en-US" dirty="0">
                <a:solidFill>
                  <a:srgbClr val="0070C0"/>
                </a:solidFill>
              </a:rPr>
              <a:t>it to you. 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There are specific reasons for using each type, which appear later in the PPT.  </a:t>
            </a:r>
          </a:p>
          <a:p>
            <a:pPr marL="0" indent="0">
              <a:buNone/>
            </a:pPr>
            <a:r>
              <a:rPr lang="en-US" dirty="0"/>
              <a:t>For now, let’s use the above information to try to do some practice sentences.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9887647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39719-BBF7-732C-6110-E1CB53BED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7"/>
            <a:ext cx="11353800" cy="1325563"/>
          </a:xfrm>
        </p:spPr>
        <p:txBody>
          <a:bodyPr/>
          <a:lstStyle/>
          <a:p>
            <a:r>
              <a:rPr lang="en-US"/>
              <a:t>Exercise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B3A73-BF80-120E-1F28-4EC49235A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1825624"/>
            <a:ext cx="12082272" cy="5032375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highlight>
                  <a:srgbClr val="00FFFF"/>
                </a:highlight>
              </a:rPr>
              <a:t>The “if” side has already been filled in for you. </a:t>
            </a:r>
            <a:r>
              <a:rPr lang="en-US" sz="2400" dirty="0"/>
              <a:t>Based on that verb tense, complete the sentence with a verb of your choice, making sure it’s in the </a:t>
            </a:r>
            <a:r>
              <a:rPr lang="en-US" sz="2400" u="sng" dirty="0"/>
              <a:t>proper tense</a:t>
            </a:r>
            <a:r>
              <a:rPr lang="en-US" sz="2400" dirty="0"/>
              <a:t>. If in doubt, use the model sentences in blue to determine what the correct verb tenses should be in each case. (Note: The first blue sentence does </a:t>
            </a:r>
            <a:r>
              <a:rPr lang="en-US" sz="2400" i="1" dirty="0"/>
              <a:t>not necessarily</a:t>
            </a:r>
            <a:r>
              <a:rPr lang="en-US" sz="2400" dirty="0"/>
              <a:t> correspond with the first practice sentence, and so on.)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1. If I </a:t>
            </a:r>
            <a:r>
              <a:rPr lang="en-US" sz="2400" u="sng" dirty="0"/>
              <a:t>won</a:t>
            </a:r>
            <a:r>
              <a:rPr lang="en-US" sz="2400" dirty="0"/>
              <a:t> the lottery,  __________________________________________________________.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2. If she </a:t>
            </a:r>
            <a:r>
              <a:rPr lang="en-US" sz="2400" u="sng" dirty="0"/>
              <a:t>had studied</a:t>
            </a:r>
            <a:r>
              <a:rPr lang="en-US" sz="2400" dirty="0"/>
              <a:t> harder, _____________________________________________________.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3. If it </a:t>
            </a:r>
            <a:r>
              <a:rPr lang="en-US" sz="2400" u="sng" dirty="0"/>
              <a:t>is</a:t>
            </a:r>
            <a:r>
              <a:rPr lang="en-US" sz="2400" dirty="0"/>
              <a:t> sunny tomorrow, _______________________________________________________.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  <a:p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B0ABB9-A3F8-BE6D-F728-F88429168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32" y="5819629"/>
            <a:ext cx="5658640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5812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B0230-9144-5D43-79E6-9B0536C40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7"/>
            <a:ext cx="11353800" cy="1325563"/>
          </a:xfrm>
        </p:spPr>
        <p:txBody>
          <a:bodyPr/>
          <a:lstStyle/>
          <a:p>
            <a:r>
              <a:rPr lang="en-US"/>
              <a:t>Exercise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66862-573A-D72E-1134-1CE1E5FE7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" y="1825625"/>
            <a:ext cx="12091416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highlight>
                  <a:srgbClr val="00FFFF"/>
                </a:highlight>
              </a:rPr>
              <a:t>This time the main clause has been filled in for you instead. </a:t>
            </a:r>
            <a:r>
              <a:rPr lang="en-US" sz="2000" dirty="0"/>
              <a:t>Based on that verb tense, complete the “if” part of the sentence with a verb of your choice, making sure it’s in the </a:t>
            </a:r>
            <a:r>
              <a:rPr lang="en-US" sz="2000" u="sng" dirty="0"/>
              <a:t>proper tense</a:t>
            </a:r>
            <a:r>
              <a:rPr lang="en-US" sz="2000" dirty="0"/>
              <a:t>. The model sentences in blue can help. 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4. I </a:t>
            </a:r>
            <a:r>
              <a:rPr lang="en-US" sz="2000" u="sng" dirty="0"/>
              <a:t>would have gotten</a:t>
            </a:r>
            <a:r>
              <a:rPr lang="en-US" sz="2000" dirty="0"/>
              <a:t> here earlier, if only __________________________________________________________.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5. If__________________________________________________________________________, I </a:t>
            </a:r>
            <a:r>
              <a:rPr lang="en-US" sz="2000" u="sng" dirty="0"/>
              <a:t>will let</a:t>
            </a:r>
            <a:r>
              <a:rPr lang="en-US" sz="2000" dirty="0"/>
              <a:t> you know. 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6. We </a:t>
            </a:r>
            <a:r>
              <a:rPr lang="en-US" sz="2000" u="sng" dirty="0"/>
              <a:t>would be</a:t>
            </a:r>
            <a:r>
              <a:rPr lang="en-US" sz="2000" dirty="0"/>
              <a:t> so much happier in the world if _____________________________________________________.</a:t>
            </a:r>
          </a:p>
          <a:p>
            <a:endParaRPr lang="en-US" sz="2000" dirty="0"/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598D8-2769-2C89-35CA-A47FA2182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431" y="5431536"/>
            <a:ext cx="7773569" cy="142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736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2769003-131A-44B8-AEEE-F5ABD8A55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1325563"/>
          </a:xfrm>
        </p:spPr>
        <p:txBody>
          <a:bodyPr>
            <a:normAutofit/>
          </a:bodyPr>
          <a:lstStyle/>
          <a:p>
            <a:r>
              <a:rPr lang="en-US" sz="4300"/>
              <a:t>Conditionals: Fill in the missing verb</a:t>
            </a:r>
            <a:endParaRPr lang="en-NL" sz="43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25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  <a:gd name="connsiteX0" fmla="*/ 0 w 8140446"/>
              <a:gd name="connsiteY0" fmla="*/ 0 h 18288"/>
              <a:gd name="connsiteX1" fmla="*/ 596966 w 8140446"/>
              <a:gd name="connsiteY1" fmla="*/ 0 h 18288"/>
              <a:gd name="connsiteX2" fmla="*/ 1031123 w 8140446"/>
              <a:gd name="connsiteY2" fmla="*/ 0 h 18288"/>
              <a:gd name="connsiteX3" fmla="*/ 1872303 w 8140446"/>
              <a:gd name="connsiteY3" fmla="*/ 0 h 18288"/>
              <a:gd name="connsiteX4" fmla="*/ 2469269 w 8140446"/>
              <a:gd name="connsiteY4" fmla="*/ 0 h 18288"/>
              <a:gd name="connsiteX5" fmla="*/ 3066235 w 8140446"/>
              <a:gd name="connsiteY5" fmla="*/ 0 h 18288"/>
              <a:gd name="connsiteX6" fmla="*/ 3907414 w 8140446"/>
              <a:gd name="connsiteY6" fmla="*/ 0 h 18288"/>
              <a:gd name="connsiteX7" fmla="*/ 4422976 w 8140446"/>
              <a:gd name="connsiteY7" fmla="*/ 0 h 18288"/>
              <a:gd name="connsiteX8" fmla="*/ 5264155 w 8140446"/>
              <a:gd name="connsiteY8" fmla="*/ 0 h 18288"/>
              <a:gd name="connsiteX9" fmla="*/ 6105335 w 8140446"/>
              <a:gd name="connsiteY9" fmla="*/ 0 h 18288"/>
              <a:gd name="connsiteX10" fmla="*/ 6783705 w 8140446"/>
              <a:gd name="connsiteY10" fmla="*/ 0 h 18288"/>
              <a:gd name="connsiteX11" fmla="*/ 8140446 w 8140446"/>
              <a:gd name="connsiteY11" fmla="*/ 0 h 18288"/>
              <a:gd name="connsiteX12" fmla="*/ 8140446 w 8140446"/>
              <a:gd name="connsiteY12" fmla="*/ 18288 h 18288"/>
              <a:gd name="connsiteX13" fmla="*/ 7706289 w 8140446"/>
              <a:gd name="connsiteY13" fmla="*/ 18288 h 18288"/>
              <a:gd name="connsiteX14" fmla="*/ 6865109 w 8140446"/>
              <a:gd name="connsiteY14" fmla="*/ 18288 h 18288"/>
              <a:gd name="connsiteX15" fmla="*/ 6349548 w 8140446"/>
              <a:gd name="connsiteY15" fmla="*/ 18288 h 18288"/>
              <a:gd name="connsiteX16" fmla="*/ 5671177 w 8140446"/>
              <a:gd name="connsiteY16" fmla="*/ 18288 h 18288"/>
              <a:gd name="connsiteX17" fmla="*/ 4829998 w 8140446"/>
              <a:gd name="connsiteY17" fmla="*/ 18288 h 18288"/>
              <a:gd name="connsiteX18" fmla="*/ 4151627 w 8140446"/>
              <a:gd name="connsiteY18" fmla="*/ 18288 h 18288"/>
              <a:gd name="connsiteX19" fmla="*/ 3717470 w 8140446"/>
              <a:gd name="connsiteY19" fmla="*/ 18288 h 18288"/>
              <a:gd name="connsiteX20" fmla="*/ 3201909 w 8140446"/>
              <a:gd name="connsiteY20" fmla="*/ 18288 h 18288"/>
              <a:gd name="connsiteX21" fmla="*/ 2360729 w 8140446"/>
              <a:gd name="connsiteY21" fmla="*/ 18288 h 18288"/>
              <a:gd name="connsiteX22" fmla="*/ 1682359 w 8140446"/>
              <a:gd name="connsiteY22" fmla="*/ 18288 h 18288"/>
              <a:gd name="connsiteX23" fmla="*/ 1166797 w 8140446"/>
              <a:gd name="connsiteY23" fmla="*/ 18288 h 18288"/>
              <a:gd name="connsiteX24" fmla="*/ 0 w 8140446"/>
              <a:gd name="connsiteY24" fmla="*/ 18288 h 18288"/>
              <a:gd name="connsiteX25" fmla="*/ 0 w 8140446"/>
              <a:gd name="connsiteY2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87427" y="6231"/>
                  <a:pt x="309612" y="-26324"/>
                  <a:pt x="434157" y="0"/>
                </a:cubicBezTo>
                <a:cubicBezTo>
                  <a:pt x="536972" y="29330"/>
                  <a:pt x="959392" y="28619"/>
                  <a:pt x="1193932" y="0"/>
                </a:cubicBezTo>
                <a:cubicBezTo>
                  <a:pt x="1446097" y="13819"/>
                  <a:pt x="1471680" y="7203"/>
                  <a:pt x="1628089" y="0"/>
                </a:cubicBezTo>
                <a:cubicBezTo>
                  <a:pt x="1817415" y="4047"/>
                  <a:pt x="1949536" y="-59324"/>
                  <a:pt x="2225055" y="0"/>
                </a:cubicBezTo>
                <a:cubicBezTo>
                  <a:pt x="2520490" y="18365"/>
                  <a:pt x="2717469" y="18707"/>
                  <a:pt x="3066235" y="0"/>
                </a:cubicBezTo>
                <a:cubicBezTo>
                  <a:pt x="3437075" y="3751"/>
                  <a:pt x="3408347" y="31644"/>
                  <a:pt x="3744605" y="0"/>
                </a:cubicBezTo>
                <a:cubicBezTo>
                  <a:pt x="4097249" y="-11527"/>
                  <a:pt x="4249699" y="-32555"/>
                  <a:pt x="4504380" y="0"/>
                </a:cubicBezTo>
                <a:cubicBezTo>
                  <a:pt x="4737570" y="17980"/>
                  <a:pt x="4877497" y="1006"/>
                  <a:pt x="5101346" y="0"/>
                </a:cubicBezTo>
                <a:cubicBezTo>
                  <a:pt x="5359305" y="-15330"/>
                  <a:pt x="5447195" y="7257"/>
                  <a:pt x="5779717" y="0"/>
                </a:cubicBezTo>
                <a:cubicBezTo>
                  <a:pt x="6090019" y="-17621"/>
                  <a:pt x="6273151" y="4279"/>
                  <a:pt x="6620896" y="0"/>
                </a:cubicBezTo>
                <a:cubicBezTo>
                  <a:pt x="6968586" y="34056"/>
                  <a:pt x="6990073" y="23587"/>
                  <a:pt x="7136458" y="0"/>
                </a:cubicBezTo>
                <a:cubicBezTo>
                  <a:pt x="7320575" y="20480"/>
                  <a:pt x="7847401" y="-6173"/>
                  <a:pt x="8140446" y="0"/>
                </a:cubicBezTo>
                <a:cubicBezTo>
                  <a:pt x="8139878" y="7862"/>
                  <a:pt x="8140227" y="13269"/>
                  <a:pt x="8140446" y="18288"/>
                </a:cubicBezTo>
                <a:cubicBezTo>
                  <a:pt x="7908069" y="-20636"/>
                  <a:pt x="7683037" y="21977"/>
                  <a:pt x="7543480" y="18288"/>
                </a:cubicBezTo>
                <a:cubicBezTo>
                  <a:pt x="7393752" y="10050"/>
                  <a:pt x="7221032" y="-3229"/>
                  <a:pt x="7109323" y="18288"/>
                </a:cubicBezTo>
                <a:cubicBezTo>
                  <a:pt x="7015297" y="22483"/>
                  <a:pt x="6599332" y="40899"/>
                  <a:pt x="6430952" y="18288"/>
                </a:cubicBezTo>
                <a:cubicBezTo>
                  <a:pt x="6292915" y="-34150"/>
                  <a:pt x="6142305" y="21507"/>
                  <a:pt x="5915391" y="18288"/>
                </a:cubicBezTo>
                <a:cubicBezTo>
                  <a:pt x="5682725" y="47843"/>
                  <a:pt x="5440566" y="31420"/>
                  <a:pt x="5237020" y="18288"/>
                </a:cubicBezTo>
                <a:cubicBezTo>
                  <a:pt x="5046456" y="10577"/>
                  <a:pt x="4706449" y="51976"/>
                  <a:pt x="4558650" y="18288"/>
                </a:cubicBezTo>
                <a:cubicBezTo>
                  <a:pt x="4361396" y="-987"/>
                  <a:pt x="4145362" y="-22303"/>
                  <a:pt x="3880279" y="18288"/>
                </a:cubicBezTo>
                <a:cubicBezTo>
                  <a:pt x="3610716" y="25411"/>
                  <a:pt x="3472690" y="4008"/>
                  <a:pt x="3201909" y="18288"/>
                </a:cubicBezTo>
                <a:cubicBezTo>
                  <a:pt x="2913595" y="35097"/>
                  <a:pt x="2753317" y="-1149"/>
                  <a:pt x="2604943" y="18288"/>
                </a:cubicBezTo>
                <a:cubicBezTo>
                  <a:pt x="2450130" y="36989"/>
                  <a:pt x="1974183" y="40159"/>
                  <a:pt x="1845168" y="18288"/>
                </a:cubicBezTo>
                <a:cubicBezTo>
                  <a:pt x="1677929" y="220"/>
                  <a:pt x="1378098" y="-772"/>
                  <a:pt x="1166797" y="18288"/>
                </a:cubicBezTo>
                <a:cubicBezTo>
                  <a:pt x="921150" y="53277"/>
                  <a:pt x="327457" y="47297"/>
                  <a:pt x="0" y="18288"/>
                </a:cubicBezTo>
                <a:cubicBezTo>
                  <a:pt x="-589" y="13471"/>
                  <a:pt x="-474" y="7409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36968" y="-25482"/>
                  <a:pt x="379786" y="11224"/>
                  <a:pt x="596966" y="0"/>
                </a:cubicBezTo>
                <a:cubicBezTo>
                  <a:pt x="815878" y="-21223"/>
                  <a:pt x="832062" y="11868"/>
                  <a:pt x="1031123" y="0"/>
                </a:cubicBezTo>
                <a:cubicBezTo>
                  <a:pt x="1256800" y="-30738"/>
                  <a:pt x="1658090" y="-20345"/>
                  <a:pt x="1872303" y="0"/>
                </a:cubicBezTo>
                <a:cubicBezTo>
                  <a:pt x="2115604" y="28431"/>
                  <a:pt x="2277865" y="-40642"/>
                  <a:pt x="2469269" y="0"/>
                </a:cubicBezTo>
                <a:cubicBezTo>
                  <a:pt x="2679731" y="25919"/>
                  <a:pt x="2788602" y="-6498"/>
                  <a:pt x="3066235" y="0"/>
                </a:cubicBezTo>
                <a:cubicBezTo>
                  <a:pt x="3325663" y="-14487"/>
                  <a:pt x="3706561" y="67517"/>
                  <a:pt x="3907414" y="0"/>
                </a:cubicBezTo>
                <a:cubicBezTo>
                  <a:pt x="4127229" y="-37113"/>
                  <a:pt x="4179037" y="-8167"/>
                  <a:pt x="4422976" y="0"/>
                </a:cubicBezTo>
                <a:cubicBezTo>
                  <a:pt x="4683575" y="-28486"/>
                  <a:pt x="5055803" y="-13799"/>
                  <a:pt x="5264155" y="0"/>
                </a:cubicBezTo>
                <a:cubicBezTo>
                  <a:pt x="5513566" y="14315"/>
                  <a:pt x="5735215" y="2768"/>
                  <a:pt x="6105335" y="0"/>
                </a:cubicBezTo>
                <a:cubicBezTo>
                  <a:pt x="6510913" y="-12587"/>
                  <a:pt x="6456171" y="3247"/>
                  <a:pt x="6783705" y="0"/>
                </a:cubicBezTo>
                <a:cubicBezTo>
                  <a:pt x="7057099" y="-15461"/>
                  <a:pt x="7592067" y="5384"/>
                  <a:pt x="8140446" y="0"/>
                </a:cubicBezTo>
                <a:cubicBezTo>
                  <a:pt x="8140452" y="8597"/>
                  <a:pt x="8141122" y="9732"/>
                  <a:pt x="8140446" y="18288"/>
                </a:cubicBezTo>
                <a:cubicBezTo>
                  <a:pt x="7961834" y="8406"/>
                  <a:pt x="7874097" y="10350"/>
                  <a:pt x="7706289" y="18288"/>
                </a:cubicBezTo>
                <a:cubicBezTo>
                  <a:pt x="7582508" y="-14920"/>
                  <a:pt x="7179551" y="-33111"/>
                  <a:pt x="6865109" y="18288"/>
                </a:cubicBezTo>
                <a:cubicBezTo>
                  <a:pt x="6583382" y="24117"/>
                  <a:pt x="6525821" y="36696"/>
                  <a:pt x="6349548" y="18288"/>
                </a:cubicBezTo>
                <a:cubicBezTo>
                  <a:pt x="6209953" y="10881"/>
                  <a:pt x="5959707" y="-47828"/>
                  <a:pt x="5671177" y="18288"/>
                </a:cubicBezTo>
                <a:cubicBezTo>
                  <a:pt x="5387744" y="29809"/>
                  <a:pt x="5228514" y="101507"/>
                  <a:pt x="4829998" y="18288"/>
                </a:cubicBezTo>
                <a:cubicBezTo>
                  <a:pt x="4415646" y="-28596"/>
                  <a:pt x="4343809" y="28954"/>
                  <a:pt x="4151627" y="18288"/>
                </a:cubicBezTo>
                <a:cubicBezTo>
                  <a:pt x="3950673" y="-9796"/>
                  <a:pt x="3879947" y="41143"/>
                  <a:pt x="3717470" y="18288"/>
                </a:cubicBezTo>
                <a:cubicBezTo>
                  <a:pt x="3558660" y="10110"/>
                  <a:pt x="3468854" y="29375"/>
                  <a:pt x="3201909" y="18288"/>
                </a:cubicBezTo>
                <a:cubicBezTo>
                  <a:pt x="2965673" y="10505"/>
                  <a:pt x="2568327" y="22116"/>
                  <a:pt x="2360729" y="18288"/>
                </a:cubicBezTo>
                <a:cubicBezTo>
                  <a:pt x="2171885" y="49144"/>
                  <a:pt x="1923258" y="16020"/>
                  <a:pt x="1682359" y="18288"/>
                </a:cubicBezTo>
                <a:cubicBezTo>
                  <a:pt x="1430698" y="-2378"/>
                  <a:pt x="1324229" y="-1751"/>
                  <a:pt x="1166797" y="18288"/>
                </a:cubicBezTo>
                <a:cubicBezTo>
                  <a:pt x="1001390" y="41795"/>
                  <a:pt x="324313" y="57964"/>
                  <a:pt x="0" y="18288"/>
                </a:cubicBezTo>
                <a:cubicBezTo>
                  <a:pt x="285" y="13135"/>
                  <a:pt x="532" y="5956"/>
                  <a:pt x="0" y="0"/>
                </a:cubicBezTo>
                <a:close/>
              </a:path>
              <a:path w="8140446" h="18288" fill="none" stroke="0" extrusionOk="0">
                <a:moveTo>
                  <a:pt x="0" y="0"/>
                </a:moveTo>
                <a:cubicBezTo>
                  <a:pt x="69532" y="-6557"/>
                  <a:pt x="264219" y="3919"/>
                  <a:pt x="434157" y="0"/>
                </a:cubicBezTo>
                <a:cubicBezTo>
                  <a:pt x="600013" y="9090"/>
                  <a:pt x="921449" y="-13478"/>
                  <a:pt x="1193932" y="0"/>
                </a:cubicBezTo>
                <a:cubicBezTo>
                  <a:pt x="1443592" y="14844"/>
                  <a:pt x="1471188" y="10722"/>
                  <a:pt x="1628089" y="0"/>
                </a:cubicBezTo>
                <a:cubicBezTo>
                  <a:pt x="1750006" y="-24149"/>
                  <a:pt x="1967480" y="-14904"/>
                  <a:pt x="2225055" y="0"/>
                </a:cubicBezTo>
                <a:cubicBezTo>
                  <a:pt x="2503918" y="19247"/>
                  <a:pt x="2709263" y="-16351"/>
                  <a:pt x="3066235" y="0"/>
                </a:cubicBezTo>
                <a:cubicBezTo>
                  <a:pt x="3429723" y="-1627"/>
                  <a:pt x="3399401" y="30976"/>
                  <a:pt x="3744605" y="0"/>
                </a:cubicBezTo>
                <a:cubicBezTo>
                  <a:pt x="4081920" y="-40602"/>
                  <a:pt x="4258272" y="-2441"/>
                  <a:pt x="4504380" y="0"/>
                </a:cubicBezTo>
                <a:cubicBezTo>
                  <a:pt x="4760039" y="21121"/>
                  <a:pt x="4866555" y="-1351"/>
                  <a:pt x="5101346" y="0"/>
                </a:cubicBezTo>
                <a:cubicBezTo>
                  <a:pt x="5336279" y="1859"/>
                  <a:pt x="5465100" y="30801"/>
                  <a:pt x="5779717" y="0"/>
                </a:cubicBezTo>
                <a:cubicBezTo>
                  <a:pt x="6117018" y="-2879"/>
                  <a:pt x="6273497" y="-5002"/>
                  <a:pt x="6620896" y="0"/>
                </a:cubicBezTo>
                <a:cubicBezTo>
                  <a:pt x="6972306" y="38666"/>
                  <a:pt x="6992056" y="28334"/>
                  <a:pt x="7136458" y="0"/>
                </a:cubicBezTo>
                <a:cubicBezTo>
                  <a:pt x="7325567" y="-61201"/>
                  <a:pt x="7766555" y="-88399"/>
                  <a:pt x="8140446" y="0"/>
                </a:cubicBezTo>
                <a:cubicBezTo>
                  <a:pt x="8140031" y="7748"/>
                  <a:pt x="8139515" y="13015"/>
                  <a:pt x="8140446" y="18288"/>
                </a:cubicBezTo>
                <a:cubicBezTo>
                  <a:pt x="7892673" y="-4012"/>
                  <a:pt x="7668025" y="650"/>
                  <a:pt x="7543480" y="18288"/>
                </a:cubicBezTo>
                <a:cubicBezTo>
                  <a:pt x="7406710" y="-3467"/>
                  <a:pt x="7207646" y="8893"/>
                  <a:pt x="7109323" y="18288"/>
                </a:cubicBezTo>
                <a:cubicBezTo>
                  <a:pt x="6993037" y="49011"/>
                  <a:pt x="6598723" y="59405"/>
                  <a:pt x="6430952" y="18288"/>
                </a:cubicBezTo>
                <a:cubicBezTo>
                  <a:pt x="6284771" y="15315"/>
                  <a:pt x="6162730" y="20350"/>
                  <a:pt x="5915391" y="18288"/>
                </a:cubicBezTo>
                <a:cubicBezTo>
                  <a:pt x="5684668" y="13603"/>
                  <a:pt x="5422852" y="53618"/>
                  <a:pt x="5237020" y="18288"/>
                </a:cubicBezTo>
                <a:cubicBezTo>
                  <a:pt x="5035482" y="26296"/>
                  <a:pt x="4719808" y="55145"/>
                  <a:pt x="4558650" y="18288"/>
                </a:cubicBezTo>
                <a:cubicBezTo>
                  <a:pt x="4375169" y="-35587"/>
                  <a:pt x="4137553" y="12086"/>
                  <a:pt x="3880279" y="18288"/>
                </a:cubicBezTo>
                <a:cubicBezTo>
                  <a:pt x="3624533" y="32648"/>
                  <a:pt x="3467387" y="6480"/>
                  <a:pt x="3201909" y="18288"/>
                </a:cubicBezTo>
                <a:cubicBezTo>
                  <a:pt x="2918126" y="73342"/>
                  <a:pt x="2717830" y="-17156"/>
                  <a:pt x="2604943" y="18288"/>
                </a:cubicBezTo>
                <a:cubicBezTo>
                  <a:pt x="2496133" y="44525"/>
                  <a:pt x="2003915" y="18254"/>
                  <a:pt x="1845168" y="18288"/>
                </a:cubicBezTo>
                <a:cubicBezTo>
                  <a:pt x="1694518" y="14989"/>
                  <a:pt x="1344959" y="44188"/>
                  <a:pt x="1166797" y="18288"/>
                </a:cubicBezTo>
                <a:cubicBezTo>
                  <a:pt x="935925" y="69451"/>
                  <a:pt x="319712" y="-63972"/>
                  <a:pt x="0" y="18288"/>
                </a:cubicBezTo>
                <a:cubicBezTo>
                  <a:pt x="1307" y="12414"/>
                  <a:pt x="-32" y="574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140446"/>
                      <a:gd name="connsiteY0" fmla="*/ 0 h 18288"/>
                      <a:gd name="connsiteX1" fmla="*/ 434157 w 8140446"/>
                      <a:gd name="connsiteY1" fmla="*/ 0 h 18288"/>
                      <a:gd name="connsiteX2" fmla="*/ 1193932 w 8140446"/>
                      <a:gd name="connsiteY2" fmla="*/ 0 h 18288"/>
                      <a:gd name="connsiteX3" fmla="*/ 1628089 w 8140446"/>
                      <a:gd name="connsiteY3" fmla="*/ 0 h 18288"/>
                      <a:gd name="connsiteX4" fmla="*/ 2225055 w 8140446"/>
                      <a:gd name="connsiteY4" fmla="*/ 0 h 18288"/>
                      <a:gd name="connsiteX5" fmla="*/ 3066235 w 8140446"/>
                      <a:gd name="connsiteY5" fmla="*/ 0 h 18288"/>
                      <a:gd name="connsiteX6" fmla="*/ 3744605 w 8140446"/>
                      <a:gd name="connsiteY6" fmla="*/ 0 h 18288"/>
                      <a:gd name="connsiteX7" fmla="*/ 4504380 w 8140446"/>
                      <a:gd name="connsiteY7" fmla="*/ 0 h 18288"/>
                      <a:gd name="connsiteX8" fmla="*/ 5101346 w 8140446"/>
                      <a:gd name="connsiteY8" fmla="*/ 0 h 18288"/>
                      <a:gd name="connsiteX9" fmla="*/ 5779717 w 8140446"/>
                      <a:gd name="connsiteY9" fmla="*/ 0 h 18288"/>
                      <a:gd name="connsiteX10" fmla="*/ 6620896 w 8140446"/>
                      <a:gd name="connsiteY10" fmla="*/ 0 h 18288"/>
                      <a:gd name="connsiteX11" fmla="*/ 7136458 w 8140446"/>
                      <a:gd name="connsiteY11" fmla="*/ 0 h 18288"/>
                      <a:gd name="connsiteX12" fmla="*/ 8140446 w 8140446"/>
                      <a:gd name="connsiteY12" fmla="*/ 0 h 18288"/>
                      <a:gd name="connsiteX13" fmla="*/ 8140446 w 8140446"/>
                      <a:gd name="connsiteY13" fmla="*/ 18288 h 18288"/>
                      <a:gd name="connsiteX14" fmla="*/ 7543480 w 8140446"/>
                      <a:gd name="connsiteY14" fmla="*/ 18288 h 18288"/>
                      <a:gd name="connsiteX15" fmla="*/ 7109323 w 8140446"/>
                      <a:gd name="connsiteY15" fmla="*/ 18288 h 18288"/>
                      <a:gd name="connsiteX16" fmla="*/ 6430952 w 8140446"/>
                      <a:gd name="connsiteY16" fmla="*/ 18288 h 18288"/>
                      <a:gd name="connsiteX17" fmla="*/ 5915391 w 8140446"/>
                      <a:gd name="connsiteY17" fmla="*/ 18288 h 18288"/>
                      <a:gd name="connsiteX18" fmla="*/ 5237020 w 8140446"/>
                      <a:gd name="connsiteY18" fmla="*/ 18288 h 18288"/>
                      <a:gd name="connsiteX19" fmla="*/ 4558650 w 8140446"/>
                      <a:gd name="connsiteY19" fmla="*/ 18288 h 18288"/>
                      <a:gd name="connsiteX20" fmla="*/ 3880279 w 8140446"/>
                      <a:gd name="connsiteY20" fmla="*/ 18288 h 18288"/>
                      <a:gd name="connsiteX21" fmla="*/ 3201909 w 8140446"/>
                      <a:gd name="connsiteY21" fmla="*/ 18288 h 18288"/>
                      <a:gd name="connsiteX22" fmla="*/ 2604943 w 8140446"/>
                      <a:gd name="connsiteY22" fmla="*/ 18288 h 18288"/>
                      <a:gd name="connsiteX23" fmla="*/ 1845168 w 8140446"/>
                      <a:gd name="connsiteY23" fmla="*/ 18288 h 18288"/>
                      <a:gd name="connsiteX24" fmla="*/ 1166797 w 8140446"/>
                      <a:gd name="connsiteY24" fmla="*/ 18288 h 18288"/>
                      <a:gd name="connsiteX25" fmla="*/ 0 w 8140446"/>
                      <a:gd name="connsiteY25" fmla="*/ 18288 h 18288"/>
                      <a:gd name="connsiteX26" fmla="*/ 0 w 8140446"/>
                      <a:gd name="connsiteY26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8140446" h="18288" fill="none" extrusionOk="0">
                        <a:moveTo>
                          <a:pt x="0" y="0"/>
                        </a:moveTo>
                        <a:cubicBezTo>
                          <a:pt x="94920" y="9103"/>
                          <a:pt x="287892" y="-4966"/>
                          <a:pt x="434157" y="0"/>
                        </a:cubicBezTo>
                        <a:cubicBezTo>
                          <a:pt x="580422" y="4966"/>
                          <a:pt x="943595" y="-14182"/>
                          <a:pt x="1193932" y="0"/>
                        </a:cubicBezTo>
                        <a:cubicBezTo>
                          <a:pt x="1444270" y="14182"/>
                          <a:pt x="1472129" y="5523"/>
                          <a:pt x="1628089" y="0"/>
                        </a:cubicBezTo>
                        <a:cubicBezTo>
                          <a:pt x="1784049" y="-5523"/>
                          <a:pt x="1962419" y="-17322"/>
                          <a:pt x="2225055" y="0"/>
                        </a:cubicBezTo>
                        <a:cubicBezTo>
                          <a:pt x="2487691" y="17322"/>
                          <a:pt x="2700681" y="1311"/>
                          <a:pt x="3066235" y="0"/>
                        </a:cubicBezTo>
                        <a:cubicBezTo>
                          <a:pt x="3431789" y="-1311"/>
                          <a:pt x="3405662" y="25081"/>
                          <a:pt x="3744605" y="0"/>
                        </a:cubicBezTo>
                        <a:cubicBezTo>
                          <a:pt x="4083548" y="-25081"/>
                          <a:pt x="4265111" y="-11945"/>
                          <a:pt x="4504380" y="0"/>
                        </a:cubicBezTo>
                        <a:cubicBezTo>
                          <a:pt x="4743649" y="11945"/>
                          <a:pt x="4860394" y="-2832"/>
                          <a:pt x="5101346" y="0"/>
                        </a:cubicBezTo>
                        <a:cubicBezTo>
                          <a:pt x="5342298" y="2832"/>
                          <a:pt x="5456387" y="23676"/>
                          <a:pt x="5779717" y="0"/>
                        </a:cubicBezTo>
                        <a:cubicBezTo>
                          <a:pt x="6103047" y="-23676"/>
                          <a:pt x="6270379" y="-37291"/>
                          <a:pt x="6620896" y="0"/>
                        </a:cubicBezTo>
                        <a:cubicBezTo>
                          <a:pt x="6971413" y="37291"/>
                          <a:pt x="6989068" y="24674"/>
                          <a:pt x="7136458" y="0"/>
                        </a:cubicBezTo>
                        <a:cubicBezTo>
                          <a:pt x="7283848" y="-24674"/>
                          <a:pt x="7752532" y="-22436"/>
                          <a:pt x="8140446" y="0"/>
                        </a:cubicBezTo>
                        <a:cubicBezTo>
                          <a:pt x="8140314" y="7702"/>
                          <a:pt x="8140234" y="13511"/>
                          <a:pt x="8140446" y="18288"/>
                        </a:cubicBezTo>
                        <a:cubicBezTo>
                          <a:pt x="7906329" y="-3043"/>
                          <a:pt x="7681180" y="27465"/>
                          <a:pt x="7543480" y="18288"/>
                        </a:cubicBezTo>
                        <a:cubicBezTo>
                          <a:pt x="7405780" y="9111"/>
                          <a:pt x="7216607" y="3660"/>
                          <a:pt x="7109323" y="18288"/>
                        </a:cubicBezTo>
                        <a:cubicBezTo>
                          <a:pt x="7002039" y="32916"/>
                          <a:pt x="6576231" y="42692"/>
                          <a:pt x="6430952" y="18288"/>
                        </a:cubicBezTo>
                        <a:cubicBezTo>
                          <a:pt x="6285673" y="-6116"/>
                          <a:pt x="6138840" y="34521"/>
                          <a:pt x="5915391" y="18288"/>
                        </a:cubicBezTo>
                        <a:cubicBezTo>
                          <a:pt x="5691942" y="2055"/>
                          <a:pt x="5459460" y="51666"/>
                          <a:pt x="5237020" y="18288"/>
                        </a:cubicBezTo>
                        <a:cubicBezTo>
                          <a:pt x="5014580" y="-15090"/>
                          <a:pt x="4747677" y="40449"/>
                          <a:pt x="4558650" y="18288"/>
                        </a:cubicBezTo>
                        <a:cubicBezTo>
                          <a:pt x="4369623" y="-3873"/>
                          <a:pt x="4146061" y="12568"/>
                          <a:pt x="3880279" y="18288"/>
                        </a:cubicBezTo>
                        <a:cubicBezTo>
                          <a:pt x="3614497" y="24008"/>
                          <a:pt x="3473808" y="-12908"/>
                          <a:pt x="3201909" y="18288"/>
                        </a:cubicBezTo>
                        <a:cubicBezTo>
                          <a:pt x="2930010" y="49484"/>
                          <a:pt x="2728175" y="-3430"/>
                          <a:pt x="2604943" y="18288"/>
                        </a:cubicBezTo>
                        <a:cubicBezTo>
                          <a:pt x="2481711" y="40006"/>
                          <a:pt x="2004334" y="26952"/>
                          <a:pt x="1845168" y="18288"/>
                        </a:cubicBezTo>
                        <a:cubicBezTo>
                          <a:pt x="1686003" y="9624"/>
                          <a:pt x="1375070" y="37580"/>
                          <a:pt x="1166797" y="18288"/>
                        </a:cubicBezTo>
                        <a:cubicBezTo>
                          <a:pt x="958524" y="-1004"/>
                          <a:pt x="342846" y="8880"/>
                          <a:pt x="0" y="18288"/>
                        </a:cubicBezTo>
                        <a:cubicBezTo>
                          <a:pt x="129" y="13298"/>
                          <a:pt x="-675" y="6857"/>
                          <a:pt x="0" y="0"/>
                        </a:cubicBezTo>
                        <a:close/>
                      </a:path>
                      <a:path w="8140446" h="18288" stroke="0" extrusionOk="0">
                        <a:moveTo>
                          <a:pt x="0" y="0"/>
                        </a:moveTo>
                        <a:cubicBezTo>
                          <a:pt x="142435" y="-24533"/>
                          <a:pt x="380026" y="17447"/>
                          <a:pt x="596966" y="0"/>
                        </a:cubicBezTo>
                        <a:cubicBezTo>
                          <a:pt x="813906" y="-17447"/>
                          <a:pt x="830530" y="13462"/>
                          <a:pt x="1031123" y="0"/>
                        </a:cubicBezTo>
                        <a:cubicBezTo>
                          <a:pt x="1231716" y="-13462"/>
                          <a:pt x="1634038" y="0"/>
                          <a:pt x="1872303" y="0"/>
                        </a:cubicBezTo>
                        <a:cubicBezTo>
                          <a:pt x="2110568" y="0"/>
                          <a:pt x="2261934" y="-25727"/>
                          <a:pt x="2469269" y="0"/>
                        </a:cubicBezTo>
                        <a:cubicBezTo>
                          <a:pt x="2676604" y="25727"/>
                          <a:pt x="2790440" y="16284"/>
                          <a:pt x="3066235" y="0"/>
                        </a:cubicBezTo>
                        <a:cubicBezTo>
                          <a:pt x="3342030" y="-16284"/>
                          <a:pt x="3685603" y="41976"/>
                          <a:pt x="3907414" y="0"/>
                        </a:cubicBezTo>
                        <a:cubicBezTo>
                          <a:pt x="4129225" y="-41976"/>
                          <a:pt x="4177416" y="-7598"/>
                          <a:pt x="4422976" y="0"/>
                        </a:cubicBezTo>
                        <a:cubicBezTo>
                          <a:pt x="4668536" y="7598"/>
                          <a:pt x="5023499" y="-28058"/>
                          <a:pt x="5264155" y="0"/>
                        </a:cubicBezTo>
                        <a:cubicBezTo>
                          <a:pt x="5504811" y="28058"/>
                          <a:pt x="5703675" y="13288"/>
                          <a:pt x="6105335" y="0"/>
                        </a:cubicBezTo>
                        <a:cubicBezTo>
                          <a:pt x="6506995" y="-13288"/>
                          <a:pt x="6455516" y="-5124"/>
                          <a:pt x="6783705" y="0"/>
                        </a:cubicBezTo>
                        <a:cubicBezTo>
                          <a:pt x="7111894" y="5124"/>
                          <a:pt x="7512856" y="10604"/>
                          <a:pt x="8140446" y="0"/>
                        </a:cubicBezTo>
                        <a:cubicBezTo>
                          <a:pt x="8140458" y="8833"/>
                          <a:pt x="8140986" y="9830"/>
                          <a:pt x="8140446" y="18288"/>
                        </a:cubicBezTo>
                        <a:cubicBezTo>
                          <a:pt x="7959314" y="3345"/>
                          <a:pt x="7870113" y="10437"/>
                          <a:pt x="7706289" y="18288"/>
                        </a:cubicBezTo>
                        <a:cubicBezTo>
                          <a:pt x="7542465" y="26139"/>
                          <a:pt x="7157940" y="17482"/>
                          <a:pt x="6865109" y="18288"/>
                        </a:cubicBezTo>
                        <a:cubicBezTo>
                          <a:pt x="6572278" y="19094"/>
                          <a:pt x="6524256" y="38051"/>
                          <a:pt x="6349548" y="18288"/>
                        </a:cubicBezTo>
                        <a:cubicBezTo>
                          <a:pt x="6174840" y="-1475"/>
                          <a:pt x="5951624" y="174"/>
                          <a:pt x="5671177" y="18288"/>
                        </a:cubicBezTo>
                        <a:cubicBezTo>
                          <a:pt x="5390730" y="36402"/>
                          <a:pt x="5222992" y="60058"/>
                          <a:pt x="4829998" y="18288"/>
                        </a:cubicBezTo>
                        <a:cubicBezTo>
                          <a:pt x="4437004" y="-23482"/>
                          <a:pt x="4344181" y="39087"/>
                          <a:pt x="4151627" y="18288"/>
                        </a:cubicBezTo>
                        <a:cubicBezTo>
                          <a:pt x="3959073" y="-2511"/>
                          <a:pt x="3886970" y="32875"/>
                          <a:pt x="3717470" y="18288"/>
                        </a:cubicBezTo>
                        <a:cubicBezTo>
                          <a:pt x="3547970" y="3701"/>
                          <a:pt x="3451521" y="31872"/>
                          <a:pt x="3201909" y="18288"/>
                        </a:cubicBezTo>
                        <a:cubicBezTo>
                          <a:pt x="2952297" y="4704"/>
                          <a:pt x="2543413" y="6029"/>
                          <a:pt x="2360729" y="18288"/>
                        </a:cubicBezTo>
                        <a:cubicBezTo>
                          <a:pt x="2178045" y="30547"/>
                          <a:pt x="1906056" y="25847"/>
                          <a:pt x="1682359" y="18288"/>
                        </a:cubicBezTo>
                        <a:cubicBezTo>
                          <a:pt x="1458662" y="10730"/>
                          <a:pt x="1330405" y="8046"/>
                          <a:pt x="1166797" y="18288"/>
                        </a:cubicBezTo>
                        <a:cubicBezTo>
                          <a:pt x="1003189" y="28530"/>
                          <a:pt x="278098" y="19533"/>
                          <a:pt x="0" y="18288"/>
                        </a:cubicBezTo>
                        <a:cubicBezTo>
                          <a:pt x="74" y="14054"/>
                          <a:pt x="-46" y="69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F44FAA-44D8-443B-A056-9CFFE4491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929384"/>
            <a:ext cx="12036552" cy="492861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900" i="1" dirty="0"/>
              <a:t>Fill in the missing verb in the correct tense. Use the blue model sentences to help you determine what that verb form should be.</a:t>
            </a:r>
          </a:p>
          <a:p>
            <a:pPr marL="0" indent="0">
              <a:buNone/>
            </a:pPr>
            <a:endParaRPr lang="en-US" sz="1900" i="1" dirty="0"/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If I __________________ (KNOW) she was ill, I would have sent her some flowers.</a:t>
            </a:r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If my flat __________________ (HAVE) a balcony, I would grow plants.</a:t>
            </a:r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Where __________________ (you/LIVE) if you could choose?</a:t>
            </a:r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I can’t see Mary. If she __________________(BE) taller, I could see her.</a:t>
            </a:r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If I __________________(PLAY) better, the team would have won the match.</a:t>
            </a:r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If I catch the train at one, I __________________ (ARRIVE) in time</a:t>
            </a:r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I would buy organic food if it __________________(BE) cheaper. At the moment it is too expensive.</a:t>
            </a:r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She __________________ (not/GO) to University if she hadn’t worked so hard in school.</a:t>
            </a:r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endParaRPr lang="en-NL" sz="1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F70D7F-8360-3F06-8973-F816781AC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360" y="2804286"/>
            <a:ext cx="5658640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577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DF194-D7E4-44DD-2153-F47CF641D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2D607D-D90B-B76A-A3F2-1CCEA093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1325563"/>
          </a:xfrm>
        </p:spPr>
        <p:txBody>
          <a:bodyPr>
            <a:normAutofit/>
          </a:bodyPr>
          <a:lstStyle/>
          <a:p>
            <a:r>
              <a:rPr lang="en-US" sz="4300"/>
              <a:t>Conditionals: Fill in the missing verb</a:t>
            </a:r>
            <a:br>
              <a:rPr lang="en-US" sz="4300"/>
            </a:br>
            <a:r>
              <a:rPr lang="en-US" sz="4300" b="1">
                <a:highlight>
                  <a:srgbClr val="00FF00"/>
                </a:highlight>
              </a:rPr>
              <a:t>KEY</a:t>
            </a:r>
            <a:endParaRPr lang="en-NL" sz="4300" b="1">
              <a:highlight>
                <a:srgbClr val="00FF00"/>
              </a:highlight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0142C1D-2B97-DE3B-3498-8EF699209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29384"/>
            <a:ext cx="12192000" cy="492861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900" i="1"/>
              <a:t>Fill in the missing verb in the correct tense. Use the blue model sentences to help you determine what that verb form should be.</a:t>
            </a:r>
          </a:p>
          <a:p>
            <a:pPr marL="0" indent="0">
              <a:buNone/>
            </a:pPr>
            <a:endParaRPr lang="en-US" sz="1900" i="1"/>
          </a:p>
          <a:p>
            <a:pPr marL="457200" indent="-457200">
              <a:buFont typeface="+mj-lt"/>
              <a:buAutoNum type="arabicPeriod"/>
            </a:pPr>
            <a:r>
              <a:rPr lang="en-US" sz="1900"/>
              <a:t>If I </a:t>
            </a:r>
            <a:r>
              <a:rPr lang="en-US" sz="1900" b="1" u="sng"/>
              <a:t>had known</a:t>
            </a:r>
            <a:r>
              <a:rPr lang="en-US" sz="1900"/>
              <a:t> </a:t>
            </a:r>
            <a:r>
              <a:rPr lang="en-US" sz="1900" dirty="0"/>
              <a:t>she was ill, I would have sent her some </a:t>
            </a:r>
            <a:r>
              <a:rPr lang="en-US" sz="1900"/>
              <a:t>flowers.</a:t>
            </a:r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If my </a:t>
            </a:r>
            <a:r>
              <a:rPr lang="en-US" sz="1900"/>
              <a:t>flat </a:t>
            </a:r>
            <a:r>
              <a:rPr lang="en-US" sz="1900" b="1" u="sng"/>
              <a:t>had</a:t>
            </a:r>
            <a:r>
              <a:rPr lang="en-US" sz="1900"/>
              <a:t> </a:t>
            </a:r>
            <a:r>
              <a:rPr lang="en-US" sz="1900" dirty="0"/>
              <a:t>a balcony, I </a:t>
            </a:r>
            <a:r>
              <a:rPr lang="en-US" sz="1900"/>
              <a:t>would grow plants.</a:t>
            </a:r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r>
              <a:rPr lang="en-US" sz="1900"/>
              <a:t>Where </a:t>
            </a:r>
            <a:r>
              <a:rPr lang="en-US" sz="1900" b="1" u="sng"/>
              <a:t>would you live</a:t>
            </a:r>
            <a:r>
              <a:rPr lang="en-US" sz="1900"/>
              <a:t> if </a:t>
            </a:r>
            <a:r>
              <a:rPr lang="en-US" sz="1900" dirty="0"/>
              <a:t>you could </a:t>
            </a:r>
            <a:r>
              <a:rPr lang="en-US" sz="1900"/>
              <a:t>choose?</a:t>
            </a:r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I can’t see Mary. If </a:t>
            </a:r>
            <a:r>
              <a:rPr lang="en-US" sz="1900"/>
              <a:t>she </a:t>
            </a:r>
            <a:r>
              <a:rPr lang="en-US" sz="1900" b="1" u="sng"/>
              <a:t>was/were</a:t>
            </a:r>
            <a:r>
              <a:rPr lang="en-US" sz="1900"/>
              <a:t> </a:t>
            </a:r>
            <a:r>
              <a:rPr lang="en-US" sz="1900" dirty="0"/>
              <a:t>taller, I could see </a:t>
            </a:r>
            <a:r>
              <a:rPr lang="en-US" sz="1900"/>
              <a:t>her.</a:t>
            </a:r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If </a:t>
            </a:r>
            <a:r>
              <a:rPr lang="en-US" sz="1900"/>
              <a:t>I </a:t>
            </a:r>
            <a:r>
              <a:rPr lang="en-US" sz="1900" b="1" u="sng"/>
              <a:t>had played</a:t>
            </a:r>
            <a:r>
              <a:rPr lang="en-US" sz="1900"/>
              <a:t> </a:t>
            </a:r>
            <a:r>
              <a:rPr lang="en-US" sz="1900" dirty="0"/>
              <a:t>better, the team would have won the </a:t>
            </a:r>
            <a:r>
              <a:rPr lang="en-US" sz="1900"/>
              <a:t>match.</a:t>
            </a:r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If I catch the train at one, </a:t>
            </a:r>
            <a:r>
              <a:rPr lang="en-US" sz="1900"/>
              <a:t>I </a:t>
            </a:r>
            <a:r>
              <a:rPr lang="en-US" sz="1900" b="1" u="sng"/>
              <a:t>will arrive</a:t>
            </a:r>
            <a:r>
              <a:rPr lang="en-US" sz="1900"/>
              <a:t> in time</a:t>
            </a:r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I would buy organic food if </a:t>
            </a:r>
            <a:r>
              <a:rPr lang="en-US" sz="1900"/>
              <a:t>it </a:t>
            </a:r>
            <a:r>
              <a:rPr lang="en-US" sz="1900" b="1" u="sng"/>
              <a:t>was/were</a:t>
            </a:r>
            <a:r>
              <a:rPr lang="en-US" sz="1900"/>
              <a:t> </a:t>
            </a:r>
            <a:r>
              <a:rPr lang="en-US" sz="1900" dirty="0"/>
              <a:t>cheaper. At the moment it is too </a:t>
            </a:r>
            <a:r>
              <a:rPr lang="en-US" sz="1900"/>
              <a:t>expensive.</a:t>
            </a:r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r>
              <a:rPr lang="en-US" sz="1900"/>
              <a:t>She </a:t>
            </a:r>
            <a:r>
              <a:rPr lang="en-US" sz="1900" b="1" u="sng"/>
              <a:t>would not have gone</a:t>
            </a:r>
            <a:r>
              <a:rPr lang="en-US" sz="1900"/>
              <a:t> to </a:t>
            </a:r>
            <a:r>
              <a:rPr lang="en-US" sz="1900" dirty="0"/>
              <a:t>University if </a:t>
            </a:r>
            <a:r>
              <a:rPr lang="en-US" sz="1900"/>
              <a:t>she hadn’t worked so hard in school.</a:t>
            </a:r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endParaRPr lang="en-NL" sz="1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24E90F-AF54-9298-D402-D09214F36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360" y="2804286"/>
            <a:ext cx="5658640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649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041D03-3762-B1D0-FD3B-FD272CE34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Join the Wooclap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FC837E-95D6-28FE-9C73-D7872574E8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92527" y="643466"/>
            <a:ext cx="5150278" cy="5568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2115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906A4B-3DEC-24AD-F2E2-88B0F60F7A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When do we use each conditional?</a:t>
            </a:r>
            <a:endParaRPr lang="LID4096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64D0B51-C225-2EDD-6A33-377AED67B9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Explanations &amp; added exercises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052189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365125"/>
            <a:ext cx="12192001" cy="1325563"/>
          </a:xfrm>
        </p:spPr>
        <p:txBody>
          <a:bodyPr>
            <a:normAutofit/>
          </a:bodyPr>
          <a:lstStyle/>
          <a:p>
            <a:r>
              <a:rPr lang="nl-NL" b="1"/>
              <a:t>Type-1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825624"/>
            <a:ext cx="12192001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u="sng"/>
              <a:t>Type-0</a:t>
            </a:r>
            <a:r>
              <a:rPr lang="nl-NL"/>
              <a:t>. A situation that tends to be true in general.</a:t>
            </a:r>
            <a:endParaRPr lang="nl-NL" u="sng"/>
          </a:p>
          <a:p>
            <a:pPr marL="0" indent="0">
              <a:buNone/>
            </a:pPr>
            <a:r>
              <a:rPr lang="nl-NL" u="sng"/>
              <a:t>Type-1</a:t>
            </a:r>
            <a:r>
              <a:rPr lang="nl-NL"/>
              <a:t>. A </a:t>
            </a:r>
            <a:r>
              <a:rPr lang="nl-NL" i="1"/>
              <a:t>specific</a:t>
            </a:r>
            <a:r>
              <a:rPr lang="nl-NL"/>
              <a:t> </a:t>
            </a:r>
            <a:r>
              <a:rPr lang="nl-NL" err="1"/>
              <a:t>future</a:t>
            </a:r>
            <a:r>
              <a:rPr lang="nl-NL"/>
              <a:t> situation that is very likely to be true.</a:t>
            </a: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	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 Sam, </a:t>
            </a:r>
            <a:r>
              <a:rPr lang="nl-NL" b="1" dirty="0" err="1">
                <a:solidFill>
                  <a:srgbClr val="0070C0"/>
                </a:solidFill>
                <a:sym typeface="Wingdings" panose="05000000000000000000" pitchFamily="2" charset="2"/>
              </a:rPr>
              <a:t>if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0070C0"/>
                </a:solidFill>
                <a:sym typeface="Wingdings" panose="05000000000000000000" pitchFamily="2" charset="2"/>
              </a:rPr>
              <a:t>you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nl-NL" u="sng" dirty="0" err="1">
                <a:solidFill>
                  <a:srgbClr val="0070C0"/>
                </a:solidFill>
                <a:sym typeface="Wingdings" panose="05000000000000000000" pitchFamily="2" charset="2"/>
              </a:rPr>
              <a:t>jump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0070C0"/>
                </a:solidFill>
                <a:sym typeface="Wingdings" panose="05000000000000000000" pitchFamily="2" charset="2"/>
              </a:rPr>
              <a:t>into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0070C0"/>
                </a:solidFill>
                <a:sym typeface="Wingdings" panose="05000000000000000000" pitchFamily="2" charset="2"/>
              </a:rPr>
              <a:t>that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 pool right </a:t>
            </a:r>
            <a:r>
              <a:rPr lang="nl-NL" dirty="0" err="1">
                <a:solidFill>
                  <a:srgbClr val="0070C0"/>
                </a:solidFill>
                <a:sym typeface="Wingdings" panose="05000000000000000000" pitchFamily="2" charset="2"/>
              </a:rPr>
              <a:t>now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, </a:t>
            </a:r>
            <a:r>
              <a:rPr lang="nl-NL" dirty="0" err="1">
                <a:solidFill>
                  <a:srgbClr val="0070C0"/>
                </a:solidFill>
                <a:sym typeface="Wingdings" panose="05000000000000000000" pitchFamily="2" charset="2"/>
              </a:rPr>
              <a:t>you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nl-NL" u="sng" dirty="0" err="1">
                <a:solidFill>
                  <a:srgbClr val="0070C0"/>
                </a:solidFill>
                <a:sym typeface="Wingdings" panose="05000000000000000000" pitchFamily="2" charset="2"/>
              </a:rPr>
              <a:t>will</a:t>
            </a:r>
            <a:r>
              <a:rPr lang="nl-NL" u="sng" dirty="0">
                <a:solidFill>
                  <a:srgbClr val="0070C0"/>
                </a:solidFill>
                <a:sym typeface="Wingdings" panose="05000000000000000000" pitchFamily="2" charset="2"/>
              </a:rPr>
              <a:t> get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 wet. </a:t>
            </a:r>
          </a:p>
          <a:p>
            <a:pPr marL="0" indent="0">
              <a:buNone/>
            </a:pPr>
            <a:r>
              <a:rPr lang="nl-NL">
                <a:solidFill>
                  <a:srgbClr val="0070C0"/>
                </a:solidFill>
                <a:sym typeface="Wingdings" panose="05000000000000000000" pitchFamily="2" charset="2"/>
              </a:rPr>
              <a:t>	</a:t>
            </a:r>
            <a:r>
              <a:rPr lang="nl-NL">
                <a:sym typeface="Wingdings" panose="05000000000000000000" pitchFamily="2" charset="2"/>
              </a:rPr>
              <a:t>(This cannot be Type-0. You can’t substitute “anytime” in place of “if”, because it’s about a </a:t>
            </a:r>
            <a:r>
              <a:rPr lang="nl-NL" i="1">
                <a:sym typeface="Wingdings" panose="05000000000000000000" pitchFamily="2" charset="2"/>
              </a:rPr>
              <a:t>specific</a:t>
            </a:r>
            <a:r>
              <a:rPr lang="nl-NL">
                <a:sym typeface="Wingdings" panose="05000000000000000000" pitchFamily="2" charset="2"/>
              </a:rPr>
              <a:t> time.)</a:t>
            </a:r>
          </a:p>
          <a:p>
            <a:pPr marL="0" indent="0">
              <a:buNone/>
            </a:pPr>
            <a:r>
              <a:rPr lang="nl-NL">
                <a:sym typeface="Wingdings" panose="05000000000000000000" pitchFamily="2" charset="2"/>
              </a:rPr>
              <a:t>	</a:t>
            </a:r>
            <a:r>
              <a:rPr lang="nl-NL" dirty="0">
                <a:sym typeface="Wingdings" panose="05000000000000000000" pitchFamily="2" charset="2"/>
              </a:rPr>
              <a:t>	</a:t>
            </a:r>
          </a:p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	</a:t>
            </a:r>
            <a:r>
              <a:rPr lang="nl-NL" dirty="0" err="1">
                <a:sym typeface="Wingdings" panose="05000000000000000000" pitchFamily="2" charset="2"/>
              </a:rPr>
              <a:t>Verb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tenses</a:t>
            </a:r>
            <a:r>
              <a:rPr lang="nl-NL" dirty="0">
                <a:sym typeface="Wingdings" panose="05000000000000000000" pitchFamily="2" charset="2"/>
              </a:rPr>
              <a:t>: </a:t>
            </a:r>
            <a:r>
              <a:rPr lang="nl-NL" dirty="0" err="1">
                <a:sym typeface="Wingdings" panose="05000000000000000000" pitchFamily="2" charset="2"/>
              </a:rPr>
              <a:t>if</a:t>
            </a:r>
            <a:r>
              <a:rPr lang="nl-NL" dirty="0">
                <a:sym typeface="Wingdings" panose="05000000000000000000" pitchFamily="2" charset="2"/>
              </a:rPr>
              <a:t>-clause - </a:t>
            </a:r>
            <a:r>
              <a:rPr lang="nl-NL" u="sng" dirty="0">
                <a:sym typeface="Wingdings" panose="05000000000000000000" pitchFamily="2" charset="2"/>
              </a:rPr>
              <a:t>present </a:t>
            </a:r>
            <a:r>
              <a:rPr lang="nl-NL" u="sng" dirty="0" err="1">
                <a:sym typeface="Wingdings" panose="05000000000000000000" pitchFamily="2" charset="2"/>
              </a:rPr>
              <a:t>simple</a:t>
            </a:r>
            <a:r>
              <a:rPr lang="nl-NL" dirty="0">
                <a:sym typeface="Wingdings" panose="05000000000000000000" pitchFamily="2" charset="2"/>
              </a:rPr>
              <a:t>  |  </a:t>
            </a:r>
            <a:r>
              <a:rPr lang="nl-NL" dirty="0" err="1">
                <a:sym typeface="Wingdings" panose="05000000000000000000" pitchFamily="2" charset="2"/>
              </a:rPr>
              <a:t>main</a:t>
            </a:r>
            <a:r>
              <a:rPr lang="nl-NL" dirty="0">
                <a:sym typeface="Wingdings" panose="05000000000000000000" pitchFamily="2" charset="2"/>
              </a:rPr>
              <a:t> clause - </a:t>
            </a:r>
            <a:r>
              <a:rPr lang="nl-NL" u="sng" dirty="0">
                <a:sym typeface="Wingdings" panose="05000000000000000000" pitchFamily="2" charset="2"/>
              </a:rPr>
              <a:t>“</a:t>
            </a:r>
            <a:r>
              <a:rPr lang="nl-NL" u="sng" dirty="0" err="1">
                <a:sym typeface="Wingdings" panose="05000000000000000000" pitchFamily="2" charset="2"/>
              </a:rPr>
              <a:t>will</a:t>
            </a:r>
            <a:r>
              <a:rPr lang="nl-NL" u="sng" dirty="0">
                <a:sym typeface="Wingdings" panose="05000000000000000000" pitchFamily="2" charset="2"/>
              </a:rPr>
              <a:t>”+</a:t>
            </a:r>
            <a:r>
              <a:rPr lang="nl-NL" u="sng" cap="small" dirty="0" err="1">
                <a:sym typeface="Wingdings" panose="05000000000000000000" pitchFamily="2" charset="2"/>
              </a:rPr>
              <a:t>verb</a:t>
            </a:r>
            <a:r>
              <a:rPr lang="nl-NL" u="sng" dirty="0"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	</a:t>
            </a:r>
          </a:p>
          <a:p>
            <a:pPr marL="0" indent="0">
              <a:buNone/>
            </a:pPr>
            <a:r>
              <a:rPr lang="nl-NL">
                <a:sym typeface="Wingdings" panose="05000000000000000000" pitchFamily="2" charset="2"/>
              </a:rPr>
              <a:t>	*Don’t </a:t>
            </a:r>
            <a:r>
              <a:rPr lang="nl-NL" dirty="0" err="1">
                <a:sym typeface="Wingdings" panose="05000000000000000000" pitchFamily="2" charset="2"/>
              </a:rPr>
              <a:t>use</a:t>
            </a:r>
            <a:r>
              <a:rPr lang="nl-NL" dirty="0">
                <a:sym typeface="Wingdings" panose="05000000000000000000" pitchFamily="2" charset="2"/>
              </a:rPr>
              <a:t> “</a:t>
            </a:r>
            <a:r>
              <a:rPr lang="nl-NL" dirty="0" err="1">
                <a:sym typeface="Wingdings" panose="05000000000000000000" pitchFamily="2" charset="2"/>
              </a:rPr>
              <a:t>will</a:t>
            </a:r>
            <a:r>
              <a:rPr lang="nl-NL" dirty="0">
                <a:sym typeface="Wingdings" panose="05000000000000000000" pitchFamily="2" charset="2"/>
              </a:rPr>
              <a:t>” in </a:t>
            </a:r>
            <a:r>
              <a:rPr lang="nl-NL" err="1">
                <a:sym typeface="Wingdings" panose="05000000000000000000" pitchFamily="2" charset="2"/>
              </a:rPr>
              <a:t>the</a:t>
            </a:r>
            <a:r>
              <a:rPr lang="nl-NL">
                <a:sym typeface="Wingdings" panose="05000000000000000000" pitchFamily="2" charset="2"/>
              </a:rPr>
              <a:t> </a:t>
            </a:r>
            <a:r>
              <a:rPr lang="nl-NL" i="1">
                <a:sym typeface="Wingdings" panose="05000000000000000000" pitchFamily="2" charset="2"/>
              </a:rPr>
              <a:t>if</a:t>
            </a:r>
            <a:r>
              <a:rPr lang="nl-NL">
                <a:sym typeface="Wingdings" panose="05000000000000000000" pitchFamily="2" charset="2"/>
              </a:rPr>
              <a:t>-clause! </a:t>
            </a:r>
          </a:p>
          <a:p>
            <a:pPr marL="0" indent="0">
              <a:buNone/>
            </a:pPr>
            <a:r>
              <a:rPr lang="nl-NL" b="1">
                <a:solidFill>
                  <a:srgbClr val="0070C0"/>
                </a:solidFill>
                <a:sym typeface="Wingdings" panose="05000000000000000000" pitchFamily="2" charset="2"/>
              </a:rPr>
              <a:t>	If</a:t>
            </a:r>
            <a:r>
              <a:rPr lang="nl-NL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0070C0"/>
                </a:solidFill>
                <a:sym typeface="Wingdings" panose="05000000000000000000" pitchFamily="2" charset="2"/>
              </a:rPr>
              <a:t>you</a:t>
            </a:r>
            <a:r>
              <a:rPr lang="nl-NL" strike="sngStrike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strike="sngStrike" dirty="0" err="1">
                <a:solidFill>
                  <a:srgbClr val="FF0000"/>
                </a:solidFill>
                <a:sym typeface="Wingdings" panose="05000000000000000000" pitchFamily="2" charset="2"/>
              </a:rPr>
              <a:t>will</a:t>
            </a:r>
            <a:r>
              <a:rPr lang="nl-NL" strike="sngStrike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0070C0"/>
                </a:solidFill>
                <a:sym typeface="Wingdings" panose="05000000000000000000" pitchFamily="2" charset="2"/>
              </a:rPr>
              <a:t>jump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dirty="0">
                <a:sym typeface="Wingdings" panose="05000000000000000000" pitchFamily="2" charset="2"/>
              </a:rPr>
              <a:t>… / </a:t>
            </a:r>
            <a:r>
              <a:rPr lang="nl-NL" b="1" dirty="0" err="1">
                <a:solidFill>
                  <a:srgbClr val="0070C0"/>
                </a:solidFill>
                <a:sym typeface="Wingdings" panose="05000000000000000000" pitchFamily="2" charset="2"/>
              </a:rPr>
              <a:t>If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 I</a:t>
            </a:r>
            <a:r>
              <a:rPr lang="nl-NL" strike="sngStrike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strike="sngStrike" dirty="0" err="1">
                <a:solidFill>
                  <a:srgbClr val="FF0000"/>
                </a:solidFill>
                <a:sym typeface="Wingdings" panose="05000000000000000000" pitchFamily="2" charset="2"/>
              </a:rPr>
              <a:t>will</a:t>
            </a:r>
            <a:r>
              <a:rPr lang="nl-NL" strike="sngStrike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win</a:t>
            </a:r>
            <a:r>
              <a:rPr lang="nl-NL" dirty="0">
                <a:sym typeface="Wingdings" panose="05000000000000000000" pitchFamily="2" charset="2"/>
              </a:rPr>
              <a:t> …</a:t>
            </a:r>
          </a:p>
          <a:p>
            <a:pPr marL="0" indent="0">
              <a:buNone/>
            </a:pPr>
            <a:endParaRPr lang="nl-NL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296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365125"/>
            <a:ext cx="12192001" cy="1325563"/>
          </a:xfrm>
        </p:spPr>
        <p:txBody>
          <a:bodyPr>
            <a:normAutofit/>
          </a:bodyPr>
          <a:lstStyle/>
          <a:p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conditional</a:t>
            </a:r>
            <a:r>
              <a:rPr lang="nl-NL" dirty="0"/>
              <a:t> is </a:t>
            </a:r>
            <a:r>
              <a:rPr lang="nl-NL" dirty="0" err="1"/>
              <a:t>suitable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in a </a:t>
            </a:r>
            <a:r>
              <a:rPr lang="nl-NL" dirty="0" err="1"/>
              <a:t>given</a:t>
            </a:r>
            <a:r>
              <a:rPr lang="nl-NL" dirty="0"/>
              <a:t> </a:t>
            </a:r>
            <a:r>
              <a:rPr lang="nl-NL" dirty="0" err="1"/>
              <a:t>situation</a:t>
            </a:r>
            <a:r>
              <a:rPr lang="nl-NL" dirty="0"/>
              <a:t>?</a:t>
            </a:r>
            <a:br>
              <a:rPr lang="nl-NL" dirty="0"/>
            </a:br>
            <a:r>
              <a:rPr lang="nl-NL" dirty="0"/>
              <a:t>Type-2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825624"/>
            <a:ext cx="12192001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l-NL" u="sng" dirty="0"/>
              <a:t>Type-2</a:t>
            </a:r>
            <a:r>
              <a:rPr lang="nl-NL" dirty="0"/>
              <a:t>. </a:t>
            </a:r>
            <a:r>
              <a:rPr lang="nl-NL" dirty="0" err="1"/>
              <a:t>Hypothetical</a:t>
            </a:r>
            <a:r>
              <a:rPr lang="nl-NL" dirty="0"/>
              <a:t> </a:t>
            </a:r>
            <a:r>
              <a:rPr lang="nl-NL" dirty="0" err="1"/>
              <a:t>situation</a:t>
            </a:r>
            <a:endParaRPr lang="nl-NL" dirty="0"/>
          </a:p>
          <a:p>
            <a:pPr marL="0" indent="0">
              <a:buNone/>
            </a:pP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is </a:t>
            </a:r>
            <a:r>
              <a:rPr lang="nl-NL" dirty="0" err="1"/>
              <a:t>great</a:t>
            </a:r>
            <a:r>
              <a:rPr lang="nl-NL" dirty="0"/>
              <a:t> </a:t>
            </a:r>
            <a:r>
              <a:rPr lang="nl-NL" dirty="0" err="1"/>
              <a:t>likelihood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u="sng" dirty="0" err="1"/>
              <a:t>the</a:t>
            </a:r>
            <a:r>
              <a:rPr lang="nl-NL" u="sng" dirty="0"/>
              <a:t> </a:t>
            </a:r>
            <a:r>
              <a:rPr lang="nl-NL" u="sng" dirty="0" err="1"/>
              <a:t>if</a:t>
            </a:r>
            <a:r>
              <a:rPr lang="nl-NL" u="sng" dirty="0"/>
              <a:t>-clause </a:t>
            </a:r>
            <a:r>
              <a:rPr lang="nl-NL" u="sng" dirty="0" err="1"/>
              <a:t>will</a:t>
            </a:r>
            <a:r>
              <a:rPr lang="nl-NL" u="sng" dirty="0"/>
              <a:t> </a:t>
            </a:r>
            <a:r>
              <a:rPr lang="nl-NL" u="sng" dirty="0" err="1"/>
              <a:t>be</a:t>
            </a:r>
            <a:r>
              <a:rPr lang="nl-NL" u="sng" dirty="0"/>
              <a:t> </a:t>
            </a:r>
            <a:r>
              <a:rPr lang="nl-NL" u="sng" dirty="0" err="1"/>
              <a:t>left</a:t>
            </a:r>
            <a:r>
              <a:rPr lang="nl-NL" u="sng" dirty="0"/>
              <a:t> </a:t>
            </a:r>
            <a:r>
              <a:rPr lang="nl-NL" u="sng" dirty="0" err="1"/>
              <a:t>unfulfilled</a:t>
            </a:r>
            <a:endParaRPr lang="nl-NL" dirty="0"/>
          </a:p>
          <a:p>
            <a:pPr marL="0" indent="0">
              <a:buNone/>
            </a:pPr>
            <a:r>
              <a:rPr lang="nl-NL" dirty="0"/>
              <a:t>	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 </a:t>
            </a:r>
            <a:r>
              <a:rPr lang="nl-NL" dirty="0" err="1">
                <a:solidFill>
                  <a:srgbClr val="0070C0"/>
                </a:solidFill>
                <a:sym typeface="Wingdings" panose="05000000000000000000" pitchFamily="2" charset="2"/>
              </a:rPr>
              <a:t>If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 won a </a:t>
            </a:r>
            <a:r>
              <a:rPr lang="nl-NL" dirty="0" err="1">
                <a:solidFill>
                  <a:srgbClr val="0070C0"/>
                </a:solidFill>
                <a:sym typeface="Wingdings" panose="05000000000000000000" pitchFamily="2" charset="2"/>
              </a:rPr>
              <a:t>million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 dollars [i.e., </a:t>
            </a:r>
            <a:r>
              <a:rPr lang="nl-NL" dirty="0" err="1">
                <a:solidFill>
                  <a:srgbClr val="0070C0"/>
                </a:solidFill>
                <a:sym typeface="Wingdings" panose="05000000000000000000" pitchFamily="2" charset="2"/>
              </a:rPr>
              <a:t>I’m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0070C0"/>
                </a:solidFill>
                <a:sym typeface="Wingdings" panose="05000000000000000000" pitchFamily="2" charset="2"/>
              </a:rPr>
              <a:t>not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 holding </a:t>
            </a:r>
            <a:r>
              <a:rPr lang="nl-NL" dirty="0" err="1">
                <a:solidFill>
                  <a:srgbClr val="0070C0"/>
                </a:solidFill>
                <a:sym typeface="Wingdings" panose="05000000000000000000" pitchFamily="2" charset="2"/>
              </a:rPr>
              <a:t>my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0070C0"/>
                </a:solidFill>
                <a:sym typeface="Wingdings" panose="05000000000000000000" pitchFamily="2" charset="2"/>
              </a:rPr>
              <a:t>breath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], I </a:t>
            </a:r>
            <a:r>
              <a:rPr lang="nl-NL" dirty="0" err="1">
                <a:solidFill>
                  <a:srgbClr val="0070C0"/>
                </a:solidFill>
                <a:sym typeface="Wingdings" panose="05000000000000000000" pitchFamily="2" charset="2"/>
              </a:rPr>
              <a:t>would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0070C0"/>
                </a:solidFill>
                <a:sym typeface="Wingdings" panose="05000000000000000000" pitchFamily="2" charset="2"/>
              </a:rPr>
              <a:t>give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0070C0"/>
                </a:solidFill>
                <a:sym typeface="Wingdings" panose="05000000000000000000" pitchFamily="2" charset="2"/>
              </a:rPr>
              <a:t>you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 half. </a:t>
            </a:r>
          </a:p>
          <a:p>
            <a:pPr marL="0" indent="0">
              <a:buNone/>
            </a:pP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	</a:t>
            </a:r>
            <a:r>
              <a:rPr lang="nl-NL" dirty="0">
                <a:sym typeface="Wingdings" panose="05000000000000000000" pitchFamily="2" charset="2"/>
              </a:rPr>
              <a:t>(Here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speaker is </a:t>
            </a:r>
            <a:r>
              <a:rPr lang="nl-NL" dirty="0" err="1">
                <a:sym typeface="Wingdings" panose="05000000000000000000" pitchFamily="2" charset="2"/>
              </a:rPr>
              <a:t>imagining</a:t>
            </a:r>
            <a:r>
              <a:rPr lang="nl-NL" dirty="0">
                <a:sym typeface="Wingdings" panose="05000000000000000000" pitchFamily="2" charset="2"/>
              </a:rPr>
              <a:t> a </a:t>
            </a:r>
            <a:r>
              <a:rPr lang="nl-NL" dirty="0" err="1">
                <a:sym typeface="Wingdings" panose="05000000000000000000" pitchFamily="2" charset="2"/>
              </a:rPr>
              <a:t>hypothetical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situation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for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argument’s</a:t>
            </a:r>
            <a:r>
              <a:rPr lang="nl-NL" dirty="0">
                <a:sym typeface="Wingdings" panose="05000000000000000000" pitchFamily="2" charset="2"/>
              </a:rPr>
              <a:t> sake)</a:t>
            </a:r>
          </a:p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	</a:t>
            </a:r>
          </a:p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	</a:t>
            </a:r>
            <a:r>
              <a:rPr lang="nl-NL" dirty="0" err="1">
                <a:sym typeface="Wingdings" panose="05000000000000000000" pitchFamily="2" charset="2"/>
              </a:rPr>
              <a:t>Verb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tenses</a:t>
            </a:r>
            <a:r>
              <a:rPr lang="nl-NL" dirty="0">
                <a:sym typeface="Wingdings" panose="05000000000000000000" pitchFamily="2" charset="2"/>
              </a:rPr>
              <a:t>: </a:t>
            </a:r>
            <a:r>
              <a:rPr lang="nl-NL" i="1" dirty="0" err="1">
                <a:sym typeface="Wingdings" panose="05000000000000000000" pitchFamily="2" charset="2"/>
              </a:rPr>
              <a:t>if</a:t>
            </a:r>
            <a:r>
              <a:rPr lang="nl-NL" dirty="0">
                <a:sym typeface="Wingdings" panose="05000000000000000000" pitchFamily="2" charset="2"/>
              </a:rPr>
              <a:t>-clause - </a:t>
            </a:r>
            <a:r>
              <a:rPr lang="nl-NL" b="1" u="sng" dirty="0">
                <a:sym typeface="Wingdings" panose="05000000000000000000" pitchFamily="2" charset="2"/>
              </a:rPr>
              <a:t>past*</a:t>
            </a:r>
            <a:r>
              <a:rPr lang="nl-NL" u="sng" dirty="0">
                <a:sym typeface="Wingdings" panose="05000000000000000000" pitchFamily="2" charset="2"/>
              </a:rPr>
              <a:t> </a:t>
            </a:r>
            <a:r>
              <a:rPr lang="nl-NL" u="sng" dirty="0" err="1">
                <a:sym typeface="Wingdings" panose="05000000000000000000" pitchFamily="2" charset="2"/>
              </a:rPr>
              <a:t>simple</a:t>
            </a:r>
            <a:r>
              <a:rPr lang="nl-NL" dirty="0">
                <a:sym typeface="Wingdings" panose="05000000000000000000" pitchFamily="2" charset="2"/>
              </a:rPr>
              <a:t>  |  </a:t>
            </a:r>
            <a:r>
              <a:rPr lang="nl-NL" dirty="0" err="1">
                <a:sym typeface="Wingdings" panose="05000000000000000000" pitchFamily="2" charset="2"/>
              </a:rPr>
              <a:t>main</a:t>
            </a:r>
            <a:r>
              <a:rPr lang="nl-NL" dirty="0">
                <a:sym typeface="Wingdings" panose="05000000000000000000" pitchFamily="2" charset="2"/>
              </a:rPr>
              <a:t> clause - </a:t>
            </a:r>
            <a:r>
              <a:rPr lang="nl-NL" u="sng" dirty="0">
                <a:sym typeface="Wingdings" panose="05000000000000000000" pitchFamily="2" charset="2"/>
              </a:rPr>
              <a:t>“</a:t>
            </a:r>
            <a:r>
              <a:rPr lang="nl-NL" u="sng" dirty="0" err="1">
                <a:sym typeface="Wingdings" panose="05000000000000000000" pitchFamily="2" charset="2"/>
              </a:rPr>
              <a:t>would</a:t>
            </a:r>
            <a:r>
              <a:rPr lang="nl-NL" u="sng" dirty="0">
                <a:sym typeface="Wingdings" panose="05000000000000000000" pitchFamily="2" charset="2"/>
              </a:rPr>
              <a:t>”+</a:t>
            </a:r>
            <a:r>
              <a:rPr lang="nl-NL" u="sng" cap="small" dirty="0" err="1">
                <a:sym typeface="Wingdings" panose="05000000000000000000" pitchFamily="2" charset="2"/>
              </a:rPr>
              <a:t>verb</a:t>
            </a:r>
            <a:r>
              <a:rPr lang="nl-NL" u="sng" dirty="0"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	*</a:t>
            </a:r>
            <a:r>
              <a:rPr lang="nl-NL" dirty="0" err="1">
                <a:sym typeface="Wingdings" panose="05000000000000000000" pitchFamily="2" charset="2"/>
              </a:rPr>
              <a:t>Although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verb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u="sng" dirty="0">
                <a:sym typeface="Wingdings" panose="05000000000000000000" pitchFamily="2" charset="2"/>
              </a:rPr>
              <a:t>form</a:t>
            </a:r>
            <a:r>
              <a:rPr lang="nl-NL" dirty="0">
                <a:sym typeface="Wingdings" panose="05000000000000000000" pitchFamily="2" charset="2"/>
              </a:rPr>
              <a:t> is in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past </a:t>
            </a:r>
            <a:r>
              <a:rPr lang="nl-NL" dirty="0" err="1">
                <a:sym typeface="Wingdings" panose="05000000000000000000" pitchFamily="2" charset="2"/>
              </a:rPr>
              <a:t>tense</a:t>
            </a:r>
            <a:r>
              <a:rPr lang="nl-NL" dirty="0">
                <a:sym typeface="Wingdings" panose="05000000000000000000" pitchFamily="2" charset="2"/>
              </a:rPr>
              <a:t>, Type-2 never </a:t>
            </a:r>
            <a:r>
              <a:rPr lang="nl-NL" dirty="0" err="1">
                <a:sym typeface="Wingdings" panose="05000000000000000000" pitchFamily="2" charset="2"/>
              </a:rPr>
              <a:t>refers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to</a:t>
            </a:r>
            <a:r>
              <a:rPr lang="nl-NL" dirty="0">
                <a:sym typeface="Wingdings" panose="05000000000000000000" pitchFamily="2" charset="2"/>
              </a:rPr>
              <a:t> a past event.</a:t>
            </a:r>
          </a:p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	 </a:t>
            </a:r>
          </a:p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	</a:t>
            </a:r>
            <a:r>
              <a:rPr lang="nl-NL" dirty="0" err="1">
                <a:sym typeface="Wingdings" panose="05000000000000000000" pitchFamily="2" charset="2"/>
              </a:rPr>
              <a:t>Don’t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use</a:t>
            </a:r>
            <a:r>
              <a:rPr lang="nl-NL" dirty="0">
                <a:sym typeface="Wingdings" panose="05000000000000000000" pitchFamily="2" charset="2"/>
              </a:rPr>
              <a:t> “</a:t>
            </a:r>
            <a:r>
              <a:rPr lang="nl-NL" dirty="0" err="1">
                <a:sym typeface="Wingdings" panose="05000000000000000000" pitchFamily="2" charset="2"/>
              </a:rPr>
              <a:t>would</a:t>
            </a:r>
            <a:r>
              <a:rPr lang="nl-NL" dirty="0">
                <a:sym typeface="Wingdings" panose="05000000000000000000" pitchFamily="2" charset="2"/>
              </a:rPr>
              <a:t>” in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i="1" dirty="0" err="1">
                <a:sym typeface="Wingdings" panose="05000000000000000000" pitchFamily="2" charset="2"/>
              </a:rPr>
              <a:t>if</a:t>
            </a:r>
            <a:r>
              <a:rPr lang="nl-NL" dirty="0">
                <a:sym typeface="Wingdings" panose="05000000000000000000" pitchFamily="2" charset="2"/>
              </a:rPr>
              <a:t>-clause  - 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0070C0"/>
                </a:solidFill>
                <a:sym typeface="Wingdings" panose="05000000000000000000" pitchFamily="2" charset="2"/>
              </a:rPr>
              <a:t>If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 I </a:t>
            </a:r>
            <a:r>
              <a:rPr lang="nl-NL" strike="sngStrike" dirty="0" err="1">
                <a:solidFill>
                  <a:srgbClr val="FF0000"/>
                </a:solidFill>
                <a:sym typeface="Wingdings" panose="05000000000000000000" pitchFamily="2" charset="2"/>
              </a:rPr>
              <a:t>would</a:t>
            </a:r>
            <a:r>
              <a:rPr lang="nl-NL" strike="sngStrike" dirty="0">
                <a:solidFill>
                  <a:srgbClr val="FF0000"/>
                </a:solidFill>
                <a:sym typeface="Wingdings" panose="05000000000000000000" pitchFamily="2" charset="2"/>
              </a:rPr>
              <a:t> win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u="sng" dirty="0">
                <a:solidFill>
                  <a:srgbClr val="0070C0"/>
                </a:solidFill>
                <a:sym typeface="Wingdings" panose="05000000000000000000" pitchFamily="2" charset="2"/>
              </a:rPr>
              <a:t>won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a </a:t>
            </a:r>
            <a:r>
              <a:rPr lang="nl-NL" dirty="0" err="1">
                <a:solidFill>
                  <a:srgbClr val="0070C0"/>
                </a:solidFill>
                <a:sym typeface="Wingdings" panose="05000000000000000000" pitchFamily="2" charset="2"/>
              </a:rPr>
              <a:t>million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 dollars</a:t>
            </a:r>
            <a:r>
              <a:rPr lang="nl-NL" dirty="0">
                <a:sym typeface="Wingdings" panose="05000000000000000000" pitchFamily="2" charset="2"/>
              </a:rPr>
              <a:t>…</a:t>
            </a: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endParaRPr lang="nl-NL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nl-NL" u="sng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nl-NL" dirty="0" err="1">
                <a:sym typeface="Wingdings" panose="05000000000000000000" pitchFamily="2" charset="2"/>
              </a:rPr>
              <a:t>One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additional</a:t>
            </a:r>
            <a:r>
              <a:rPr lang="nl-NL" dirty="0">
                <a:sym typeface="Wingdings" panose="05000000000000000000" pitchFamily="2" charset="2"/>
              </a:rPr>
              <a:t> form </a:t>
            </a:r>
            <a:r>
              <a:rPr lang="nl-NL" dirty="0" err="1">
                <a:sym typeface="Wingdings" panose="05000000000000000000" pitchFamily="2" charset="2"/>
              </a:rPr>
              <a:t>sometimes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used</a:t>
            </a:r>
            <a:r>
              <a:rPr lang="nl-NL" dirty="0">
                <a:sym typeface="Wingdings" panose="05000000000000000000" pitchFamily="2" charset="2"/>
              </a:rPr>
              <a:t> in </a:t>
            </a:r>
            <a:r>
              <a:rPr lang="nl-NL" i="1" dirty="0" err="1">
                <a:sym typeface="Wingdings" panose="05000000000000000000" pitchFamily="2" charset="2"/>
              </a:rPr>
              <a:t>if</a:t>
            </a:r>
            <a:r>
              <a:rPr lang="nl-NL" dirty="0" err="1">
                <a:sym typeface="Wingdings" panose="05000000000000000000" pitchFamily="2" charset="2"/>
              </a:rPr>
              <a:t>-clauses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instead</a:t>
            </a:r>
            <a:r>
              <a:rPr lang="nl-NL" dirty="0">
                <a:sym typeface="Wingdings" panose="05000000000000000000" pitchFamily="2" charset="2"/>
              </a:rPr>
              <a:t> of past </a:t>
            </a:r>
            <a:r>
              <a:rPr lang="nl-NL" dirty="0" err="1">
                <a:sym typeface="Wingdings" panose="05000000000000000000" pitchFamily="2" charset="2"/>
              </a:rPr>
              <a:t>simple</a:t>
            </a:r>
            <a:r>
              <a:rPr lang="nl-NL" dirty="0">
                <a:sym typeface="Wingdings" panose="05000000000000000000" pitchFamily="2" charset="2"/>
              </a:rPr>
              <a:t>: “</a:t>
            </a:r>
            <a:r>
              <a:rPr lang="nl-NL" dirty="0" err="1">
                <a:sym typeface="Wingdings" panose="05000000000000000000" pitchFamily="2" charset="2"/>
              </a:rPr>
              <a:t>were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to</a:t>
            </a:r>
            <a:r>
              <a:rPr lang="nl-NL" dirty="0">
                <a:sym typeface="Wingdings" panose="05000000000000000000" pitchFamily="2" charset="2"/>
              </a:rPr>
              <a:t>”+</a:t>
            </a:r>
            <a:r>
              <a:rPr lang="nl-NL" cap="small" dirty="0" err="1">
                <a:sym typeface="Wingdings" panose="05000000000000000000" pitchFamily="2" charset="2"/>
              </a:rPr>
              <a:t>verb</a:t>
            </a:r>
            <a:endParaRPr lang="nl-NL" cap="small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nl-NL" dirty="0">
                <a:solidFill>
                  <a:srgbClr val="FF0000"/>
                </a:solidFill>
                <a:sym typeface="Wingdings" panose="05000000000000000000" pitchFamily="2" charset="2"/>
              </a:rPr>
              <a:t>	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 </a:t>
            </a:r>
            <a:r>
              <a:rPr lang="nl-NL" dirty="0" err="1">
                <a:solidFill>
                  <a:srgbClr val="0070C0"/>
                </a:solidFill>
                <a:sym typeface="Wingdings" panose="05000000000000000000" pitchFamily="2" charset="2"/>
              </a:rPr>
              <a:t>If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 I </a:t>
            </a:r>
            <a:r>
              <a:rPr lang="nl-NL" dirty="0" err="1">
                <a:solidFill>
                  <a:srgbClr val="0070C0"/>
                </a:solidFill>
                <a:sym typeface="Wingdings" panose="05000000000000000000" pitchFamily="2" charset="2"/>
              </a:rPr>
              <a:t>were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0070C0"/>
                </a:solidFill>
                <a:sym typeface="Wingdings" panose="05000000000000000000" pitchFamily="2" charset="2"/>
              </a:rPr>
              <a:t>to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 win a </a:t>
            </a:r>
            <a:r>
              <a:rPr lang="nl-NL" dirty="0" err="1">
                <a:solidFill>
                  <a:srgbClr val="0070C0"/>
                </a:solidFill>
                <a:sym typeface="Wingdings" panose="05000000000000000000" pitchFamily="2" charset="2"/>
              </a:rPr>
              <a:t>million</a:t>
            </a:r>
            <a:r>
              <a:rPr lang="nl-NL" dirty="0">
                <a:solidFill>
                  <a:srgbClr val="0070C0"/>
                </a:solidFill>
                <a:sym typeface="Wingdings" panose="05000000000000000000" pitchFamily="2" charset="2"/>
              </a:rPr>
              <a:t> dollars… </a:t>
            </a:r>
            <a:r>
              <a:rPr lang="nl-NL" dirty="0">
                <a:sym typeface="Wingdings" panose="05000000000000000000" pitchFamily="2" charset="2"/>
              </a:rPr>
              <a:t>(</a:t>
            </a:r>
            <a:r>
              <a:rPr lang="nl-NL" dirty="0" err="1">
                <a:sym typeface="Wingdings" panose="05000000000000000000" pitchFamily="2" charset="2"/>
              </a:rPr>
              <a:t>Possibly</a:t>
            </a:r>
            <a:r>
              <a:rPr lang="nl-NL" dirty="0">
                <a:sym typeface="Wingdings" panose="05000000000000000000" pitchFamily="2" charset="2"/>
              </a:rPr>
              <a:t> even more </a:t>
            </a:r>
            <a:r>
              <a:rPr lang="nl-NL" dirty="0" err="1">
                <a:sym typeface="Wingdings" panose="05000000000000000000" pitchFamily="2" charset="2"/>
              </a:rPr>
              <a:t>hypothetical</a:t>
            </a:r>
            <a:r>
              <a:rPr lang="nl-NL" dirty="0">
                <a:sym typeface="Wingdings" panose="05000000000000000000" pitchFamily="2" charset="2"/>
              </a:rPr>
              <a:t> in nature)</a:t>
            </a:r>
          </a:p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	</a:t>
            </a:r>
          </a:p>
          <a:p>
            <a:pPr marL="0" indent="0">
              <a:buNone/>
            </a:pPr>
            <a:r>
              <a:rPr lang="nl-NL" dirty="0" err="1">
                <a:sym typeface="Wingdings" panose="05000000000000000000" pitchFamily="2" charset="2"/>
              </a:rPr>
              <a:t>Let’s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try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some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exercises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using</a:t>
            </a:r>
            <a:r>
              <a:rPr lang="nl-NL" dirty="0">
                <a:sym typeface="Wingdings" panose="05000000000000000000" pitchFamily="2" charset="2"/>
              </a:rPr>
              <a:t> Type-1 &amp; Type-2 </a:t>
            </a:r>
            <a:r>
              <a:rPr lang="nl-NL" dirty="0" err="1">
                <a:sym typeface="Wingdings" panose="05000000000000000000" pitchFamily="2" charset="2"/>
              </a:rPr>
              <a:t>conditionals</a:t>
            </a:r>
            <a:r>
              <a:rPr lang="nl-NL" dirty="0">
                <a:sym typeface="Wingdings" panose="05000000000000000000" pitchFamily="2" charset="2"/>
              </a:rPr>
              <a:t>				</a:t>
            </a:r>
            <a:endParaRPr lang="nl-NL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698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365125"/>
            <a:ext cx="12192001" cy="1325563"/>
          </a:xfrm>
        </p:spPr>
        <p:txBody>
          <a:bodyPr>
            <a:normAutofit/>
          </a:bodyPr>
          <a:lstStyle/>
          <a:p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conditional</a:t>
            </a:r>
            <a:r>
              <a:rPr lang="nl-NL" dirty="0"/>
              <a:t> is </a:t>
            </a:r>
            <a:r>
              <a:rPr lang="nl-NL" dirty="0" err="1"/>
              <a:t>suitable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in a </a:t>
            </a:r>
            <a:r>
              <a:rPr lang="nl-NL" dirty="0" err="1"/>
              <a:t>given</a:t>
            </a:r>
            <a:r>
              <a:rPr lang="nl-NL" dirty="0"/>
              <a:t> </a:t>
            </a:r>
            <a:r>
              <a:rPr lang="nl-NL" dirty="0" err="1"/>
              <a:t>situation</a:t>
            </a:r>
            <a:r>
              <a:rPr lang="nl-NL" dirty="0"/>
              <a:t>?</a:t>
            </a:r>
            <a:br>
              <a:rPr lang="nl-NL" dirty="0"/>
            </a:br>
            <a:r>
              <a:rPr lang="nl-NL" dirty="0" err="1"/>
              <a:t>Differences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Type-1 </a:t>
            </a:r>
            <a:r>
              <a:rPr lang="nl-NL" dirty="0" err="1"/>
              <a:t>and</a:t>
            </a:r>
            <a:r>
              <a:rPr lang="nl-NL" dirty="0"/>
              <a:t> Type-2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825624"/>
            <a:ext cx="12192001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1. Translate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description</a:t>
            </a:r>
            <a:r>
              <a:rPr lang="nl-NL" dirty="0">
                <a:sym typeface="Wingdings" panose="05000000000000000000" pitchFamily="2" charset="2"/>
              </a:rPr>
              <a:t> of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situation</a:t>
            </a:r>
            <a:r>
              <a:rPr lang="nl-NL" dirty="0">
                <a:sym typeface="Wingdings" panose="05000000000000000000" pitchFamily="2" charset="2"/>
              </a:rPr>
              <a:t> below </a:t>
            </a:r>
            <a:r>
              <a:rPr lang="nl-NL" dirty="0" err="1">
                <a:sym typeface="Wingdings" panose="05000000000000000000" pitchFamily="2" charset="2"/>
              </a:rPr>
              <a:t>into</a:t>
            </a:r>
            <a:r>
              <a:rPr lang="nl-NL" dirty="0">
                <a:sym typeface="Wingdings" panose="05000000000000000000" pitchFamily="2" charset="2"/>
              </a:rPr>
              <a:t> a single </a:t>
            </a:r>
            <a:r>
              <a:rPr lang="nl-NL" dirty="0" err="1">
                <a:sym typeface="Wingdings" panose="05000000000000000000" pitchFamily="2" charset="2"/>
              </a:rPr>
              <a:t>conditional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sentence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which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uses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correct </a:t>
            </a:r>
            <a:r>
              <a:rPr lang="nl-NL" dirty="0" err="1">
                <a:sym typeface="Wingdings" panose="05000000000000000000" pitchFamily="2" charset="2"/>
              </a:rPr>
              <a:t>verb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tenses</a:t>
            </a:r>
            <a:r>
              <a:rPr lang="nl-NL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2. </a:t>
            </a:r>
            <a:r>
              <a:rPr lang="nl-NL" dirty="0" err="1">
                <a:sym typeface="Wingdings" panose="05000000000000000000" pitchFamily="2" charset="2"/>
              </a:rPr>
              <a:t>Indicate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whether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it’s</a:t>
            </a:r>
            <a:r>
              <a:rPr lang="nl-NL" dirty="0">
                <a:sym typeface="Wingdings" panose="05000000000000000000" pitchFamily="2" charset="2"/>
              </a:rPr>
              <a:t> Type-1 or Type-2</a:t>
            </a:r>
          </a:p>
          <a:p>
            <a:pPr marL="0" indent="0">
              <a:buNone/>
            </a:pPr>
            <a:endParaRPr lang="nl-NL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“It looks like </a:t>
            </a:r>
            <a:r>
              <a:rPr lang="nl-NL" dirty="0" err="1">
                <a:sym typeface="Wingdings" panose="05000000000000000000" pitchFamily="2" charset="2"/>
              </a:rPr>
              <a:t>there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could</a:t>
            </a:r>
            <a:r>
              <a:rPr lang="nl-NL" dirty="0">
                <a:sym typeface="Wingdings" panose="05000000000000000000" pitchFamily="2" charset="2"/>
              </a:rPr>
              <a:t> well </a:t>
            </a:r>
            <a:r>
              <a:rPr lang="nl-NL" dirty="0" err="1">
                <a:sym typeface="Wingdings" panose="05000000000000000000" pitchFamily="2" charset="2"/>
              </a:rPr>
              <a:t>be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enough</a:t>
            </a:r>
            <a:r>
              <a:rPr lang="nl-NL" dirty="0">
                <a:sym typeface="Wingdings" panose="05000000000000000000" pitchFamily="2" charset="2"/>
              </a:rPr>
              <a:t> time </a:t>
            </a:r>
            <a:r>
              <a:rPr lang="nl-NL" dirty="0" err="1">
                <a:sym typeface="Wingdings" panose="05000000000000000000" pitchFamily="2" charset="2"/>
              </a:rPr>
              <a:t>left</a:t>
            </a:r>
            <a:r>
              <a:rPr lang="nl-NL" dirty="0">
                <a:sym typeface="Wingdings" panose="05000000000000000000" pitchFamily="2" charset="2"/>
              </a:rPr>
              <a:t> in </a:t>
            </a:r>
            <a:r>
              <a:rPr lang="nl-NL" dirty="0" err="1">
                <a:sym typeface="Wingdings" panose="05000000000000000000" pitchFamily="2" charset="2"/>
              </a:rPr>
              <a:t>my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schedule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this</a:t>
            </a:r>
            <a:r>
              <a:rPr lang="nl-NL" dirty="0">
                <a:sym typeface="Wingdings" panose="05000000000000000000" pitchFamily="2" charset="2"/>
              </a:rPr>
              <a:t> evening </a:t>
            </a:r>
            <a:r>
              <a:rPr lang="nl-NL" dirty="0" err="1">
                <a:sym typeface="Wingdings" panose="05000000000000000000" pitchFamily="2" charset="2"/>
              </a:rPr>
              <a:t>after</a:t>
            </a:r>
            <a:r>
              <a:rPr lang="nl-NL" dirty="0">
                <a:sym typeface="Wingdings" panose="05000000000000000000" pitchFamily="2" charset="2"/>
              </a:rPr>
              <a:t> I get </a:t>
            </a:r>
            <a:r>
              <a:rPr lang="nl-NL" dirty="0" err="1">
                <a:sym typeface="Wingdings" panose="05000000000000000000" pitchFamily="2" charset="2"/>
              </a:rPr>
              <a:t>my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homework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done</a:t>
            </a:r>
            <a:r>
              <a:rPr lang="nl-NL" dirty="0">
                <a:sym typeface="Wingdings" panose="05000000000000000000" pitchFamily="2" charset="2"/>
              </a:rPr>
              <a:t>. </a:t>
            </a:r>
            <a:r>
              <a:rPr lang="nl-NL" dirty="0" err="1">
                <a:sym typeface="Wingdings" panose="05000000000000000000" pitchFamily="2" charset="2"/>
              </a:rPr>
              <a:t>So</a:t>
            </a:r>
            <a:r>
              <a:rPr lang="nl-NL" dirty="0">
                <a:sym typeface="Wingdings" panose="05000000000000000000" pitchFamily="2" charset="2"/>
              </a:rPr>
              <a:t> I feel </a:t>
            </a:r>
            <a:r>
              <a:rPr lang="nl-NL" dirty="0" err="1">
                <a:sym typeface="Wingdings" panose="05000000000000000000" pitchFamily="2" charset="2"/>
              </a:rPr>
              <a:t>quite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sure</a:t>
            </a:r>
            <a:r>
              <a:rPr lang="nl-NL" dirty="0">
                <a:sym typeface="Wingdings" panose="05000000000000000000" pitchFamily="2" charset="2"/>
              </a:rPr>
              <a:t> of </a:t>
            </a:r>
            <a:r>
              <a:rPr lang="nl-NL" dirty="0" err="1">
                <a:sym typeface="Wingdings" panose="05000000000000000000" pitchFamily="2" charset="2"/>
              </a:rPr>
              <a:t>being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able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to</a:t>
            </a:r>
            <a:r>
              <a:rPr lang="nl-NL" dirty="0">
                <a:sym typeface="Wingdings" panose="05000000000000000000" pitchFamily="2" charset="2"/>
              </a:rPr>
              <a:t> have </a:t>
            </a:r>
            <a:r>
              <a:rPr lang="nl-NL" dirty="0" err="1">
                <a:sym typeface="Wingdings" panose="05000000000000000000" pitchFamily="2" charset="2"/>
              </a:rPr>
              <a:t>some</a:t>
            </a:r>
            <a:r>
              <a:rPr lang="nl-NL" dirty="0">
                <a:sym typeface="Wingdings" panose="05000000000000000000" pitchFamily="2" charset="2"/>
              </a:rPr>
              <a:t> TV time </a:t>
            </a:r>
            <a:r>
              <a:rPr lang="nl-NL" dirty="0" err="1">
                <a:sym typeface="Wingdings" panose="05000000000000000000" pitchFamily="2" charset="2"/>
              </a:rPr>
              <a:t>afterward</a:t>
            </a:r>
            <a:r>
              <a:rPr lang="nl-NL" dirty="0">
                <a:sym typeface="Wingdings" panose="05000000000000000000" pitchFamily="2" charset="2"/>
              </a:rPr>
              <a:t>.” </a:t>
            </a:r>
          </a:p>
          <a:p>
            <a:pPr marL="0" indent="0">
              <a:buNone/>
            </a:pPr>
            <a:endParaRPr lang="nl-NL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 </a:t>
            </a:r>
            <a:r>
              <a:rPr lang="nl-NL" dirty="0" err="1">
                <a:sym typeface="Wingdings" panose="05000000000000000000" pitchFamily="2" charset="2"/>
              </a:rPr>
              <a:t>If</a:t>
            </a:r>
            <a:r>
              <a:rPr lang="nl-NL" dirty="0">
                <a:sym typeface="Wingdings" panose="05000000000000000000" pitchFamily="2" charset="2"/>
              </a:rPr>
              <a:t> I _______ (</a:t>
            </a:r>
            <a:r>
              <a:rPr lang="nl-NL" cap="small" dirty="0">
                <a:sym typeface="Wingdings" panose="05000000000000000000" pitchFamily="2" charset="2"/>
              </a:rPr>
              <a:t>have</a:t>
            </a:r>
            <a:r>
              <a:rPr lang="nl-NL" dirty="0">
                <a:sym typeface="Wingdings" panose="05000000000000000000" pitchFamily="2" charset="2"/>
              </a:rPr>
              <a:t>) </a:t>
            </a:r>
            <a:r>
              <a:rPr lang="nl-NL" dirty="0" err="1">
                <a:sym typeface="Wingdings" panose="05000000000000000000" pitchFamily="2" charset="2"/>
              </a:rPr>
              <a:t>enough</a:t>
            </a:r>
            <a:r>
              <a:rPr lang="nl-NL" dirty="0">
                <a:sym typeface="Wingdings" panose="05000000000000000000" pitchFamily="2" charset="2"/>
              </a:rPr>
              <a:t> time, I _______ (</a:t>
            </a:r>
            <a:r>
              <a:rPr lang="nl-NL" cap="small" dirty="0" err="1">
                <a:sym typeface="Wingdings" panose="05000000000000000000" pitchFamily="2" charset="2"/>
              </a:rPr>
              <a:t>watch</a:t>
            </a:r>
            <a:r>
              <a:rPr lang="nl-NL" dirty="0">
                <a:sym typeface="Wingdings" panose="05000000000000000000" pitchFamily="2" charset="2"/>
              </a:rPr>
              <a:t>) TV later </a:t>
            </a:r>
            <a:r>
              <a:rPr lang="nl-NL" dirty="0" err="1">
                <a:sym typeface="Wingdings" panose="05000000000000000000" pitchFamily="2" charset="2"/>
              </a:rPr>
              <a:t>this</a:t>
            </a:r>
            <a:r>
              <a:rPr lang="nl-NL" dirty="0">
                <a:sym typeface="Wingdings" panose="05000000000000000000" pitchFamily="2" charset="2"/>
              </a:rPr>
              <a:t> evening. </a:t>
            </a:r>
          </a:p>
          <a:p>
            <a:pPr marL="0" indent="0">
              <a:buNone/>
            </a:pPr>
            <a:r>
              <a:rPr lang="nl-NL" dirty="0"/>
              <a:t>			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111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365125"/>
            <a:ext cx="12192001" cy="1325563"/>
          </a:xfrm>
        </p:spPr>
        <p:txBody>
          <a:bodyPr>
            <a:normAutofit/>
          </a:bodyPr>
          <a:lstStyle/>
          <a:p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conditional</a:t>
            </a:r>
            <a:r>
              <a:rPr lang="nl-NL" dirty="0"/>
              <a:t> is </a:t>
            </a:r>
            <a:r>
              <a:rPr lang="nl-NL" dirty="0" err="1"/>
              <a:t>suitable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in a </a:t>
            </a:r>
            <a:r>
              <a:rPr lang="nl-NL" dirty="0" err="1"/>
              <a:t>given</a:t>
            </a:r>
            <a:r>
              <a:rPr lang="nl-NL" dirty="0"/>
              <a:t> </a:t>
            </a:r>
            <a:r>
              <a:rPr lang="nl-NL" dirty="0" err="1"/>
              <a:t>situation</a:t>
            </a:r>
            <a:r>
              <a:rPr lang="nl-NL" dirty="0"/>
              <a:t>?</a:t>
            </a:r>
            <a:br>
              <a:rPr lang="nl-NL" dirty="0"/>
            </a:br>
            <a:r>
              <a:rPr lang="nl-NL" dirty="0" err="1"/>
              <a:t>Differences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Type-1 </a:t>
            </a:r>
            <a:r>
              <a:rPr lang="nl-NL" dirty="0" err="1"/>
              <a:t>and</a:t>
            </a:r>
            <a:r>
              <a:rPr lang="nl-NL" dirty="0"/>
              <a:t> Type-2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825624"/>
            <a:ext cx="12192001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1. Translate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description</a:t>
            </a:r>
            <a:r>
              <a:rPr lang="nl-NL" dirty="0">
                <a:sym typeface="Wingdings" panose="05000000000000000000" pitchFamily="2" charset="2"/>
              </a:rPr>
              <a:t> of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situation</a:t>
            </a:r>
            <a:r>
              <a:rPr lang="nl-NL" dirty="0">
                <a:sym typeface="Wingdings" panose="05000000000000000000" pitchFamily="2" charset="2"/>
              </a:rPr>
              <a:t> below </a:t>
            </a:r>
            <a:r>
              <a:rPr lang="nl-NL" dirty="0" err="1">
                <a:sym typeface="Wingdings" panose="05000000000000000000" pitchFamily="2" charset="2"/>
              </a:rPr>
              <a:t>into</a:t>
            </a:r>
            <a:r>
              <a:rPr lang="nl-NL" dirty="0">
                <a:sym typeface="Wingdings" panose="05000000000000000000" pitchFamily="2" charset="2"/>
              </a:rPr>
              <a:t> a single </a:t>
            </a:r>
            <a:r>
              <a:rPr lang="nl-NL" dirty="0" err="1">
                <a:sym typeface="Wingdings" panose="05000000000000000000" pitchFamily="2" charset="2"/>
              </a:rPr>
              <a:t>conditional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sentence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which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uses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correct </a:t>
            </a:r>
            <a:r>
              <a:rPr lang="nl-NL" dirty="0" err="1">
                <a:sym typeface="Wingdings" panose="05000000000000000000" pitchFamily="2" charset="2"/>
              </a:rPr>
              <a:t>verb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tenses</a:t>
            </a:r>
            <a:r>
              <a:rPr lang="nl-NL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2. </a:t>
            </a:r>
            <a:r>
              <a:rPr lang="nl-NL" dirty="0" err="1">
                <a:sym typeface="Wingdings" panose="05000000000000000000" pitchFamily="2" charset="2"/>
              </a:rPr>
              <a:t>Indicate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whether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it’s</a:t>
            </a:r>
            <a:r>
              <a:rPr lang="nl-NL" dirty="0">
                <a:sym typeface="Wingdings" panose="05000000000000000000" pitchFamily="2" charset="2"/>
              </a:rPr>
              <a:t> Type-1 or Type-2</a:t>
            </a:r>
          </a:p>
          <a:p>
            <a:pPr marL="0" indent="0">
              <a:buNone/>
            </a:pPr>
            <a:endParaRPr lang="nl-NL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“It looks like </a:t>
            </a:r>
            <a:r>
              <a:rPr lang="nl-NL" dirty="0" err="1">
                <a:sym typeface="Wingdings" panose="05000000000000000000" pitchFamily="2" charset="2"/>
              </a:rPr>
              <a:t>there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could</a:t>
            </a:r>
            <a:r>
              <a:rPr lang="nl-NL" dirty="0">
                <a:sym typeface="Wingdings" panose="05000000000000000000" pitchFamily="2" charset="2"/>
              </a:rPr>
              <a:t> well </a:t>
            </a:r>
            <a:r>
              <a:rPr lang="nl-NL" dirty="0" err="1">
                <a:sym typeface="Wingdings" panose="05000000000000000000" pitchFamily="2" charset="2"/>
              </a:rPr>
              <a:t>be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enough</a:t>
            </a:r>
            <a:r>
              <a:rPr lang="nl-NL" dirty="0">
                <a:sym typeface="Wingdings" panose="05000000000000000000" pitchFamily="2" charset="2"/>
              </a:rPr>
              <a:t> time </a:t>
            </a:r>
            <a:r>
              <a:rPr lang="nl-NL" dirty="0" err="1">
                <a:sym typeface="Wingdings" panose="05000000000000000000" pitchFamily="2" charset="2"/>
              </a:rPr>
              <a:t>left</a:t>
            </a:r>
            <a:r>
              <a:rPr lang="nl-NL" dirty="0">
                <a:sym typeface="Wingdings" panose="05000000000000000000" pitchFamily="2" charset="2"/>
              </a:rPr>
              <a:t> in </a:t>
            </a:r>
            <a:r>
              <a:rPr lang="nl-NL" dirty="0" err="1">
                <a:sym typeface="Wingdings" panose="05000000000000000000" pitchFamily="2" charset="2"/>
              </a:rPr>
              <a:t>my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schedule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this</a:t>
            </a:r>
            <a:r>
              <a:rPr lang="nl-NL" dirty="0">
                <a:sym typeface="Wingdings" panose="05000000000000000000" pitchFamily="2" charset="2"/>
              </a:rPr>
              <a:t> evening </a:t>
            </a:r>
            <a:r>
              <a:rPr lang="nl-NL" dirty="0" err="1">
                <a:sym typeface="Wingdings" panose="05000000000000000000" pitchFamily="2" charset="2"/>
              </a:rPr>
              <a:t>after</a:t>
            </a:r>
            <a:r>
              <a:rPr lang="nl-NL" dirty="0">
                <a:sym typeface="Wingdings" panose="05000000000000000000" pitchFamily="2" charset="2"/>
              </a:rPr>
              <a:t> I get </a:t>
            </a:r>
            <a:r>
              <a:rPr lang="nl-NL" dirty="0" err="1">
                <a:sym typeface="Wingdings" panose="05000000000000000000" pitchFamily="2" charset="2"/>
              </a:rPr>
              <a:t>my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homework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done</a:t>
            </a:r>
            <a:r>
              <a:rPr lang="nl-NL" dirty="0">
                <a:sym typeface="Wingdings" panose="05000000000000000000" pitchFamily="2" charset="2"/>
              </a:rPr>
              <a:t>. </a:t>
            </a:r>
            <a:r>
              <a:rPr lang="nl-NL" dirty="0" err="1">
                <a:sym typeface="Wingdings" panose="05000000000000000000" pitchFamily="2" charset="2"/>
              </a:rPr>
              <a:t>So</a:t>
            </a:r>
            <a:r>
              <a:rPr lang="nl-NL" dirty="0">
                <a:sym typeface="Wingdings" panose="05000000000000000000" pitchFamily="2" charset="2"/>
              </a:rPr>
              <a:t> I feel </a:t>
            </a:r>
            <a:r>
              <a:rPr lang="nl-NL" dirty="0" err="1">
                <a:sym typeface="Wingdings" panose="05000000000000000000" pitchFamily="2" charset="2"/>
              </a:rPr>
              <a:t>quite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sure</a:t>
            </a:r>
            <a:r>
              <a:rPr lang="nl-NL" dirty="0">
                <a:sym typeface="Wingdings" panose="05000000000000000000" pitchFamily="2" charset="2"/>
              </a:rPr>
              <a:t> of </a:t>
            </a:r>
            <a:r>
              <a:rPr lang="nl-NL" dirty="0" err="1">
                <a:sym typeface="Wingdings" panose="05000000000000000000" pitchFamily="2" charset="2"/>
              </a:rPr>
              <a:t>being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able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to</a:t>
            </a:r>
            <a:r>
              <a:rPr lang="nl-NL" dirty="0">
                <a:sym typeface="Wingdings" panose="05000000000000000000" pitchFamily="2" charset="2"/>
              </a:rPr>
              <a:t> have </a:t>
            </a:r>
            <a:r>
              <a:rPr lang="nl-NL" dirty="0" err="1">
                <a:sym typeface="Wingdings" panose="05000000000000000000" pitchFamily="2" charset="2"/>
              </a:rPr>
              <a:t>some</a:t>
            </a:r>
            <a:r>
              <a:rPr lang="nl-NL" dirty="0">
                <a:sym typeface="Wingdings" panose="05000000000000000000" pitchFamily="2" charset="2"/>
              </a:rPr>
              <a:t> TV time </a:t>
            </a:r>
            <a:r>
              <a:rPr lang="nl-NL" dirty="0" err="1">
                <a:sym typeface="Wingdings" panose="05000000000000000000" pitchFamily="2" charset="2"/>
              </a:rPr>
              <a:t>afterward</a:t>
            </a:r>
            <a:r>
              <a:rPr lang="nl-NL" dirty="0">
                <a:sym typeface="Wingdings" panose="05000000000000000000" pitchFamily="2" charset="2"/>
              </a:rPr>
              <a:t>.” </a:t>
            </a:r>
          </a:p>
          <a:p>
            <a:pPr marL="0" indent="0">
              <a:buNone/>
            </a:pPr>
            <a:endParaRPr lang="nl-NL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 </a:t>
            </a:r>
            <a:r>
              <a:rPr lang="nl-NL" dirty="0" err="1">
                <a:sym typeface="Wingdings" panose="05000000000000000000" pitchFamily="2" charset="2"/>
              </a:rPr>
              <a:t>If</a:t>
            </a:r>
            <a:r>
              <a:rPr lang="nl-NL" dirty="0">
                <a:sym typeface="Wingdings" panose="05000000000000000000" pitchFamily="2" charset="2"/>
              </a:rPr>
              <a:t> I </a:t>
            </a:r>
            <a:r>
              <a:rPr lang="nl-NL" u="sng" dirty="0">
                <a:solidFill>
                  <a:srgbClr val="00B050"/>
                </a:solidFill>
                <a:sym typeface="Wingdings" panose="05000000000000000000" pitchFamily="2" charset="2"/>
              </a:rPr>
              <a:t>have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enough</a:t>
            </a:r>
            <a:r>
              <a:rPr lang="nl-NL" dirty="0">
                <a:sym typeface="Wingdings" panose="05000000000000000000" pitchFamily="2" charset="2"/>
              </a:rPr>
              <a:t> time, </a:t>
            </a:r>
            <a:r>
              <a:rPr lang="nl-NL" dirty="0" err="1">
                <a:sym typeface="Wingdings" panose="05000000000000000000" pitchFamily="2" charset="2"/>
              </a:rPr>
              <a:t>I</a:t>
            </a:r>
            <a:r>
              <a:rPr lang="nl-NL" u="sng" dirty="0" err="1">
                <a:solidFill>
                  <a:srgbClr val="00B050"/>
                </a:solidFill>
                <a:sym typeface="Wingdings" panose="05000000000000000000" pitchFamily="2" charset="2"/>
              </a:rPr>
              <a:t>’ll</a:t>
            </a:r>
            <a:r>
              <a:rPr lang="nl-NL" u="sng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nl-NL" u="sng" dirty="0" err="1">
                <a:solidFill>
                  <a:srgbClr val="00B050"/>
                </a:solidFill>
                <a:sym typeface="Wingdings" panose="05000000000000000000" pitchFamily="2" charset="2"/>
              </a:rPr>
              <a:t>watch</a:t>
            </a:r>
            <a:r>
              <a:rPr lang="nl-NL" dirty="0">
                <a:sym typeface="Wingdings" panose="05000000000000000000" pitchFamily="2" charset="2"/>
              </a:rPr>
              <a:t> TV later </a:t>
            </a:r>
            <a:r>
              <a:rPr lang="nl-NL" dirty="0" err="1">
                <a:sym typeface="Wingdings" panose="05000000000000000000" pitchFamily="2" charset="2"/>
              </a:rPr>
              <a:t>this</a:t>
            </a:r>
            <a:r>
              <a:rPr lang="nl-NL" dirty="0">
                <a:sym typeface="Wingdings" panose="05000000000000000000" pitchFamily="2" charset="2"/>
              </a:rPr>
              <a:t> evening.   </a:t>
            </a:r>
            <a:r>
              <a:rPr lang="nl-NL" dirty="0">
                <a:solidFill>
                  <a:srgbClr val="7030A0"/>
                </a:solidFill>
                <a:sym typeface="Wingdings" panose="05000000000000000000" pitchFamily="2" charset="2"/>
              </a:rPr>
              <a:t>(Type-1)</a:t>
            </a:r>
          </a:p>
          <a:p>
            <a:pPr marL="0" indent="0">
              <a:buNone/>
            </a:pPr>
            <a:r>
              <a:rPr lang="nl-NL" dirty="0"/>
              <a:t>			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259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365125"/>
            <a:ext cx="12192001" cy="1325563"/>
          </a:xfrm>
        </p:spPr>
        <p:txBody>
          <a:bodyPr>
            <a:normAutofit/>
          </a:bodyPr>
          <a:lstStyle/>
          <a:p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conditional</a:t>
            </a:r>
            <a:r>
              <a:rPr lang="nl-NL" dirty="0"/>
              <a:t> is </a:t>
            </a:r>
            <a:r>
              <a:rPr lang="nl-NL" dirty="0" err="1"/>
              <a:t>suitable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in a </a:t>
            </a:r>
            <a:r>
              <a:rPr lang="nl-NL" dirty="0" err="1"/>
              <a:t>given</a:t>
            </a:r>
            <a:r>
              <a:rPr lang="nl-NL" dirty="0"/>
              <a:t> </a:t>
            </a:r>
            <a:r>
              <a:rPr lang="nl-NL" dirty="0" err="1"/>
              <a:t>situation</a:t>
            </a:r>
            <a:r>
              <a:rPr lang="nl-NL" dirty="0"/>
              <a:t>?</a:t>
            </a:r>
            <a:br>
              <a:rPr lang="nl-NL" dirty="0"/>
            </a:br>
            <a:r>
              <a:rPr lang="nl-NL" dirty="0" err="1"/>
              <a:t>Differences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Type-1 </a:t>
            </a:r>
            <a:r>
              <a:rPr lang="nl-NL" dirty="0" err="1"/>
              <a:t>and</a:t>
            </a:r>
            <a:r>
              <a:rPr lang="nl-NL" dirty="0"/>
              <a:t> Type-2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825624"/>
            <a:ext cx="12192001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1. Translate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description</a:t>
            </a:r>
            <a:r>
              <a:rPr lang="nl-NL" dirty="0">
                <a:sym typeface="Wingdings" panose="05000000000000000000" pitchFamily="2" charset="2"/>
              </a:rPr>
              <a:t> of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situation</a:t>
            </a:r>
            <a:r>
              <a:rPr lang="nl-NL" dirty="0">
                <a:sym typeface="Wingdings" panose="05000000000000000000" pitchFamily="2" charset="2"/>
              </a:rPr>
              <a:t> below </a:t>
            </a:r>
            <a:r>
              <a:rPr lang="nl-NL" dirty="0" err="1">
                <a:sym typeface="Wingdings" panose="05000000000000000000" pitchFamily="2" charset="2"/>
              </a:rPr>
              <a:t>into</a:t>
            </a:r>
            <a:r>
              <a:rPr lang="nl-NL" dirty="0">
                <a:sym typeface="Wingdings" panose="05000000000000000000" pitchFamily="2" charset="2"/>
              </a:rPr>
              <a:t> a single </a:t>
            </a:r>
            <a:r>
              <a:rPr lang="nl-NL" dirty="0" err="1">
                <a:sym typeface="Wingdings" panose="05000000000000000000" pitchFamily="2" charset="2"/>
              </a:rPr>
              <a:t>conditional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sentence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which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uses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correct </a:t>
            </a:r>
            <a:r>
              <a:rPr lang="nl-NL" dirty="0" err="1">
                <a:sym typeface="Wingdings" panose="05000000000000000000" pitchFamily="2" charset="2"/>
              </a:rPr>
              <a:t>verb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tenses</a:t>
            </a:r>
            <a:r>
              <a:rPr lang="nl-NL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2. </a:t>
            </a:r>
            <a:r>
              <a:rPr lang="nl-NL" dirty="0" err="1">
                <a:sym typeface="Wingdings" panose="05000000000000000000" pitchFamily="2" charset="2"/>
              </a:rPr>
              <a:t>Indicate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whether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it’s</a:t>
            </a:r>
            <a:r>
              <a:rPr lang="nl-NL" dirty="0">
                <a:sym typeface="Wingdings" panose="05000000000000000000" pitchFamily="2" charset="2"/>
              </a:rPr>
              <a:t> Type-1 or Type-2</a:t>
            </a:r>
          </a:p>
          <a:p>
            <a:pPr marL="0" indent="0">
              <a:buNone/>
            </a:pPr>
            <a:endParaRPr lang="nl-NL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“I have no </a:t>
            </a:r>
            <a:r>
              <a:rPr lang="nl-NL" dirty="0" err="1">
                <a:sym typeface="Wingdings" panose="05000000000000000000" pitchFamily="2" charset="2"/>
              </a:rPr>
              <a:t>reason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to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believe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that</a:t>
            </a:r>
            <a:r>
              <a:rPr lang="nl-NL" dirty="0">
                <a:sym typeface="Wingdings" panose="05000000000000000000" pitchFamily="2" charset="2"/>
              </a:rPr>
              <a:t> we </a:t>
            </a:r>
            <a:r>
              <a:rPr lang="nl-NL" dirty="0" err="1">
                <a:sym typeface="Wingdings" panose="05000000000000000000" pitchFamily="2" charset="2"/>
              </a:rPr>
              <a:t>will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be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able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to</a:t>
            </a:r>
            <a:r>
              <a:rPr lang="nl-NL" dirty="0">
                <a:sym typeface="Wingdings" panose="05000000000000000000" pitchFamily="2" charset="2"/>
              </a:rPr>
              <a:t> go back </a:t>
            </a:r>
            <a:r>
              <a:rPr lang="nl-NL" dirty="0" err="1">
                <a:sym typeface="Wingdings" panose="05000000000000000000" pitchFamily="2" charset="2"/>
              </a:rPr>
              <a:t>to</a:t>
            </a:r>
            <a:r>
              <a:rPr lang="nl-NL" dirty="0">
                <a:sym typeface="Wingdings" panose="05000000000000000000" pitchFamily="2" charset="2"/>
              </a:rPr>
              <a:t> on-site </a:t>
            </a:r>
            <a:r>
              <a:rPr lang="nl-NL" dirty="0" err="1">
                <a:sym typeface="Wingdings" panose="05000000000000000000" pitchFamily="2" charset="2"/>
              </a:rPr>
              <a:t>learning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any</a:t>
            </a:r>
            <a:r>
              <a:rPr lang="nl-NL" dirty="0">
                <a:sym typeface="Wingdings" panose="05000000000000000000" pitchFamily="2" charset="2"/>
              </a:rPr>
              <a:t> time </a:t>
            </a:r>
            <a:r>
              <a:rPr lang="nl-NL" dirty="0" err="1">
                <a:sym typeface="Wingdings" panose="05000000000000000000" pitchFamily="2" charset="2"/>
              </a:rPr>
              <a:t>before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winter break. I </a:t>
            </a:r>
            <a:r>
              <a:rPr lang="nl-NL" dirty="0" err="1">
                <a:sym typeface="Wingdings" panose="05000000000000000000" pitchFamily="2" charset="2"/>
              </a:rPr>
              <a:t>nevertheless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enjoy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dreaming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about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being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able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to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see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you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all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to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wish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you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season’s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greetings</a:t>
            </a:r>
            <a:r>
              <a:rPr lang="nl-NL" dirty="0">
                <a:sym typeface="Wingdings" panose="05000000000000000000" pitchFamily="2" charset="2"/>
              </a:rPr>
              <a:t> in person.”</a:t>
            </a:r>
          </a:p>
          <a:p>
            <a:pPr marL="0" indent="0">
              <a:buNone/>
            </a:pPr>
            <a:endParaRPr lang="nl-NL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r>
              <a:rPr lang="nl-NL" dirty="0" err="1">
                <a:sym typeface="Wingdings" panose="05000000000000000000" pitchFamily="2" charset="2"/>
              </a:rPr>
              <a:t>If</a:t>
            </a:r>
            <a:r>
              <a:rPr lang="nl-NL" dirty="0">
                <a:sym typeface="Wingdings" panose="05000000000000000000" pitchFamily="2" charset="2"/>
              </a:rPr>
              <a:t> we ______ (</a:t>
            </a:r>
            <a:r>
              <a:rPr lang="nl-NL" cap="small" dirty="0">
                <a:sym typeface="Wingdings" panose="05000000000000000000" pitchFamily="2" charset="2"/>
              </a:rPr>
              <a:t>return</a:t>
            </a:r>
            <a:r>
              <a:rPr lang="nl-NL" dirty="0">
                <a:sym typeface="Wingdings" panose="05000000000000000000" pitchFamily="2" charset="2"/>
              </a:rPr>
              <a:t>) </a:t>
            </a:r>
            <a:r>
              <a:rPr lang="nl-NL" dirty="0" err="1">
                <a:sym typeface="Wingdings" panose="05000000000000000000" pitchFamily="2" charset="2"/>
              </a:rPr>
              <a:t>to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HU in December, </a:t>
            </a:r>
            <a:r>
              <a:rPr lang="nl-NL" dirty="0" err="1">
                <a:sym typeface="Wingdings" panose="05000000000000000000" pitchFamily="2" charset="2"/>
              </a:rPr>
              <a:t>that</a:t>
            </a:r>
            <a:r>
              <a:rPr lang="nl-NL" dirty="0">
                <a:sym typeface="Wingdings" panose="05000000000000000000" pitchFamily="2" charset="2"/>
              </a:rPr>
              <a:t> ______ (</a:t>
            </a:r>
            <a:r>
              <a:rPr lang="nl-NL" cap="small" dirty="0" err="1">
                <a:sym typeface="Wingdings" panose="05000000000000000000" pitchFamily="2" charset="2"/>
              </a:rPr>
              <a:t>be</a:t>
            </a:r>
            <a:r>
              <a:rPr lang="nl-NL" dirty="0">
                <a:sym typeface="Wingdings" panose="05000000000000000000" pitchFamily="2" charset="2"/>
              </a:rPr>
              <a:t>) </a:t>
            </a:r>
            <a:r>
              <a:rPr lang="nl-NL" dirty="0" err="1">
                <a:sym typeface="Wingdings" panose="05000000000000000000" pitchFamily="2" charset="2"/>
              </a:rPr>
              <a:t>wonderful</a:t>
            </a:r>
            <a:r>
              <a:rPr lang="nl-NL" dirty="0">
                <a:sym typeface="Wingdings" panose="05000000000000000000" pitchFamily="2" charset="2"/>
              </a:rPr>
              <a:t>! 								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139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365125"/>
            <a:ext cx="12192001" cy="1325563"/>
          </a:xfrm>
        </p:spPr>
        <p:txBody>
          <a:bodyPr>
            <a:normAutofit/>
          </a:bodyPr>
          <a:lstStyle/>
          <a:p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conditional</a:t>
            </a:r>
            <a:r>
              <a:rPr lang="nl-NL" dirty="0"/>
              <a:t> is </a:t>
            </a:r>
            <a:r>
              <a:rPr lang="nl-NL" dirty="0" err="1"/>
              <a:t>suitable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in a </a:t>
            </a:r>
            <a:r>
              <a:rPr lang="nl-NL" dirty="0" err="1"/>
              <a:t>given</a:t>
            </a:r>
            <a:r>
              <a:rPr lang="nl-NL" dirty="0"/>
              <a:t> </a:t>
            </a:r>
            <a:r>
              <a:rPr lang="nl-NL" dirty="0" err="1"/>
              <a:t>situation</a:t>
            </a:r>
            <a:r>
              <a:rPr lang="nl-NL" dirty="0"/>
              <a:t>?</a:t>
            </a:r>
            <a:br>
              <a:rPr lang="nl-NL" dirty="0"/>
            </a:br>
            <a:r>
              <a:rPr lang="nl-NL" dirty="0" err="1"/>
              <a:t>Differences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Type-1 </a:t>
            </a:r>
            <a:r>
              <a:rPr lang="nl-NL" dirty="0" err="1"/>
              <a:t>and</a:t>
            </a:r>
            <a:r>
              <a:rPr lang="nl-NL" dirty="0"/>
              <a:t> Type-2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825624"/>
            <a:ext cx="12192001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1. Translate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description</a:t>
            </a:r>
            <a:r>
              <a:rPr lang="nl-NL" dirty="0">
                <a:sym typeface="Wingdings" panose="05000000000000000000" pitchFamily="2" charset="2"/>
              </a:rPr>
              <a:t> of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situation</a:t>
            </a:r>
            <a:r>
              <a:rPr lang="nl-NL" dirty="0">
                <a:sym typeface="Wingdings" panose="05000000000000000000" pitchFamily="2" charset="2"/>
              </a:rPr>
              <a:t> below </a:t>
            </a:r>
            <a:r>
              <a:rPr lang="nl-NL" dirty="0" err="1">
                <a:sym typeface="Wingdings" panose="05000000000000000000" pitchFamily="2" charset="2"/>
              </a:rPr>
              <a:t>into</a:t>
            </a:r>
            <a:r>
              <a:rPr lang="nl-NL" dirty="0">
                <a:sym typeface="Wingdings" panose="05000000000000000000" pitchFamily="2" charset="2"/>
              </a:rPr>
              <a:t> a single </a:t>
            </a:r>
            <a:r>
              <a:rPr lang="nl-NL" dirty="0" err="1">
                <a:sym typeface="Wingdings" panose="05000000000000000000" pitchFamily="2" charset="2"/>
              </a:rPr>
              <a:t>conditional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sentence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which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uses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correct </a:t>
            </a:r>
            <a:r>
              <a:rPr lang="nl-NL" dirty="0" err="1">
                <a:sym typeface="Wingdings" panose="05000000000000000000" pitchFamily="2" charset="2"/>
              </a:rPr>
              <a:t>verb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tenses</a:t>
            </a:r>
            <a:r>
              <a:rPr lang="nl-NL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2. </a:t>
            </a:r>
            <a:r>
              <a:rPr lang="nl-NL" dirty="0" err="1">
                <a:sym typeface="Wingdings" panose="05000000000000000000" pitchFamily="2" charset="2"/>
              </a:rPr>
              <a:t>Indicate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whether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it’s</a:t>
            </a:r>
            <a:r>
              <a:rPr lang="nl-NL" dirty="0">
                <a:sym typeface="Wingdings" panose="05000000000000000000" pitchFamily="2" charset="2"/>
              </a:rPr>
              <a:t> Type-1 or Type-2</a:t>
            </a:r>
          </a:p>
          <a:p>
            <a:pPr marL="0" indent="0">
              <a:buNone/>
            </a:pPr>
            <a:endParaRPr lang="nl-NL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“I have no </a:t>
            </a:r>
            <a:r>
              <a:rPr lang="nl-NL" dirty="0" err="1">
                <a:sym typeface="Wingdings" panose="05000000000000000000" pitchFamily="2" charset="2"/>
              </a:rPr>
              <a:t>reason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to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believe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that</a:t>
            </a:r>
            <a:r>
              <a:rPr lang="nl-NL" dirty="0">
                <a:sym typeface="Wingdings" panose="05000000000000000000" pitchFamily="2" charset="2"/>
              </a:rPr>
              <a:t> we </a:t>
            </a:r>
            <a:r>
              <a:rPr lang="nl-NL" dirty="0" err="1">
                <a:sym typeface="Wingdings" panose="05000000000000000000" pitchFamily="2" charset="2"/>
              </a:rPr>
              <a:t>will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be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able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to</a:t>
            </a:r>
            <a:r>
              <a:rPr lang="nl-NL" dirty="0">
                <a:sym typeface="Wingdings" panose="05000000000000000000" pitchFamily="2" charset="2"/>
              </a:rPr>
              <a:t> go back </a:t>
            </a:r>
            <a:r>
              <a:rPr lang="nl-NL" dirty="0" err="1">
                <a:sym typeface="Wingdings" panose="05000000000000000000" pitchFamily="2" charset="2"/>
              </a:rPr>
              <a:t>to</a:t>
            </a:r>
            <a:r>
              <a:rPr lang="nl-NL" dirty="0">
                <a:sym typeface="Wingdings" panose="05000000000000000000" pitchFamily="2" charset="2"/>
              </a:rPr>
              <a:t> on-site </a:t>
            </a:r>
            <a:r>
              <a:rPr lang="nl-NL" dirty="0" err="1">
                <a:sym typeface="Wingdings" panose="05000000000000000000" pitchFamily="2" charset="2"/>
              </a:rPr>
              <a:t>learning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any</a:t>
            </a:r>
            <a:r>
              <a:rPr lang="nl-NL" dirty="0">
                <a:sym typeface="Wingdings" panose="05000000000000000000" pitchFamily="2" charset="2"/>
              </a:rPr>
              <a:t> time </a:t>
            </a:r>
            <a:r>
              <a:rPr lang="nl-NL" dirty="0" err="1">
                <a:sym typeface="Wingdings" panose="05000000000000000000" pitchFamily="2" charset="2"/>
              </a:rPr>
              <a:t>before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winter break. I </a:t>
            </a:r>
            <a:r>
              <a:rPr lang="nl-NL" dirty="0" err="1">
                <a:sym typeface="Wingdings" panose="05000000000000000000" pitchFamily="2" charset="2"/>
              </a:rPr>
              <a:t>nevertheless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enjoy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dreaming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about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being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able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to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see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you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all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to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wish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you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season’s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greetings</a:t>
            </a:r>
            <a:r>
              <a:rPr lang="nl-NL" dirty="0">
                <a:sym typeface="Wingdings" panose="05000000000000000000" pitchFamily="2" charset="2"/>
              </a:rPr>
              <a:t> in person.”</a:t>
            </a:r>
          </a:p>
          <a:p>
            <a:pPr marL="0" indent="0">
              <a:buNone/>
            </a:pPr>
            <a:endParaRPr lang="nl-NL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r>
              <a:rPr lang="nl-NL" dirty="0" err="1">
                <a:sym typeface="Wingdings" panose="05000000000000000000" pitchFamily="2" charset="2"/>
              </a:rPr>
              <a:t>If</a:t>
            </a:r>
            <a:r>
              <a:rPr lang="nl-NL" dirty="0">
                <a:sym typeface="Wingdings" panose="05000000000000000000" pitchFamily="2" charset="2"/>
              </a:rPr>
              <a:t> we </a:t>
            </a:r>
            <a:r>
              <a:rPr lang="nl-NL" u="sng" dirty="0" err="1">
                <a:solidFill>
                  <a:srgbClr val="00B050"/>
                </a:solidFill>
                <a:sym typeface="Wingdings" panose="05000000000000000000" pitchFamily="2" charset="2"/>
              </a:rPr>
              <a:t>returned</a:t>
            </a:r>
            <a:r>
              <a:rPr lang="nl-NL" dirty="0">
                <a:sym typeface="Wingdings" panose="05000000000000000000" pitchFamily="2" charset="2"/>
              </a:rPr>
              <a:t> / </a:t>
            </a:r>
            <a:r>
              <a:rPr lang="nl-NL" u="sng" dirty="0" err="1">
                <a:solidFill>
                  <a:srgbClr val="00B050"/>
                </a:solidFill>
                <a:sym typeface="Wingdings" panose="05000000000000000000" pitchFamily="2" charset="2"/>
              </a:rPr>
              <a:t>were</a:t>
            </a:r>
            <a:r>
              <a:rPr lang="nl-NL" u="sng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nl-NL" u="sng" dirty="0" err="1">
                <a:solidFill>
                  <a:srgbClr val="00B050"/>
                </a:solidFill>
                <a:sym typeface="Wingdings" panose="05000000000000000000" pitchFamily="2" charset="2"/>
              </a:rPr>
              <a:t>to</a:t>
            </a:r>
            <a:r>
              <a:rPr lang="nl-NL" u="sng" dirty="0">
                <a:solidFill>
                  <a:srgbClr val="00B050"/>
                </a:solidFill>
                <a:sym typeface="Wingdings" panose="05000000000000000000" pitchFamily="2" charset="2"/>
              </a:rPr>
              <a:t> return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to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HU in December, </a:t>
            </a:r>
            <a:r>
              <a:rPr lang="nl-NL" dirty="0" err="1">
                <a:sym typeface="Wingdings" panose="05000000000000000000" pitchFamily="2" charset="2"/>
              </a:rPr>
              <a:t>that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u="sng" dirty="0" err="1">
                <a:solidFill>
                  <a:srgbClr val="00B050"/>
                </a:solidFill>
                <a:sym typeface="Wingdings" panose="05000000000000000000" pitchFamily="2" charset="2"/>
              </a:rPr>
              <a:t>would</a:t>
            </a:r>
            <a:r>
              <a:rPr lang="nl-NL" u="sng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nl-NL" u="sng" dirty="0" err="1">
                <a:solidFill>
                  <a:srgbClr val="00B050"/>
                </a:solidFill>
                <a:sym typeface="Wingdings" panose="05000000000000000000" pitchFamily="2" charset="2"/>
              </a:rPr>
              <a:t>be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wonderful</a:t>
            </a:r>
            <a:r>
              <a:rPr lang="nl-NL" dirty="0">
                <a:sym typeface="Wingdings" panose="05000000000000000000" pitchFamily="2" charset="2"/>
              </a:rPr>
              <a:t>! 	</a:t>
            </a:r>
            <a:r>
              <a:rPr lang="nl-NL" dirty="0">
                <a:solidFill>
                  <a:srgbClr val="7030A0"/>
                </a:solidFill>
                <a:sym typeface="Wingdings" panose="05000000000000000000" pitchFamily="2" charset="2"/>
              </a:rPr>
              <a:t>(Type-2)</a:t>
            </a:r>
            <a:r>
              <a:rPr lang="nl-NL" dirty="0">
                <a:sym typeface="Wingdings" panose="05000000000000000000" pitchFamily="2" charset="2"/>
              </a:rPr>
              <a:t>								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03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r>
              <a:rPr lang="nl-NL"/>
              <a:t>Fill </a:t>
            </a:r>
            <a:r>
              <a:rPr lang="nl-NL" dirty="0"/>
              <a:t>in </a:t>
            </a:r>
            <a:r>
              <a:rPr lang="nl-NL" dirty="0" err="1"/>
              <a:t>the</a:t>
            </a:r>
            <a:r>
              <a:rPr lang="nl-NL" dirty="0"/>
              <a:t> correct </a:t>
            </a:r>
            <a:r>
              <a:rPr lang="nl-NL" dirty="0" err="1"/>
              <a:t>tenses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Type-1 </a:t>
            </a:r>
            <a:r>
              <a:rPr lang="nl-NL" dirty="0" err="1"/>
              <a:t>sentences</a:t>
            </a:r>
            <a:br>
              <a:rPr lang="nl-NL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0" y="1681163"/>
            <a:ext cx="5997575" cy="823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			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0" y="2505075"/>
            <a:ext cx="5997575" cy="4352924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nl-NL" dirty="0" err="1"/>
              <a:t>If</a:t>
            </a:r>
            <a:r>
              <a:rPr lang="nl-NL" dirty="0"/>
              <a:t> he _____ (</a:t>
            </a:r>
            <a:r>
              <a:rPr lang="nl-NL" cap="small" dirty="0"/>
              <a:t>have</a:t>
            </a:r>
            <a:r>
              <a:rPr lang="nl-NL" dirty="0"/>
              <a:t>) </a:t>
            </a:r>
            <a:r>
              <a:rPr lang="nl-NL" dirty="0" err="1"/>
              <a:t>the</a:t>
            </a:r>
            <a:r>
              <a:rPr lang="nl-NL" dirty="0"/>
              <a:t> chance, he _____ (</a:t>
            </a:r>
            <a:r>
              <a:rPr lang="nl-NL" cap="small" dirty="0" err="1"/>
              <a:t>visit</a:t>
            </a:r>
            <a:r>
              <a:rPr lang="nl-NL" dirty="0"/>
              <a:t>)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Vatican</a:t>
            </a:r>
            <a:r>
              <a:rPr lang="nl-NL" dirty="0"/>
              <a:t>.</a:t>
            </a:r>
          </a:p>
          <a:p>
            <a:pPr marL="514350" indent="-514350">
              <a:buAutoNum type="arabicPeriod"/>
            </a:pPr>
            <a:r>
              <a:rPr lang="nl-NL" dirty="0" err="1"/>
              <a:t>If</a:t>
            </a:r>
            <a:r>
              <a:rPr lang="nl-NL" dirty="0"/>
              <a:t> I _____ (</a:t>
            </a:r>
            <a:r>
              <a:rPr lang="nl-NL" cap="small" dirty="0" err="1"/>
              <a:t>be</a:t>
            </a:r>
            <a:r>
              <a:rPr lang="nl-NL" dirty="0"/>
              <a:t>) off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part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summer</a:t>
            </a:r>
            <a:r>
              <a:rPr lang="nl-NL" dirty="0"/>
              <a:t>, I _____ (</a:t>
            </a:r>
            <a:r>
              <a:rPr lang="nl-NL" cap="small" dirty="0"/>
              <a:t>trek</a:t>
            </a:r>
            <a:r>
              <a:rPr lang="nl-NL" dirty="0"/>
              <a:t>) </a:t>
            </a:r>
            <a:r>
              <a:rPr lang="nl-NL" dirty="0" err="1"/>
              <a:t>through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Rocky</a:t>
            </a:r>
            <a:r>
              <a:rPr lang="nl-NL" dirty="0"/>
              <a:t> </a:t>
            </a:r>
            <a:r>
              <a:rPr lang="nl-NL" dirty="0" err="1"/>
              <a:t>Mountains</a:t>
            </a:r>
            <a:r>
              <a:rPr lang="nl-NL" dirty="0"/>
              <a:t>.</a:t>
            </a:r>
          </a:p>
          <a:p>
            <a:pPr marL="514350" indent="-514350">
              <a:buAutoNum type="arabicPeriod"/>
            </a:pP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_____ (</a:t>
            </a:r>
            <a:r>
              <a:rPr lang="nl-NL" cap="small" dirty="0"/>
              <a:t>call</a:t>
            </a:r>
            <a:r>
              <a:rPr lang="nl-NL" dirty="0"/>
              <a:t>) me </a:t>
            </a:r>
            <a:r>
              <a:rPr lang="nl-NL" dirty="0" err="1"/>
              <a:t>after</a:t>
            </a:r>
            <a:r>
              <a:rPr lang="nl-NL" dirty="0"/>
              <a:t> 10:00, I _____ (</a:t>
            </a:r>
            <a:r>
              <a:rPr lang="nl-NL" cap="small" dirty="0" err="1"/>
              <a:t>pick</a:t>
            </a:r>
            <a:r>
              <a:rPr lang="nl-NL" cap="small" dirty="0"/>
              <a:t> up</a:t>
            </a:r>
            <a:r>
              <a:rPr lang="nl-NL" dirty="0"/>
              <a:t>/</a:t>
            </a:r>
            <a:r>
              <a:rPr lang="nl-NL" dirty="0" err="1"/>
              <a:t>not</a:t>
            </a:r>
            <a:r>
              <a:rPr lang="nl-NL" dirty="0"/>
              <a:t>) </a:t>
            </a:r>
          </a:p>
          <a:p>
            <a:pPr marL="514350" indent="-514350">
              <a:buAutoNum type="arabicPeriod"/>
            </a:pPr>
            <a:r>
              <a:rPr lang="nl-NL" dirty="0"/>
              <a:t>I _____ (</a:t>
            </a:r>
            <a:r>
              <a:rPr lang="nl-NL" cap="small" dirty="0"/>
              <a:t>mind</a:t>
            </a:r>
            <a:r>
              <a:rPr lang="nl-NL" dirty="0"/>
              <a:t>/</a:t>
            </a:r>
            <a:r>
              <a:rPr lang="nl-NL" dirty="0" err="1"/>
              <a:t>not</a:t>
            </a:r>
            <a:r>
              <a:rPr lang="nl-NL" dirty="0"/>
              <a:t>)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she</a:t>
            </a:r>
            <a:r>
              <a:rPr lang="nl-NL" dirty="0"/>
              <a:t> _____ (</a:t>
            </a:r>
            <a:r>
              <a:rPr lang="nl-NL" cap="small" dirty="0"/>
              <a:t>show up</a:t>
            </a:r>
            <a:r>
              <a:rPr lang="nl-NL" dirty="0"/>
              <a:t>) </a:t>
            </a:r>
            <a:r>
              <a:rPr lang="nl-NL" dirty="0" err="1"/>
              <a:t>early</a:t>
            </a:r>
            <a:r>
              <a:rPr lang="nl-NL" dirty="0"/>
              <a:t>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6019800" cy="4352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 err="1"/>
              <a:t>If</a:t>
            </a:r>
            <a:r>
              <a:rPr lang="nl-NL" dirty="0"/>
              <a:t> he </a:t>
            </a:r>
            <a:r>
              <a:rPr lang="nl-NL" u="sng">
                <a:solidFill>
                  <a:srgbClr val="00B050"/>
                </a:solidFill>
              </a:rPr>
              <a:t>has</a:t>
            </a:r>
            <a:r>
              <a:rPr lang="nl-NL">
                <a:solidFill>
                  <a:srgbClr val="00B050"/>
                </a:solidFill>
              </a:rPr>
              <a:t> </a:t>
            </a:r>
            <a:r>
              <a:rPr lang="nl-NL"/>
              <a:t>the </a:t>
            </a:r>
            <a:r>
              <a:rPr lang="nl-NL" dirty="0"/>
              <a:t>chance, </a:t>
            </a:r>
            <a:r>
              <a:rPr lang="nl-NL" dirty="0" err="1"/>
              <a:t>he</a:t>
            </a:r>
            <a:r>
              <a:rPr lang="nl-NL" u="sng" dirty="0" err="1">
                <a:solidFill>
                  <a:srgbClr val="00B050"/>
                </a:solidFill>
              </a:rPr>
              <a:t>’ll</a:t>
            </a:r>
            <a:r>
              <a:rPr lang="nl-NL" u="sng" dirty="0">
                <a:solidFill>
                  <a:srgbClr val="00B050"/>
                </a:solidFill>
              </a:rPr>
              <a:t> </a:t>
            </a:r>
            <a:r>
              <a:rPr lang="nl-NL" u="sng" dirty="0" err="1">
                <a:solidFill>
                  <a:srgbClr val="00B050"/>
                </a:solidFill>
              </a:rPr>
              <a:t>visit</a:t>
            </a:r>
            <a:r>
              <a:rPr lang="nl-NL" dirty="0">
                <a:solidFill>
                  <a:srgbClr val="00B050"/>
                </a:solidFill>
              </a:rPr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Vatican</a:t>
            </a:r>
            <a:r>
              <a:rPr lang="nl-NL" dirty="0"/>
              <a:t>.</a:t>
            </a:r>
          </a:p>
          <a:p>
            <a:pPr marL="0" indent="0">
              <a:buNone/>
            </a:pPr>
            <a:endParaRPr lang="nl-NL" sz="1200"/>
          </a:p>
          <a:p>
            <a:pPr marL="0" indent="0">
              <a:buNone/>
            </a:pPr>
            <a:r>
              <a:rPr lang="nl-NL"/>
              <a:t>If </a:t>
            </a:r>
            <a:r>
              <a:rPr lang="nl-NL" err="1"/>
              <a:t>I</a:t>
            </a:r>
            <a:r>
              <a:rPr lang="nl-NL" u="sng" err="1">
                <a:solidFill>
                  <a:srgbClr val="00B050"/>
                </a:solidFill>
              </a:rPr>
              <a:t>’m</a:t>
            </a:r>
            <a:r>
              <a:rPr lang="nl-NL">
                <a:solidFill>
                  <a:srgbClr val="00B050"/>
                </a:solidFill>
              </a:rPr>
              <a:t> </a:t>
            </a:r>
            <a:r>
              <a:rPr lang="nl-NL"/>
              <a:t>off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part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summer</a:t>
            </a:r>
            <a:r>
              <a:rPr lang="nl-NL" dirty="0"/>
              <a:t>, </a:t>
            </a:r>
            <a:r>
              <a:rPr lang="nl-NL" dirty="0" err="1"/>
              <a:t>I</a:t>
            </a:r>
            <a:r>
              <a:rPr lang="nl-NL" u="sng" dirty="0" err="1">
                <a:solidFill>
                  <a:srgbClr val="00B050"/>
                </a:solidFill>
              </a:rPr>
              <a:t>’ll</a:t>
            </a:r>
            <a:r>
              <a:rPr lang="nl-NL" u="sng" dirty="0">
                <a:solidFill>
                  <a:srgbClr val="00B050"/>
                </a:solidFill>
              </a:rPr>
              <a:t> trek</a:t>
            </a:r>
            <a:r>
              <a:rPr lang="nl-NL" dirty="0"/>
              <a:t> </a:t>
            </a:r>
            <a:r>
              <a:rPr lang="nl-NL" dirty="0" err="1"/>
              <a:t>through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Rocky</a:t>
            </a:r>
            <a:r>
              <a:rPr lang="nl-NL" dirty="0"/>
              <a:t> </a:t>
            </a:r>
            <a:r>
              <a:rPr lang="nl-NL" dirty="0" err="1"/>
              <a:t>Mountains</a:t>
            </a:r>
            <a:r>
              <a:rPr lang="nl-NL" dirty="0"/>
              <a:t>.</a:t>
            </a:r>
          </a:p>
          <a:p>
            <a:pPr marL="0" indent="0">
              <a:buNone/>
            </a:pP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err="1"/>
              <a:t>you</a:t>
            </a:r>
            <a:r>
              <a:rPr lang="nl-NL"/>
              <a:t> </a:t>
            </a:r>
            <a:r>
              <a:rPr lang="nl-NL" u="sng">
                <a:solidFill>
                  <a:srgbClr val="00B050"/>
                </a:solidFill>
              </a:rPr>
              <a:t>call</a:t>
            </a:r>
            <a:r>
              <a:rPr lang="nl-NL">
                <a:solidFill>
                  <a:srgbClr val="00B050"/>
                </a:solidFill>
              </a:rPr>
              <a:t> </a:t>
            </a:r>
            <a:r>
              <a:rPr lang="nl-NL" dirty="0"/>
              <a:t>me </a:t>
            </a:r>
            <a:r>
              <a:rPr lang="nl-NL" dirty="0" err="1"/>
              <a:t>after</a:t>
            </a:r>
            <a:r>
              <a:rPr lang="nl-NL" dirty="0"/>
              <a:t> 10:00, I </a:t>
            </a:r>
            <a:r>
              <a:rPr lang="nl-NL" u="sng" dirty="0" err="1">
                <a:solidFill>
                  <a:srgbClr val="00B050"/>
                </a:solidFill>
              </a:rPr>
              <a:t>won’t</a:t>
            </a:r>
            <a:r>
              <a:rPr lang="nl-NL" u="sng" dirty="0">
                <a:solidFill>
                  <a:srgbClr val="00B050"/>
                </a:solidFill>
              </a:rPr>
              <a:t> </a:t>
            </a:r>
            <a:r>
              <a:rPr lang="nl-NL" u="sng" dirty="0" err="1">
                <a:solidFill>
                  <a:srgbClr val="00B050"/>
                </a:solidFill>
              </a:rPr>
              <a:t>pick</a:t>
            </a:r>
            <a:r>
              <a:rPr lang="nl-NL" u="sng" dirty="0">
                <a:solidFill>
                  <a:srgbClr val="00B050"/>
                </a:solidFill>
              </a:rPr>
              <a:t> up</a:t>
            </a:r>
            <a:r>
              <a:rPr lang="nl-NL" dirty="0"/>
              <a:t>.</a:t>
            </a:r>
            <a:r>
              <a:rPr lang="nl-NL" dirty="0">
                <a:solidFill>
                  <a:srgbClr val="00B050"/>
                </a:solidFill>
              </a:rPr>
              <a:t> </a:t>
            </a:r>
            <a:endParaRPr lang="nl-NL" dirty="0"/>
          </a:p>
          <a:p>
            <a:pPr marL="0" indent="0">
              <a:buNone/>
            </a:pPr>
            <a:endParaRPr lang="nl-NL" sz="1200"/>
          </a:p>
          <a:p>
            <a:pPr marL="0" indent="0">
              <a:buNone/>
            </a:pPr>
            <a:r>
              <a:rPr lang="nl-NL"/>
              <a:t>I </a:t>
            </a:r>
            <a:r>
              <a:rPr lang="nl-NL" u="sng" dirty="0" err="1">
                <a:solidFill>
                  <a:srgbClr val="00B050"/>
                </a:solidFill>
              </a:rPr>
              <a:t>won’t</a:t>
            </a:r>
            <a:r>
              <a:rPr lang="nl-NL" u="sng" dirty="0">
                <a:solidFill>
                  <a:srgbClr val="00B050"/>
                </a:solidFill>
              </a:rPr>
              <a:t> mind</a:t>
            </a:r>
            <a:r>
              <a:rPr lang="nl-NL" dirty="0">
                <a:solidFill>
                  <a:srgbClr val="00B050"/>
                </a:solidFill>
              </a:rPr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she</a:t>
            </a:r>
            <a:r>
              <a:rPr lang="nl-NL" dirty="0"/>
              <a:t> </a:t>
            </a:r>
            <a:r>
              <a:rPr lang="nl-NL" u="sng">
                <a:solidFill>
                  <a:srgbClr val="00B050"/>
                </a:solidFill>
              </a:rPr>
              <a:t>shows up</a:t>
            </a:r>
            <a:r>
              <a:rPr lang="nl-NL"/>
              <a:t> </a:t>
            </a:r>
            <a:r>
              <a:rPr lang="nl-NL" dirty="0" err="1"/>
              <a:t>early</a:t>
            </a:r>
            <a:r>
              <a:rPr lang="nl-NL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27949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r>
              <a:rPr lang="nl-NL" dirty="0"/>
              <a:t>Q: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did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notice</a:t>
            </a:r>
            <a:r>
              <a:rPr lang="nl-NL" dirty="0"/>
              <a:t> </a:t>
            </a:r>
            <a:r>
              <a:rPr lang="nl-NL" dirty="0" err="1"/>
              <a:t>about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verbs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i="1" dirty="0" err="1"/>
              <a:t>if</a:t>
            </a:r>
            <a:r>
              <a:rPr lang="nl-NL" dirty="0" err="1"/>
              <a:t>-clauses</a:t>
            </a:r>
            <a:r>
              <a:rPr lang="nl-NL" dirty="0"/>
              <a:t>? </a:t>
            </a:r>
            <a:br>
              <a:rPr lang="nl-NL" dirty="0"/>
            </a:br>
            <a:r>
              <a:rPr lang="nl-NL" b="1" dirty="0"/>
              <a:t>A: Always </a:t>
            </a:r>
            <a:r>
              <a:rPr lang="nl-NL" b="1" u="sng" dirty="0"/>
              <a:t>present </a:t>
            </a:r>
            <a:r>
              <a:rPr lang="nl-NL" b="1" u="sng" dirty="0" err="1"/>
              <a:t>simple</a:t>
            </a:r>
            <a:r>
              <a:rPr lang="nl-NL" b="1" dirty="0"/>
              <a:t>!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			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0" y="2505075"/>
            <a:ext cx="12192000" cy="4352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 err="1"/>
              <a:t>If</a:t>
            </a:r>
            <a:r>
              <a:rPr lang="nl-NL" dirty="0"/>
              <a:t> he </a:t>
            </a:r>
            <a:r>
              <a:rPr lang="nl-NL" b="1" u="sng" dirty="0">
                <a:solidFill>
                  <a:srgbClr val="00B050"/>
                </a:solidFill>
              </a:rPr>
              <a:t>has</a:t>
            </a:r>
            <a:r>
              <a:rPr lang="nl-NL" b="1" dirty="0">
                <a:solidFill>
                  <a:srgbClr val="00B050"/>
                </a:solidFill>
              </a:rPr>
              <a:t> (</a:t>
            </a:r>
            <a:r>
              <a:rPr lang="nl-NL" b="1" dirty="0" err="1">
                <a:solidFill>
                  <a:srgbClr val="00B050"/>
                </a:solidFill>
              </a:rPr>
              <a:t>pres.simp</a:t>
            </a:r>
            <a:r>
              <a:rPr lang="nl-NL" b="1" dirty="0">
                <a:solidFill>
                  <a:srgbClr val="00B050"/>
                </a:solidFill>
              </a:rPr>
              <a:t>.) </a:t>
            </a:r>
            <a:r>
              <a:rPr lang="nl-NL" dirty="0" err="1"/>
              <a:t>the</a:t>
            </a:r>
            <a:r>
              <a:rPr lang="nl-NL" dirty="0"/>
              <a:t> chance, </a:t>
            </a:r>
            <a:r>
              <a:rPr lang="nl-NL" dirty="0" err="1"/>
              <a:t>he’ll</a:t>
            </a:r>
            <a:r>
              <a:rPr lang="nl-NL" dirty="0"/>
              <a:t> </a:t>
            </a:r>
            <a:r>
              <a:rPr lang="nl-NL" dirty="0" err="1"/>
              <a:t>visit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Vatican</a:t>
            </a:r>
            <a:r>
              <a:rPr lang="nl-NL" dirty="0"/>
              <a:t>.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 err="1"/>
              <a:t>If</a:t>
            </a:r>
            <a:r>
              <a:rPr lang="nl-NL" dirty="0"/>
              <a:t> I </a:t>
            </a:r>
            <a:r>
              <a:rPr lang="nl-NL" b="1" u="sng" dirty="0" err="1">
                <a:solidFill>
                  <a:srgbClr val="00B050"/>
                </a:solidFill>
              </a:rPr>
              <a:t>am</a:t>
            </a:r>
            <a:r>
              <a:rPr lang="nl-NL" b="1" dirty="0">
                <a:solidFill>
                  <a:srgbClr val="00B050"/>
                </a:solidFill>
              </a:rPr>
              <a:t> (</a:t>
            </a:r>
            <a:r>
              <a:rPr lang="nl-NL" b="1" dirty="0" err="1">
                <a:solidFill>
                  <a:srgbClr val="00B050"/>
                </a:solidFill>
              </a:rPr>
              <a:t>pres.simp</a:t>
            </a:r>
            <a:r>
              <a:rPr lang="nl-NL" b="1" dirty="0">
                <a:solidFill>
                  <a:srgbClr val="00B050"/>
                </a:solidFill>
              </a:rPr>
              <a:t>.)</a:t>
            </a:r>
            <a:r>
              <a:rPr lang="nl-NL" dirty="0"/>
              <a:t> off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part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summer</a:t>
            </a:r>
            <a:r>
              <a:rPr lang="nl-NL" dirty="0"/>
              <a:t>, </a:t>
            </a:r>
            <a:r>
              <a:rPr lang="nl-NL" dirty="0" err="1"/>
              <a:t>I’ll</a:t>
            </a:r>
            <a:r>
              <a:rPr lang="nl-NL" dirty="0"/>
              <a:t> trek </a:t>
            </a:r>
            <a:r>
              <a:rPr lang="nl-NL" dirty="0" err="1"/>
              <a:t>through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Rocky</a:t>
            </a:r>
            <a:r>
              <a:rPr lang="nl-NL" dirty="0"/>
              <a:t> </a:t>
            </a:r>
            <a:r>
              <a:rPr lang="nl-NL" dirty="0" err="1"/>
              <a:t>Mountains</a:t>
            </a:r>
            <a:r>
              <a:rPr lang="nl-NL" dirty="0"/>
              <a:t>.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b="1" u="sng" dirty="0">
                <a:solidFill>
                  <a:srgbClr val="00B050"/>
                </a:solidFill>
              </a:rPr>
              <a:t>call</a:t>
            </a:r>
            <a:r>
              <a:rPr lang="nl-NL" b="1" dirty="0">
                <a:solidFill>
                  <a:srgbClr val="00B050"/>
                </a:solidFill>
              </a:rPr>
              <a:t> (</a:t>
            </a:r>
            <a:r>
              <a:rPr lang="nl-NL" b="1" dirty="0" err="1">
                <a:solidFill>
                  <a:srgbClr val="00B050"/>
                </a:solidFill>
              </a:rPr>
              <a:t>pres.simp</a:t>
            </a:r>
            <a:r>
              <a:rPr lang="nl-NL" b="1" dirty="0">
                <a:solidFill>
                  <a:srgbClr val="00B050"/>
                </a:solidFill>
              </a:rPr>
              <a:t>.) </a:t>
            </a:r>
            <a:r>
              <a:rPr lang="nl-NL" dirty="0"/>
              <a:t>me </a:t>
            </a:r>
            <a:r>
              <a:rPr lang="nl-NL" dirty="0" err="1"/>
              <a:t>after</a:t>
            </a:r>
            <a:r>
              <a:rPr lang="nl-NL" dirty="0"/>
              <a:t> 10:00, I </a:t>
            </a:r>
            <a:r>
              <a:rPr lang="nl-NL" dirty="0" err="1"/>
              <a:t>won’t</a:t>
            </a:r>
            <a:r>
              <a:rPr lang="nl-NL" dirty="0"/>
              <a:t> </a:t>
            </a:r>
            <a:r>
              <a:rPr lang="nl-NL" dirty="0" err="1"/>
              <a:t>pick</a:t>
            </a:r>
            <a:r>
              <a:rPr lang="nl-NL" dirty="0"/>
              <a:t> up.</a:t>
            </a:r>
            <a:r>
              <a:rPr lang="nl-NL" dirty="0">
                <a:solidFill>
                  <a:srgbClr val="00B050"/>
                </a:solidFill>
              </a:rPr>
              <a:t> </a:t>
            </a: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I </a:t>
            </a:r>
            <a:r>
              <a:rPr lang="nl-NL" dirty="0" err="1"/>
              <a:t>won’t</a:t>
            </a:r>
            <a:r>
              <a:rPr lang="nl-NL" dirty="0"/>
              <a:t> mind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she</a:t>
            </a:r>
            <a:r>
              <a:rPr lang="nl-NL" dirty="0"/>
              <a:t> </a:t>
            </a:r>
            <a:r>
              <a:rPr lang="nl-NL" b="1" u="sng" dirty="0">
                <a:solidFill>
                  <a:srgbClr val="00B050"/>
                </a:solidFill>
              </a:rPr>
              <a:t>shows up</a:t>
            </a:r>
            <a:r>
              <a:rPr lang="nl-NL" b="1" dirty="0">
                <a:solidFill>
                  <a:srgbClr val="00B050"/>
                </a:solidFill>
              </a:rPr>
              <a:t> (</a:t>
            </a:r>
            <a:r>
              <a:rPr lang="nl-NL" b="1" dirty="0" err="1">
                <a:solidFill>
                  <a:srgbClr val="00B050"/>
                </a:solidFill>
              </a:rPr>
              <a:t>pres.simp</a:t>
            </a:r>
            <a:r>
              <a:rPr lang="nl-NL" b="1" dirty="0">
                <a:solidFill>
                  <a:srgbClr val="00B050"/>
                </a:solidFill>
              </a:rPr>
              <a:t>.)</a:t>
            </a:r>
            <a:r>
              <a:rPr lang="nl-NL" b="1" dirty="0"/>
              <a:t> </a:t>
            </a:r>
            <a:r>
              <a:rPr lang="nl-NL" dirty="0" err="1"/>
              <a:t>early</a:t>
            </a:r>
            <a:r>
              <a:rPr lang="nl-NL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94822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r>
              <a:rPr lang="nl-NL"/>
              <a:t>Convert </a:t>
            </a:r>
            <a:r>
              <a:rPr lang="nl-NL" dirty="0" err="1"/>
              <a:t>the</a:t>
            </a:r>
            <a:r>
              <a:rPr lang="nl-NL" dirty="0"/>
              <a:t> Type-1 </a:t>
            </a:r>
            <a:r>
              <a:rPr lang="nl-NL" dirty="0" err="1"/>
              <a:t>sentences</a:t>
            </a:r>
            <a:r>
              <a:rPr lang="nl-NL" dirty="0"/>
              <a:t> </a:t>
            </a:r>
            <a:r>
              <a:rPr lang="nl-NL" dirty="0" err="1"/>
              <a:t>into</a:t>
            </a:r>
            <a:r>
              <a:rPr lang="nl-NL" dirty="0"/>
              <a:t> </a:t>
            </a:r>
            <a:r>
              <a:rPr lang="nl-NL"/>
              <a:t>Type-2 sentences</a:t>
            </a:r>
            <a:br>
              <a:rPr lang="nl-NL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0" y="1681163"/>
            <a:ext cx="5997575" cy="823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			</a:t>
            </a:r>
          </a:p>
          <a:p>
            <a:r>
              <a:rPr lang="nl-NL" dirty="0"/>
              <a:t>Type-1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0" y="2505075"/>
            <a:ext cx="5997575" cy="4352924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1. </a:t>
            </a:r>
            <a:r>
              <a:rPr lang="nl-NL" dirty="0" err="1"/>
              <a:t>If</a:t>
            </a:r>
            <a:r>
              <a:rPr lang="nl-NL" dirty="0"/>
              <a:t> he has </a:t>
            </a:r>
            <a:r>
              <a:rPr lang="nl-NL" dirty="0" err="1"/>
              <a:t>the</a:t>
            </a:r>
            <a:r>
              <a:rPr lang="nl-NL" dirty="0"/>
              <a:t> chance, </a:t>
            </a:r>
            <a:r>
              <a:rPr lang="nl-NL" dirty="0" err="1"/>
              <a:t>he’ll</a:t>
            </a:r>
            <a:r>
              <a:rPr lang="nl-NL" dirty="0"/>
              <a:t> </a:t>
            </a:r>
            <a:r>
              <a:rPr lang="nl-NL" dirty="0" err="1"/>
              <a:t>visit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Vatican</a:t>
            </a:r>
            <a:r>
              <a:rPr lang="nl-NL" dirty="0"/>
              <a:t>.</a:t>
            </a:r>
          </a:p>
          <a:p>
            <a:pPr marL="0" indent="0">
              <a:buNone/>
            </a:pPr>
            <a:r>
              <a:rPr lang="nl-NL" dirty="0"/>
              <a:t>2. </a:t>
            </a:r>
            <a:r>
              <a:rPr lang="nl-NL" dirty="0" err="1"/>
              <a:t>If</a:t>
            </a:r>
            <a:r>
              <a:rPr lang="nl-NL" dirty="0"/>
              <a:t> I </a:t>
            </a:r>
            <a:r>
              <a:rPr lang="nl-NL" dirty="0" err="1"/>
              <a:t>am</a:t>
            </a:r>
            <a:r>
              <a:rPr lang="nl-NL" dirty="0"/>
              <a:t> off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part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summer</a:t>
            </a:r>
            <a:r>
              <a:rPr lang="nl-NL" dirty="0"/>
              <a:t>, </a:t>
            </a:r>
            <a:r>
              <a:rPr lang="nl-NL" dirty="0" err="1"/>
              <a:t>I’ll</a:t>
            </a:r>
            <a:r>
              <a:rPr lang="nl-NL" dirty="0"/>
              <a:t> trek </a:t>
            </a:r>
            <a:r>
              <a:rPr lang="nl-NL" dirty="0" err="1"/>
              <a:t>through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Rocky</a:t>
            </a:r>
            <a:r>
              <a:rPr lang="nl-NL" dirty="0"/>
              <a:t> </a:t>
            </a:r>
            <a:r>
              <a:rPr lang="nl-NL" dirty="0" err="1"/>
              <a:t>Mountains</a:t>
            </a:r>
            <a:r>
              <a:rPr lang="nl-NL" dirty="0"/>
              <a:t>.</a:t>
            </a:r>
          </a:p>
          <a:p>
            <a:pPr marL="0" indent="0">
              <a:buNone/>
            </a:pPr>
            <a:r>
              <a:rPr lang="nl-NL" dirty="0"/>
              <a:t>3.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call me </a:t>
            </a:r>
            <a:r>
              <a:rPr lang="nl-NL" dirty="0" err="1"/>
              <a:t>after</a:t>
            </a:r>
            <a:r>
              <a:rPr lang="nl-NL" dirty="0"/>
              <a:t> 10:00, I </a:t>
            </a:r>
            <a:r>
              <a:rPr lang="nl-NL" dirty="0" err="1"/>
              <a:t>won’t</a:t>
            </a:r>
            <a:r>
              <a:rPr lang="nl-NL" dirty="0"/>
              <a:t> </a:t>
            </a:r>
            <a:r>
              <a:rPr lang="nl-NL" dirty="0" err="1"/>
              <a:t>pick</a:t>
            </a:r>
            <a:r>
              <a:rPr lang="nl-NL" dirty="0"/>
              <a:t> up. </a:t>
            </a:r>
          </a:p>
          <a:p>
            <a:pPr marL="0" indent="0">
              <a:buNone/>
            </a:pPr>
            <a:r>
              <a:rPr lang="nl-NL" dirty="0"/>
              <a:t>4. I </a:t>
            </a:r>
            <a:r>
              <a:rPr lang="nl-NL" dirty="0" err="1"/>
              <a:t>won’t</a:t>
            </a:r>
            <a:r>
              <a:rPr lang="nl-NL" dirty="0"/>
              <a:t> mind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she</a:t>
            </a:r>
            <a:r>
              <a:rPr lang="nl-NL" dirty="0"/>
              <a:t> shows up </a:t>
            </a:r>
            <a:r>
              <a:rPr lang="nl-NL" dirty="0" err="1"/>
              <a:t>early</a:t>
            </a:r>
            <a:r>
              <a:rPr lang="nl-NL" dirty="0"/>
              <a:t>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 dirty="0"/>
              <a:t>Type-2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6019800" cy="4352925"/>
          </a:xfrm>
        </p:spPr>
        <p:txBody>
          <a:bodyPr/>
          <a:lstStyle/>
          <a:p>
            <a:pPr marL="0" indent="0">
              <a:buNone/>
            </a:pP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/>
              <a:t>he </a:t>
            </a:r>
            <a:r>
              <a:rPr lang="nl-NL" u="sng">
                <a:solidFill>
                  <a:srgbClr val="00B050"/>
                </a:solidFill>
              </a:rPr>
              <a:t>had</a:t>
            </a:r>
            <a:r>
              <a:rPr lang="nl-NL">
                <a:solidFill>
                  <a:srgbClr val="00B050"/>
                </a:solidFill>
              </a:rPr>
              <a:t> </a:t>
            </a:r>
            <a:r>
              <a:rPr lang="nl-NL" dirty="0" err="1"/>
              <a:t>the</a:t>
            </a:r>
            <a:r>
              <a:rPr lang="nl-NL" dirty="0"/>
              <a:t> chance, </a:t>
            </a:r>
            <a:r>
              <a:rPr lang="nl-NL" dirty="0" err="1"/>
              <a:t>he</a:t>
            </a:r>
            <a:r>
              <a:rPr lang="nl-NL" u="sng" dirty="0" err="1">
                <a:solidFill>
                  <a:srgbClr val="00B050"/>
                </a:solidFill>
              </a:rPr>
              <a:t>’d</a:t>
            </a:r>
            <a:r>
              <a:rPr lang="nl-NL" u="sng" dirty="0">
                <a:solidFill>
                  <a:srgbClr val="00B050"/>
                </a:solidFill>
              </a:rPr>
              <a:t> </a:t>
            </a:r>
            <a:r>
              <a:rPr lang="nl-NL" u="sng" dirty="0" err="1">
                <a:solidFill>
                  <a:srgbClr val="00B050"/>
                </a:solidFill>
              </a:rPr>
              <a:t>visit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Vatican</a:t>
            </a:r>
            <a:r>
              <a:rPr lang="nl-NL" dirty="0"/>
              <a:t>.</a:t>
            </a:r>
          </a:p>
          <a:p>
            <a:pPr marL="0" indent="0">
              <a:buNone/>
            </a:pPr>
            <a:r>
              <a:rPr lang="nl-NL" dirty="0" err="1"/>
              <a:t>If</a:t>
            </a:r>
            <a:r>
              <a:rPr lang="nl-NL" dirty="0"/>
              <a:t> I </a:t>
            </a:r>
            <a:r>
              <a:rPr lang="nl-NL" dirty="0" err="1">
                <a:solidFill>
                  <a:srgbClr val="00B050"/>
                </a:solidFill>
              </a:rPr>
              <a:t>were</a:t>
            </a:r>
            <a:r>
              <a:rPr lang="nl-NL">
                <a:solidFill>
                  <a:srgbClr val="00B050"/>
                </a:solidFill>
              </a:rPr>
              <a:t>/was</a:t>
            </a:r>
            <a:r>
              <a:rPr lang="nl-NL"/>
              <a:t> </a:t>
            </a:r>
            <a:r>
              <a:rPr lang="nl-NL" dirty="0"/>
              <a:t>off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part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summer</a:t>
            </a:r>
            <a:r>
              <a:rPr lang="nl-NL" dirty="0"/>
              <a:t>, </a:t>
            </a:r>
            <a:r>
              <a:rPr lang="nl-NL" u="sng" dirty="0" err="1">
                <a:solidFill>
                  <a:srgbClr val="00B050"/>
                </a:solidFill>
              </a:rPr>
              <a:t>I’d</a:t>
            </a:r>
            <a:r>
              <a:rPr lang="nl-NL" u="sng" dirty="0">
                <a:solidFill>
                  <a:srgbClr val="00B050"/>
                </a:solidFill>
              </a:rPr>
              <a:t> trek</a:t>
            </a:r>
            <a:r>
              <a:rPr lang="nl-NL" dirty="0"/>
              <a:t> </a:t>
            </a:r>
            <a:r>
              <a:rPr lang="nl-NL" dirty="0" err="1"/>
              <a:t>through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Rocky</a:t>
            </a:r>
            <a:r>
              <a:rPr lang="nl-NL" dirty="0"/>
              <a:t> </a:t>
            </a:r>
            <a:r>
              <a:rPr lang="nl-NL" dirty="0" err="1"/>
              <a:t>Mountains</a:t>
            </a:r>
            <a:r>
              <a:rPr lang="nl-NL" dirty="0"/>
              <a:t>.</a:t>
            </a:r>
          </a:p>
          <a:p>
            <a:pPr marL="0" indent="0">
              <a:buNone/>
            </a:pP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err="1"/>
              <a:t>you</a:t>
            </a:r>
            <a:r>
              <a:rPr lang="nl-NL"/>
              <a:t> </a:t>
            </a:r>
            <a:r>
              <a:rPr lang="nl-NL" u="sng">
                <a:solidFill>
                  <a:srgbClr val="00B050"/>
                </a:solidFill>
              </a:rPr>
              <a:t>called</a:t>
            </a:r>
            <a:r>
              <a:rPr lang="nl-NL">
                <a:solidFill>
                  <a:srgbClr val="00B050"/>
                </a:solidFill>
              </a:rPr>
              <a:t> </a:t>
            </a:r>
            <a:r>
              <a:rPr lang="nl-NL" dirty="0"/>
              <a:t>me </a:t>
            </a:r>
            <a:r>
              <a:rPr lang="nl-NL" dirty="0" err="1"/>
              <a:t>after</a:t>
            </a:r>
            <a:r>
              <a:rPr lang="nl-NL" dirty="0"/>
              <a:t> 10:00, I </a:t>
            </a:r>
            <a:r>
              <a:rPr lang="nl-NL" u="sng" dirty="0" err="1">
                <a:solidFill>
                  <a:srgbClr val="00B050"/>
                </a:solidFill>
              </a:rPr>
              <a:t>wouldn’t</a:t>
            </a:r>
            <a:r>
              <a:rPr lang="nl-NL" u="sng" dirty="0">
                <a:solidFill>
                  <a:srgbClr val="00B050"/>
                </a:solidFill>
              </a:rPr>
              <a:t> </a:t>
            </a:r>
            <a:r>
              <a:rPr lang="nl-NL" u="sng" dirty="0" err="1">
                <a:solidFill>
                  <a:srgbClr val="00B050"/>
                </a:solidFill>
              </a:rPr>
              <a:t>pick</a:t>
            </a:r>
            <a:r>
              <a:rPr lang="nl-NL" u="sng" dirty="0">
                <a:solidFill>
                  <a:srgbClr val="00B050"/>
                </a:solidFill>
              </a:rPr>
              <a:t> up</a:t>
            </a:r>
            <a:r>
              <a:rPr lang="nl-NL" dirty="0"/>
              <a:t>.</a:t>
            </a:r>
          </a:p>
          <a:p>
            <a:pPr marL="0" indent="0">
              <a:buNone/>
            </a:pPr>
            <a:r>
              <a:rPr lang="nl-NL" dirty="0"/>
              <a:t>I </a:t>
            </a:r>
            <a:r>
              <a:rPr lang="nl-NL" u="sng" dirty="0" err="1">
                <a:solidFill>
                  <a:srgbClr val="00B050"/>
                </a:solidFill>
              </a:rPr>
              <a:t>wouldn’t</a:t>
            </a:r>
            <a:r>
              <a:rPr lang="nl-NL" u="sng" dirty="0">
                <a:solidFill>
                  <a:srgbClr val="00B050"/>
                </a:solidFill>
              </a:rPr>
              <a:t> mind</a:t>
            </a:r>
            <a:r>
              <a:rPr lang="nl-NL" dirty="0">
                <a:solidFill>
                  <a:srgbClr val="00B050"/>
                </a:solidFill>
              </a:rPr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she</a:t>
            </a:r>
            <a:r>
              <a:rPr lang="nl-NL" dirty="0"/>
              <a:t> </a:t>
            </a:r>
            <a:r>
              <a:rPr lang="nl-NL" u="sng" err="1">
                <a:solidFill>
                  <a:srgbClr val="00B050"/>
                </a:solidFill>
              </a:rPr>
              <a:t>showed</a:t>
            </a:r>
            <a:r>
              <a:rPr lang="nl-NL" u="sng">
                <a:solidFill>
                  <a:srgbClr val="00B050"/>
                </a:solidFill>
              </a:rPr>
              <a:t> up</a:t>
            </a:r>
            <a:r>
              <a:rPr lang="nl-NL"/>
              <a:t> </a:t>
            </a:r>
            <a:r>
              <a:rPr lang="nl-NL" dirty="0" err="1"/>
              <a:t>early</a:t>
            </a:r>
            <a:r>
              <a:rPr lang="nl-NL" dirty="0"/>
              <a:t>.</a:t>
            </a:r>
            <a:endParaRPr lang="en-US" dirty="0"/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87639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r>
              <a:rPr lang="nl-NL" dirty="0"/>
              <a:t>Q: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did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notice</a:t>
            </a:r>
            <a:r>
              <a:rPr lang="nl-NL" dirty="0"/>
              <a:t> </a:t>
            </a:r>
            <a:r>
              <a:rPr lang="nl-NL" dirty="0" err="1"/>
              <a:t>about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verbs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i="1" dirty="0" err="1"/>
              <a:t>if</a:t>
            </a:r>
            <a:r>
              <a:rPr lang="nl-NL" dirty="0" err="1"/>
              <a:t>-clauses</a:t>
            </a:r>
            <a:r>
              <a:rPr lang="nl-NL" dirty="0"/>
              <a:t>? </a:t>
            </a:r>
            <a:br>
              <a:rPr lang="nl-NL" dirty="0"/>
            </a:br>
            <a:r>
              <a:rPr lang="nl-NL" b="1" dirty="0"/>
              <a:t>A: Always </a:t>
            </a:r>
            <a:r>
              <a:rPr lang="nl-NL" b="1" u="sng" dirty="0"/>
              <a:t>past </a:t>
            </a:r>
            <a:r>
              <a:rPr lang="nl-NL" b="1" u="sng" dirty="0" err="1"/>
              <a:t>simple</a:t>
            </a:r>
            <a:r>
              <a:rPr lang="nl-NL" b="1" dirty="0"/>
              <a:t>! </a:t>
            </a:r>
            <a:r>
              <a:rPr lang="nl-NL" dirty="0"/>
              <a:t>(even </a:t>
            </a:r>
            <a:r>
              <a:rPr lang="nl-NL" dirty="0" err="1"/>
              <a:t>though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meaning</a:t>
            </a:r>
            <a:r>
              <a:rPr lang="nl-NL" dirty="0"/>
              <a:t> is </a:t>
            </a:r>
            <a:r>
              <a:rPr lang="nl-NL" dirty="0" err="1"/>
              <a:t>not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			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0" y="2505075"/>
            <a:ext cx="12192000" cy="4352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 err="1"/>
              <a:t>If</a:t>
            </a:r>
            <a:r>
              <a:rPr lang="nl-NL" dirty="0"/>
              <a:t> he </a:t>
            </a:r>
            <a:r>
              <a:rPr lang="nl-NL" b="1" u="sng" dirty="0">
                <a:solidFill>
                  <a:srgbClr val="00B050"/>
                </a:solidFill>
              </a:rPr>
              <a:t>had</a:t>
            </a:r>
            <a:r>
              <a:rPr lang="nl-NL" dirty="0">
                <a:solidFill>
                  <a:srgbClr val="00B050"/>
                </a:solidFill>
              </a:rPr>
              <a:t> </a:t>
            </a:r>
            <a:r>
              <a:rPr lang="nl-NL" b="1" dirty="0">
                <a:solidFill>
                  <a:srgbClr val="00B050"/>
                </a:solidFill>
              </a:rPr>
              <a:t>(</a:t>
            </a:r>
            <a:r>
              <a:rPr lang="nl-NL" b="1" dirty="0" err="1">
                <a:solidFill>
                  <a:srgbClr val="00B050"/>
                </a:solidFill>
              </a:rPr>
              <a:t>past.simp</a:t>
            </a:r>
            <a:r>
              <a:rPr lang="nl-NL" b="1" dirty="0">
                <a:solidFill>
                  <a:srgbClr val="00B050"/>
                </a:solidFill>
              </a:rPr>
              <a:t>.) </a:t>
            </a:r>
            <a:r>
              <a:rPr lang="nl-NL" dirty="0" err="1"/>
              <a:t>the</a:t>
            </a:r>
            <a:r>
              <a:rPr lang="nl-NL" dirty="0"/>
              <a:t> chance, </a:t>
            </a:r>
            <a:r>
              <a:rPr lang="nl-NL" dirty="0" err="1"/>
              <a:t>he’d</a:t>
            </a:r>
            <a:r>
              <a:rPr lang="nl-NL" dirty="0"/>
              <a:t> </a:t>
            </a:r>
            <a:r>
              <a:rPr lang="nl-NL" dirty="0" err="1"/>
              <a:t>visit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Vatican</a:t>
            </a:r>
            <a:r>
              <a:rPr lang="nl-NL" dirty="0"/>
              <a:t>.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 err="1"/>
              <a:t>If</a:t>
            </a:r>
            <a:r>
              <a:rPr lang="nl-NL" dirty="0"/>
              <a:t> I </a:t>
            </a:r>
            <a:r>
              <a:rPr lang="nl-NL" b="1" u="sng" dirty="0" err="1">
                <a:solidFill>
                  <a:srgbClr val="00B050"/>
                </a:solidFill>
              </a:rPr>
              <a:t>were</a:t>
            </a:r>
            <a:r>
              <a:rPr lang="nl-NL" b="1" u="sng" dirty="0">
                <a:solidFill>
                  <a:srgbClr val="00B050"/>
                </a:solidFill>
              </a:rPr>
              <a:t>/was</a:t>
            </a:r>
            <a:r>
              <a:rPr lang="nl-NL" b="1" dirty="0">
                <a:solidFill>
                  <a:srgbClr val="00B050"/>
                </a:solidFill>
              </a:rPr>
              <a:t> (</a:t>
            </a:r>
            <a:r>
              <a:rPr lang="nl-NL" b="1" dirty="0" err="1">
                <a:solidFill>
                  <a:srgbClr val="00B050"/>
                </a:solidFill>
              </a:rPr>
              <a:t>past.simp</a:t>
            </a:r>
            <a:r>
              <a:rPr lang="nl-NL" b="1" dirty="0">
                <a:solidFill>
                  <a:srgbClr val="00B050"/>
                </a:solidFill>
              </a:rPr>
              <a:t>.)</a:t>
            </a:r>
            <a:r>
              <a:rPr lang="nl-NL" b="1" dirty="0"/>
              <a:t> </a:t>
            </a:r>
            <a:r>
              <a:rPr lang="nl-NL" dirty="0"/>
              <a:t>off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part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summer</a:t>
            </a:r>
            <a:r>
              <a:rPr lang="nl-NL" dirty="0"/>
              <a:t>, </a:t>
            </a:r>
            <a:r>
              <a:rPr lang="nl-NL" dirty="0" err="1"/>
              <a:t>I’d</a:t>
            </a:r>
            <a:r>
              <a:rPr lang="nl-NL" dirty="0"/>
              <a:t> trek </a:t>
            </a:r>
            <a:r>
              <a:rPr lang="nl-NL" dirty="0" err="1"/>
              <a:t>through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Rocky</a:t>
            </a:r>
            <a:r>
              <a:rPr lang="nl-NL" dirty="0"/>
              <a:t> </a:t>
            </a:r>
            <a:r>
              <a:rPr lang="nl-NL" dirty="0" err="1"/>
              <a:t>Mountains</a:t>
            </a:r>
            <a:r>
              <a:rPr lang="nl-NL" dirty="0"/>
              <a:t>.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b="1" u="sng" dirty="0" err="1">
                <a:solidFill>
                  <a:srgbClr val="00B050"/>
                </a:solidFill>
              </a:rPr>
              <a:t>called</a:t>
            </a:r>
            <a:r>
              <a:rPr lang="nl-NL" b="1" dirty="0">
                <a:solidFill>
                  <a:srgbClr val="00B050"/>
                </a:solidFill>
              </a:rPr>
              <a:t> (</a:t>
            </a:r>
            <a:r>
              <a:rPr lang="nl-NL" b="1" dirty="0" err="1">
                <a:solidFill>
                  <a:srgbClr val="00B050"/>
                </a:solidFill>
              </a:rPr>
              <a:t>past.simp</a:t>
            </a:r>
            <a:r>
              <a:rPr lang="nl-NL" b="1" dirty="0">
                <a:solidFill>
                  <a:srgbClr val="00B050"/>
                </a:solidFill>
              </a:rPr>
              <a:t>.) </a:t>
            </a:r>
            <a:r>
              <a:rPr lang="nl-NL" dirty="0"/>
              <a:t>me </a:t>
            </a:r>
            <a:r>
              <a:rPr lang="nl-NL" dirty="0" err="1"/>
              <a:t>after</a:t>
            </a:r>
            <a:r>
              <a:rPr lang="nl-NL" dirty="0"/>
              <a:t> 10:00, I </a:t>
            </a:r>
            <a:r>
              <a:rPr lang="nl-NL" dirty="0" err="1"/>
              <a:t>wouldn’t</a:t>
            </a:r>
            <a:r>
              <a:rPr lang="nl-NL" dirty="0"/>
              <a:t> </a:t>
            </a:r>
            <a:r>
              <a:rPr lang="nl-NL" dirty="0" err="1"/>
              <a:t>pick</a:t>
            </a:r>
            <a:r>
              <a:rPr lang="nl-NL" dirty="0"/>
              <a:t> up.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I </a:t>
            </a:r>
            <a:r>
              <a:rPr lang="nl-NL" dirty="0" err="1"/>
              <a:t>wouldn’t</a:t>
            </a:r>
            <a:r>
              <a:rPr lang="nl-NL" dirty="0"/>
              <a:t> mind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she</a:t>
            </a:r>
            <a:r>
              <a:rPr lang="nl-NL" dirty="0"/>
              <a:t> </a:t>
            </a:r>
            <a:r>
              <a:rPr lang="nl-NL" b="1" u="sng" dirty="0" err="1">
                <a:solidFill>
                  <a:srgbClr val="00B050"/>
                </a:solidFill>
              </a:rPr>
              <a:t>showed</a:t>
            </a:r>
            <a:r>
              <a:rPr lang="nl-NL" b="1" u="sng" dirty="0">
                <a:solidFill>
                  <a:srgbClr val="00B050"/>
                </a:solidFill>
              </a:rPr>
              <a:t> up</a:t>
            </a:r>
            <a:r>
              <a:rPr lang="nl-NL" b="1" dirty="0">
                <a:solidFill>
                  <a:srgbClr val="00B050"/>
                </a:solidFill>
              </a:rPr>
              <a:t> (</a:t>
            </a:r>
            <a:r>
              <a:rPr lang="nl-NL" b="1" dirty="0" err="1">
                <a:solidFill>
                  <a:srgbClr val="00B050"/>
                </a:solidFill>
              </a:rPr>
              <a:t>past.simp</a:t>
            </a:r>
            <a:r>
              <a:rPr lang="nl-NL" b="1" dirty="0">
                <a:solidFill>
                  <a:srgbClr val="00B050"/>
                </a:solidFill>
              </a:rPr>
              <a:t>.)</a:t>
            </a:r>
            <a:r>
              <a:rPr lang="nl-NL" b="1" dirty="0"/>
              <a:t> </a:t>
            </a:r>
            <a:r>
              <a:rPr lang="nl-NL" dirty="0" err="1"/>
              <a:t>early</a:t>
            </a:r>
            <a:r>
              <a:rPr lang="nl-NL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92751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r>
              <a:rPr lang="nl-NL" dirty="0" err="1"/>
              <a:t>So</a:t>
            </a:r>
            <a:r>
              <a:rPr lang="nl-NL" dirty="0"/>
              <a:t> </a:t>
            </a:r>
            <a:r>
              <a:rPr lang="nl-NL" dirty="0" err="1"/>
              <a:t>how</a:t>
            </a:r>
            <a:r>
              <a:rPr lang="nl-NL" dirty="0"/>
              <a:t> do Type-1 &amp; Type-2  </a:t>
            </a:r>
            <a:r>
              <a:rPr lang="nl-NL" dirty="0" err="1"/>
              <a:t>differ</a:t>
            </a:r>
            <a:r>
              <a:rPr lang="nl-NL" dirty="0"/>
              <a:t> in </a:t>
            </a:r>
            <a:r>
              <a:rPr lang="nl-NL" dirty="0" err="1"/>
              <a:t>meaning</a:t>
            </a:r>
            <a:r>
              <a:rPr lang="nl-NL" dirty="0"/>
              <a:t> </a:t>
            </a:r>
            <a:r>
              <a:rPr lang="nl-NL" dirty="0" err="1"/>
              <a:t>again</a:t>
            </a:r>
            <a:r>
              <a:rPr lang="nl-NL" dirty="0"/>
              <a:t>? </a:t>
            </a:r>
            <a:br>
              <a:rPr lang="nl-NL" dirty="0"/>
            </a:br>
            <a:r>
              <a:rPr lang="nl-NL" dirty="0" err="1"/>
              <a:t>Let’s</a:t>
            </a:r>
            <a:r>
              <a:rPr lang="nl-NL" dirty="0"/>
              <a:t> take a look at a </a:t>
            </a:r>
            <a:r>
              <a:rPr lang="nl-NL" dirty="0" err="1"/>
              <a:t>couple</a:t>
            </a:r>
            <a:r>
              <a:rPr lang="nl-NL" dirty="0"/>
              <a:t> of </a:t>
            </a:r>
            <a:r>
              <a:rPr lang="nl-NL" dirty="0" err="1"/>
              <a:t>them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0" y="1681163"/>
            <a:ext cx="5997575" cy="823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			</a:t>
            </a:r>
          </a:p>
          <a:p>
            <a:r>
              <a:rPr lang="nl-NL" dirty="0"/>
              <a:t>Type-1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0" y="2505075"/>
            <a:ext cx="5997575" cy="4352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1. </a:t>
            </a:r>
            <a:r>
              <a:rPr lang="nl-NL" dirty="0" err="1"/>
              <a:t>If</a:t>
            </a:r>
            <a:r>
              <a:rPr lang="nl-NL" dirty="0"/>
              <a:t> he has </a:t>
            </a:r>
            <a:r>
              <a:rPr lang="nl-NL" dirty="0" err="1"/>
              <a:t>the</a:t>
            </a:r>
            <a:r>
              <a:rPr lang="nl-NL" dirty="0"/>
              <a:t> chance, </a:t>
            </a:r>
            <a:r>
              <a:rPr lang="nl-NL" dirty="0" err="1"/>
              <a:t>he’ll</a:t>
            </a:r>
            <a:r>
              <a:rPr lang="nl-NL" dirty="0"/>
              <a:t> </a:t>
            </a:r>
            <a:r>
              <a:rPr lang="nl-NL" dirty="0" err="1"/>
              <a:t>visit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Vatican</a:t>
            </a:r>
            <a:r>
              <a:rPr lang="nl-NL" dirty="0"/>
              <a:t>.</a:t>
            </a:r>
          </a:p>
          <a:p>
            <a:pPr marL="0" indent="0">
              <a:buNone/>
            </a:pPr>
            <a:r>
              <a:rPr lang="nl-NL" dirty="0" err="1">
                <a:solidFill>
                  <a:srgbClr val="7030A0"/>
                </a:solidFill>
              </a:rPr>
              <a:t>There’s</a:t>
            </a:r>
            <a:r>
              <a:rPr lang="nl-NL" dirty="0">
                <a:solidFill>
                  <a:srgbClr val="7030A0"/>
                </a:solidFill>
              </a:rPr>
              <a:t> no </a:t>
            </a:r>
            <a:r>
              <a:rPr lang="nl-NL" dirty="0" err="1">
                <a:solidFill>
                  <a:srgbClr val="7030A0"/>
                </a:solidFill>
              </a:rPr>
              <a:t>reason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to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believe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there’s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anything</a:t>
            </a:r>
            <a:r>
              <a:rPr lang="nl-NL" dirty="0">
                <a:solidFill>
                  <a:srgbClr val="7030A0"/>
                </a:solidFill>
              </a:rPr>
              <a:t> standing in his way.</a:t>
            </a:r>
          </a:p>
          <a:p>
            <a:pPr marL="0" indent="0">
              <a:buNone/>
            </a:pPr>
            <a:endParaRPr lang="nl-NL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nl-NL" dirty="0"/>
              <a:t>2. </a:t>
            </a:r>
            <a:r>
              <a:rPr lang="nl-NL" dirty="0" err="1"/>
              <a:t>If</a:t>
            </a:r>
            <a:r>
              <a:rPr lang="nl-NL" dirty="0"/>
              <a:t> I </a:t>
            </a:r>
            <a:r>
              <a:rPr lang="nl-NL" dirty="0" err="1"/>
              <a:t>am</a:t>
            </a:r>
            <a:r>
              <a:rPr lang="nl-NL" dirty="0"/>
              <a:t> off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part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summer</a:t>
            </a:r>
            <a:r>
              <a:rPr lang="nl-NL" dirty="0"/>
              <a:t>, </a:t>
            </a:r>
            <a:r>
              <a:rPr lang="nl-NL" dirty="0" err="1"/>
              <a:t>I’ll</a:t>
            </a:r>
            <a:r>
              <a:rPr lang="nl-NL" dirty="0"/>
              <a:t> trek </a:t>
            </a:r>
            <a:r>
              <a:rPr lang="nl-NL" dirty="0" err="1"/>
              <a:t>through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Rocky</a:t>
            </a:r>
            <a:r>
              <a:rPr lang="nl-NL" dirty="0"/>
              <a:t> </a:t>
            </a:r>
            <a:r>
              <a:rPr lang="nl-NL" dirty="0" err="1"/>
              <a:t>Mountains</a:t>
            </a:r>
            <a:r>
              <a:rPr lang="nl-NL" dirty="0"/>
              <a:t>.</a:t>
            </a:r>
          </a:p>
          <a:p>
            <a:pPr marL="0" indent="0">
              <a:buNone/>
            </a:pPr>
            <a:r>
              <a:rPr lang="nl-NL" dirty="0" err="1">
                <a:solidFill>
                  <a:srgbClr val="7030A0"/>
                </a:solidFill>
              </a:rPr>
              <a:t>I’ve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heard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there’s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the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possibility</a:t>
            </a:r>
            <a:r>
              <a:rPr lang="nl-NL" dirty="0">
                <a:solidFill>
                  <a:srgbClr val="7030A0"/>
                </a:solidFill>
              </a:rPr>
              <a:t> I </a:t>
            </a:r>
            <a:r>
              <a:rPr lang="nl-NL" dirty="0" err="1">
                <a:solidFill>
                  <a:srgbClr val="7030A0"/>
                </a:solidFill>
              </a:rPr>
              <a:t>could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be</a:t>
            </a:r>
            <a:r>
              <a:rPr lang="nl-NL" dirty="0">
                <a:solidFill>
                  <a:srgbClr val="7030A0"/>
                </a:solidFill>
              </a:rPr>
              <a:t> off </a:t>
            </a:r>
            <a:r>
              <a:rPr lang="nl-NL" dirty="0" err="1">
                <a:solidFill>
                  <a:srgbClr val="7030A0"/>
                </a:solidFill>
              </a:rPr>
              <a:t>work</a:t>
            </a:r>
            <a:r>
              <a:rPr lang="nl-NL" dirty="0">
                <a:solidFill>
                  <a:srgbClr val="7030A0"/>
                </a:solidFill>
              </a:rPr>
              <a:t>, </a:t>
            </a:r>
            <a:r>
              <a:rPr lang="nl-NL" dirty="0" err="1">
                <a:solidFill>
                  <a:srgbClr val="7030A0"/>
                </a:solidFill>
              </a:rPr>
              <a:t>so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fingers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crossed</a:t>
            </a:r>
            <a:r>
              <a:rPr lang="nl-NL" dirty="0">
                <a:solidFill>
                  <a:srgbClr val="7030A0"/>
                </a:solidFill>
              </a:rPr>
              <a:t>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 dirty="0"/>
              <a:t>Type-2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6019800" cy="4352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 err="1"/>
              <a:t>If</a:t>
            </a:r>
            <a:r>
              <a:rPr lang="nl-NL" dirty="0"/>
              <a:t> he had </a:t>
            </a:r>
            <a:r>
              <a:rPr lang="nl-NL" dirty="0" err="1"/>
              <a:t>the</a:t>
            </a:r>
            <a:r>
              <a:rPr lang="nl-NL" dirty="0"/>
              <a:t> chance, </a:t>
            </a:r>
            <a:r>
              <a:rPr lang="nl-NL" dirty="0" err="1"/>
              <a:t>he’d</a:t>
            </a:r>
            <a:r>
              <a:rPr lang="nl-NL" dirty="0"/>
              <a:t> </a:t>
            </a:r>
            <a:r>
              <a:rPr lang="nl-NL" dirty="0" err="1"/>
              <a:t>visit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Vatican</a:t>
            </a:r>
            <a:r>
              <a:rPr lang="nl-NL" dirty="0"/>
              <a:t>. </a:t>
            </a:r>
          </a:p>
          <a:p>
            <a:pPr marL="0" indent="0">
              <a:buNone/>
            </a:pPr>
            <a:r>
              <a:rPr lang="nl-NL" dirty="0">
                <a:solidFill>
                  <a:srgbClr val="7030A0"/>
                </a:solidFill>
              </a:rPr>
              <a:t>In </a:t>
            </a:r>
            <a:r>
              <a:rPr lang="nl-NL" dirty="0" err="1">
                <a:solidFill>
                  <a:srgbClr val="7030A0"/>
                </a:solidFill>
              </a:rPr>
              <a:t>reality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he’s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not</a:t>
            </a:r>
            <a:r>
              <a:rPr lang="nl-NL" dirty="0">
                <a:solidFill>
                  <a:srgbClr val="7030A0"/>
                </a:solidFill>
              </a:rPr>
              <a:t> at </a:t>
            </a:r>
            <a:r>
              <a:rPr lang="nl-NL" dirty="0" err="1">
                <a:solidFill>
                  <a:srgbClr val="7030A0"/>
                </a:solidFill>
              </a:rPr>
              <a:t>all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likely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to</a:t>
            </a:r>
            <a:r>
              <a:rPr lang="nl-NL" dirty="0">
                <a:solidFill>
                  <a:srgbClr val="7030A0"/>
                </a:solidFill>
              </a:rPr>
              <a:t> have </a:t>
            </a:r>
            <a:r>
              <a:rPr lang="nl-NL" dirty="0" err="1">
                <a:solidFill>
                  <a:srgbClr val="7030A0"/>
                </a:solidFill>
              </a:rPr>
              <a:t>such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luck</a:t>
            </a:r>
            <a:r>
              <a:rPr lang="nl-NL" dirty="0">
                <a:solidFill>
                  <a:srgbClr val="7030A0"/>
                </a:solidFill>
              </a:rPr>
              <a:t>. But he </a:t>
            </a:r>
            <a:r>
              <a:rPr lang="nl-NL" dirty="0" err="1">
                <a:solidFill>
                  <a:srgbClr val="7030A0"/>
                </a:solidFill>
              </a:rPr>
              <a:t>can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still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dream</a:t>
            </a:r>
            <a:r>
              <a:rPr lang="nl-NL" dirty="0">
                <a:solidFill>
                  <a:srgbClr val="7030A0"/>
                </a:solidFill>
              </a:rPr>
              <a:t>…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 err="1"/>
              <a:t>If</a:t>
            </a:r>
            <a:r>
              <a:rPr lang="nl-NL" dirty="0"/>
              <a:t> I </a:t>
            </a:r>
            <a:r>
              <a:rPr lang="nl-NL" dirty="0" err="1"/>
              <a:t>were</a:t>
            </a:r>
            <a:r>
              <a:rPr lang="nl-NL" dirty="0"/>
              <a:t>/was off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part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summer</a:t>
            </a:r>
            <a:r>
              <a:rPr lang="nl-NL" dirty="0"/>
              <a:t>, </a:t>
            </a:r>
            <a:r>
              <a:rPr lang="nl-NL" dirty="0" err="1"/>
              <a:t>I’d</a:t>
            </a:r>
            <a:r>
              <a:rPr lang="nl-NL" dirty="0"/>
              <a:t> trek </a:t>
            </a:r>
            <a:r>
              <a:rPr lang="nl-NL" dirty="0" err="1"/>
              <a:t>through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Rocky</a:t>
            </a:r>
            <a:r>
              <a:rPr lang="nl-NL" dirty="0"/>
              <a:t> </a:t>
            </a:r>
            <a:r>
              <a:rPr lang="nl-NL" dirty="0" err="1"/>
              <a:t>Mountains</a:t>
            </a:r>
            <a:r>
              <a:rPr lang="nl-NL" dirty="0"/>
              <a:t>. </a:t>
            </a:r>
          </a:p>
          <a:p>
            <a:pPr marL="0" indent="0">
              <a:buNone/>
            </a:pPr>
            <a:r>
              <a:rPr lang="nl-NL" dirty="0" err="1">
                <a:solidFill>
                  <a:srgbClr val="7030A0"/>
                </a:solidFill>
              </a:rPr>
              <a:t>However</a:t>
            </a:r>
            <a:r>
              <a:rPr lang="nl-NL" dirty="0">
                <a:solidFill>
                  <a:srgbClr val="7030A0"/>
                </a:solidFill>
              </a:rPr>
              <a:t>, I </a:t>
            </a:r>
            <a:r>
              <a:rPr lang="nl-NL" dirty="0" err="1">
                <a:solidFill>
                  <a:srgbClr val="7030A0"/>
                </a:solidFill>
              </a:rPr>
              <a:t>already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know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it’s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going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to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be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impossible</a:t>
            </a:r>
            <a:r>
              <a:rPr lang="nl-NL" dirty="0">
                <a:solidFill>
                  <a:srgbClr val="7030A0"/>
                </a:solidFill>
              </a:rPr>
              <a:t> </a:t>
            </a:r>
            <a:r>
              <a:rPr lang="nl-NL" dirty="0" err="1">
                <a:solidFill>
                  <a:srgbClr val="7030A0"/>
                </a:solidFill>
              </a:rPr>
              <a:t>for</a:t>
            </a:r>
            <a:r>
              <a:rPr lang="nl-NL" dirty="0">
                <a:solidFill>
                  <a:srgbClr val="7030A0"/>
                </a:solidFill>
              </a:rPr>
              <a:t> me </a:t>
            </a:r>
            <a:r>
              <a:rPr lang="nl-NL" dirty="0" err="1">
                <a:solidFill>
                  <a:srgbClr val="7030A0"/>
                </a:solidFill>
              </a:rPr>
              <a:t>to</a:t>
            </a:r>
            <a:r>
              <a:rPr lang="nl-NL" dirty="0">
                <a:solidFill>
                  <a:srgbClr val="7030A0"/>
                </a:solidFill>
              </a:rPr>
              <a:t> take off </a:t>
            </a:r>
            <a:r>
              <a:rPr lang="nl-NL" dirty="0" err="1">
                <a:solidFill>
                  <a:srgbClr val="7030A0"/>
                </a:solidFill>
              </a:rPr>
              <a:t>then</a:t>
            </a:r>
            <a:r>
              <a:rPr lang="nl-NL" dirty="0">
                <a:solidFill>
                  <a:srgbClr val="7030A0"/>
                </a:solidFill>
              </a:rPr>
              <a:t>.</a:t>
            </a:r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98924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2E262-227B-12BA-08F3-10E564249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7"/>
            <a:ext cx="11353800" cy="1325563"/>
          </a:xfrm>
        </p:spPr>
        <p:txBody>
          <a:bodyPr/>
          <a:lstStyle/>
          <a:p>
            <a:r>
              <a:rPr lang="nl-NL"/>
              <a:t>Which conditional is suitable to use in a given situation?</a:t>
            </a:r>
            <a:br>
              <a:rPr lang="nl-NL"/>
            </a:br>
            <a:r>
              <a:rPr lang="nl-NL"/>
              <a:t>Type-3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88D698-9115-82AC-9013-896ED9632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l-NL" u="sng"/>
              <a:t>Type-3</a:t>
            </a:r>
            <a:r>
              <a:rPr lang="nl-NL"/>
              <a:t>. Past-tense contrary to fact</a:t>
            </a:r>
          </a:p>
          <a:p>
            <a:pPr marL="0" indent="0">
              <a:buNone/>
            </a:pPr>
            <a:r>
              <a:rPr lang="nl-NL"/>
              <a:t>When </a:t>
            </a:r>
            <a:r>
              <a:rPr lang="nl-NL" u="sng"/>
              <a:t>the if-clause is already finished</a:t>
            </a:r>
            <a:r>
              <a:rPr lang="nl-NL"/>
              <a:t> and you can’t go back in time</a:t>
            </a:r>
            <a:r>
              <a:rPr lang="nl-NL" i="1"/>
              <a:t>.</a:t>
            </a:r>
            <a:endParaRPr lang="nl-NL"/>
          </a:p>
          <a:p>
            <a:pPr marL="0" indent="0">
              <a:buNone/>
            </a:pPr>
            <a:r>
              <a:rPr lang="nl-NL"/>
              <a:t>	</a:t>
            </a:r>
            <a:r>
              <a:rPr lang="nl-NL">
                <a:solidFill>
                  <a:srgbClr val="0070C0"/>
                </a:solidFill>
                <a:sym typeface="Wingdings" panose="05000000000000000000" pitchFamily="2" charset="2"/>
              </a:rPr>
              <a:t> If had won a million dollars [i.e., but the lottery is now over, and I didn’t win], I would have given you half. </a:t>
            </a:r>
          </a:p>
          <a:p>
            <a:pPr marL="0" indent="0">
              <a:buNone/>
            </a:pPr>
            <a:r>
              <a:rPr lang="nl-NL">
                <a:solidFill>
                  <a:srgbClr val="0070C0"/>
                </a:solidFill>
                <a:sym typeface="Wingdings" panose="05000000000000000000" pitchFamily="2" charset="2"/>
              </a:rPr>
              <a:t>	</a:t>
            </a:r>
            <a:r>
              <a:rPr lang="nl-NL">
                <a:sym typeface="Wingdings" panose="05000000000000000000" pitchFamily="2" charset="2"/>
              </a:rPr>
              <a:t>(Here the speaker is imagining a hypothetical situation based on </a:t>
            </a:r>
            <a:r>
              <a:rPr lang="nl-NL" i="1">
                <a:sym typeface="Wingdings" panose="05000000000000000000" pitchFamily="2" charset="2"/>
              </a:rPr>
              <a:t>history having gone in a different direction.</a:t>
            </a:r>
            <a:r>
              <a:rPr lang="nl-NL"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r>
              <a:rPr lang="nl-NL">
                <a:sym typeface="Wingdings" panose="05000000000000000000" pitchFamily="2" charset="2"/>
              </a:rPr>
              <a:t>	It’s like saying “If only…”.</a:t>
            </a:r>
          </a:p>
          <a:p>
            <a:pPr marL="0" indent="0">
              <a:buNone/>
            </a:pPr>
            <a:r>
              <a:rPr lang="nl-NL">
                <a:sym typeface="Wingdings" panose="05000000000000000000" pitchFamily="2" charset="2"/>
              </a:rPr>
              <a:t>	</a:t>
            </a:r>
          </a:p>
          <a:p>
            <a:pPr marL="0" indent="0">
              <a:buNone/>
            </a:pPr>
            <a:r>
              <a:rPr lang="nl-NL">
                <a:sym typeface="Wingdings" panose="05000000000000000000" pitchFamily="2" charset="2"/>
              </a:rPr>
              <a:t>	Verb tenses: </a:t>
            </a:r>
            <a:r>
              <a:rPr lang="nl-NL" i="1">
                <a:sym typeface="Wingdings" panose="05000000000000000000" pitchFamily="2" charset="2"/>
              </a:rPr>
              <a:t>if</a:t>
            </a:r>
            <a:r>
              <a:rPr lang="nl-NL">
                <a:sym typeface="Wingdings" panose="05000000000000000000" pitchFamily="2" charset="2"/>
              </a:rPr>
              <a:t>-clause – </a:t>
            </a:r>
            <a:r>
              <a:rPr lang="nl-NL" b="1" u="sng">
                <a:sym typeface="Wingdings" panose="05000000000000000000" pitchFamily="2" charset="2"/>
              </a:rPr>
              <a:t>past perfect</a:t>
            </a:r>
            <a:r>
              <a:rPr lang="nl-NL">
                <a:sym typeface="Wingdings" panose="05000000000000000000" pitchFamily="2" charset="2"/>
              </a:rPr>
              <a:t>   |  main clause - </a:t>
            </a:r>
            <a:r>
              <a:rPr lang="nl-NL" u="sng">
                <a:sym typeface="Wingdings" panose="05000000000000000000" pitchFamily="2" charset="2"/>
              </a:rPr>
              <a:t>“would have”+ 3rd form of the </a:t>
            </a:r>
            <a:r>
              <a:rPr lang="nl-NL" u="sng" cap="small">
                <a:sym typeface="Wingdings" panose="05000000000000000000" pitchFamily="2" charset="2"/>
              </a:rPr>
              <a:t>verb</a:t>
            </a:r>
            <a:r>
              <a:rPr lang="nl-NL" u="sng"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r>
              <a:rPr lang="nl-NL">
                <a:sym typeface="Wingdings" panose="05000000000000000000" pitchFamily="2" charset="2"/>
              </a:rPr>
              <a:t>	 </a:t>
            </a:r>
          </a:p>
          <a:p>
            <a:pPr marL="0" indent="0">
              <a:buNone/>
            </a:pPr>
            <a:r>
              <a:rPr lang="nl-NL">
                <a:sym typeface="Wingdings" panose="05000000000000000000" pitchFamily="2" charset="2"/>
              </a:rPr>
              <a:t>	Don’t use “would” in the </a:t>
            </a:r>
            <a:r>
              <a:rPr lang="nl-NL" i="1">
                <a:sym typeface="Wingdings" panose="05000000000000000000" pitchFamily="2" charset="2"/>
              </a:rPr>
              <a:t>if</a:t>
            </a:r>
            <a:r>
              <a:rPr lang="nl-NL">
                <a:sym typeface="Wingdings" panose="05000000000000000000" pitchFamily="2" charset="2"/>
              </a:rPr>
              <a:t>-clause  - 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>
                <a:solidFill>
                  <a:srgbClr val="0070C0"/>
                </a:solidFill>
                <a:sym typeface="Wingdings" panose="05000000000000000000" pitchFamily="2" charset="2"/>
              </a:rPr>
              <a:t>If I </a:t>
            </a:r>
            <a:r>
              <a:rPr lang="nl-NL" strike="sngStrike">
                <a:solidFill>
                  <a:srgbClr val="FF0000"/>
                </a:solidFill>
                <a:sym typeface="Wingdings" panose="05000000000000000000" pitchFamily="2" charset="2"/>
              </a:rPr>
              <a:t>would have won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u="sng">
                <a:solidFill>
                  <a:srgbClr val="0070C0"/>
                </a:solidFill>
                <a:sym typeface="Wingdings" panose="05000000000000000000" pitchFamily="2" charset="2"/>
              </a:rPr>
              <a:t>had won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>
                <a:solidFill>
                  <a:srgbClr val="0070C0"/>
                </a:solidFill>
                <a:sym typeface="Wingdings" panose="05000000000000000000" pitchFamily="2" charset="2"/>
              </a:rPr>
              <a:t>a million dollars</a:t>
            </a:r>
            <a:r>
              <a:rPr lang="nl-NL">
                <a:sym typeface="Wingdings" panose="05000000000000000000" pitchFamily="2" charset="2"/>
              </a:rPr>
              <a:t>…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endParaRPr lang="nl-NL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nl-NL" u="sng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nl-NL">
                <a:sym typeface="Wingdings" panose="05000000000000000000" pitchFamily="2" charset="2"/>
              </a:rPr>
              <a:t>Also possible with this conditional: leave out “if” entirely. (But if you do that, you need to use word order of a question.)</a:t>
            </a:r>
          </a:p>
          <a:p>
            <a:pPr marL="0" indent="0">
              <a:buNone/>
            </a:pPr>
            <a:r>
              <a:rPr lang="nl-NL">
                <a:sym typeface="Wingdings" panose="05000000000000000000" pitchFamily="2" charset="2"/>
              </a:rPr>
              <a:t>	</a:t>
            </a:r>
            <a:r>
              <a:rPr lang="nl-NL">
                <a:solidFill>
                  <a:srgbClr val="0070C0"/>
                </a:solidFill>
                <a:sym typeface="Wingdings" panose="05000000000000000000" pitchFamily="2" charset="2"/>
              </a:rPr>
              <a:t>Had </a:t>
            </a:r>
            <a:r>
              <a:rPr lang="nl-NL">
                <a:sym typeface="Wingdings" panose="05000000000000000000" pitchFamily="2" charset="2"/>
              </a:rPr>
              <a:t>I</a:t>
            </a:r>
            <a:r>
              <a:rPr lang="nl-NL">
                <a:solidFill>
                  <a:srgbClr val="0070C0"/>
                </a:solidFill>
                <a:sym typeface="Wingdings" panose="05000000000000000000" pitchFamily="2" charset="2"/>
              </a:rPr>
              <a:t> won </a:t>
            </a:r>
            <a:r>
              <a:rPr lang="nl-NL">
                <a:sym typeface="Wingdings" panose="05000000000000000000" pitchFamily="2" charset="2"/>
              </a:rPr>
              <a:t>a million dollars, I would have given you half. </a:t>
            </a:r>
          </a:p>
          <a:p>
            <a:pPr marL="0" indent="0">
              <a:buNone/>
            </a:pPr>
            <a:endParaRPr lang="nl-NL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nl-NL">
                <a:sym typeface="Wingdings" panose="05000000000000000000" pitchFamily="2" charset="2"/>
              </a:rPr>
              <a:t>Let’s try Type-3 conditionals													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6194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EC5AC9-B82B-54DE-95F9-4CCB7580E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7"/>
            <a:ext cx="11353800" cy="1325563"/>
          </a:xfrm>
        </p:spPr>
        <p:txBody>
          <a:bodyPr/>
          <a:lstStyle/>
          <a:p>
            <a:r>
              <a:rPr lang="nl-NL"/>
              <a:t>Make the following into Conditional 3 sentences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D0152A-DC30-0EA4-D9D3-B47EB19C2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825625"/>
            <a:ext cx="6019800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nl-NL"/>
              <a:t>If he _____ (</a:t>
            </a:r>
            <a:r>
              <a:rPr lang="nl-NL" cap="small"/>
              <a:t>have</a:t>
            </a:r>
            <a:r>
              <a:rPr lang="nl-NL"/>
              <a:t>) the chance, he _____ (</a:t>
            </a:r>
            <a:r>
              <a:rPr lang="nl-NL" cap="small"/>
              <a:t>visit</a:t>
            </a:r>
            <a:r>
              <a:rPr lang="nl-NL"/>
              <a:t>) the Vatican.</a:t>
            </a:r>
          </a:p>
          <a:p>
            <a:pPr marL="514350" indent="-514350">
              <a:buAutoNum type="arabicPeriod"/>
            </a:pPr>
            <a:r>
              <a:rPr lang="nl-NL"/>
              <a:t>If I _____ (</a:t>
            </a:r>
            <a:r>
              <a:rPr lang="nl-NL" cap="small"/>
              <a:t>be</a:t>
            </a:r>
            <a:r>
              <a:rPr lang="nl-NL"/>
              <a:t>) off work last summer, I _____ (</a:t>
            </a:r>
            <a:r>
              <a:rPr lang="nl-NL" cap="small"/>
              <a:t>trek</a:t>
            </a:r>
            <a:r>
              <a:rPr lang="nl-NL"/>
              <a:t>) through the Rocky Mountains.</a:t>
            </a:r>
          </a:p>
          <a:p>
            <a:pPr marL="514350" indent="-514350">
              <a:buAutoNum type="arabicPeriod"/>
            </a:pPr>
            <a:r>
              <a:rPr lang="nl-NL"/>
              <a:t>If you _____ (</a:t>
            </a:r>
            <a:r>
              <a:rPr lang="nl-NL" cap="small"/>
              <a:t>call</a:t>
            </a:r>
            <a:r>
              <a:rPr lang="nl-NL"/>
              <a:t>) me after 10:00, I _____ (</a:t>
            </a:r>
            <a:r>
              <a:rPr lang="nl-NL" cap="small"/>
              <a:t>pick up</a:t>
            </a:r>
            <a:r>
              <a:rPr lang="nl-NL"/>
              <a:t>/not) </a:t>
            </a:r>
          </a:p>
          <a:p>
            <a:pPr marL="514350" indent="-514350">
              <a:buAutoNum type="arabicPeriod"/>
            </a:pPr>
            <a:r>
              <a:rPr lang="nl-NL"/>
              <a:t>I _____ (</a:t>
            </a:r>
            <a:r>
              <a:rPr lang="nl-NL" cap="small"/>
              <a:t>mind</a:t>
            </a:r>
            <a:r>
              <a:rPr lang="nl-NL"/>
              <a:t>/not) if she _____ (</a:t>
            </a:r>
            <a:r>
              <a:rPr lang="nl-NL" cap="small"/>
              <a:t>show up</a:t>
            </a:r>
            <a:r>
              <a:rPr lang="nl-NL"/>
              <a:t>) early.</a:t>
            </a:r>
            <a:endParaRPr lang="en-US"/>
          </a:p>
          <a:p>
            <a:endParaRPr lang="nl-NL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A6AF18-61B9-B3BC-4CFC-4659B2668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6019799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nl-NL"/>
              <a:t>If he </a:t>
            </a:r>
            <a:r>
              <a:rPr lang="nl-NL">
                <a:solidFill>
                  <a:srgbClr val="00B050"/>
                </a:solidFill>
              </a:rPr>
              <a:t>had had</a:t>
            </a:r>
            <a:r>
              <a:rPr lang="nl-NL"/>
              <a:t> the chance, he </a:t>
            </a:r>
            <a:r>
              <a:rPr lang="nl-NL">
                <a:solidFill>
                  <a:srgbClr val="00B050"/>
                </a:solidFill>
              </a:rPr>
              <a:t>would have visited</a:t>
            </a:r>
            <a:r>
              <a:rPr lang="nl-NL"/>
              <a:t> the Vatican.</a:t>
            </a:r>
          </a:p>
          <a:p>
            <a:pPr marL="514350" indent="-514350">
              <a:buAutoNum type="arabicPeriod"/>
            </a:pPr>
            <a:r>
              <a:rPr lang="nl-NL"/>
              <a:t>If I </a:t>
            </a:r>
            <a:r>
              <a:rPr lang="nl-NL">
                <a:solidFill>
                  <a:srgbClr val="00B050"/>
                </a:solidFill>
              </a:rPr>
              <a:t>had been</a:t>
            </a:r>
            <a:r>
              <a:rPr lang="nl-NL"/>
              <a:t> off work last summer, I </a:t>
            </a:r>
            <a:r>
              <a:rPr lang="nl-NL">
                <a:solidFill>
                  <a:srgbClr val="00B050"/>
                </a:solidFill>
              </a:rPr>
              <a:t>would have trekked</a:t>
            </a:r>
            <a:r>
              <a:rPr lang="nl-NL"/>
              <a:t> through the Rocky Mountains.</a:t>
            </a:r>
          </a:p>
          <a:p>
            <a:pPr marL="514350" indent="-514350">
              <a:buAutoNum type="arabicPeriod"/>
            </a:pPr>
            <a:r>
              <a:rPr lang="nl-NL"/>
              <a:t>If you </a:t>
            </a:r>
            <a:r>
              <a:rPr lang="nl-NL">
                <a:solidFill>
                  <a:srgbClr val="00B050"/>
                </a:solidFill>
              </a:rPr>
              <a:t>had called</a:t>
            </a:r>
            <a:r>
              <a:rPr lang="nl-NL"/>
              <a:t> me after 10:00, I would not have picked up.</a:t>
            </a:r>
          </a:p>
          <a:p>
            <a:pPr marL="514350" indent="-514350">
              <a:buAutoNum type="arabicPeriod"/>
            </a:pPr>
            <a:r>
              <a:rPr lang="nl-NL"/>
              <a:t>I </a:t>
            </a:r>
            <a:r>
              <a:rPr lang="nl-NL">
                <a:solidFill>
                  <a:srgbClr val="00B050"/>
                </a:solidFill>
              </a:rPr>
              <a:t>would not have minded</a:t>
            </a:r>
            <a:r>
              <a:rPr lang="nl-NL"/>
              <a:t> if she </a:t>
            </a:r>
            <a:r>
              <a:rPr lang="nl-NL">
                <a:solidFill>
                  <a:srgbClr val="00B050"/>
                </a:solidFill>
              </a:rPr>
              <a:t>had shown up</a:t>
            </a:r>
            <a:r>
              <a:rPr lang="nl-NL"/>
              <a:t> early.</a:t>
            </a:r>
            <a:endParaRPr lang="en-US"/>
          </a:p>
          <a:p>
            <a:pPr marL="0" indent="0">
              <a:buNone/>
            </a:pP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852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obVTI">
  <a:themeElements>
    <a:clrScheme name="AnalogousFromRegularSeed_2SEEDS">
      <a:dk1>
        <a:srgbClr val="000000"/>
      </a:dk1>
      <a:lt1>
        <a:srgbClr val="FFFFFF"/>
      </a:lt1>
      <a:dk2>
        <a:srgbClr val="23323E"/>
      </a:dk2>
      <a:lt2>
        <a:srgbClr val="E8E3E2"/>
      </a:lt2>
      <a:accent1>
        <a:srgbClr val="3B94B1"/>
      </a:accent1>
      <a:accent2>
        <a:srgbClr val="46B4A1"/>
      </a:accent2>
      <a:accent3>
        <a:srgbClr val="4D74C3"/>
      </a:accent3>
      <a:accent4>
        <a:srgbClr val="B13B58"/>
      </a:accent4>
      <a:accent5>
        <a:srgbClr val="C3604D"/>
      </a:accent5>
      <a:accent6>
        <a:srgbClr val="B1803B"/>
      </a:accent6>
      <a:hlink>
        <a:srgbClr val="BF5F3F"/>
      </a:hlink>
      <a:folHlink>
        <a:srgbClr val="7F7F7F"/>
      </a:folHlink>
    </a:clrScheme>
    <a:fontScheme name="Blob">
      <a:majorFont>
        <a:latin typeface="The Hand Extrablack"/>
        <a:ea typeface=""/>
        <a:cs typeface=""/>
      </a:majorFont>
      <a:minorFont>
        <a:latin typeface="Sagona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4544</TotalTime>
  <Words>4029</Words>
  <Application>Microsoft Office PowerPoint</Application>
  <PresentationFormat>Breedbeeld</PresentationFormat>
  <Paragraphs>423</Paragraphs>
  <Slides>43</Slides>
  <Notes>17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8</vt:i4>
      </vt:variant>
      <vt:variant>
        <vt:lpstr>Thema</vt:lpstr>
      </vt:variant>
      <vt:variant>
        <vt:i4>2</vt:i4>
      </vt:variant>
      <vt:variant>
        <vt:lpstr>Diatitels</vt:lpstr>
      </vt:variant>
      <vt:variant>
        <vt:i4>43</vt:i4>
      </vt:variant>
    </vt:vector>
  </HeadingPairs>
  <TitlesOfParts>
    <vt:vector size="53" baseType="lpstr">
      <vt:lpstr>Aptos</vt:lpstr>
      <vt:lpstr>Arial</vt:lpstr>
      <vt:lpstr>Arial Nova</vt:lpstr>
      <vt:lpstr>Calibri</vt:lpstr>
      <vt:lpstr>Calibri Light</vt:lpstr>
      <vt:lpstr>Sagona Book</vt:lpstr>
      <vt:lpstr>The Hand Extrablack</vt:lpstr>
      <vt:lpstr>Wingdings</vt:lpstr>
      <vt:lpstr>BlobVTI</vt:lpstr>
      <vt:lpstr>Office Theme</vt:lpstr>
      <vt:lpstr>Grammar &amp; Basics</vt:lpstr>
      <vt:lpstr>Getting started: what do you already know? Using the right preposition</vt:lpstr>
      <vt:lpstr>PowerPoint-presentatie</vt:lpstr>
      <vt:lpstr>Prepositions</vt:lpstr>
      <vt:lpstr>KEY Using the right preposition</vt:lpstr>
      <vt:lpstr>Prepositions</vt:lpstr>
      <vt:lpstr>Confusing cases – I</vt:lpstr>
      <vt:lpstr>Confusing cases - II</vt:lpstr>
      <vt:lpstr>Confusing cases - III</vt:lpstr>
      <vt:lpstr>Confusing cases - IV</vt:lpstr>
      <vt:lpstr>Confusing cases - V</vt:lpstr>
      <vt:lpstr>Confusing cases - VI</vt:lpstr>
      <vt:lpstr>Confusing cases - VII</vt:lpstr>
      <vt:lpstr>Confusing cases - VIII</vt:lpstr>
      <vt:lpstr>Common mistakes by Dutch native speakers - I</vt:lpstr>
      <vt:lpstr>Common mistakes by Dutch native speakers - I</vt:lpstr>
      <vt:lpstr>Common mistakes by Dutch native speakers - II</vt:lpstr>
      <vt:lpstr>Common mistakes by Dutch native speakers - II</vt:lpstr>
      <vt:lpstr>Exercise</vt:lpstr>
      <vt:lpstr>PowerPoint-presentatie</vt:lpstr>
      <vt:lpstr>Grammar &amp; Basics</vt:lpstr>
      <vt:lpstr>Grammar – conditionals </vt:lpstr>
      <vt:lpstr>Conditional sentences</vt:lpstr>
      <vt:lpstr>All 3 possibilities of verb tenses found in conditional sentences</vt:lpstr>
      <vt:lpstr>Exercise</vt:lpstr>
      <vt:lpstr>Exercise</vt:lpstr>
      <vt:lpstr>Conditionals: Fill in the missing verb</vt:lpstr>
      <vt:lpstr>Conditionals: Fill in the missing verb KEY</vt:lpstr>
      <vt:lpstr>Join the Wooclap</vt:lpstr>
      <vt:lpstr>When do we use each conditional?</vt:lpstr>
      <vt:lpstr>Type-1</vt:lpstr>
      <vt:lpstr>Which conditional is suitable to use in a given situation? Type-2</vt:lpstr>
      <vt:lpstr>Which conditional is suitable to use in a given situation? Differences between Type-1 and Type-2</vt:lpstr>
      <vt:lpstr>Which conditional is suitable to use in a given situation? Differences between Type-1 and Type-2</vt:lpstr>
      <vt:lpstr>Which conditional is suitable to use in a given situation? Differences between Type-1 and Type-2</vt:lpstr>
      <vt:lpstr>Which conditional is suitable to use in a given situation? Differences between Type-1 and Type-2</vt:lpstr>
      <vt:lpstr>Fill in the correct tenses for the Type-1 sentences </vt:lpstr>
      <vt:lpstr>Q: What did you notice about the verbs in the if-clauses?  A: Always present simple!</vt:lpstr>
      <vt:lpstr>Convert the Type-1 sentences into Type-2 sentences </vt:lpstr>
      <vt:lpstr>Q: What did you notice about the verbs in the if-clauses?  A: Always past simple! (even though the meaning is not)</vt:lpstr>
      <vt:lpstr>So how do Type-1 &amp; Type-2  differ in meaning again?  Let’s take a look at a couple of them</vt:lpstr>
      <vt:lpstr>Which conditional is suitable to use in a given situation? Type-3</vt:lpstr>
      <vt:lpstr>Make the following into Conditional 3 sentences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Grammar &amp; Basics</dc:title>
  <dc:creator>Fatima Kajouj</dc:creator>
  <cp:lastModifiedBy>Freek Metsch</cp:lastModifiedBy>
  <cp:revision>4</cp:revision>
  <cp:lastPrinted>2024-10-09T10:02:27Z</cp:lastPrinted>
  <dcterms:created xsi:type="dcterms:W3CDTF">2023-08-28T18:36:39Z</dcterms:created>
  <dcterms:modified xsi:type="dcterms:W3CDTF">2025-10-06T08:59:03Z</dcterms:modified>
</cp:coreProperties>
</file>
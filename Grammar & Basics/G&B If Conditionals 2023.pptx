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4"/>
  </p:sldMasterIdLst>
  <p:notesMasterIdLst>
    <p:notesMasterId r:id="rId24"/>
  </p:notesMasterIdLst>
  <p:sldIdLst>
    <p:sldId id="256" r:id="rId5"/>
    <p:sldId id="295" r:id="rId6"/>
    <p:sldId id="348" r:id="rId7"/>
    <p:sldId id="308" r:id="rId8"/>
    <p:sldId id="309" r:id="rId9"/>
    <p:sldId id="328" r:id="rId10"/>
    <p:sldId id="310" r:id="rId11"/>
    <p:sldId id="298" r:id="rId12"/>
    <p:sldId id="312" r:id="rId13"/>
    <p:sldId id="329" r:id="rId14"/>
    <p:sldId id="330" r:id="rId15"/>
    <p:sldId id="313" r:id="rId16"/>
    <p:sldId id="324" r:id="rId17"/>
    <p:sldId id="331" r:id="rId18"/>
    <p:sldId id="332" r:id="rId19"/>
    <p:sldId id="351" r:id="rId20"/>
    <p:sldId id="352" r:id="rId21"/>
    <p:sldId id="349" r:id="rId22"/>
    <p:sldId id="35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58C557-32DE-450E-BC64-CE6BF3DFDEF2}">
          <p14:sldIdLst>
            <p14:sldId id="256"/>
          </p14:sldIdLst>
        </p14:section>
        <p14:section name="Conditionals" id="{256DD373-7E63-4CE7-9FD3-BAEB86F882A5}">
          <p14:sldIdLst>
            <p14:sldId id="295"/>
            <p14:sldId id="348"/>
            <p14:sldId id="308"/>
            <p14:sldId id="309"/>
            <p14:sldId id="328"/>
            <p14:sldId id="310"/>
            <p14:sldId id="298"/>
            <p14:sldId id="312"/>
            <p14:sldId id="329"/>
            <p14:sldId id="330"/>
            <p14:sldId id="313"/>
            <p14:sldId id="324"/>
            <p14:sldId id="331"/>
            <p14:sldId id="332"/>
            <p14:sldId id="351"/>
            <p14:sldId id="352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76A66-3964-4573-9F08-48959C879C9B}" v="309" dt="2024-10-04T13:33:14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2" autoAdjust="0"/>
    <p:restoredTop sz="94660"/>
  </p:normalViewPr>
  <p:slideViewPr>
    <p:cSldViewPr>
      <p:cViewPr varScale="1">
        <p:scale>
          <a:sx n="101" d="100"/>
          <a:sy n="101" d="100"/>
        </p:scale>
        <p:origin x="15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ECF76A66-3964-4573-9F08-48959C879C9B}"/>
    <pc:docChg chg="addSld delSld modSld sldOrd">
      <pc:chgData name="Freek Metsch" userId="021ef47b-1d71-428a-9075-16ffbc2c7c18" providerId="ADAL" clId="{ECF76A66-3964-4573-9F08-48959C879C9B}" dt="2024-10-04T13:33:14.268" v="311" actId="20577"/>
      <pc:docMkLst>
        <pc:docMk/>
      </pc:docMkLst>
      <pc:sldChg chg="modSp ord modAnim">
        <pc:chgData name="Freek Metsch" userId="021ef47b-1d71-428a-9075-16ffbc2c7c18" providerId="ADAL" clId="{ECF76A66-3964-4573-9F08-48959C879C9B}" dt="2024-10-04T13:33:14.268" v="311" actId="20577"/>
        <pc:sldMkLst>
          <pc:docMk/>
          <pc:sldMk cId="0" sldId="295"/>
        </pc:sldMkLst>
        <pc:spChg chg="mod">
          <ac:chgData name="Freek Metsch" userId="021ef47b-1d71-428a-9075-16ffbc2c7c18" providerId="ADAL" clId="{ECF76A66-3964-4573-9F08-48959C879C9B}" dt="2024-10-04T13:33:14.268" v="311" actId="20577"/>
          <ac:spMkLst>
            <pc:docMk/>
            <pc:sldMk cId="0" sldId="295"/>
            <ac:spMk id="11267" creationId="{00000000-0000-0000-0000-000000000000}"/>
          </ac:spMkLst>
        </pc:spChg>
      </pc:sldChg>
      <pc:sldChg chg="modSp">
        <pc:chgData name="Freek Metsch" userId="021ef47b-1d71-428a-9075-16ffbc2c7c18" providerId="ADAL" clId="{ECF76A66-3964-4573-9F08-48959C879C9B}" dt="2024-10-04T13:27:58.647" v="185" actId="113"/>
        <pc:sldMkLst>
          <pc:docMk/>
          <pc:sldMk cId="0" sldId="298"/>
        </pc:sldMkLst>
        <pc:spChg chg="mod">
          <ac:chgData name="Freek Metsch" userId="021ef47b-1d71-428a-9075-16ffbc2c7c18" providerId="ADAL" clId="{ECF76A66-3964-4573-9F08-48959C879C9B}" dt="2024-10-04T13:27:58.647" v="185" actId="113"/>
          <ac:spMkLst>
            <pc:docMk/>
            <pc:sldMk cId="0" sldId="298"/>
            <ac:spMk id="16387" creationId="{00000000-0000-0000-0000-000000000000}"/>
          </ac:spMkLst>
        </pc:spChg>
      </pc:sldChg>
      <pc:sldChg chg="modSp">
        <pc:chgData name="Freek Metsch" userId="021ef47b-1d71-428a-9075-16ffbc2c7c18" providerId="ADAL" clId="{ECF76A66-3964-4573-9F08-48959C879C9B}" dt="2024-10-04T13:27:25.682" v="172" actId="20577"/>
        <pc:sldMkLst>
          <pc:docMk/>
          <pc:sldMk cId="0" sldId="310"/>
        </pc:sldMkLst>
        <pc:spChg chg="mod">
          <ac:chgData name="Freek Metsch" userId="021ef47b-1d71-428a-9075-16ffbc2c7c18" providerId="ADAL" clId="{ECF76A66-3964-4573-9F08-48959C879C9B}" dt="2024-10-04T13:27:25.682" v="172" actId="20577"/>
          <ac:spMkLst>
            <pc:docMk/>
            <pc:sldMk cId="0" sldId="310"/>
            <ac:spMk id="12291" creationId="{00000000-0000-0000-0000-000000000000}"/>
          </ac:spMkLst>
        </pc:spChg>
      </pc:sldChg>
      <pc:sldChg chg="modSp">
        <pc:chgData name="Freek Metsch" userId="021ef47b-1d71-428a-9075-16ffbc2c7c18" providerId="ADAL" clId="{ECF76A66-3964-4573-9F08-48959C879C9B}" dt="2024-10-04T13:29:32.748" v="196" actId="20577"/>
        <pc:sldMkLst>
          <pc:docMk/>
          <pc:sldMk cId="0" sldId="313"/>
        </pc:sldMkLst>
        <pc:spChg chg="mod">
          <ac:chgData name="Freek Metsch" userId="021ef47b-1d71-428a-9075-16ffbc2c7c18" providerId="ADAL" clId="{ECF76A66-3964-4573-9F08-48959C879C9B}" dt="2024-10-04T13:29:32.748" v="196" actId="20577"/>
          <ac:spMkLst>
            <pc:docMk/>
            <pc:sldMk cId="0" sldId="313"/>
            <ac:spMk id="3" creationId="{00000000-0000-0000-0000-000000000000}"/>
          </ac:spMkLst>
        </pc:spChg>
      </pc:sldChg>
      <pc:sldChg chg="modSp">
        <pc:chgData name="Freek Metsch" userId="021ef47b-1d71-428a-9075-16ffbc2c7c18" providerId="ADAL" clId="{ECF76A66-3964-4573-9F08-48959C879C9B}" dt="2024-10-04T13:25:58.376" v="129" actId="20577"/>
        <pc:sldMkLst>
          <pc:docMk/>
          <pc:sldMk cId="0" sldId="328"/>
        </pc:sldMkLst>
        <pc:spChg chg="mod">
          <ac:chgData name="Freek Metsch" userId="021ef47b-1d71-428a-9075-16ffbc2c7c18" providerId="ADAL" clId="{ECF76A66-3964-4573-9F08-48959C879C9B}" dt="2024-10-04T13:25:58.376" v="129" actId="20577"/>
          <ac:spMkLst>
            <pc:docMk/>
            <pc:sldMk cId="0" sldId="328"/>
            <ac:spMk id="3" creationId="{00000000-0000-0000-0000-000000000000}"/>
          </ac:spMkLst>
        </pc:spChg>
      </pc:sldChg>
      <pc:sldChg chg="addSp delSp add del setBg delDesignElem">
        <pc:chgData name="Freek Metsch" userId="021ef47b-1d71-428a-9075-16ffbc2c7c18" providerId="ADAL" clId="{ECF76A66-3964-4573-9F08-48959C879C9B}" dt="2024-10-04T13:28:31.156" v="188"/>
        <pc:sldMkLst>
          <pc:docMk/>
          <pc:sldMk cId="1087577344" sldId="353"/>
        </pc:sldMkLst>
        <pc:spChg chg="add del">
          <ac:chgData name="Freek Metsch" userId="021ef47b-1d71-428a-9075-16ffbc2c7c18" providerId="ADAL" clId="{ECF76A66-3964-4573-9F08-48959C879C9B}" dt="2024-10-04T13:28:31.156" v="188"/>
          <ac:spMkLst>
            <pc:docMk/>
            <pc:sldMk cId="1087577344" sldId="353"/>
            <ac:spMk id="8" creationId="{100EDD19-6802-4EC3-95CE-CFFAB042CFD6}"/>
          </ac:spMkLst>
        </pc:spChg>
        <pc:spChg chg="add del">
          <ac:chgData name="Freek Metsch" userId="021ef47b-1d71-428a-9075-16ffbc2c7c18" providerId="ADAL" clId="{ECF76A66-3964-4573-9F08-48959C879C9B}" dt="2024-10-04T13:28:31.156" v="188"/>
          <ac:spMkLst>
            <pc:docMk/>
            <pc:sldMk cId="1087577344" sldId="353"/>
            <ac:spMk id="10" creationId="{DB17E863-922E-4C26-BD64-E8FD41D286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5076BD2-F803-4916-B43E-22A66C3222FF}" type="datetimeFigureOut">
              <a:rPr lang="en-US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8931BD0-2D50-4142-B08B-ACD576F28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816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40CC6A-F0B6-4AD5-BEE7-AAA4BBBEFD4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14-23D7-1C26-EF09-1AFD518A8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88075-7E48-132E-45A8-9C2E4B46A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F805-93DA-D23E-A5D4-8593FE5A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8C340E-CD93-4F07-B8C3-7B34B96F436D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E60C6-21F8-1D69-CF91-6ACEEC45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8A82A-1B24-6F29-2714-47542A76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86C9A-E859-433F-8A1C-46C9937545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0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75B1-9A95-CED8-220E-8FCAAE1D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08FC-D9D9-06AE-6BFF-EA08782CE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5B5A-CC4B-1822-746E-588BB737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B74F13-E9FD-40C6-95FB-AAA37E4E6704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55B60-EAB1-905C-B5BE-87F72BD4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F23FB-37AD-9B4A-C72A-0766EF2F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CDC-5528-4361-8872-B9B674CF96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3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AA42-64F1-D53D-DA80-E5A4835A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4ACD-1559-22C5-A2C1-6864CFC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9311-F838-E706-2C67-86389F05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7B0AC8-66C6-461F-9AE8-BA2DD997B938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098AB-28B3-01F1-8A7D-D51EEBD3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CDF6-FCEF-77ED-8610-6DD7B0BF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54682B-9000-4C7B-A4EF-87A93C5C79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7A61-AD7D-D9ED-F4B9-2200028B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1D075-05C0-5C50-2C9C-B4F1D32AF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062A6-A364-8FC4-4439-A1C5C7903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81A35-D0B8-14AD-90F4-FB7E57FB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47FE77-A7D6-472F-991D-5F085CCF3567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30AD6-8E91-BF58-F925-F6E0597F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20E04-9512-CE97-CCCA-A362DDBE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CAB5BC-960A-4F5D-92C5-5F2DD3089A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1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5130-2E55-2CE0-0374-F6122B60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8B38D-A3FA-34F0-A3D2-F23EB9E5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4FF60-7D3A-185F-D109-CA4DE9151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3AD84-9CA8-B98A-228D-E405166DF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FE1B5-EBF1-7EE5-C310-35502FB5D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43ACF-BAEF-5324-6E47-CB4D6E3F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B1C091-4B93-4833-BCC6-4109BDFF8F91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272C4-5348-4FD1-25F4-CDC8F744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76F0B-706B-E0DF-A372-6405744F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9619B9-64F0-4CEA-B2F6-8EC6DFF417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C494-D939-5371-7A86-A3B07E5B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51DD7-DC20-E832-B6A6-A45289AD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3717C9-A790-4FAE-AC68-50256C8AB752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A587F-57E5-CAFB-0E7B-4410E265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E1F7C-AED4-44ED-0F1A-CA5F96AC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F6466-4554-462D-9496-5761E04A6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6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1F926-0AB2-A76F-D38F-1575DB74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754FFA-A10D-43F2-ABDF-DBCF530CEB34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AB2DD-53C4-E2C6-E9F6-7B6DC2FC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8400C-DFC9-1718-FC32-8BC7E9A8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CE3712-CED0-476B-A8B8-152B3E560B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83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FE44-378F-F5A2-7106-74A47975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B354-A613-BE7C-4D6C-BCF01F27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4AA85-3636-E3A3-5DD6-FE6A58A94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58D0-4BD7-ADC6-B08D-AC9106DE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FDCD18-A3E5-49F2-A9D0-E3703CD76829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F00B6-5EA4-7C1B-DD03-608820FA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D737F-1CB4-643C-4C3E-8D747660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30231D-EC98-4F26-B630-4EF7A0266B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5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C9D0-4C9E-F0D5-6CB6-0A5B5C73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FFB24-2994-C3B2-0B09-3E7F3416F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75FD2-4FEC-4B17-83F0-73E6ED1F4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64676-D503-9ACD-F1EA-E1042C43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642604-2513-49D4-AC95-54FC07ED1A4E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6B23-CB1E-78B5-E6AC-9EC86F54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D75CB-41AF-CCC7-F2AB-0B6FBE16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D826-C8E6-4484-BB93-62AB3910F2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4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0ED6-47C8-2803-5CD3-BF6DB29E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BD48-18DC-E36F-36B1-ED6999FB7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0DC70-9E69-1B22-EF78-AB44C8FA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1AB660-3C15-467B-80C4-8071D58FAA9A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D28F-19CE-5D68-02C1-93F79FDF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3627D-4473-9901-A9CF-AAF091D1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B130B-FB59-4964-BF3D-EB506D6C6D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4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26EDD-6F3B-8E4E-9650-44CEF530C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4965D-09F6-269C-CC2E-A7FB22993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1B6C-5191-071F-DCD7-EB8126F6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D9EC3F-CCC4-4A30-BE87-F4FCC27E1FD6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8D3F-4512-EBFA-5A1D-9066B3A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0E90-9FD6-4CDB-F7EC-213507C7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00F90B-59BF-40A2-AF1E-D9DB4012E4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0F0C2-0D54-A5D8-A2DF-EA075C02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3741-DCFD-CC1E-4F01-D8B90FA38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3EB40-FA4B-8915-9774-40FFE0B2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378003-317D-42B4-82A1-5C562775FC55}" type="datetimeFigureOut">
              <a:rPr lang="en-US" smtClean="0"/>
              <a:pPr>
                <a:defRPr/>
              </a:pPr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097A6-A054-653F-BA56-77F80A25B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6AB2A-6E56-61D7-26E9-31E4B5AEA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7E46A6-3E66-4F5C-9071-A01D240333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7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mmons.wikimedia.org/wiki/file:dirty_dishes.j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panampost.com/jose-azel/2013/08/29/irrationality-and-bribery-in-foreign-policy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7500" y="639097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7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If-Conditionals</a:t>
            </a:r>
          </a:p>
        </p:txBody>
      </p:sp>
      <p:pic>
        <p:nvPicPr>
          <p:cNvPr id="5" name="Afbeelding 4" descr="Bruine alpacasnuit">
            <a:extLst>
              <a:ext uri="{FF2B5EF4-FFF2-40B4-BE49-F238E27FC236}">
                <a16:creationId xmlns:a16="http://schemas.microsoft.com/office/drawing/2014/main" id="{EE13EA68-43F7-4F7D-A29E-7A054FEDE5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2" r="25711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Talking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conditions</a:t>
            </a:r>
            <a:endParaRPr lang="nl-NL" dirty="0"/>
          </a:p>
        </p:txBody>
      </p:sp>
      <p:sp>
        <p:nvSpPr>
          <p:cNvPr id="11267" name="Tijdelijke aanduiding voor inhoud 2"/>
          <p:cNvSpPr>
            <a:spLocks noGrp="1"/>
          </p:cNvSpPr>
          <p:nvPr>
            <p:ph idx="1"/>
          </p:nvPr>
        </p:nvSpPr>
        <p:spPr>
          <a:xfrm>
            <a:off x="899592" y="1886604"/>
            <a:ext cx="7467168" cy="3982489"/>
          </a:xfrm>
        </p:spPr>
        <p:txBody>
          <a:bodyPr/>
          <a:lstStyle/>
          <a:p>
            <a:pPr marL="0" indent="0">
              <a:buNone/>
            </a:pPr>
            <a:r>
              <a:rPr lang="nl-NL" dirty="0" err="1">
                <a:sym typeface="Wingdings" pitchFamily="2" charset="2"/>
              </a:rPr>
              <a:t>There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three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main</a:t>
            </a:r>
            <a:r>
              <a:rPr lang="nl-NL" dirty="0">
                <a:sym typeface="Wingdings" pitchFamily="2" charset="2"/>
              </a:rPr>
              <a:t> types, </a:t>
            </a:r>
            <a:r>
              <a:rPr lang="nl-NL" dirty="0" err="1">
                <a:sym typeface="Wingdings" pitchFamily="2" charset="2"/>
              </a:rPr>
              <a:t>which</a:t>
            </a:r>
            <a:r>
              <a:rPr lang="nl-NL" dirty="0">
                <a:sym typeface="Wingdings" pitchFamily="2" charset="2"/>
              </a:rPr>
              <a:t> are </a:t>
            </a:r>
            <a:r>
              <a:rPr lang="nl-NL" dirty="0" err="1">
                <a:sym typeface="Wingdings" pitchFamily="2" charset="2"/>
              </a:rPr>
              <a:t>used</a:t>
            </a:r>
            <a:r>
              <a:rPr lang="nl-NL" dirty="0">
                <a:sym typeface="Wingdings" pitchFamily="2" charset="2"/>
              </a:rPr>
              <a:t> to express different </a:t>
            </a:r>
            <a:r>
              <a:rPr lang="nl-NL" dirty="0" err="1">
                <a:sym typeface="Wingdings" pitchFamily="2" charset="2"/>
              </a:rPr>
              <a:t>things</a:t>
            </a:r>
            <a:r>
              <a:rPr lang="nl-NL" dirty="0"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nl-NL" dirty="0">
              <a:sym typeface="Wingdings" pitchFamily="2" charset="2"/>
            </a:endParaRPr>
          </a:p>
          <a:p>
            <a:pPr marL="0" indent="0">
              <a:buNone/>
            </a:pPr>
            <a:r>
              <a:rPr lang="nl-NL" dirty="0">
                <a:sym typeface="Wingdings" pitchFamily="2" charset="2"/>
              </a:rPr>
              <a:t>In pairs, </a:t>
            </a:r>
            <a:r>
              <a:rPr lang="nl-NL" dirty="0" err="1">
                <a:sym typeface="Wingdings" pitchFamily="2" charset="2"/>
              </a:rPr>
              <a:t>discuss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your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intuitive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understanding</a:t>
            </a:r>
            <a:r>
              <a:rPr lang="nl-NL" dirty="0">
                <a:sym typeface="Wingdings" pitchFamily="2" charset="2"/>
              </a:rPr>
              <a:t> of </a:t>
            </a:r>
            <a:r>
              <a:rPr lang="nl-NL" dirty="0" err="1">
                <a:sym typeface="Wingdings" pitchFamily="2" charset="2"/>
              </a:rPr>
              <a:t>how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differ</a:t>
            </a:r>
            <a:r>
              <a:rPr lang="nl-NL" dirty="0"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nl-NL" dirty="0">
              <a:sym typeface="Wingdings" pitchFamily="2" charset="2"/>
            </a:endParaRPr>
          </a:p>
          <a:p>
            <a:pPr marL="544068" lvl="1" indent="-342900">
              <a:buFont typeface="+mj-lt"/>
              <a:buAutoNum type="arabicPeriod"/>
            </a:pP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 we </a:t>
            </a:r>
            <a:r>
              <a:rPr lang="nl-NL" b="1" dirty="0" err="1">
                <a:sym typeface="Wingdings" pitchFamily="2" charset="2"/>
              </a:rPr>
              <a:t>buy</a:t>
            </a:r>
            <a:r>
              <a:rPr lang="nl-NL" dirty="0">
                <a:sym typeface="Wingdings" pitchFamily="2" charset="2"/>
              </a:rPr>
              <a:t> a </a:t>
            </a:r>
            <a:r>
              <a:rPr lang="nl-NL" dirty="0" err="1">
                <a:sym typeface="Wingdings" pitchFamily="2" charset="2"/>
              </a:rPr>
              <a:t>dishwasher</a:t>
            </a:r>
            <a:r>
              <a:rPr lang="nl-NL" dirty="0">
                <a:sym typeface="Wingdings" pitchFamily="2" charset="2"/>
              </a:rPr>
              <a:t>, we </a:t>
            </a:r>
            <a:r>
              <a:rPr lang="nl-NL" b="1" dirty="0" err="1">
                <a:sym typeface="Wingdings" pitchFamily="2" charset="2"/>
              </a:rPr>
              <a:t>will</a:t>
            </a:r>
            <a:r>
              <a:rPr lang="nl-NL" b="1" dirty="0">
                <a:sym typeface="Wingdings" pitchFamily="2" charset="2"/>
              </a:rPr>
              <a:t> save </a:t>
            </a:r>
            <a:r>
              <a:rPr lang="nl-NL" dirty="0">
                <a:sym typeface="Wingdings" pitchFamily="2" charset="2"/>
              </a:rPr>
              <a:t>time</a:t>
            </a:r>
          </a:p>
          <a:p>
            <a:pPr marL="544068" lvl="1" indent="-342900">
              <a:buFont typeface="+mj-lt"/>
              <a:buAutoNum type="arabicPeriod"/>
            </a:pP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 I </a:t>
            </a:r>
            <a:r>
              <a:rPr lang="nl-NL" b="1" dirty="0">
                <a:sym typeface="Wingdings" pitchFamily="2" charset="2"/>
              </a:rPr>
              <a:t>won</a:t>
            </a:r>
            <a:r>
              <a:rPr lang="nl-NL" dirty="0">
                <a:sym typeface="Wingdings" pitchFamily="2" charset="2"/>
              </a:rPr>
              <a:t> a </a:t>
            </a:r>
            <a:r>
              <a:rPr lang="nl-NL" dirty="0" err="1">
                <a:sym typeface="Wingdings" pitchFamily="2" charset="2"/>
              </a:rPr>
              <a:t>million</a:t>
            </a:r>
            <a:r>
              <a:rPr lang="nl-NL" dirty="0">
                <a:sym typeface="Wingdings" pitchFamily="2" charset="2"/>
              </a:rPr>
              <a:t> dollars, I </a:t>
            </a:r>
            <a:r>
              <a:rPr lang="nl-NL" b="1" dirty="0" err="1">
                <a:sym typeface="Wingdings" pitchFamily="2" charset="2"/>
              </a:rPr>
              <a:t>would</a:t>
            </a:r>
            <a:r>
              <a:rPr lang="nl-NL" b="1" dirty="0">
                <a:sym typeface="Wingdings" pitchFamily="2" charset="2"/>
              </a:rPr>
              <a:t> </a:t>
            </a:r>
            <a:r>
              <a:rPr lang="nl-NL" b="1" dirty="0" err="1">
                <a:sym typeface="Wingdings" pitchFamily="2" charset="2"/>
              </a:rPr>
              <a:t>quit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my</a:t>
            </a:r>
            <a:r>
              <a:rPr lang="nl-NL" dirty="0">
                <a:sym typeface="Wingdings" pitchFamily="2" charset="2"/>
              </a:rPr>
              <a:t> job</a:t>
            </a:r>
          </a:p>
          <a:p>
            <a:pPr marL="544068" lvl="1" indent="-342900">
              <a:buFont typeface="+mj-lt"/>
              <a:buAutoNum type="arabicPeriod"/>
            </a:pP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b="1" dirty="0">
                <a:sym typeface="Wingdings" pitchFamily="2" charset="2"/>
              </a:rPr>
              <a:t>had taken</a:t>
            </a:r>
            <a:r>
              <a:rPr lang="nl-NL" dirty="0">
                <a:sym typeface="Wingdings" pitchFamily="2" charset="2"/>
              </a:rPr>
              <a:t> a taxi,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b="1" dirty="0" err="1">
                <a:sym typeface="Wingdings" pitchFamily="2" charset="2"/>
              </a:rPr>
              <a:t>would</a:t>
            </a:r>
            <a:r>
              <a:rPr lang="nl-NL" b="1" dirty="0">
                <a:sym typeface="Wingdings" pitchFamily="2" charset="2"/>
              </a:rPr>
              <a:t> have </a:t>
            </a:r>
            <a:r>
              <a:rPr lang="nl-NL" b="1" dirty="0" err="1">
                <a:sym typeface="Wingdings" pitchFamily="2" charset="2"/>
              </a:rPr>
              <a:t>arrived</a:t>
            </a:r>
            <a:r>
              <a:rPr lang="nl-NL" b="1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there</a:t>
            </a:r>
            <a:r>
              <a:rPr lang="nl-NL" dirty="0">
                <a:sym typeface="Wingdings" pitchFamily="2" charset="2"/>
              </a:rPr>
              <a:t> in time </a:t>
            </a:r>
          </a:p>
          <a:p>
            <a:pPr>
              <a:buNone/>
            </a:pPr>
            <a:endParaRPr lang="nl-NL" dirty="0">
              <a:sym typeface="Wingdings" pitchFamily="2" charset="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If-Conditionals</a:t>
            </a:r>
            <a:endParaRPr lang="nl-NL" dirty="0"/>
          </a:p>
        </p:txBody>
      </p:sp>
      <p:pic>
        <p:nvPicPr>
          <p:cNvPr id="5" name="Tijdelijke aanduiding voor inhoud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34861"/>
            <a:ext cx="7886700" cy="2932866"/>
          </a:xfrm>
        </p:spPr>
      </p:pic>
      <p:sp>
        <p:nvSpPr>
          <p:cNvPr id="7" name="Rechthoek 6"/>
          <p:cNvSpPr/>
          <p:nvPr/>
        </p:nvSpPr>
        <p:spPr>
          <a:xfrm>
            <a:off x="899592" y="1737361"/>
            <a:ext cx="7866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>
                <a:sym typeface="Wingdings" pitchFamily="2" charset="2"/>
              </a:rPr>
              <a:t>In English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often</a:t>
            </a:r>
            <a:r>
              <a:rPr lang="nl-NL" dirty="0">
                <a:sym typeface="Wingdings" pitchFamily="2" charset="2"/>
              </a:rPr>
              <a:t> talk </a:t>
            </a:r>
            <a:r>
              <a:rPr lang="nl-NL" dirty="0" err="1">
                <a:sym typeface="Wingdings" pitchFamily="2" charset="2"/>
              </a:rPr>
              <a:t>about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outcome</a:t>
            </a:r>
            <a:r>
              <a:rPr lang="nl-NL" dirty="0">
                <a:sym typeface="Wingdings" pitchFamily="2" charset="2"/>
              </a:rPr>
              <a:t> of </a:t>
            </a:r>
            <a:r>
              <a:rPr lang="nl-NL" dirty="0" err="1">
                <a:sym typeface="Wingdings" pitchFamily="2" charset="2"/>
              </a:rPr>
              <a:t>certain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conditions</a:t>
            </a:r>
            <a:r>
              <a:rPr lang="nl-NL" dirty="0">
                <a:sym typeface="Wingdings" pitchFamily="2" charset="2"/>
              </a:rPr>
              <a:t> in </a:t>
            </a:r>
            <a:r>
              <a:rPr lang="nl-NL" dirty="0" err="1">
                <a:sym typeface="Wingdings" pitchFamily="2" charset="2"/>
              </a:rPr>
              <a:t>sentences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with</a:t>
            </a:r>
            <a:r>
              <a:rPr lang="nl-NL" dirty="0">
                <a:sym typeface="Wingdings" pitchFamily="2" charset="2"/>
              </a:rPr>
              <a:t> ‘</a:t>
            </a:r>
            <a:r>
              <a:rPr lang="nl-NL" dirty="0" err="1">
                <a:sym typeface="Wingdings" pitchFamily="2" charset="2"/>
              </a:rPr>
              <a:t>if</a:t>
            </a:r>
            <a:r>
              <a:rPr lang="nl-NL" dirty="0">
                <a:sym typeface="Wingdings" pitchFamily="2" charset="2"/>
              </a:rPr>
              <a:t>…’</a:t>
            </a:r>
          </a:p>
        </p:txBody>
      </p:sp>
    </p:spTree>
    <p:extLst>
      <p:ext uri="{BB962C8B-B14F-4D97-AF65-F5344CB8AC3E}">
        <p14:creationId xmlns:p14="http://schemas.microsoft.com/office/powerpoint/2010/main" val="1289162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3886200" y="634946"/>
            <a:ext cx="4776107" cy="1450757"/>
          </a:xfrm>
        </p:spPr>
        <p:txBody>
          <a:bodyPr>
            <a:normAutofit/>
          </a:bodyPr>
          <a:lstStyle/>
          <a:p>
            <a:r>
              <a:rPr lang="nl-NL" dirty="0"/>
              <a:t>Type 1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3886200" y="1916832"/>
            <a:ext cx="4776107" cy="395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“</a:t>
            </a:r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b="1" dirty="0" err="1"/>
              <a:t>buy</a:t>
            </a:r>
            <a:r>
              <a:rPr lang="nl-NL" dirty="0"/>
              <a:t> a </a:t>
            </a:r>
            <a:r>
              <a:rPr lang="nl-NL" dirty="0" err="1"/>
              <a:t>dishwasher</a:t>
            </a:r>
            <a:r>
              <a:rPr lang="nl-NL" dirty="0"/>
              <a:t>, we </a:t>
            </a:r>
            <a:r>
              <a:rPr lang="nl-NL" b="1" dirty="0" err="1"/>
              <a:t>will</a:t>
            </a:r>
            <a:r>
              <a:rPr lang="nl-NL" dirty="0"/>
              <a:t> save time”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Present form (</a:t>
            </a:r>
            <a:r>
              <a:rPr lang="nl-NL" dirty="0" err="1"/>
              <a:t>buy</a:t>
            </a:r>
            <a:r>
              <a:rPr lang="nl-NL" dirty="0"/>
              <a:t>)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-part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u="sng" dirty="0" err="1"/>
              <a:t>likely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buy</a:t>
            </a:r>
            <a:r>
              <a:rPr lang="nl-NL" dirty="0"/>
              <a:t> a </a:t>
            </a:r>
            <a:r>
              <a:rPr lang="nl-NL" dirty="0" err="1"/>
              <a:t>dishwasher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result</a:t>
            </a:r>
            <a:r>
              <a:rPr lang="nl-NL" dirty="0"/>
              <a:t> in the </a:t>
            </a:r>
            <a:r>
              <a:rPr lang="nl-NL" dirty="0" err="1"/>
              <a:t>other</a:t>
            </a:r>
            <a:r>
              <a:rPr lang="nl-NL" dirty="0"/>
              <a:t> part is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u="sng" dirty="0" err="1"/>
              <a:t>likely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happen</a:t>
            </a:r>
          </a:p>
          <a:p>
            <a:pPr marL="0" indent="0">
              <a:buNone/>
            </a:pPr>
            <a:r>
              <a:rPr lang="nl-NL" dirty="0" err="1"/>
              <a:t>That’s</a:t>
            </a:r>
            <a:r>
              <a:rPr lang="nl-NL" dirty="0"/>
              <a:t> </a:t>
            </a:r>
            <a:r>
              <a:rPr lang="nl-NL" dirty="0" err="1"/>
              <a:t>indicated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+ </a:t>
            </a:r>
            <a:r>
              <a:rPr lang="nl-NL" dirty="0" err="1"/>
              <a:t>verb</a:t>
            </a:r>
            <a:r>
              <a:rPr lang="nl-NL" dirty="0"/>
              <a:t> (</a:t>
            </a:r>
            <a:r>
              <a:rPr lang="nl-NL" dirty="0" err="1"/>
              <a:t>will</a:t>
            </a:r>
            <a:r>
              <a:rPr lang="nl-NL" dirty="0"/>
              <a:t> save) in the </a:t>
            </a:r>
            <a:r>
              <a:rPr lang="nl-NL" dirty="0" err="1"/>
              <a:t>other</a:t>
            </a:r>
            <a:r>
              <a:rPr lang="nl-NL" dirty="0"/>
              <a:t> part</a:t>
            </a:r>
          </a:p>
          <a:p>
            <a:pPr marL="201168" lvl="1" indent="0">
              <a:buNone/>
            </a:pPr>
            <a:endParaRPr lang="nl-NL" dirty="0"/>
          </a:p>
        </p:txBody>
      </p:sp>
      <p:pic>
        <p:nvPicPr>
          <p:cNvPr id="7" name="Picture 6" descr="A kitchen sink full of dirty dishes&#10;&#10;Description automatically generated with low confidence">
            <a:extLst>
              <a:ext uri="{FF2B5EF4-FFF2-40B4-BE49-F238E27FC236}">
                <a16:creationId xmlns:a16="http://schemas.microsoft.com/office/drawing/2014/main" id="{73B79CB3-2B2A-4D3B-AB03-17382DF790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2329" r="29563" b="-2"/>
          <a:stretch/>
        </p:blipFill>
        <p:spPr>
          <a:xfrm>
            <a:off x="20" y="-12128"/>
            <a:ext cx="3490702" cy="6870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5" name="Rectangle 1230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nl-NL" sz="4700" dirty="0"/>
              <a:t>Type 2</a:t>
            </a:r>
            <a:endParaRPr lang="en-US" sz="4700" dirty="0"/>
          </a:p>
        </p:txBody>
      </p:sp>
      <p:pic>
        <p:nvPicPr>
          <p:cNvPr id="12293" name="Picture 12292" descr="Antique cash register keys">
            <a:extLst>
              <a:ext uri="{FF2B5EF4-FFF2-40B4-BE49-F238E27FC236}">
                <a16:creationId xmlns:a16="http://schemas.microsoft.com/office/drawing/2014/main" id="{77698164-6277-A12B-61D3-E214E6FA4B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68" r="4276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30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  <a:gd name="connsiteX0" fmla="*/ 0 w 3182692"/>
              <a:gd name="connsiteY0" fmla="*/ 0 h 18288"/>
              <a:gd name="connsiteX1" fmla="*/ 572885 w 3182692"/>
              <a:gd name="connsiteY1" fmla="*/ 0 h 18288"/>
              <a:gd name="connsiteX2" fmla="*/ 1113942 w 3182692"/>
              <a:gd name="connsiteY2" fmla="*/ 0 h 18288"/>
              <a:gd name="connsiteX3" fmla="*/ 1686827 w 3182692"/>
              <a:gd name="connsiteY3" fmla="*/ 0 h 18288"/>
              <a:gd name="connsiteX4" fmla="*/ 2323365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04711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25870" y="33585"/>
                  <a:pt x="418138" y="17639"/>
                  <a:pt x="636538" y="0"/>
                </a:cubicBezTo>
                <a:cubicBezTo>
                  <a:pt x="865372" y="-3887"/>
                  <a:pt x="1010746" y="-18166"/>
                  <a:pt x="1273077" y="0"/>
                </a:cubicBezTo>
                <a:cubicBezTo>
                  <a:pt x="1527846" y="-24408"/>
                  <a:pt x="1703704" y="-36055"/>
                  <a:pt x="1909615" y="0"/>
                </a:cubicBezTo>
                <a:cubicBezTo>
                  <a:pt x="2119487" y="1667"/>
                  <a:pt x="2200543" y="-19343"/>
                  <a:pt x="2482500" y="0"/>
                </a:cubicBezTo>
                <a:cubicBezTo>
                  <a:pt x="2736775" y="57438"/>
                  <a:pt x="2997998" y="-48885"/>
                  <a:pt x="3182692" y="0"/>
                </a:cubicBezTo>
                <a:cubicBezTo>
                  <a:pt x="3182658" y="4844"/>
                  <a:pt x="3182282" y="11009"/>
                  <a:pt x="3182692" y="18288"/>
                </a:cubicBezTo>
                <a:cubicBezTo>
                  <a:pt x="2944477" y="15825"/>
                  <a:pt x="2868931" y="12370"/>
                  <a:pt x="2609807" y="18288"/>
                </a:cubicBezTo>
                <a:cubicBezTo>
                  <a:pt x="2341556" y="6193"/>
                  <a:pt x="2324113" y="22706"/>
                  <a:pt x="2068750" y="18288"/>
                </a:cubicBezTo>
                <a:cubicBezTo>
                  <a:pt x="1817163" y="7852"/>
                  <a:pt x="1716254" y="25979"/>
                  <a:pt x="1432211" y="18288"/>
                </a:cubicBezTo>
                <a:cubicBezTo>
                  <a:pt x="1164747" y="-28137"/>
                  <a:pt x="993140" y="27575"/>
                  <a:pt x="859327" y="18288"/>
                </a:cubicBezTo>
                <a:cubicBezTo>
                  <a:pt x="750703" y="-24974"/>
                  <a:pt x="236193" y="38731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24421" y="-39331"/>
                  <a:pt x="418777" y="11439"/>
                  <a:pt x="572885" y="0"/>
                </a:cubicBezTo>
                <a:cubicBezTo>
                  <a:pt x="750333" y="-6388"/>
                  <a:pt x="940592" y="15806"/>
                  <a:pt x="1113942" y="0"/>
                </a:cubicBezTo>
                <a:cubicBezTo>
                  <a:pt x="1322785" y="-1777"/>
                  <a:pt x="1505363" y="28230"/>
                  <a:pt x="1686827" y="0"/>
                </a:cubicBezTo>
                <a:cubicBezTo>
                  <a:pt x="1853304" y="1595"/>
                  <a:pt x="2194652" y="-1232"/>
                  <a:pt x="2323365" y="0"/>
                </a:cubicBezTo>
                <a:cubicBezTo>
                  <a:pt x="2488732" y="36406"/>
                  <a:pt x="2902093" y="-40336"/>
                  <a:pt x="3182692" y="0"/>
                </a:cubicBezTo>
                <a:cubicBezTo>
                  <a:pt x="3182167" y="5049"/>
                  <a:pt x="3182885" y="12044"/>
                  <a:pt x="3182692" y="18288"/>
                </a:cubicBezTo>
                <a:cubicBezTo>
                  <a:pt x="3012563" y="-37820"/>
                  <a:pt x="2765409" y="35618"/>
                  <a:pt x="2546154" y="18288"/>
                </a:cubicBezTo>
                <a:cubicBezTo>
                  <a:pt x="2333381" y="13914"/>
                  <a:pt x="2154438" y="9838"/>
                  <a:pt x="1845961" y="18288"/>
                </a:cubicBezTo>
                <a:cubicBezTo>
                  <a:pt x="1531509" y="33812"/>
                  <a:pt x="1456631" y="-6606"/>
                  <a:pt x="1304904" y="18288"/>
                </a:cubicBezTo>
                <a:cubicBezTo>
                  <a:pt x="1168344" y="36351"/>
                  <a:pt x="928499" y="15047"/>
                  <a:pt x="604711" y="18288"/>
                </a:cubicBezTo>
                <a:cubicBezTo>
                  <a:pt x="285438" y="38007"/>
                  <a:pt x="116029" y="-2220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245832" y="29445"/>
                  <a:pt x="388924" y="-28919"/>
                  <a:pt x="636538" y="0"/>
                </a:cubicBezTo>
                <a:cubicBezTo>
                  <a:pt x="854919" y="4634"/>
                  <a:pt x="991654" y="8864"/>
                  <a:pt x="1273077" y="0"/>
                </a:cubicBezTo>
                <a:cubicBezTo>
                  <a:pt x="1566644" y="-14667"/>
                  <a:pt x="1666526" y="3717"/>
                  <a:pt x="1909615" y="0"/>
                </a:cubicBezTo>
                <a:cubicBezTo>
                  <a:pt x="2138795" y="27220"/>
                  <a:pt x="2225506" y="-13892"/>
                  <a:pt x="2482500" y="0"/>
                </a:cubicBezTo>
                <a:cubicBezTo>
                  <a:pt x="2775583" y="32183"/>
                  <a:pt x="3003218" y="-43687"/>
                  <a:pt x="3182692" y="0"/>
                </a:cubicBezTo>
                <a:cubicBezTo>
                  <a:pt x="3183006" y="4158"/>
                  <a:pt x="3181713" y="12539"/>
                  <a:pt x="3182692" y="18288"/>
                </a:cubicBezTo>
                <a:cubicBezTo>
                  <a:pt x="2959845" y="25574"/>
                  <a:pt x="2868929" y="24980"/>
                  <a:pt x="2609807" y="18288"/>
                </a:cubicBezTo>
                <a:cubicBezTo>
                  <a:pt x="2341405" y="5992"/>
                  <a:pt x="2328488" y="20436"/>
                  <a:pt x="2068750" y="18288"/>
                </a:cubicBezTo>
                <a:cubicBezTo>
                  <a:pt x="1816113" y="2395"/>
                  <a:pt x="1699345" y="36855"/>
                  <a:pt x="1432211" y="18288"/>
                </a:cubicBezTo>
                <a:cubicBezTo>
                  <a:pt x="1148381" y="-28184"/>
                  <a:pt x="987622" y="2403"/>
                  <a:pt x="859327" y="18288"/>
                </a:cubicBezTo>
                <a:cubicBezTo>
                  <a:pt x="743387" y="37422"/>
                  <a:pt x="194182" y="1878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36538 w 3182692"/>
                      <a:gd name="connsiteY1" fmla="*/ 0 h 18288"/>
                      <a:gd name="connsiteX2" fmla="*/ 1273077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482500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609807 w 3182692"/>
                      <a:gd name="connsiteY7" fmla="*/ 18288 h 18288"/>
                      <a:gd name="connsiteX8" fmla="*/ 2068750 w 3182692"/>
                      <a:gd name="connsiteY8" fmla="*/ 18288 h 18288"/>
                      <a:gd name="connsiteX9" fmla="*/ 1432211 w 3182692"/>
                      <a:gd name="connsiteY9" fmla="*/ 18288 h 18288"/>
                      <a:gd name="connsiteX10" fmla="*/ 859327 w 3182692"/>
                      <a:gd name="connsiteY10" fmla="*/ 18288 h 18288"/>
                      <a:gd name="connsiteX11" fmla="*/ 0 w 3182692"/>
                      <a:gd name="connsiteY11" fmla="*/ 18288 h 18288"/>
                      <a:gd name="connsiteX12" fmla="*/ 0 w 3182692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253588" y="25878"/>
                          <a:pt x="409323" y="-5359"/>
                          <a:pt x="636538" y="0"/>
                        </a:cubicBezTo>
                        <a:cubicBezTo>
                          <a:pt x="863753" y="5359"/>
                          <a:pt x="1007727" y="-28"/>
                          <a:pt x="1273077" y="0"/>
                        </a:cubicBezTo>
                        <a:cubicBezTo>
                          <a:pt x="1538427" y="28"/>
                          <a:pt x="1698640" y="-12775"/>
                          <a:pt x="1909615" y="0"/>
                        </a:cubicBezTo>
                        <a:cubicBezTo>
                          <a:pt x="2120590" y="12775"/>
                          <a:pt x="2210293" y="-21823"/>
                          <a:pt x="2482500" y="0"/>
                        </a:cubicBezTo>
                        <a:cubicBezTo>
                          <a:pt x="2754708" y="21823"/>
                          <a:pt x="3004133" y="-28750"/>
                          <a:pt x="3182692" y="0"/>
                        </a:cubicBezTo>
                        <a:cubicBezTo>
                          <a:pt x="3183134" y="4516"/>
                          <a:pt x="3181865" y="12266"/>
                          <a:pt x="3182692" y="18288"/>
                        </a:cubicBezTo>
                        <a:cubicBezTo>
                          <a:pt x="2947402" y="22440"/>
                          <a:pt x="2876226" y="27191"/>
                          <a:pt x="2609807" y="18288"/>
                        </a:cubicBezTo>
                        <a:cubicBezTo>
                          <a:pt x="2343389" y="9385"/>
                          <a:pt x="2326689" y="25579"/>
                          <a:pt x="2068750" y="18288"/>
                        </a:cubicBezTo>
                        <a:cubicBezTo>
                          <a:pt x="1810811" y="10997"/>
                          <a:pt x="1713836" y="48219"/>
                          <a:pt x="1432211" y="18288"/>
                        </a:cubicBezTo>
                        <a:cubicBezTo>
                          <a:pt x="1150586" y="-11643"/>
                          <a:pt x="982765" y="3747"/>
                          <a:pt x="859327" y="18288"/>
                        </a:cubicBezTo>
                        <a:cubicBezTo>
                          <a:pt x="735889" y="32829"/>
                          <a:pt x="254183" y="35231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43108" y="-22426"/>
                          <a:pt x="387854" y="22949"/>
                          <a:pt x="572885" y="0"/>
                        </a:cubicBezTo>
                        <a:cubicBezTo>
                          <a:pt x="757916" y="-22949"/>
                          <a:pt x="923707" y="6797"/>
                          <a:pt x="1113942" y="0"/>
                        </a:cubicBezTo>
                        <a:cubicBezTo>
                          <a:pt x="1304177" y="-6797"/>
                          <a:pt x="1495991" y="20627"/>
                          <a:pt x="1686827" y="0"/>
                        </a:cubicBezTo>
                        <a:cubicBezTo>
                          <a:pt x="1877663" y="-20627"/>
                          <a:pt x="2170182" y="-20672"/>
                          <a:pt x="2323365" y="0"/>
                        </a:cubicBezTo>
                        <a:cubicBezTo>
                          <a:pt x="2476548" y="20672"/>
                          <a:pt x="2919164" y="6097"/>
                          <a:pt x="3182692" y="0"/>
                        </a:cubicBezTo>
                        <a:cubicBezTo>
                          <a:pt x="3183269" y="4624"/>
                          <a:pt x="3183511" y="11191"/>
                          <a:pt x="3182692" y="18288"/>
                        </a:cubicBezTo>
                        <a:cubicBezTo>
                          <a:pt x="3026065" y="-10849"/>
                          <a:pt x="2775006" y="23067"/>
                          <a:pt x="2546154" y="18288"/>
                        </a:cubicBezTo>
                        <a:cubicBezTo>
                          <a:pt x="2317302" y="13509"/>
                          <a:pt x="2168173" y="-8513"/>
                          <a:pt x="1845961" y="18288"/>
                        </a:cubicBezTo>
                        <a:cubicBezTo>
                          <a:pt x="1523749" y="45089"/>
                          <a:pt x="1450078" y="-844"/>
                          <a:pt x="1304904" y="18288"/>
                        </a:cubicBezTo>
                        <a:cubicBezTo>
                          <a:pt x="1159730" y="37420"/>
                          <a:pt x="942635" y="-10021"/>
                          <a:pt x="604711" y="18288"/>
                        </a:cubicBezTo>
                        <a:cubicBezTo>
                          <a:pt x="266787" y="46597"/>
                          <a:pt x="141927" y="-8395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 lnSpcReduction="10000"/>
          </a:bodyPr>
          <a:lstStyle/>
          <a:p>
            <a:r>
              <a:rPr lang="nl-NL" sz="1900" dirty="0"/>
              <a:t>“</a:t>
            </a:r>
            <a:r>
              <a:rPr lang="nl-NL" sz="1900" dirty="0" err="1"/>
              <a:t>If</a:t>
            </a:r>
            <a:r>
              <a:rPr lang="nl-NL" sz="1900" dirty="0"/>
              <a:t> I </a:t>
            </a:r>
            <a:r>
              <a:rPr lang="nl-NL" sz="1900" b="1" dirty="0"/>
              <a:t>won</a:t>
            </a:r>
            <a:r>
              <a:rPr lang="nl-NL" sz="1900" dirty="0"/>
              <a:t> a </a:t>
            </a:r>
            <a:r>
              <a:rPr lang="nl-NL" sz="1900" dirty="0" err="1"/>
              <a:t>million</a:t>
            </a:r>
            <a:r>
              <a:rPr lang="nl-NL" sz="1900" dirty="0"/>
              <a:t> dollars, I </a:t>
            </a:r>
            <a:r>
              <a:rPr lang="nl-NL" sz="1900" b="1" dirty="0" err="1"/>
              <a:t>would</a:t>
            </a:r>
            <a:r>
              <a:rPr lang="nl-NL" sz="1900" b="1" dirty="0"/>
              <a:t> </a:t>
            </a:r>
            <a:r>
              <a:rPr lang="nl-NL" sz="1900" b="1" dirty="0" err="1"/>
              <a:t>quit</a:t>
            </a:r>
            <a:r>
              <a:rPr lang="nl-NL" sz="1900" b="1" dirty="0"/>
              <a:t> </a:t>
            </a:r>
            <a:r>
              <a:rPr lang="nl-NL" sz="1900" dirty="0" err="1"/>
              <a:t>my</a:t>
            </a:r>
            <a:r>
              <a:rPr lang="nl-NL" sz="1900" dirty="0"/>
              <a:t> job”</a:t>
            </a:r>
          </a:p>
          <a:p>
            <a:endParaRPr lang="nl-NL" sz="1900" dirty="0"/>
          </a:p>
          <a:p>
            <a:r>
              <a:rPr lang="nl-NL" sz="1900" dirty="0"/>
              <a:t>Past form (</a:t>
            </a:r>
            <a:r>
              <a:rPr lang="nl-NL" sz="1900" b="1" dirty="0"/>
              <a:t>won</a:t>
            </a:r>
            <a:r>
              <a:rPr lang="nl-NL" sz="1900" dirty="0"/>
              <a:t>) in </a:t>
            </a:r>
            <a:r>
              <a:rPr lang="nl-NL" sz="1900" dirty="0" err="1"/>
              <a:t>the</a:t>
            </a:r>
            <a:r>
              <a:rPr lang="nl-NL" sz="1900" dirty="0"/>
              <a:t> </a:t>
            </a:r>
            <a:r>
              <a:rPr lang="nl-NL" sz="1900" dirty="0" err="1"/>
              <a:t>if</a:t>
            </a:r>
            <a:r>
              <a:rPr lang="nl-NL" sz="1900" dirty="0"/>
              <a:t> part </a:t>
            </a:r>
          </a:p>
          <a:p>
            <a:pPr marL="0" indent="0">
              <a:buNone/>
            </a:pPr>
            <a:endParaRPr lang="nl-NL" sz="1900" dirty="0"/>
          </a:p>
          <a:p>
            <a:r>
              <a:rPr lang="nl-NL" sz="1900" dirty="0" err="1"/>
              <a:t>This</a:t>
            </a:r>
            <a:r>
              <a:rPr lang="nl-NL" sz="1900" dirty="0"/>
              <a:t> means </a:t>
            </a:r>
            <a:r>
              <a:rPr lang="nl-NL" sz="1900" dirty="0" err="1"/>
              <a:t>that</a:t>
            </a:r>
            <a:r>
              <a:rPr lang="nl-NL" sz="1900" dirty="0"/>
              <a:t> </a:t>
            </a:r>
            <a:r>
              <a:rPr lang="nl-NL" sz="1900" dirty="0" err="1"/>
              <a:t>it</a:t>
            </a:r>
            <a:r>
              <a:rPr lang="nl-NL" sz="1900" dirty="0"/>
              <a:t> is </a:t>
            </a:r>
            <a:r>
              <a:rPr lang="nl-NL" sz="1900" b="1" u="sng" dirty="0" err="1"/>
              <a:t>unlikely</a:t>
            </a:r>
            <a:r>
              <a:rPr lang="nl-NL" sz="1900" dirty="0"/>
              <a:t> </a:t>
            </a:r>
            <a:r>
              <a:rPr lang="nl-NL" sz="1900" dirty="0" err="1"/>
              <a:t>that</a:t>
            </a:r>
            <a:r>
              <a:rPr lang="nl-NL" sz="1900" dirty="0"/>
              <a:t> I </a:t>
            </a:r>
            <a:r>
              <a:rPr lang="nl-NL" sz="1900" dirty="0" err="1"/>
              <a:t>would</a:t>
            </a:r>
            <a:r>
              <a:rPr lang="nl-NL" sz="1900" dirty="0"/>
              <a:t> win a </a:t>
            </a:r>
            <a:r>
              <a:rPr lang="nl-NL" sz="1900" dirty="0" err="1"/>
              <a:t>million</a:t>
            </a:r>
            <a:r>
              <a:rPr lang="nl-NL" sz="1900" dirty="0"/>
              <a:t> dollars</a:t>
            </a:r>
          </a:p>
          <a:p>
            <a:r>
              <a:rPr lang="nl-NL" sz="1900" dirty="0"/>
              <a:t>The </a:t>
            </a:r>
            <a:r>
              <a:rPr lang="nl-NL" sz="1900" dirty="0" err="1"/>
              <a:t>result</a:t>
            </a:r>
            <a:r>
              <a:rPr lang="nl-NL" sz="1900" dirty="0"/>
              <a:t> in </a:t>
            </a:r>
            <a:r>
              <a:rPr lang="nl-NL" sz="1900" dirty="0" err="1"/>
              <a:t>the</a:t>
            </a:r>
            <a:r>
              <a:rPr lang="nl-NL" sz="1900" dirty="0"/>
              <a:t> </a:t>
            </a:r>
            <a:r>
              <a:rPr lang="nl-NL" sz="1900" dirty="0" err="1"/>
              <a:t>other</a:t>
            </a:r>
            <a:r>
              <a:rPr lang="nl-NL" sz="1900" dirty="0"/>
              <a:t> part is </a:t>
            </a:r>
            <a:r>
              <a:rPr lang="nl-NL" sz="1900" dirty="0" err="1"/>
              <a:t>also</a:t>
            </a:r>
            <a:r>
              <a:rPr lang="nl-NL" sz="1900" dirty="0"/>
              <a:t> </a:t>
            </a:r>
            <a:r>
              <a:rPr lang="nl-NL" sz="1900" b="1" u="sng" dirty="0" err="1"/>
              <a:t>unlikely</a:t>
            </a:r>
            <a:r>
              <a:rPr lang="nl-NL" sz="1900" dirty="0"/>
              <a:t> </a:t>
            </a:r>
            <a:r>
              <a:rPr lang="nl-NL" sz="1900" dirty="0" err="1"/>
              <a:t>to</a:t>
            </a:r>
            <a:r>
              <a:rPr lang="nl-NL" sz="1900" dirty="0"/>
              <a:t> happen</a:t>
            </a:r>
          </a:p>
          <a:p>
            <a:r>
              <a:rPr lang="nl-NL" sz="1900" dirty="0" err="1"/>
              <a:t>That’s</a:t>
            </a:r>
            <a:r>
              <a:rPr lang="nl-NL" sz="1900" dirty="0"/>
              <a:t> </a:t>
            </a:r>
            <a:r>
              <a:rPr lang="nl-NL" sz="1900" dirty="0" err="1"/>
              <a:t>indicated</a:t>
            </a:r>
            <a:r>
              <a:rPr lang="nl-NL" sz="1900" dirty="0"/>
              <a:t> </a:t>
            </a:r>
            <a:r>
              <a:rPr lang="nl-NL" sz="1900" dirty="0" err="1"/>
              <a:t>by</a:t>
            </a:r>
            <a:r>
              <a:rPr lang="nl-NL" sz="1900" dirty="0"/>
              <a:t> </a:t>
            </a:r>
            <a:r>
              <a:rPr lang="nl-NL" sz="1900" b="1" dirty="0" err="1"/>
              <a:t>would</a:t>
            </a:r>
            <a:r>
              <a:rPr lang="nl-NL" sz="1900" b="1" dirty="0"/>
              <a:t> + </a:t>
            </a:r>
            <a:r>
              <a:rPr lang="nl-NL" sz="1900" b="1" dirty="0" err="1"/>
              <a:t>verb</a:t>
            </a:r>
            <a:r>
              <a:rPr lang="nl-NL" sz="1900" b="1" dirty="0"/>
              <a:t> (</a:t>
            </a:r>
            <a:r>
              <a:rPr lang="nl-NL" sz="1900" b="1" dirty="0" err="1"/>
              <a:t>would</a:t>
            </a:r>
            <a:r>
              <a:rPr lang="nl-NL" sz="1900" b="1" dirty="0"/>
              <a:t> </a:t>
            </a:r>
            <a:r>
              <a:rPr lang="nl-NL" sz="1900" b="1" dirty="0" err="1"/>
              <a:t>quit</a:t>
            </a:r>
            <a:r>
              <a:rPr lang="nl-NL" sz="1900" b="1" dirty="0"/>
              <a:t>) </a:t>
            </a:r>
            <a:r>
              <a:rPr lang="nl-NL" sz="1900" dirty="0"/>
              <a:t>in </a:t>
            </a:r>
            <a:r>
              <a:rPr lang="nl-NL" sz="1900" dirty="0" err="1"/>
              <a:t>the</a:t>
            </a:r>
            <a:r>
              <a:rPr lang="nl-NL" sz="1900" dirty="0"/>
              <a:t> </a:t>
            </a:r>
            <a:r>
              <a:rPr lang="nl-NL" sz="1900" dirty="0" err="1"/>
              <a:t>other</a:t>
            </a:r>
            <a:r>
              <a:rPr lang="nl-NL" sz="1900" dirty="0"/>
              <a:t> part</a:t>
            </a:r>
          </a:p>
          <a:p>
            <a:endParaRPr lang="nl-NL" sz="1900" dirty="0"/>
          </a:p>
          <a:p>
            <a:endParaRPr lang="nl-NL" sz="1900" dirty="0"/>
          </a:p>
          <a:p>
            <a:pPr lvl="1"/>
            <a:endParaRPr lang="nl-NL" sz="1900" dirty="0"/>
          </a:p>
          <a:p>
            <a:pPr lvl="1"/>
            <a:endParaRPr lang="nl-NL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 2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dirty="0" err="1"/>
              <a:t>Also</a:t>
            </a:r>
            <a:r>
              <a:rPr lang="nl-NL" sz="2400" dirty="0"/>
              <a:t> </a:t>
            </a:r>
            <a:r>
              <a:rPr lang="nl-NL" sz="2400" dirty="0" err="1"/>
              <a:t>used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things</a:t>
            </a:r>
            <a:r>
              <a:rPr lang="nl-NL" sz="2400" dirty="0"/>
              <a:t> </a:t>
            </a:r>
            <a:r>
              <a:rPr lang="nl-NL" sz="2400" dirty="0" err="1"/>
              <a:t>that</a:t>
            </a:r>
            <a:r>
              <a:rPr lang="nl-NL" sz="2400" dirty="0"/>
              <a:t> are </a:t>
            </a:r>
            <a:r>
              <a:rPr lang="nl-NL" sz="2400" b="1" dirty="0" err="1"/>
              <a:t>impossible</a:t>
            </a:r>
            <a:r>
              <a:rPr lang="nl-NL" sz="2400" dirty="0"/>
              <a:t> to happen</a:t>
            </a:r>
          </a:p>
          <a:p>
            <a:pPr lvl="1"/>
            <a:r>
              <a:rPr lang="nl-NL" sz="2000" dirty="0" err="1"/>
              <a:t>If</a:t>
            </a:r>
            <a:r>
              <a:rPr lang="nl-NL" sz="2000" dirty="0"/>
              <a:t> I </a:t>
            </a:r>
            <a:r>
              <a:rPr lang="nl-NL" sz="2000" b="1" dirty="0" err="1"/>
              <a:t>ruled</a:t>
            </a:r>
            <a:r>
              <a:rPr lang="nl-NL" sz="2000" b="1" dirty="0"/>
              <a:t> </a:t>
            </a:r>
            <a:r>
              <a:rPr lang="nl-NL" sz="2000" dirty="0"/>
              <a:t>the </a:t>
            </a:r>
            <a:r>
              <a:rPr lang="nl-NL" sz="2000" dirty="0" err="1"/>
              <a:t>world</a:t>
            </a:r>
            <a:r>
              <a:rPr lang="nl-NL" sz="2000" dirty="0"/>
              <a:t>, we </a:t>
            </a:r>
            <a:r>
              <a:rPr lang="nl-NL" sz="2000" b="1" dirty="0" err="1"/>
              <a:t>would</a:t>
            </a:r>
            <a:r>
              <a:rPr lang="nl-NL" sz="2000" b="1" dirty="0"/>
              <a:t> have</a:t>
            </a:r>
            <a:r>
              <a:rPr lang="nl-NL" sz="2000" dirty="0"/>
              <a:t> 4 </a:t>
            </a:r>
            <a:r>
              <a:rPr lang="nl-NL" sz="2000" dirty="0" err="1"/>
              <a:t>day</a:t>
            </a:r>
            <a:r>
              <a:rPr lang="nl-NL" sz="2000" dirty="0"/>
              <a:t>-weekends</a:t>
            </a:r>
          </a:p>
          <a:p>
            <a:pPr marL="366713" lvl="1" indent="0">
              <a:buNone/>
            </a:pPr>
            <a:endParaRPr lang="nl-NL" sz="2000" dirty="0"/>
          </a:p>
          <a:p>
            <a:pPr marL="366713" lvl="1" indent="0">
              <a:buNone/>
            </a:pPr>
            <a:endParaRPr lang="nl-NL" sz="2000" dirty="0"/>
          </a:p>
          <a:p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it</a:t>
            </a:r>
            <a:r>
              <a:rPr lang="nl-NL" sz="2400" dirty="0"/>
              <a:t> in </a:t>
            </a:r>
            <a:r>
              <a:rPr lang="nl-NL" sz="2400" dirty="0" err="1"/>
              <a:t>this</a:t>
            </a:r>
            <a:r>
              <a:rPr lang="nl-NL" sz="2400" dirty="0"/>
              <a:t> way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always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b="1" dirty="0" err="1"/>
              <a:t>were</a:t>
            </a:r>
            <a:r>
              <a:rPr lang="nl-NL" sz="2400" dirty="0"/>
              <a:t> as the past form of (</a:t>
            </a:r>
            <a:r>
              <a:rPr lang="nl-NL" sz="2400" dirty="0" err="1"/>
              <a:t>to</a:t>
            </a:r>
            <a:r>
              <a:rPr lang="nl-NL" sz="2400" dirty="0"/>
              <a:t>) </a:t>
            </a:r>
            <a:r>
              <a:rPr lang="nl-NL" sz="2400" dirty="0" err="1"/>
              <a:t>be</a:t>
            </a:r>
            <a:r>
              <a:rPr lang="nl-NL" sz="2400" dirty="0"/>
              <a:t> (</a:t>
            </a:r>
            <a:r>
              <a:rPr lang="nl-NL" sz="2400" dirty="0" err="1"/>
              <a:t>not</a:t>
            </a:r>
            <a:r>
              <a:rPr lang="nl-NL" sz="2400" dirty="0"/>
              <a:t> </a:t>
            </a:r>
            <a:r>
              <a:rPr lang="nl-NL" sz="2400" b="1" dirty="0"/>
              <a:t>was)</a:t>
            </a:r>
          </a:p>
          <a:p>
            <a:pPr lvl="1"/>
            <a:r>
              <a:rPr lang="nl-NL" sz="2000" dirty="0" err="1"/>
              <a:t>If</a:t>
            </a:r>
            <a:r>
              <a:rPr lang="nl-NL" sz="2000" dirty="0"/>
              <a:t> I </a:t>
            </a:r>
            <a:r>
              <a:rPr lang="nl-NL" sz="2000" b="1" dirty="0" err="1"/>
              <a:t>were</a:t>
            </a:r>
            <a:r>
              <a:rPr lang="nl-NL" sz="2000" dirty="0"/>
              <a:t> a wizard, I </a:t>
            </a:r>
            <a:r>
              <a:rPr lang="nl-NL" sz="2000" b="1" dirty="0" err="1"/>
              <a:t>would</a:t>
            </a:r>
            <a:r>
              <a:rPr lang="nl-NL" sz="2000" b="1" dirty="0"/>
              <a:t> go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Hogwarts</a:t>
            </a:r>
            <a:r>
              <a:rPr lang="nl-NL" sz="2000" dirty="0"/>
              <a:t>.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7" name="Rectangle 1229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nl-NL" sz="4700"/>
              <a:t>Type 1 and 2 compared</a:t>
            </a:r>
            <a:endParaRPr lang="en-US" sz="4700"/>
          </a:p>
        </p:txBody>
      </p:sp>
      <p:pic>
        <p:nvPicPr>
          <p:cNvPr id="12293" name="Picture 12292" descr="Glasses on top of a book">
            <a:extLst>
              <a:ext uri="{FF2B5EF4-FFF2-40B4-BE49-F238E27FC236}">
                <a16:creationId xmlns:a16="http://schemas.microsoft.com/office/drawing/2014/main" id="{A546B029-CB56-E183-2CD7-E6C2D84E5F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462" r="45794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29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  <a:gd name="connsiteX0" fmla="*/ 0 w 3182692"/>
              <a:gd name="connsiteY0" fmla="*/ 0 h 18288"/>
              <a:gd name="connsiteX1" fmla="*/ 572885 w 3182692"/>
              <a:gd name="connsiteY1" fmla="*/ 0 h 18288"/>
              <a:gd name="connsiteX2" fmla="*/ 1113942 w 3182692"/>
              <a:gd name="connsiteY2" fmla="*/ 0 h 18288"/>
              <a:gd name="connsiteX3" fmla="*/ 1686827 w 3182692"/>
              <a:gd name="connsiteY3" fmla="*/ 0 h 18288"/>
              <a:gd name="connsiteX4" fmla="*/ 2323365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04711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25870" y="33585"/>
                  <a:pt x="418138" y="17639"/>
                  <a:pt x="636538" y="0"/>
                </a:cubicBezTo>
                <a:cubicBezTo>
                  <a:pt x="865372" y="-3887"/>
                  <a:pt x="1010746" y="-18166"/>
                  <a:pt x="1273077" y="0"/>
                </a:cubicBezTo>
                <a:cubicBezTo>
                  <a:pt x="1527846" y="-24408"/>
                  <a:pt x="1703704" y="-36055"/>
                  <a:pt x="1909615" y="0"/>
                </a:cubicBezTo>
                <a:cubicBezTo>
                  <a:pt x="2119487" y="1667"/>
                  <a:pt x="2200543" y="-19343"/>
                  <a:pt x="2482500" y="0"/>
                </a:cubicBezTo>
                <a:cubicBezTo>
                  <a:pt x="2736775" y="57438"/>
                  <a:pt x="2997998" y="-48885"/>
                  <a:pt x="3182692" y="0"/>
                </a:cubicBezTo>
                <a:cubicBezTo>
                  <a:pt x="3182658" y="4844"/>
                  <a:pt x="3182282" y="11009"/>
                  <a:pt x="3182692" y="18288"/>
                </a:cubicBezTo>
                <a:cubicBezTo>
                  <a:pt x="2944477" y="15825"/>
                  <a:pt x="2868931" y="12370"/>
                  <a:pt x="2609807" y="18288"/>
                </a:cubicBezTo>
                <a:cubicBezTo>
                  <a:pt x="2341556" y="6193"/>
                  <a:pt x="2324113" y="22706"/>
                  <a:pt x="2068750" y="18288"/>
                </a:cubicBezTo>
                <a:cubicBezTo>
                  <a:pt x="1817163" y="7852"/>
                  <a:pt x="1716254" y="25979"/>
                  <a:pt x="1432211" y="18288"/>
                </a:cubicBezTo>
                <a:cubicBezTo>
                  <a:pt x="1164747" y="-28137"/>
                  <a:pt x="993140" y="27575"/>
                  <a:pt x="859327" y="18288"/>
                </a:cubicBezTo>
                <a:cubicBezTo>
                  <a:pt x="750703" y="-24974"/>
                  <a:pt x="236193" y="38731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24421" y="-39331"/>
                  <a:pt x="418777" y="11439"/>
                  <a:pt x="572885" y="0"/>
                </a:cubicBezTo>
                <a:cubicBezTo>
                  <a:pt x="750333" y="-6388"/>
                  <a:pt x="940592" y="15806"/>
                  <a:pt x="1113942" y="0"/>
                </a:cubicBezTo>
                <a:cubicBezTo>
                  <a:pt x="1322785" y="-1777"/>
                  <a:pt x="1505363" y="28230"/>
                  <a:pt x="1686827" y="0"/>
                </a:cubicBezTo>
                <a:cubicBezTo>
                  <a:pt x="1853304" y="1595"/>
                  <a:pt x="2194652" y="-1232"/>
                  <a:pt x="2323365" y="0"/>
                </a:cubicBezTo>
                <a:cubicBezTo>
                  <a:pt x="2488732" y="36406"/>
                  <a:pt x="2902093" y="-40336"/>
                  <a:pt x="3182692" y="0"/>
                </a:cubicBezTo>
                <a:cubicBezTo>
                  <a:pt x="3182167" y="5049"/>
                  <a:pt x="3182885" y="12044"/>
                  <a:pt x="3182692" y="18288"/>
                </a:cubicBezTo>
                <a:cubicBezTo>
                  <a:pt x="3012563" y="-37820"/>
                  <a:pt x="2765409" y="35618"/>
                  <a:pt x="2546154" y="18288"/>
                </a:cubicBezTo>
                <a:cubicBezTo>
                  <a:pt x="2333381" y="13914"/>
                  <a:pt x="2154438" y="9838"/>
                  <a:pt x="1845961" y="18288"/>
                </a:cubicBezTo>
                <a:cubicBezTo>
                  <a:pt x="1531509" y="33812"/>
                  <a:pt x="1456631" y="-6606"/>
                  <a:pt x="1304904" y="18288"/>
                </a:cubicBezTo>
                <a:cubicBezTo>
                  <a:pt x="1168344" y="36351"/>
                  <a:pt x="928499" y="15047"/>
                  <a:pt x="604711" y="18288"/>
                </a:cubicBezTo>
                <a:cubicBezTo>
                  <a:pt x="285438" y="38007"/>
                  <a:pt x="116029" y="-2220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245832" y="29445"/>
                  <a:pt x="388924" y="-28919"/>
                  <a:pt x="636538" y="0"/>
                </a:cubicBezTo>
                <a:cubicBezTo>
                  <a:pt x="854919" y="4634"/>
                  <a:pt x="991654" y="8864"/>
                  <a:pt x="1273077" y="0"/>
                </a:cubicBezTo>
                <a:cubicBezTo>
                  <a:pt x="1566644" y="-14667"/>
                  <a:pt x="1666526" y="3717"/>
                  <a:pt x="1909615" y="0"/>
                </a:cubicBezTo>
                <a:cubicBezTo>
                  <a:pt x="2138795" y="27220"/>
                  <a:pt x="2225506" y="-13892"/>
                  <a:pt x="2482500" y="0"/>
                </a:cubicBezTo>
                <a:cubicBezTo>
                  <a:pt x="2775583" y="32183"/>
                  <a:pt x="3003218" y="-43687"/>
                  <a:pt x="3182692" y="0"/>
                </a:cubicBezTo>
                <a:cubicBezTo>
                  <a:pt x="3183006" y="4158"/>
                  <a:pt x="3181713" y="12539"/>
                  <a:pt x="3182692" y="18288"/>
                </a:cubicBezTo>
                <a:cubicBezTo>
                  <a:pt x="2959845" y="25574"/>
                  <a:pt x="2868929" y="24980"/>
                  <a:pt x="2609807" y="18288"/>
                </a:cubicBezTo>
                <a:cubicBezTo>
                  <a:pt x="2341405" y="5992"/>
                  <a:pt x="2328488" y="20436"/>
                  <a:pt x="2068750" y="18288"/>
                </a:cubicBezTo>
                <a:cubicBezTo>
                  <a:pt x="1816113" y="2395"/>
                  <a:pt x="1699345" y="36855"/>
                  <a:pt x="1432211" y="18288"/>
                </a:cubicBezTo>
                <a:cubicBezTo>
                  <a:pt x="1148381" y="-28184"/>
                  <a:pt x="987622" y="2403"/>
                  <a:pt x="859327" y="18288"/>
                </a:cubicBezTo>
                <a:cubicBezTo>
                  <a:pt x="743387" y="37422"/>
                  <a:pt x="194182" y="1878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36538 w 3182692"/>
                      <a:gd name="connsiteY1" fmla="*/ 0 h 18288"/>
                      <a:gd name="connsiteX2" fmla="*/ 1273077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482500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609807 w 3182692"/>
                      <a:gd name="connsiteY7" fmla="*/ 18288 h 18288"/>
                      <a:gd name="connsiteX8" fmla="*/ 2068750 w 3182692"/>
                      <a:gd name="connsiteY8" fmla="*/ 18288 h 18288"/>
                      <a:gd name="connsiteX9" fmla="*/ 1432211 w 3182692"/>
                      <a:gd name="connsiteY9" fmla="*/ 18288 h 18288"/>
                      <a:gd name="connsiteX10" fmla="*/ 859327 w 3182692"/>
                      <a:gd name="connsiteY10" fmla="*/ 18288 h 18288"/>
                      <a:gd name="connsiteX11" fmla="*/ 0 w 3182692"/>
                      <a:gd name="connsiteY11" fmla="*/ 18288 h 18288"/>
                      <a:gd name="connsiteX12" fmla="*/ 0 w 3182692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253588" y="25878"/>
                          <a:pt x="409323" y="-5359"/>
                          <a:pt x="636538" y="0"/>
                        </a:cubicBezTo>
                        <a:cubicBezTo>
                          <a:pt x="863753" y="5359"/>
                          <a:pt x="1007727" y="-28"/>
                          <a:pt x="1273077" y="0"/>
                        </a:cubicBezTo>
                        <a:cubicBezTo>
                          <a:pt x="1538427" y="28"/>
                          <a:pt x="1698640" y="-12775"/>
                          <a:pt x="1909615" y="0"/>
                        </a:cubicBezTo>
                        <a:cubicBezTo>
                          <a:pt x="2120590" y="12775"/>
                          <a:pt x="2210293" y="-21823"/>
                          <a:pt x="2482500" y="0"/>
                        </a:cubicBezTo>
                        <a:cubicBezTo>
                          <a:pt x="2754708" y="21823"/>
                          <a:pt x="3004133" y="-28750"/>
                          <a:pt x="3182692" y="0"/>
                        </a:cubicBezTo>
                        <a:cubicBezTo>
                          <a:pt x="3183134" y="4516"/>
                          <a:pt x="3181865" y="12266"/>
                          <a:pt x="3182692" y="18288"/>
                        </a:cubicBezTo>
                        <a:cubicBezTo>
                          <a:pt x="2947402" y="22440"/>
                          <a:pt x="2876226" y="27191"/>
                          <a:pt x="2609807" y="18288"/>
                        </a:cubicBezTo>
                        <a:cubicBezTo>
                          <a:pt x="2343389" y="9385"/>
                          <a:pt x="2326689" y="25579"/>
                          <a:pt x="2068750" y="18288"/>
                        </a:cubicBezTo>
                        <a:cubicBezTo>
                          <a:pt x="1810811" y="10997"/>
                          <a:pt x="1713836" y="48219"/>
                          <a:pt x="1432211" y="18288"/>
                        </a:cubicBezTo>
                        <a:cubicBezTo>
                          <a:pt x="1150586" y="-11643"/>
                          <a:pt x="982765" y="3747"/>
                          <a:pt x="859327" y="18288"/>
                        </a:cubicBezTo>
                        <a:cubicBezTo>
                          <a:pt x="735889" y="32829"/>
                          <a:pt x="254183" y="35231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43108" y="-22426"/>
                          <a:pt x="387854" y="22949"/>
                          <a:pt x="572885" y="0"/>
                        </a:cubicBezTo>
                        <a:cubicBezTo>
                          <a:pt x="757916" y="-22949"/>
                          <a:pt x="923707" y="6797"/>
                          <a:pt x="1113942" y="0"/>
                        </a:cubicBezTo>
                        <a:cubicBezTo>
                          <a:pt x="1304177" y="-6797"/>
                          <a:pt x="1495991" y="20627"/>
                          <a:pt x="1686827" y="0"/>
                        </a:cubicBezTo>
                        <a:cubicBezTo>
                          <a:pt x="1877663" y="-20627"/>
                          <a:pt x="2170182" y="-20672"/>
                          <a:pt x="2323365" y="0"/>
                        </a:cubicBezTo>
                        <a:cubicBezTo>
                          <a:pt x="2476548" y="20672"/>
                          <a:pt x="2919164" y="6097"/>
                          <a:pt x="3182692" y="0"/>
                        </a:cubicBezTo>
                        <a:cubicBezTo>
                          <a:pt x="3183269" y="4624"/>
                          <a:pt x="3183511" y="11191"/>
                          <a:pt x="3182692" y="18288"/>
                        </a:cubicBezTo>
                        <a:cubicBezTo>
                          <a:pt x="3026065" y="-10849"/>
                          <a:pt x="2775006" y="23067"/>
                          <a:pt x="2546154" y="18288"/>
                        </a:cubicBezTo>
                        <a:cubicBezTo>
                          <a:pt x="2317302" y="13509"/>
                          <a:pt x="2168173" y="-8513"/>
                          <a:pt x="1845961" y="18288"/>
                        </a:cubicBezTo>
                        <a:cubicBezTo>
                          <a:pt x="1523749" y="45089"/>
                          <a:pt x="1450078" y="-844"/>
                          <a:pt x="1304904" y="18288"/>
                        </a:cubicBezTo>
                        <a:cubicBezTo>
                          <a:pt x="1159730" y="37420"/>
                          <a:pt x="942635" y="-10021"/>
                          <a:pt x="604711" y="18288"/>
                        </a:cubicBezTo>
                        <a:cubicBezTo>
                          <a:pt x="266787" y="46597"/>
                          <a:pt x="141927" y="-8395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3635897" y="2706624"/>
            <a:ext cx="5025758" cy="348386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900" dirty="0"/>
              <a:t>If he </a:t>
            </a:r>
            <a:r>
              <a:rPr lang="en-GB" sz="1900" b="1" dirty="0"/>
              <a:t>works</a:t>
            </a:r>
            <a:r>
              <a:rPr lang="en-GB" sz="1900" dirty="0"/>
              <a:t> hard he </a:t>
            </a:r>
            <a:r>
              <a:rPr lang="en-GB" sz="1900" b="1" dirty="0"/>
              <a:t>will pass </a:t>
            </a:r>
            <a:r>
              <a:rPr lang="en-GB" sz="1900" dirty="0"/>
              <a:t>his exam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n-GB" sz="1900" dirty="0"/>
              <a:t>In the first example you are talking about an active student who is likely to work hard (and therefore pass the exam)</a:t>
            </a:r>
          </a:p>
          <a:p>
            <a:pPr marL="292608" lvl="1" indent="0">
              <a:buNone/>
            </a:pPr>
            <a:endParaRPr lang="en-GB" sz="1900" dirty="0"/>
          </a:p>
          <a:p>
            <a:pPr marL="514350" indent="-514350">
              <a:buFont typeface="+mj-lt"/>
              <a:buAutoNum type="arabicPeriod"/>
            </a:pPr>
            <a:r>
              <a:rPr lang="en-GB" sz="1900" dirty="0"/>
              <a:t>If he </a:t>
            </a:r>
            <a:r>
              <a:rPr lang="en-GB" sz="1900" b="1" dirty="0"/>
              <a:t>worked</a:t>
            </a:r>
            <a:r>
              <a:rPr lang="en-GB" sz="1900" dirty="0"/>
              <a:t> hard he </a:t>
            </a:r>
            <a:r>
              <a:rPr lang="en-GB" sz="1900" b="1" dirty="0"/>
              <a:t>would pass</a:t>
            </a:r>
            <a:r>
              <a:rPr lang="en-GB" sz="1900" dirty="0"/>
              <a:t> his exam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n-GB" sz="1900" dirty="0"/>
              <a:t>In the second example you are talking about a student who is unlikely to work hard for whatever reason (and therefore unlikely to pass his exam)</a:t>
            </a:r>
          </a:p>
          <a:p>
            <a:pPr marL="806958" lvl="1" indent="-514350">
              <a:buFont typeface="+mj-lt"/>
              <a:buAutoNum type="arabicPeriod"/>
            </a:pPr>
            <a:endParaRPr lang="en-GB" sz="1900" dirty="0"/>
          </a:p>
          <a:p>
            <a:pPr marL="0" indent="0">
              <a:buNone/>
            </a:pPr>
            <a:endParaRPr lang="en-GB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nl-NL" sz="3500"/>
              <a:t>Type 3 </a:t>
            </a:r>
            <a:endParaRPr lang="en-US" sz="350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idx="1"/>
          </p:nvPr>
        </p:nvSpPr>
        <p:spPr>
          <a:xfrm>
            <a:off x="571350" y="1700808"/>
            <a:ext cx="4000647" cy="4539271"/>
          </a:xfrm>
        </p:spPr>
        <p:txBody>
          <a:bodyPr anchor="ctr">
            <a:normAutofit/>
          </a:bodyPr>
          <a:lstStyle/>
          <a:p>
            <a:r>
              <a:rPr lang="nl-NL" sz="1700" dirty="0"/>
              <a:t>“</a:t>
            </a:r>
            <a:r>
              <a:rPr lang="nl-NL" sz="1700" dirty="0" err="1"/>
              <a:t>If</a:t>
            </a:r>
            <a:r>
              <a:rPr lang="nl-NL" sz="1700" dirty="0"/>
              <a:t> </a:t>
            </a:r>
            <a:r>
              <a:rPr lang="nl-NL" sz="1700" dirty="0" err="1"/>
              <a:t>she</a:t>
            </a:r>
            <a:r>
              <a:rPr lang="nl-NL" sz="1700" dirty="0"/>
              <a:t> </a:t>
            </a:r>
            <a:r>
              <a:rPr lang="nl-NL" sz="1700" b="1" dirty="0"/>
              <a:t>had taken </a:t>
            </a:r>
            <a:r>
              <a:rPr lang="nl-NL" sz="1700" dirty="0"/>
              <a:t>a taxi, </a:t>
            </a:r>
            <a:r>
              <a:rPr lang="nl-NL" sz="1700" dirty="0" err="1"/>
              <a:t>she</a:t>
            </a:r>
            <a:r>
              <a:rPr lang="nl-NL" sz="1700" dirty="0"/>
              <a:t> </a:t>
            </a:r>
            <a:r>
              <a:rPr lang="nl-NL" sz="1700" b="1" dirty="0" err="1"/>
              <a:t>would</a:t>
            </a:r>
            <a:r>
              <a:rPr lang="nl-NL" sz="1700" dirty="0"/>
              <a:t> have </a:t>
            </a:r>
            <a:r>
              <a:rPr lang="nl-NL" sz="1700" b="1" dirty="0"/>
              <a:t>been</a:t>
            </a:r>
            <a:r>
              <a:rPr lang="nl-NL" sz="1700" dirty="0"/>
              <a:t> </a:t>
            </a:r>
            <a:r>
              <a:rPr lang="nl-NL" sz="1700" dirty="0" err="1"/>
              <a:t>there</a:t>
            </a:r>
            <a:r>
              <a:rPr lang="nl-NL" sz="1700" dirty="0"/>
              <a:t> in time.”</a:t>
            </a:r>
          </a:p>
          <a:p>
            <a:pPr marL="0" indent="0">
              <a:buNone/>
            </a:pPr>
            <a:endParaRPr lang="nl-NL" sz="1700" dirty="0"/>
          </a:p>
          <a:p>
            <a:r>
              <a:rPr lang="nl-NL" sz="1700" dirty="0"/>
              <a:t>The past form </a:t>
            </a:r>
            <a:r>
              <a:rPr lang="nl-NL" sz="1700" dirty="0" err="1"/>
              <a:t>with</a:t>
            </a:r>
            <a:r>
              <a:rPr lang="nl-NL" sz="1700" dirty="0"/>
              <a:t> had (had taken) in </a:t>
            </a:r>
            <a:r>
              <a:rPr lang="nl-NL" sz="1700" dirty="0" err="1"/>
              <a:t>the</a:t>
            </a:r>
            <a:r>
              <a:rPr lang="nl-NL" sz="1700" dirty="0"/>
              <a:t> </a:t>
            </a:r>
            <a:r>
              <a:rPr lang="nl-NL" sz="1700" dirty="0" err="1"/>
              <a:t>if</a:t>
            </a:r>
            <a:r>
              <a:rPr lang="nl-NL" sz="1700" dirty="0"/>
              <a:t> part</a:t>
            </a:r>
          </a:p>
          <a:p>
            <a:pPr marL="0" indent="0">
              <a:buNone/>
            </a:pPr>
            <a:endParaRPr lang="nl-NL" sz="1700" dirty="0"/>
          </a:p>
          <a:p>
            <a:r>
              <a:rPr lang="nl-NL" sz="1700" dirty="0" err="1"/>
              <a:t>This</a:t>
            </a:r>
            <a:r>
              <a:rPr lang="nl-NL" sz="1700" dirty="0"/>
              <a:t> </a:t>
            </a:r>
            <a:r>
              <a:rPr lang="nl-NL" sz="1700" dirty="0" err="1"/>
              <a:t>indicates</a:t>
            </a:r>
            <a:r>
              <a:rPr lang="nl-NL" sz="1700" dirty="0"/>
              <a:t> </a:t>
            </a:r>
            <a:r>
              <a:rPr lang="nl-NL" sz="1700" dirty="0" err="1"/>
              <a:t>you</a:t>
            </a:r>
            <a:r>
              <a:rPr lang="nl-NL" sz="1700" dirty="0"/>
              <a:t> are </a:t>
            </a:r>
            <a:r>
              <a:rPr lang="nl-NL" sz="1700" u="sng" dirty="0" err="1"/>
              <a:t>talking</a:t>
            </a:r>
            <a:r>
              <a:rPr lang="nl-NL" sz="1700" u="sng" dirty="0"/>
              <a:t> </a:t>
            </a:r>
            <a:r>
              <a:rPr lang="nl-NL" sz="1700" u="sng" dirty="0" err="1"/>
              <a:t>about</a:t>
            </a:r>
            <a:r>
              <a:rPr lang="nl-NL" sz="1700" u="sng" dirty="0"/>
              <a:t> </a:t>
            </a:r>
            <a:r>
              <a:rPr lang="nl-NL" sz="1700" u="sng" dirty="0" err="1"/>
              <a:t>the</a:t>
            </a:r>
            <a:r>
              <a:rPr lang="nl-NL" sz="1700" u="sng" dirty="0"/>
              <a:t> past</a:t>
            </a:r>
            <a:r>
              <a:rPr lang="nl-NL" sz="1700" dirty="0"/>
              <a:t>, </a:t>
            </a:r>
            <a:r>
              <a:rPr lang="nl-NL" sz="1700" dirty="0" err="1"/>
              <a:t>so</a:t>
            </a:r>
            <a:r>
              <a:rPr lang="nl-NL" sz="1700" dirty="0"/>
              <a:t> </a:t>
            </a:r>
            <a:r>
              <a:rPr lang="nl-NL" sz="1700" dirty="0" err="1"/>
              <a:t>she</a:t>
            </a:r>
            <a:r>
              <a:rPr lang="nl-NL" sz="1700" dirty="0"/>
              <a:t> </a:t>
            </a:r>
            <a:r>
              <a:rPr lang="nl-NL" sz="1700" b="1" dirty="0" err="1"/>
              <a:t>can’t</a:t>
            </a:r>
            <a:r>
              <a:rPr lang="nl-NL" sz="1700" b="1" dirty="0"/>
              <a:t> take a taxi </a:t>
            </a:r>
            <a:r>
              <a:rPr lang="nl-NL" sz="1700" b="1" dirty="0" err="1"/>
              <a:t>anymore</a:t>
            </a:r>
            <a:endParaRPr lang="nl-NL" sz="1700" b="1" dirty="0"/>
          </a:p>
          <a:p>
            <a:r>
              <a:rPr lang="nl-NL" sz="1700" dirty="0" err="1"/>
              <a:t>You</a:t>
            </a:r>
            <a:r>
              <a:rPr lang="nl-NL" sz="1700" dirty="0"/>
              <a:t> </a:t>
            </a:r>
            <a:r>
              <a:rPr lang="nl-NL" sz="1700" dirty="0" err="1"/>
              <a:t>can</a:t>
            </a:r>
            <a:r>
              <a:rPr lang="nl-NL" sz="1700" dirty="0"/>
              <a:t> </a:t>
            </a:r>
            <a:r>
              <a:rPr lang="nl-NL" sz="1700" b="1" dirty="0" err="1"/>
              <a:t>speculate</a:t>
            </a:r>
            <a:r>
              <a:rPr lang="nl-NL" sz="1700" dirty="0"/>
              <a:t> </a:t>
            </a:r>
            <a:r>
              <a:rPr lang="nl-NL" sz="1700" dirty="0" err="1"/>
              <a:t>about</a:t>
            </a:r>
            <a:r>
              <a:rPr lang="nl-NL" sz="1700" dirty="0"/>
              <a:t> </a:t>
            </a:r>
            <a:r>
              <a:rPr lang="nl-NL" sz="1700" dirty="0" err="1"/>
              <a:t>what</a:t>
            </a:r>
            <a:r>
              <a:rPr lang="nl-NL" sz="1700" dirty="0"/>
              <a:t> </a:t>
            </a:r>
            <a:r>
              <a:rPr lang="nl-NL" sz="1700" dirty="0" err="1"/>
              <a:t>if</a:t>
            </a:r>
            <a:r>
              <a:rPr lang="nl-NL" sz="1700" dirty="0"/>
              <a:t> </a:t>
            </a:r>
            <a:r>
              <a:rPr lang="nl-NL" sz="1700" dirty="0" err="1"/>
              <a:t>she</a:t>
            </a:r>
            <a:r>
              <a:rPr lang="nl-NL" sz="1700" dirty="0"/>
              <a:t> had</a:t>
            </a:r>
          </a:p>
          <a:p>
            <a:r>
              <a:rPr lang="nl-NL" sz="1700" dirty="0" err="1"/>
              <a:t>This</a:t>
            </a:r>
            <a:r>
              <a:rPr lang="nl-NL" sz="1700" dirty="0"/>
              <a:t> is </a:t>
            </a:r>
            <a:r>
              <a:rPr lang="nl-NL" sz="1700" dirty="0" err="1"/>
              <a:t>indicated</a:t>
            </a:r>
            <a:r>
              <a:rPr lang="nl-NL" sz="1700" dirty="0"/>
              <a:t> </a:t>
            </a:r>
            <a:r>
              <a:rPr lang="nl-NL" sz="1700" dirty="0" err="1"/>
              <a:t>by</a:t>
            </a:r>
            <a:r>
              <a:rPr lang="nl-NL" sz="1700" dirty="0"/>
              <a:t> </a:t>
            </a:r>
            <a:r>
              <a:rPr lang="nl-NL" sz="1700" dirty="0" err="1"/>
              <a:t>would</a:t>
            </a:r>
            <a:r>
              <a:rPr lang="nl-NL" sz="1700" dirty="0"/>
              <a:t> have + </a:t>
            </a:r>
            <a:r>
              <a:rPr lang="nl-NL" sz="1700" dirty="0" err="1"/>
              <a:t>verb</a:t>
            </a:r>
            <a:r>
              <a:rPr lang="nl-NL" sz="1700" dirty="0"/>
              <a:t> + </a:t>
            </a:r>
            <a:r>
              <a:rPr lang="nl-NL" sz="1700" dirty="0" err="1"/>
              <a:t>ed</a:t>
            </a:r>
            <a:r>
              <a:rPr lang="nl-NL" sz="1700" dirty="0"/>
              <a:t> (</a:t>
            </a:r>
            <a:r>
              <a:rPr lang="nl-NL" sz="1700" dirty="0" err="1"/>
              <a:t>for</a:t>
            </a:r>
            <a:r>
              <a:rPr lang="nl-NL" sz="1700" dirty="0"/>
              <a:t> </a:t>
            </a:r>
            <a:r>
              <a:rPr lang="nl-NL" sz="1700" dirty="0" err="1"/>
              <a:t>irregular</a:t>
            </a:r>
            <a:r>
              <a:rPr lang="nl-NL" sz="1700" dirty="0"/>
              <a:t> </a:t>
            </a:r>
            <a:r>
              <a:rPr lang="nl-NL" sz="1700" dirty="0" err="1"/>
              <a:t>verbs</a:t>
            </a:r>
            <a:r>
              <a:rPr lang="nl-NL" sz="1700" dirty="0"/>
              <a:t>, 3rd column) </a:t>
            </a:r>
            <a:br>
              <a:rPr lang="en-US" sz="1700" dirty="0"/>
            </a:br>
            <a:endParaRPr lang="en-US" sz="1700" dirty="0"/>
          </a:p>
          <a:p>
            <a:pPr lvl="1"/>
            <a:endParaRPr lang="nl-NL" sz="1700" dirty="0"/>
          </a:p>
        </p:txBody>
      </p:sp>
      <p:pic>
        <p:nvPicPr>
          <p:cNvPr id="16389" name="Picture 16388" descr="A taxi cab sign">
            <a:extLst>
              <a:ext uri="{FF2B5EF4-FFF2-40B4-BE49-F238E27FC236}">
                <a16:creationId xmlns:a16="http://schemas.microsoft.com/office/drawing/2014/main" id="{ACF24361-E8F2-60D2-DF6A-6CEF7D7B20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35" r="42787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nl-NL" sz="4700"/>
              <a:t>Type 1, 2 and 3 compared</a:t>
            </a:r>
            <a:endParaRPr lang="en-US" sz="47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1900" dirty="0"/>
              <a:t>If you </a:t>
            </a:r>
            <a:r>
              <a:rPr lang="en-US" sz="1900" b="1" dirty="0"/>
              <a:t>give</a:t>
            </a:r>
            <a:r>
              <a:rPr lang="en-US" sz="1900" dirty="0"/>
              <a:t> me money, you </a:t>
            </a:r>
            <a:r>
              <a:rPr lang="en-US" sz="1900" b="1" dirty="0"/>
              <a:t>will get </a:t>
            </a:r>
            <a:r>
              <a:rPr lang="en-US" sz="1900" dirty="0"/>
              <a:t>a higher mark.  </a:t>
            </a:r>
            <a:endParaRPr lang="nl-NL" sz="19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1900" dirty="0"/>
              <a:t>If you </a:t>
            </a:r>
            <a:r>
              <a:rPr lang="en-US" sz="1900" b="1" dirty="0"/>
              <a:t>gave</a:t>
            </a:r>
            <a:r>
              <a:rPr lang="en-US" sz="1900" dirty="0"/>
              <a:t> me money, you </a:t>
            </a:r>
            <a:r>
              <a:rPr lang="en-US" sz="1900" b="1" dirty="0"/>
              <a:t>would get </a:t>
            </a:r>
            <a:r>
              <a:rPr lang="en-US" sz="1900" dirty="0"/>
              <a:t>a higher mark.</a:t>
            </a:r>
            <a:endParaRPr lang="nl-NL" sz="19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1900" dirty="0"/>
              <a:t>If you </a:t>
            </a:r>
            <a:r>
              <a:rPr lang="en-US" sz="1900" b="1" dirty="0"/>
              <a:t>had given</a:t>
            </a:r>
            <a:r>
              <a:rPr lang="en-US" sz="1900" dirty="0"/>
              <a:t> me money, you </a:t>
            </a:r>
            <a:r>
              <a:rPr lang="en-US" sz="1900" b="1" dirty="0"/>
              <a:t>would have got </a:t>
            </a:r>
            <a:r>
              <a:rPr lang="en-US" sz="1900" dirty="0"/>
              <a:t>a higher mark. </a:t>
            </a:r>
          </a:p>
          <a:p>
            <a:pPr marL="0" indent="0">
              <a:buNone/>
            </a:pPr>
            <a:endParaRPr lang="nl-NL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nl-NL" sz="4700"/>
              <a:t>Type 1</a:t>
            </a:r>
            <a:endParaRPr lang="en-US" sz="47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hands shaking&#10;&#10;Description automatically generated with medium confidence">
            <a:extLst>
              <a:ext uri="{FF2B5EF4-FFF2-40B4-BE49-F238E27FC236}">
                <a16:creationId xmlns:a16="http://schemas.microsoft.com/office/drawing/2014/main" id="{5B1A3E41-1967-46BE-B8F0-69B6BD62C0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9363" r="37588" b="2"/>
          <a:stretch/>
        </p:blipFill>
        <p:spPr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679466" y="2071316"/>
            <a:ext cx="5035164" cy="4114800"/>
          </a:xfrm>
        </p:spPr>
        <p:txBody>
          <a:bodyPr anchor="t">
            <a:normAutofit/>
          </a:bodyPr>
          <a:lstStyle/>
          <a:p>
            <a:r>
              <a:rPr lang="en-US" sz="2000" dirty="0"/>
              <a:t>If you </a:t>
            </a:r>
            <a:r>
              <a:rPr lang="en-US" sz="2000" b="1" dirty="0"/>
              <a:t>give</a:t>
            </a:r>
            <a:r>
              <a:rPr lang="en-US" sz="2000" dirty="0"/>
              <a:t> me money, you </a:t>
            </a:r>
            <a:r>
              <a:rPr lang="en-US" sz="2000" b="1" dirty="0"/>
              <a:t>will get </a:t>
            </a:r>
            <a:r>
              <a:rPr lang="en-US" sz="2000" dirty="0"/>
              <a:t>a higher mark.</a:t>
            </a:r>
            <a:endParaRPr lang="nl-NL" sz="2000" dirty="0"/>
          </a:p>
          <a:p>
            <a:pPr>
              <a:buFont typeface="Wingdings 2" pitchFamily="18" charset="2"/>
              <a:buNone/>
            </a:pPr>
            <a:endParaRPr lang="en-GB" sz="2000" dirty="0"/>
          </a:p>
          <a:p>
            <a:r>
              <a:rPr lang="en-US" sz="2000" dirty="0"/>
              <a:t>This indicates that you’re likely to give me money and as a result get a higher mark.</a:t>
            </a:r>
            <a:endParaRPr lang="nl-NL" sz="2000" dirty="0"/>
          </a:p>
          <a:p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 2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</a:t>
            </a:r>
            <a:r>
              <a:rPr lang="en-US" b="1" dirty="0"/>
              <a:t>gave</a:t>
            </a:r>
            <a:r>
              <a:rPr lang="en-US" dirty="0"/>
              <a:t> me money, you </a:t>
            </a:r>
            <a:r>
              <a:rPr lang="en-US" b="1" dirty="0"/>
              <a:t>would get </a:t>
            </a:r>
            <a:r>
              <a:rPr lang="en-US" dirty="0"/>
              <a:t>a higher mark.</a:t>
            </a:r>
          </a:p>
          <a:p>
            <a:pPr>
              <a:buFont typeface="Wingdings 2" pitchFamily="18" charset="2"/>
              <a:buNone/>
            </a:pPr>
            <a:endParaRPr lang="en-US" sz="1800" i="1" dirty="0"/>
          </a:p>
          <a:p>
            <a:r>
              <a:rPr lang="en-US" dirty="0"/>
              <a:t>This indicates that you’re unlikely to give me money (and as a result I’m unlikely to give you a higher mark)</a:t>
            </a:r>
            <a:endParaRPr lang="nl-NL" dirty="0"/>
          </a:p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nl-NL" sz="3100" dirty="0"/>
              <a:t>Type 3</a:t>
            </a:r>
            <a:endParaRPr lang="en-US" sz="3100" dirty="0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E47256B9-B95B-C758-2DF0-08503E4CCC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61" b="17975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1720" y="3752850"/>
            <a:ext cx="6730326" cy="245268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If you </a:t>
            </a:r>
            <a:r>
              <a:rPr lang="en-US" sz="2400" b="1" dirty="0"/>
              <a:t>had given</a:t>
            </a:r>
            <a:r>
              <a:rPr lang="en-US" sz="2400" dirty="0"/>
              <a:t> me money, you </a:t>
            </a:r>
            <a:r>
              <a:rPr lang="en-US" sz="2400" b="1" dirty="0"/>
              <a:t>would have received </a:t>
            </a:r>
            <a:r>
              <a:rPr lang="en-US" sz="2400" dirty="0"/>
              <a:t>a higher mark.</a:t>
            </a:r>
          </a:p>
          <a:p>
            <a:endParaRPr lang="en-US" sz="2400" dirty="0"/>
          </a:p>
          <a:p>
            <a:r>
              <a:rPr lang="en-US" sz="2400" dirty="0"/>
              <a:t>This indicates that the exam results are already processed, so the moment to give me money is already over. </a:t>
            </a:r>
            <a:endParaRPr lang="nl-NL" sz="2400" dirty="0"/>
          </a:p>
          <a:p>
            <a:endParaRPr lang="nl-NL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nl-NL" sz="4300" dirty="0" err="1"/>
              <a:t>Giving</a:t>
            </a:r>
            <a:r>
              <a:rPr lang="nl-NL" sz="4300" dirty="0"/>
              <a:t> </a:t>
            </a:r>
            <a:r>
              <a:rPr lang="nl-NL" sz="4300" dirty="0" err="1"/>
              <a:t>teachers</a:t>
            </a:r>
            <a:r>
              <a:rPr lang="nl-NL" sz="4300" dirty="0"/>
              <a:t> money</a:t>
            </a:r>
            <a:endParaRPr lang="en-US" sz="4300" dirty="0"/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  <a:gd name="connsiteX0" fmla="*/ 0 w 2606040"/>
              <a:gd name="connsiteY0" fmla="*/ 0 h 18288"/>
              <a:gd name="connsiteX1" fmla="*/ 599389 w 2606040"/>
              <a:gd name="connsiteY1" fmla="*/ 0 h 18288"/>
              <a:gd name="connsiteX2" fmla="*/ 1303020 w 2606040"/>
              <a:gd name="connsiteY2" fmla="*/ 0 h 18288"/>
              <a:gd name="connsiteX3" fmla="*/ 1876349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80590 w 2606040"/>
              <a:gd name="connsiteY6" fmla="*/ 18288 h 18288"/>
              <a:gd name="connsiteX7" fmla="*/ 1276960 w 2606040"/>
              <a:gd name="connsiteY7" fmla="*/ 18288 h 18288"/>
              <a:gd name="connsiteX8" fmla="*/ 65151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11079" y="-22080"/>
                  <a:pt x="479378" y="-26537"/>
                  <a:pt x="625450" y="0"/>
                </a:cubicBezTo>
                <a:cubicBezTo>
                  <a:pt x="925937" y="-4758"/>
                  <a:pt x="973176" y="15739"/>
                  <a:pt x="1224839" y="0"/>
                </a:cubicBezTo>
                <a:cubicBezTo>
                  <a:pt x="1479663" y="-11328"/>
                  <a:pt x="1566636" y="18697"/>
                  <a:pt x="1824228" y="0"/>
                </a:cubicBezTo>
                <a:cubicBezTo>
                  <a:pt x="2086799" y="-72665"/>
                  <a:pt x="2306223" y="-891"/>
                  <a:pt x="2606040" y="0"/>
                </a:cubicBezTo>
                <a:cubicBezTo>
                  <a:pt x="2606645" y="4461"/>
                  <a:pt x="2607031" y="13181"/>
                  <a:pt x="2606040" y="18288"/>
                </a:cubicBezTo>
                <a:cubicBezTo>
                  <a:pt x="2260204" y="29342"/>
                  <a:pt x="2175708" y="5614"/>
                  <a:pt x="1902409" y="18288"/>
                </a:cubicBezTo>
                <a:cubicBezTo>
                  <a:pt x="1638502" y="41064"/>
                  <a:pt x="1460923" y="-16269"/>
                  <a:pt x="1276960" y="18288"/>
                </a:cubicBezTo>
                <a:cubicBezTo>
                  <a:pt x="1057717" y="14361"/>
                  <a:pt x="867956" y="2320"/>
                  <a:pt x="677570" y="18288"/>
                </a:cubicBezTo>
                <a:cubicBezTo>
                  <a:pt x="457951" y="33373"/>
                  <a:pt x="189752" y="55388"/>
                  <a:pt x="0" y="18288"/>
                </a:cubicBezTo>
                <a:cubicBezTo>
                  <a:pt x="1586" y="13022"/>
                  <a:pt x="-95" y="4569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72759" y="3236"/>
                  <a:pt x="361166" y="-13413"/>
                  <a:pt x="599389" y="0"/>
                </a:cubicBezTo>
                <a:cubicBezTo>
                  <a:pt x="841226" y="37042"/>
                  <a:pt x="968991" y="14587"/>
                  <a:pt x="1303020" y="0"/>
                </a:cubicBezTo>
                <a:cubicBezTo>
                  <a:pt x="1643101" y="-7120"/>
                  <a:pt x="1717813" y="7213"/>
                  <a:pt x="1876349" y="0"/>
                </a:cubicBezTo>
                <a:cubicBezTo>
                  <a:pt x="2036762" y="-14138"/>
                  <a:pt x="2426397" y="-4451"/>
                  <a:pt x="2606040" y="0"/>
                </a:cubicBezTo>
                <a:cubicBezTo>
                  <a:pt x="2606314" y="8448"/>
                  <a:pt x="2606550" y="14527"/>
                  <a:pt x="2606040" y="18288"/>
                </a:cubicBezTo>
                <a:cubicBezTo>
                  <a:pt x="2344840" y="2643"/>
                  <a:pt x="2192043" y="7399"/>
                  <a:pt x="1980590" y="18288"/>
                </a:cubicBezTo>
                <a:cubicBezTo>
                  <a:pt x="1783984" y="-9745"/>
                  <a:pt x="1487673" y="45908"/>
                  <a:pt x="1276960" y="18288"/>
                </a:cubicBezTo>
                <a:cubicBezTo>
                  <a:pt x="1088134" y="-41257"/>
                  <a:pt x="877974" y="49968"/>
                  <a:pt x="651510" y="18288"/>
                </a:cubicBezTo>
                <a:cubicBezTo>
                  <a:pt x="430798" y="-27764"/>
                  <a:pt x="132889" y="-33467"/>
                  <a:pt x="0" y="18288"/>
                </a:cubicBezTo>
                <a:cubicBezTo>
                  <a:pt x="212" y="10845"/>
                  <a:pt x="-833" y="6193"/>
                  <a:pt x="0" y="0"/>
                </a:cubicBezTo>
                <a:close/>
              </a:path>
              <a:path w="2606040" h="18288" fill="none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27712" y="6878"/>
                  <a:pt x="971143" y="7084"/>
                  <a:pt x="1224839" y="0"/>
                </a:cubicBezTo>
                <a:cubicBezTo>
                  <a:pt x="1477775" y="-16815"/>
                  <a:pt x="1569904" y="19146"/>
                  <a:pt x="1824228" y="0"/>
                </a:cubicBezTo>
                <a:cubicBezTo>
                  <a:pt x="2055206" y="24867"/>
                  <a:pt x="2317192" y="-62872"/>
                  <a:pt x="2606040" y="0"/>
                </a:cubicBezTo>
                <a:cubicBezTo>
                  <a:pt x="2606166" y="3680"/>
                  <a:pt x="2606905" y="11461"/>
                  <a:pt x="2606040" y="18288"/>
                </a:cubicBezTo>
                <a:cubicBezTo>
                  <a:pt x="2234648" y="26976"/>
                  <a:pt x="2180202" y="-10361"/>
                  <a:pt x="1902409" y="18288"/>
                </a:cubicBezTo>
                <a:cubicBezTo>
                  <a:pt x="1635562" y="47194"/>
                  <a:pt x="1477339" y="4794"/>
                  <a:pt x="1276960" y="18288"/>
                </a:cubicBezTo>
                <a:cubicBezTo>
                  <a:pt x="1058094" y="66922"/>
                  <a:pt x="904206" y="-20636"/>
                  <a:pt x="677570" y="18288"/>
                </a:cubicBezTo>
                <a:cubicBezTo>
                  <a:pt x="485746" y="14713"/>
                  <a:pt x="195925" y="33005"/>
                  <a:pt x="0" y="18288"/>
                </a:cubicBezTo>
                <a:cubicBezTo>
                  <a:pt x="1168" y="12774"/>
                  <a:pt x="-229" y="374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custGeom>
                    <a:avLst/>
                    <a:gdLst>
                      <a:gd name="connsiteX0" fmla="*/ 0 w 2606040"/>
                      <a:gd name="connsiteY0" fmla="*/ 0 h 18288"/>
                      <a:gd name="connsiteX1" fmla="*/ 625450 w 2606040"/>
                      <a:gd name="connsiteY1" fmla="*/ 0 h 18288"/>
                      <a:gd name="connsiteX2" fmla="*/ 1224839 w 2606040"/>
                      <a:gd name="connsiteY2" fmla="*/ 0 h 18288"/>
                      <a:gd name="connsiteX3" fmla="*/ 1824228 w 2606040"/>
                      <a:gd name="connsiteY3" fmla="*/ 0 h 18288"/>
                      <a:gd name="connsiteX4" fmla="*/ 2606040 w 2606040"/>
                      <a:gd name="connsiteY4" fmla="*/ 0 h 18288"/>
                      <a:gd name="connsiteX5" fmla="*/ 2606040 w 2606040"/>
                      <a:gd name="connsiteY5" fmla="*/ 18288 h 18288"/>
                      <a:gd name="connsiteX6" fmla="*/ 1902409 w 2606040"/>
                      <a:gd name="connsiteY6" fmla="*/ 18288 h 18288"/>
                      <a:gd name="connsiteX7" fmla="*/ 1276960 w 2606040"/>
                      <a:gd name="connsiteY7" fmla="*/ 18288 h 18288"/>
                      <a:gd name="connsiteX8" fmla="*/ 677570 w 2606040"/>
                      <a:gd name="connsiteY8" fmla="*/ 18288 h 18288"/>
                      <a:gd name="connsiteX9" fmla="*/ 0 w 2606040"/>
                      <a:gd name="connsiteY9" fmla="*/ 18288 h 18288"/>
                      <a:gd name="connsiteX10" fmla="*/ 0 w 2606040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06040" h="18288" fill="none" extrusionOk="0">
                        <a:moveTo>
                          <a:pt x="0" y="0"/>
                        </a:moveTo>
                        <a:cubicBezTo>
                          <a:pt x="266776" y="-600"/>
                          <a:pt x="322756" y="3201"/>
                          <a:pt x="625450" y="0"/>
                        </a:cubicBezTo>
                        <a:cubicBezTo>
                          <a:pt x="928144" y="-3201"/>
                          <a:pt x="968141" y="9269"/>
                          <a:pt x="1224839" y="0"/>
                        </a:cubicBezTo>
                        <a:cubicBezTo>
                          <a:pt x="1481537" y="-9269"/>
                          <a:pt x="1569059" y="21947"/>
                          <a:pt x="1824228" y="0"/>
                        </a:cubicBezTo>
                        <a:cubicBezTo>
                          <a:pt x="2079397" y="-21947"/>
                          <a:pt x="2326053" y="-10194"/>
                          <a:pt x="2606040" y="0"/>
                        </a:cubicBezTo>
                        <a:cubicBezTo>
                          <a:pt x="2605462" y="4771"/>
                          <a:pt x="2606793" y="12323"/>
                          <a:pt x="2606040" y="18288"/>
                        </a:cubicBezTo>
                        <a:cubicBezTo>
                          <a:pt x="2256758" y="31410"/>
                          <a:pt x="2173673" y="-12878"/>
                          <a:pt x="1902409" y="18288"/>
                        </a:cubicBezTo>
                        <a:cubicBezTo>
                          <a:pt x="1631145" y="49454"/>
                          <a:pt x="1461378" y="5466"/>
                          <a:pt x="1276960" y="18288"/>
                        </a:cubicBezTo>
                        <a:cubicBezTo>
                          <a:pt x="1092542" y="31110"/>
                          <a:pt x="890442" y="13213"/>
                          <a:pt x="677570" y="18288"/>
                        </a:cubicBezTo>
                        <a:cubicBezTo>
                          <a:pt x="464698" y="23364"/>
                          <a:pt x="187648" y="35837"/>
                          <a:pt x="0" y="18288"/>
                        </a:cubicBezTo>
                        <a:cubicBezTo>
                          <a:pt x="841" y="12879"/>
                          <a:pt x="-726" y="3977"/>
                          <a:pt x="0" y="0"/>
                        </a:cubicBezTo>
                        <a:close/>
                      </a:path>
                      <a:path w="2606040" h="18288" stroke="0" extrusionOk="0">
                        <a:moveTo>
                          <a:pt x="0" y="0"/>
                        </a:moveTo>
                        <a:cubicBezTo>
                          <a:pt x="197231" y="3803"/>
                          <a:pt x="358914" y="-9291"/>
                          <a:pt x="599389" y="0"/>
                        </a:cubicBezTo>
                        <a:cubicBezTo>
                          <a:pt x="839864" y="9291"/>
                          <a:pt x="979371" y="8509"/>
                          <a:pt x="1303020" y="0"/>
                        </a:cubicBezTo>
                        <a:cubicBezTo>
                          <a:pt x="1626669" y="-8509"/>
                          <a:pt x="1726300" y="7440"/>
                          <a:pt x="1876349" y="0"/>
                        </a:cubicBezTo>
                        <a:cubicBezTo>
                          <a:pt x="2026398" y="-7440"/>
                          <a:pt x="2430712" y="17957"/>
                          <a:pt x="2606040" y="0"/>
                        </a:cubicBezTo>
                        <a:cubicBezTo>
                          <a:pt x="2605426" y="8857"/>
                          <a:pt x="2606544" y="13619"/>
                          <a:pt x="2606040" y="18288"/>
                        </a:cubicBezTo>
                        <a:cubicBezTo>
                          <a:pt x="2393024" y="2241"/>
                          <a:pt x="2191161" y="39259"/>
                          <a:pt x="1980590" y="18288"/>
                        </a:cubicBezTo>
                        <a:cubicBezTo>
                          <a:pt x="1770019" y="-2683"/>
                          <a:pt x="1476440" y="36114"/>
                          <a:pt x="1276960" y="18288"/>
                        </a:cubicBezTo>
                        <a:cubicBezTo>
                          <a:pt x="1077480" y="463"/>
                          <a:pt x="880988" y="42125"/>
                          <a:pt x="651510" y="18288"/>
                        </a:cubicBezTo>
                        <a:cubicBezTo>
                          <a:pt x="422032" y="-5549"/>
                          <a:pt x="130744" y="-1947"/>
                          <a:pt x="0" y="18288"/>
                        </a:cubicBezTo>
                        <a:cubicBezTo>
                          <a:pt x="-487" y="10816"/>
                          <a:pt x="-839" y="60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nl-NL" sz="2400" dirty="0" err="1"/>
              <a:t>Unfortunately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none of </a:t>
            </a:r>
            <a:r>
              <a:rPr lang="nl-NL" sz="2400" dirty="0" err="1"/>
              <a:t>this</a:t>
            </a:r>
            <a:r>
              <a:rPr lang="nl-NL" sz="2400" dirty="0"/>
              <a:t> is </a:t>
            </a:r>
            <a:r>
              <a:rPr lang="nl-NL" sz="2400" dirty="0" err="1"/>
              <a:t>true</a:t>
            </a:r>
            <a:r>
              <a:rPr lang="nl-NL" sz="2400" dirty="0"/>
              <a:t>, </a:t>
            </a:r>
            <a:r>
              <a:rPr lang="nl-NL" sz="2400" dirty="0" err="1"/>
              <a:t>because</a:t>
            </a:r>
            <a:r>
              <a:rPr lang="nl-NL" sz="2400" dirty="0"/>
              <a:t> </a:t>
            </a:r>
          </a:p>
          <a:p>
            <a:pPr marL="0" indent="0">
              <a:buNone/>
            </a:pPr>
            <a:endParaRPr lang="nl-NL" sz="2400" dirty="0"/>
          </a:p>
          <a:p>
            <a:pPr lvl="1"/>
            <a:r>
              <a:rPr lang="nl-NL" sz="2400" dirty="0" err="1"/>
              <a:t>If</a:t>
            </a:r>
            <a:r>
              <a:rPr lang="nl-NL" sz="2400" dirty="0"/>
              <a:t> I </a:t>
            </a:r>
            <a:r>
              <a:rPr lang="nl-NL" sz="2400" b="1" dirty="0" err="1"/>
              <a:t>were</a:t>
            </a:r>
            <a:r>
              <a:rPr lang="nl-NL" sz="2400" dirty="0"/>
              <a:t> in </a:t>
            </a:r>
            <a:r>
              <a:rPr lang="nl-NL" sz="2400" dirty="0" err="1"/>
              <a:t>it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money, I </a:t>
            </a:r>
            <a:r>
              <a:rPr lang="nl-NL" sz="2400" b="1" dirty="0" err="1"/>
              <a:t>would</a:t>
            </a:r>
            <a:r>
              <a:rPr lang="nl-NL" sz="2400" dirty="0" err="1"/>
              <a:t>n’t</a:t>
            </a:r>
            <a:r>
              <a:rPr lang="nl-NL" sz="2400" dirty="0"/>
              <a:t> </a:t>
            </a:r>
            <a:r>
              <a:rPr lang="nl-NL" sz="2400" b="1" dirty="0" err="1"/>
              <a:t>be</a:t>
            </a:r>
            <a:r>
              <a:rPr lang="nl-NL" sz="2400" dirty="0"/>
              <a:t> a teacher.</a:t>
            </a:r>
            <a:endParaRPr lang="en-US" sz="24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pic>
        <p:nvPicPr>
          <p:cNvPr id="6" name="Picture 4" descr="Old wrinkled hands with some coins">
            <a:extLst>
              <a:ext uri="{FF2B5EF4-FFF2-40B4-BE49-F238E27FC236}">
                <a16:creationId xmlns:a16="http://schemas.microsoft.com/office/drawing/2014/main" id="{0AB9E558-6FB1-0F74-CA5E-C622F0D2A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89" r="35397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7584" y="634946"/>
            <a:ext cx="7834723" cy="1450757"/>
          </a:xfrm>
        </p:spPr>
        <p:txBody>
          <a:bodyPr>
            <a:normAutofit/>
          </a:bodyPr>
          <a:lstStyle/>
          <a:p>
            <a:r>
              <a:rPr lang="nl-NL" sz="4400" dirty="0"/>
              <a:t>Do </a:t>
            </a:r>
            <a:r>
              <a:rPr lang="nl-NL" sz="4400" dirty="0" err="1"/>
              <a:t>not</a:t>
            </a:r>
            <a:r>
              <a:rPr lang="nl-NL" sz="4400" dirty="0"/>
              <a:t> </a:t>
            </a:r>
            <a:r>
              <a:rPr lang="nl-NL" sz="4400" dirty="0" err="1"/>
              <a:t>use</a:t>
            </a:r>
            <a:r>
              <a:rPr lang="nl-NL" sz="4400" dirty="0"/>
              <a:t> ‘</a:t>
            </a:r>
            <a:r>
              <a:rPr lang="nl-NL" sz="4400" dirty="0" err="1"/>
              <a:t>will</a:t>
            </a:r>
            <a:r>
              <a:rPr lang="nl-NL" sz="4400" dirty="0"/>
              <a:t>’ or ‘</a:t>
            </a:r>
            <a:r>
              <a:rPr lang="nl-NL" sz="4400" dirty="0" err="1"/>
              <a:t>would</a:t>
            </a:r>
            <a:r>
              <a:rPr lang="nl-NL" sz="4400" dirty="0"/>
              <a:t>’ in </a:t>
            </a:r>
            <a:r>
              <a:rPr lang="nl-NL" sz="4400" dirty="0" err="1"/>
              <a:t>the</a:t>
            </a:r>
            <a:r>
              <a:rPr lang="nl-NL" sz="4400" dirty="0"/>
              <a:t> </a:t>
            </a:r>
            <a:r>
              <a:rPr lang="nl-NL" sz="4400" dirty="0" err="1"/>
              <a:t>if</a:t>
            </a:r>
            <a:r>
              <a:rPr lang="nl-NL" sz="4400" dirty="0"/>
              <a:t>-part</a:t>
            </a:r>
            <a:endParaRPr lang="en-US" sz="44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971600" y="2198913"/>
            <a:ext cx="7920880" cy="375035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strike="sngStrike" dirty="0" err="1"/>
              <a:t>If</a:t>
            </a:r>
            <a:r>
              <a:rPr lang="nl-NL" strike="sngStrike" dirty="0"/>
              <a:t> </a:t>
            </a:r>
            <a:r>
              <a:rPr lang="nl-NL" strike="sngStrike" dirty="0" err="1"/>
              <a:t>it</a:t>
            </a:r>
            <a:r>
              <a:rPr lang="nl-NL" strike="sngStrike" dirty="0"/>
              <a:t> </a:t>
            </a:r>
            <a:r>
              <a:rPr lang="nl-NL" strike="sngStrike" dirty="0" err="1"/>
              <a:t>will</a:t>
            </a:r>
            <a:r>
              <a:rPr lang="nl-NL" strike="sngStrike" dirty="0"/>
              <a:t> </a:t>
            </a:r>
            <a:r>
              <a:rPr lang="nl-NL" strike="sngStrike" dirty="0" err="1"/>
              <a:t>rain</a:t>
            </a:r>
            <a:r>
              <a:rPr lang="nl-NL" strike="sngStrike" dirty="0"/>
              <a:t>, I </a:t>
            </a:r>
            <a:r>
              <a:rPr lang="nl-NL" strike="sngStrike" dirty="0" err="1"/>
              <a:t>will</a:t>
            </a:r>
            <a:r>
              <a:rPr lang="nl-NL" strike="sngStrike" dirty="0"/>
              <a:t> </a:t>
            </a:r>
            <a:r>
              <a:rPr lang="nl-NL" strike="sngStrike" dirty="0" err="1"/>
              <a:t>bring</a:t>
            </a:r>
            <a:r>
              <a:rPr lang="nl-NL" strike="sngStrike" dirty="0"/>
              <a:t> </a:t>
            </a:r>
            <a:r>
              <a:rPr lang="nl-NL" strike="sngStrike" dirty="0" err="1"/>
              <a:t>an</a:t>
            </a:r>
            <a:r>
              <a:rPr lang="nl-NL" strike="sngStrike" dirty="0"/>
              <a:t> </a:t>
            </a:r>
            <a:r>
              <a:rPr lang="nl-NL" strike="sngStrike" dirty="0" err="1"/>
              <a:t>umbrella</a:t>
            </a:r>
            <a:br>
              <a:rPr lang="nl-NL" strike="sngStrike" dirty="0"/>
            </a:b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rains</a:t>
            </a:r>
            <a:r>
              <a:rPr lang="nl-NL" dirty="0"/>
              <a:t>, I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bring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umbrella</a:t>
            </a:r>
            <a:endParaRPr lang="nl-NL" dirty="0"/>
          </a:p>
          <a:p>
            <a:pPr marL="457200" indent="-457200">
              <a:buFont typeface="+mj-lt"/>
              <a:buAutoNum type="arabicPeriod"/>
            </a:pPr>
            <a:r>
              <a:rPr lang="nl-NL" strike="sngStrike" dirty="0" err="1"/>
              <a:t>If</a:t>
            </a:r>
            <a:r>
              <a:rPr lang="nl-NL" strike="sngStrike" dirty="0"/>
              <a:t> he </a:t>
            </a:r>
            <a:r>
              <a:rPr lang="nl-NL" strike="sngStrike" dirty="0" err="1"/>
              <a:t>would</a:t>
            </a:r>
            <a:r>
              <a:rPr lang="nl-NL" strike="sngStrike" dirty="0"/>
              <a:t> clean up, he </a:t>
            </a:r>
            <a:r>
              <a:rPr lang="nl-NL" strike="sngStrike" dirty="0" err="1"/>
              <a:t>wouldn’t</a:t>
            </a:r>
            <a:r>
              <a:rPr lang="nl-NL" strike="sngStrike" dirty="0"/>
              <a:t> </a:t>
            </a:r>
            <a:r>
              <a:rPr lang="nl-NL" strike="sngStrike" dirty="0" err="1"/>
              <a:t>lose</a:t>
            </a:r>
            <a:r>
              <a:rPr lang="nl-NL" strike="sngStrike" dirty="0"/>
              <a:t> his stuff.</a:t>
            </a:r>
            <a:br>
              <a:rPr lang="nl-NL" strike="sngStrike" dirty="0"/>
            </a:b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If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he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cleaned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up, he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wouldn’t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lose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his stuff.</a:t>
            </a:r>
          </a:p>
          <a:p>
            <a:pPr marL="0" indent="0">
              <a:buNone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r>
              <a:rPr lang="nl-NL" strike="sngStrike" dirty="0" err="1"/>
              <a:t>If</a:t>
            </a:r>
            <a:r>
              <a:rPr lang="nl-NL" strike="sngStrike" dirty="0"/>
              <a:t> he </a:t>
            </a:r>
            <a:r>
              <a:rPr lang="nl-NL" strike="sngStrike" dirty="0" err="1"/>
              <a:t>would</a:t>
            </a:r>
            <a:r>
              <a:rPr lang="nl-NL" strike="sngStrike" dirty="0"/>
              <a:t> have </a:t>
            </a:r>
            <a:r>
              <a:rPr lang="nl-NL" strike="sngStrike" dirty="0" err="1"/>
              <a:t>called</a:t>
            </a:r>
            <a:r>
              <a:rPr lang="nl-NL" strike="sngStrike" dirty="0"/>
              <a:t>, I </a:t>
            </a:r>
            <a:r>
              <a:rPr lang="nl-NL" strike="sngStrike" dirty="0" err="1"/>
              <a:t>would</a:t>
            </a:r>
            <a:r>
              <a:rPr lang="nl-NL" strike="sngStrike" dirty="0"/>
              <a:t> have </a:t>
            </a:r>
            <a:r>
              <a:rPr lang="nl-NL" strike="sngStrike" dirty="0" err="1"/>
              <a:t>come</a:t>
            </a:r>
            <a:r>
              <a:rPr lang="nl-NL" strike="sngStrike" dirty="0"/>
              <a:t> </a:t>
            </a:r>
            <a:r>
              <a:rPr lang="nl-NL" strike="sngStrike" dirty="0" err="1"/>
              <a:t>to</a:t>
            </a:r>
            <a:r>
              <a:rPr lang="nl-NL" strike="sngStrike" dirty="0"/>
              <a:t> </a:t>
            </a:r>
            <a:r>
              <a:rPr lang="nl-NL" strike="sngStrike" dirty="0" err="1"/>
              <a:t>the</a:t>
            </a:r>
            <a:r>
              <a:rPr lang="nl-NL" strike="sngStrike" dirty="0"/>
              <a:t> right </a:t>
            </a:r>
            <a:r>
              <a:rPr lang="nl-NL" strike="sngStrike" dirty="0" err="1"/>
              <a:t>place</a:t>
            </a:r>
            <a:br>
              <a:rPr lang="nl-NL" strike="sngStrike" dirty="0"/>
            </a:b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If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he had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called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, I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would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have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come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to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right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place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dirty="0"/>
              <a:t>The order of the </a:t>
            </a:r>
            <a:r>
              <a:rPr lang="nl-NL" sz="3600" dirty="0" err="1"/>
              <a:t>parts</a:t>
            </a:r>
            <a:r>
              <a:rPr lang="nl-NL" sz="3600" dirty="0"/>
              <a:t> </a:t>
            </a:r>
            <a:r>
              <a:rPr lang="nl-NL" sz="3600" dirty="0" err="1"/>
              <a:t>can</a:t>
            </a:r>
            <a:r>
              <a:rPr lang="nl-NL" sz="3600" dirty="0"/>
              <a:t> </a:t>
            </a:r>
            <a:r>
              <a:rPr lang="nl-NL" sz="3600" dirty="0" err="1"/>
              <a:t>be</a:t>
            </a:r>
            <a:r>
              <a:rPr lang="nl-NL" sz="3600" dirty="0"/>
              <a:t> </a:t>
            </a:r>
            <a:r>
              <a:rPr lang="nl-NL" sz="3600" dirty="0" err="1"/>
              <a:t>changed</a:t>
            </a:r>
            <a:endParaRPr lang="en-US" sz="36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rains</a:t>
            </a:r>
            <a:r>
              <a:rPr lang="nl-NL" dirty="0"/>
              <a:t>, I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bring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umbrella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/>
              <a:t>I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bring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umbrella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rains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He </a:t>
            </a:r>
            <a:r>
              <a:rPr lang="nl-NL" dirty="0" err="1"/>
              <a:t>wouldn’t</a:t>
            </a:r>
            <a:r>
              <a:rPr lang="nl-NL" dirty="0"/>
              <a:t> </a:t>
            </a:r>
            <a:r>
              <a:rPr lang="nl-NL" dirty="0" err="1"/>
              <a:t>lose</a:t>
            </a:r>
            <a:r>
              <a:rPr lang="nl-NL" dirty="0"/>
              <a:t> his stuff </a:t>
            </a:r>
            <a:r>
              <a:rPr lang="nl-NL" dirty="0" err="1"/>
              <a:t>if</a:t>
            </a:r>
            <a:r>
              <a:rPr lang="nl-NL" dirty="0"/>
              <a:t> he </a:t>
            </a:r>
            <a:r>
              <a:rPr lang="nl-NL" dirty="0" err="1"/>
              <a:t>cleaned</a:t>
            </a:r>
            <a:r>
              <a:rPr lang="nl-NL" dirty="0"/>
              <a:t> up.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 err="1"/>
              <a:t>If</a:t>
            </a:r>
            <a:r>
              <a:rPr lang="nl-NL" dirty="0"/>
              <a:t> he </a:t>
            </a:r>
            <a:r>
              <a:rPr lang="nl-NL" dirty="0" err="1"/>
              <a:t>cleaned</a:t>
            </a:r>
            <a:r>
              <a:rPr lang="nl-NL" dirty="0"/>
              <a:t> up, he </a:t>
            </a:r>
            <a:r>
              <a:rPr lang="nl-NL" dirty="0" err="1"/>
              <a:t>wouldn’t</a:t>
            </a:r>
            <a:r>
              <a:rPr lang="nl-NL" dirty="0"/>
              <a:t> </a:t>
            </a:r>
            <a:r>
              <a:rPr lang="nl-NL" dirty="0" err="1"/>
              <a:t>lose</a:t>
            </a:r>
            <a:r>
              <a:rPr lang="nl-NL" dirty="0"/>
              <a:t> his stuff.</a:t>
            </a:r>
          </a:p>
          <a:p>
            <a:endParaRPr lang="nl-NL" dirty="0"/>
          </a:p>
          <a:p>
            <a:r>
              <a:rPr lang="nl-NL" dirty="0"/>
              <a:t>I </a:t>
            </a:r>
            <a:r>
              <a:rPr lang="nl-NL" dirty="0" err="1"/>
              <a:t>would</a:t>
            </a:r>
            <a:r>
              <a:rPr lang="nl-NL" dirty="0"/>
              <a:t> have </a:t>
            </a:r>
            <a:r>
              <a:rPr lang="nl-NL" dirty="0" err="1"/>
              <a:t>come</a:t>
            </a:r>
            <a:r>
              <a:rPr lang="nl-NL" dirty="0"/>
              <a:t> to the right place </a:t>
            </a:r>
            <a:r>
              <a:rPr lang="nl-NL" dirty="0" err="1"/>
              <a:t>if</a:t>
            </a:r>
            <a:r>
              <a:rPr lang="nl-NL" dirty="0"/>
              <a:t> he had </a:t>
            </a:r>
            <a:r>
              <a:rPr lang="nl-NL" dirty="0" err="1"/>
              <a:t>called</a:t>
            </a:r>
            <a:r>
              <a:rPr lang="nl-NL" dirty="0"/>
              <a:t> me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 err="1"/>
              <a:t>If</a:t>
            </a:r>
            <a:r>
              <a:rPr lang="nl-NL" dirty="0"/>
              <a:t> he had </a:t>
            </a:r>
            <a:r>
              <a:rPr lang="nl-NL" dirty="0" err="1"/>
              <a:t>called</a:t>
            </a:r>
            <a:r>
              <a:rPr lang="nl-NL" dirty="0"/>
              <a:t>, I </a:t>
            </a:r>
            <a:r>
              <a:rPr lang="nl-NL" dirty="0" err="1"/>
              <a:t>would</a:t>
            </a:r>
            <a:r>
              <a:rPr lang="nl-NL" dirty="0"/>
              <a:t> have </a:t>
            </a:r>
            <a:r>
              <a:rPr lang="nl-NL" dirty="0" err="1"/>
              <a:t>come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right </a:t>
            </a:r>
            <a:r>
              <a:rPr lang="nl-NL" dirty="0" err="1"/>
              <a:t>place</a:t>
            </a:r>
            <a:endParaRPr lang="en-US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769003-131A-44B8-AEEE-F5ABD8A5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300"/>
              <a:t>Exercise: Correct the incorrect conditional</a:t>
            </a:r>
            <a:endParaRPr lang="en-NL" sz="43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F44FAA-44D8-443B-A056-9CFFE449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/>
              <a:t>If knew she was ill, I would have sent her some flowers.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If my flat has a balcony, I would grow plans in pots on them.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Where will you like to live if you could choose?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 can’t see Mary. If she is taller, I could see her.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If I played better, the team would have won the match.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If I catch the train at one, I would arrive in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 would buy organic food if it is cheaper. At the moment it is too expensive.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She wouldn’t have gone to University if she didn’t work hard at school.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/>
              <a:t>If you had lived tow hundred years ago, what would you do?</a:t>
            </a:r>
          </a:p>
          <a:p>
            <a:pPr marL="457200" indent="-457200">
              <a:buFont typeface="+mj-lt"/>
              <a:buAutoNum type="arabicPeriod"/>
            </a:pPr>
            <a:endParaRPr lang="en-US" sz="1900"/>
          </a:p>
          <a:p>
            <a:pPr marL="457200" indent="-457200">
              <a:buFont typeface="+mj-lt"/>
              <a:buAutoNum type="arabicPeriod"/>
            </a:pPr>
            <a:endParaRPr lang="en-NL" sz="1900"/>
          </a:p>
        </p:txBody>
      </p:sp>
    </p:spTree>
    <p:extLst>
      <p:ext uri="{BB962C8B-B14F-4D97-AF65-F5344CB8AC3E}">
        <p14:creationId xmlns:p14="http://schemas.microsoft.com/office/powerpoint/2010/main" val="424045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769003-131A-44B8-AEEE-F5ABD8A5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Exercise: answers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F44FAA-44D8-443B-A056-9CFFE449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06713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If I </a:t>
            </a:r>
            <a:r>
              <a:rPr lang="en-US" sz="2000" b="1">
                <a:solidFill>
                  <a:srgbClr val="00B050"/>
                </a:solidFill>
              </a:rPr>
              <a:t>had known</a:t>
            </a:r>
            <a:r>
              <a:rPr lang="en-US" sz="2000">
                <a:solidFill>
                  <a:srgbClr val="00B050"/>
                </a:solidFill>
              </a:rPr>
              <a:t> </a:t>
            </a:r>
            <a:r>
              <a:rPr lang="en-US" sz="2000"/>
              <a:t>she was ill, I would have sent her some flowers.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If my flat </a:t>
            </a:r>
            <a:r>
              <a:rPr lang="en-US" sz="2000" b="1">
                <a:solidFill>
                  <a:srgbClr val="00B050"/>
                </a:solidFill>
              </a:rPr>
              <a:t>had</a:t>
            </a:r>
            <a:r>
              <a:rPr lang="en-US" sz="2000"/>
              <a:t> a balcony, I would grow plans in pots on them.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Where </a:t>
            </a:r>
            <a:r>
              <a:rPr lang="en-US" sz="2000" b="1">
                <a:solidFill>
                  <a:srgbClr val="00B050"/>
                </a:solidFill>
              </a:rPr>
              <a:t>would</a:t>
            </a:r>
            <a:r>
              <a:rPr lang="en-US" sz="2000"/>
              <a:t> you like to live if you could choose?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 can’t see Mary. If she </a:t>
            </a:r>
            <a:r>
              <a:rPr lang="en-US" sz="2000" b="1">
                <a:solidFill>
                  <a:srgbClr val="00B050"/>
                </a:solidFill>
              </a:rPr>
              <a:t>were</a:t>
            </a:r>
            <a:r>
              <a:rPr lang="en-US" sz="2000"/>
              <a:t> taller, I could see her.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If I </a:t>
            </a:r>
            <a:r>
              <a:rPr lang="en-US" sz="2000" b="1">
                <a:solidFill>
                  <a:srgbClr val="00B050"/>
                </a:solidFill>
              </a:rPr>
              <a:t>had played</a:t>
            </a:r>
            <a:r>
              <a:rPr lang="en-US" sz="2000"/>
              <a:t> better, the team would have won the match.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If I catch the train at one, I </a:t>
            </a:r>
            <a:r>
              <a:rPr lang="en-US" sz="2000" b="1">
                <a:solidFill>
                  <a:srgbClr val="00B050"/>
                </a:solidFill>
              </a:rPr>
              <a:t>will</a:t>
            </a:r>
            <a:r>
              <a:rPr lang="en-US" sz="2000"/>
              <a:t> arrive in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 would buy organic food if it </a:t>
            </a:r>
            <a:r>
              <a:rPr lang="en-US" sz="2000" b="1">
                <a:solidFill>
                  <a:srgbClr val="00B050"/>
                </a:solidFill>
              </a:rPr>
              <a:t>was</a:t>
            </a:r>
            <a:r>
              <a:rPr lang="en-US" sz="2000"/>
              <a:t> cheaper. At the moment it is too expensive.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She wouldn’t have gone to University if she </a:t>
            </a:r>
            <a:r>
              <a:rPr lang="en-US" sz="2000" b="1">
                <a:solidFill>
                  <a:srgbClr val="00B050"/>
                </a:solidFill>
              </a:rPr>
              <a:t>hadn’t worked </a:t>
            </a:r>
            <a:r>
              <a:rPr lang="en-US" sz="2000"/>
              <a:t>hard at school.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If you had lived tow hundred years ago, what would you </a:t>
            </a:r>
            <a:r>
              <a:rPr lang="en-US" sz="2000" b="1">
                <a:solidFill>
                  <a:srgbClr val="00B050"/>
                </a:solidFill>
              </a:rPr>
              <a:t>have done</a:t>
            </a:r>
            <a:r>
              <a:rPr lang="en-US" sz="2000"/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249048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87845-D72F-454C-80BA-DC53DD05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Finish the conditional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E0210EE-907F-4C4A-8A80-34DAC23F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it is sunny tomorrow _______________________________________________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you sit in the sun too long 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 were you _______________________________________________________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 were the Prime Minister 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she had studied harder 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 won the lottery __________________________________________________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 hadn’t gone to bed so late 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I hadn’t come to London 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you mix water and electricity ________________________________________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If she hadn’t stayed at home __________________________________________</a:t>
            </a:r>
            <a:endParaRPr lang="en-NL" sz="1600" dirty="0"/>
          </a:p>
        </p:txBody>
      </p:sp>
    </p:spTree>
    <p:extLst>
      <p:ext uri="{BB962C8B-B14F-4D97-AF65-F5344CB8AC3E}">
        <p14:creationId xmlns:p14="http://schemas.microsoft.com/office/powerpoint/2010/main" val="7251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C056A-43B6-4026-BE67-BD74288A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Finish the conditional (example)</a:t>
            </a:r>
            <a:endParaRPr lang="en-NL" sz="4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F3E4BE-C65B-4C1A-953E-B06C63B57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If it </a:t>
            </a:r>
            <a:r>
              <a:rPr lang="en-US" b="1" dirty="0">
                <a:solidFill>
                  <a:schemeClr val="accent2"/>
                </a:solidFill>
              </a:rPr>
              <a:t>is</a:t>
            </a:r>
            <a:r>
              <a:rPr lang="en-US" dirty="0"/>
              <a:t> sunny tomorrow, </a:t>
            </a:r>
            <a:r>
              <a:rPr lang="en-US" b="1" dirty="0">
                <a:solidFill>
                  <a:srgbClr val="00B050"/>
                </a:solidFill>
              </a:rPr>
              <a:t>we'll go </a:t>
            </a:r>
            <a:r>
              <a:rPr lang="en-US" dirty="0"/>
              <a:t>to the park.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you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sit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in the sun too long , you </a:t>
            </a:r>
            <a:r>
              <a:rPr lang="en-US" b="1" dirty="0">
                <a:solidFill>
                  <a:srgbClr val="00B050"/>
                </a:solidFill>
              </a:rPr>
              <a:t>get burned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I </a:t>
            </a:r>
            <a:r>
              <a:rPr lang="en-US" b="1" dirty="0">
                <a:solidFill>
                  <a:schemeClr val="accent2"/>
                </a:solidFill>
              </a:rPr>
              <a:t>were</a:t>
            </a:r>
            <a:r>
              <a:rPr lang="en-US" dirty="0"/>
              <a:t> you, I </a:t>
            </a:r>
            <a:r>
              <a:rPr lang="en-US" b="1" dirty="0">
                <a:solidFill>
                  <a:srgbClr val="00B050"/>
                </a:solidFill>
              </a:rPr>
              <a:t>would go </a:t>
            </a:r>
            <a:r>
              <a:rPr lang="en-US" dirty="0"/>
              <a:t>out tonight.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I </a:t>
            </a:r>
            <a:r>
              <a:rPr lang="en-US" b="1" dirty="0">
                <a:solidFill>
                  <a:schemeClr val="accent2"/>
                </a:solidFill>
              </a:rPr>
              <a:t>were</a:t>
            </a:r>
            <a:r>
              <a:rPr lang="en-US" dirty="0"/>
              <a:t> the Prime Minister, I </a:t>
            </a:r>
            <a:r>
              <a:rPr lang="en-US" b="1" dirty="0">
                <a:solidFill>
                  <a:srgbClr val="00B050"/>
                </a:solidFill>
              </a:rPr>
              <a:t>would make </a:t>
            </a:r>
            <a:r>
              <a:rPr lang="en-US" dirty="0"/>
              <a:t>the museums free.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she </a:t>
            </a:r>
            <a:r>
              <a:rPr lang="en-US" b="1" dirty="0">
                <a:solidFill>
                  <a:schemeClr val="accent2"/>
                </a:solidFill>
              </a:rPr>
              <a:t>had studied </a:t>
            </a:r>
            <a:r>
              <a:rPr lang="en-US" dirty="0"/>
              <a:t>harder, she </a:t>
            </a:r>
            <a:r>
              <a:rPr lang="en-US" b="1" dirty="0">
                <a:solidFill>
                  <a:srgbClr val="00B050"/>
                </a:solidFill>
              </a:rPr>
              <a:t>would have passed </a:t>
            </a:r>
            <a:r>
              <a:rPr lang="en-US" dirty="0"/>
              <a:t>the exam.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I </a:t>
            </a:r>
            <a:r>
              <a:rPr lang="en-US" b="1" dirty="0">
                <a:solidFill>
                  <a:schemeClr val="accent2"/>
                </a:solidFill>
              </a:rPr>
              <a:t>won</a:t>
            </a:r>
            <a:r>
              <a:rPr lang="en-US" dirty="0"/>
              <a:t> the lottery, I </a:t>
            </a:r>
            <a:r>
              <a:rPr lang="en-US" b="1" dirty="0">
                <a:solidFill>
                  <a:srgbClr val="00B050"/>
                </a:solidFill>
              </a:rPr>
              <a:t>would buy </a:t>
            </a:r>
            <a:r>
              <a:rPr lang="en-US" dirty="0"/>
              <a:t>a big house.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hadn’t gone </a:t>
            </a:r>
            <a:r>
              <a:rPr lang="en-US" dirty="0"/>
              <a:t>to bed so late, I </a:t>
            </a:r>
            <a:r>
              <a:rPr lang="en-US" b="1" dirty="0">
                <a:solidFill>
                  <a:srgbClr val="00B050"/>
                </a:solidFill>
              </a:rPr>
              <a:t>wouldn't have been</a:t>
            </a:r>
            <a:r>
              <a:rPr lang="en-US" dirty="0"/>
              <a:t> tired.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I </a:t>
            </a:r>
            <a:r>
              <a:rPr lang="en-US" b="1" dirty="0">
                <a:solidFill>
                  <a:schemeClr val="accent2"/>
                </a:solidFill>
              </a:rPr>
              <a:t>hadn’t come </a:t>
            </a:r>
            <a:r>
              <a:rPr lang="en-US" dirty="0"/>
              <a:t>to London, I </a:t>
            </a:r>
            <a:r>
              <a:rPr lang="en-US" b="1" dirty="0">
                <a:solidFill>
                  <a:srgbClr val="00B050"/>
                </a:solidFill>
              </a:rPr>
              <a:t>would have gone </a:t>
            </a:r>
            <a:r>
              <a:rPr lang="en-US" dirty="0"/>
              <a:t>to New York.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you </a:t>
            </a:r>
            <a:r>
              <a:rPr lang="en-US" b="1" dirty="0">
                <a:solidFill>
                  <a:schemeClr val="accent2"/>
                </a:solidFill>
              </a:rPr>
              <a:t>mix</a:t>
            </a:r>
            <a:r>
              <a:rPr lang="en-US" dirty="0"/>
              <a:t> water and electricity, you </a:t>
            </a:r>
            <a:r>
              <a:rPr lang="en-US" b="1" dirty="0">
                <a:solidFill>
                  <a:srgbClr val="00B050"/>
                </a:solidFill>
              </a:rPr>
              <a:t>get</a:t>
            </a:r>
            <a:r>
              <a:rPr lang="en-US" dirty="0"/>
              <a:t> a shock.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she </a:t>
            </a:r>
            <a:r>
              <a:rPr lang="en-US" b="1" dirty="0">
                <a:solidFill>
                  <a:schemeClr val="accent2"/>
                </a:solidFill>
              </a:rPr>
              <a:t>hadn’t stayed </a:t>
            </a:r>
            <a:r>
              <a:rPr lang="en-US" dirty="0"/>
              <a:t>at home, she </a:t>
            </a:r>
            <a:r>
              <a:rPr lang="en-US" b="1" dirty="0">
                <a:solidFill>
                  <a:srgbClr val="00B050"/>
                </a:solidFill>
              </a:rPr>
              <a:t>would have gone </a:t>
            </a:r>
            <a:r>
              <a:rPr lang="en-US" dirty="0"/>
              <a:t>shopping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0210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BE3AB06-9518-4E30-9EAD-CED03534254F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Words>1252</Words>
  <Application>Microsoft Office PowerPoint</Application>
  <PresentationFormat>On-screen Show (4:3)</PresentationFormat>
  <Paragraphs>133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Wingdings 2</vt:lpstr>
      <vt:lpstr>Office Theme</vt:lpstr>
      <vt:lpstr>Grammar &amp; Basics</vt:lpstr>
      <vt:lpstr>Talking about conditions</vt:lpstr>
      <vt:lpstr>If-Conditionals</vt:lpstr>
      <vt:lpstr>Type 1</vt:lpstr>
      <vt:lpstr>Type 2</vt:lpstr>
      <vt:lpstr>Type 2</vt:lpstr>
      <vt:lpstr>Type 1 and 2 compared</vt:lpstr>
      <vt:lpstr>Type 3 </vt:lpstr>
      <vt:lpstr>Type 1, 2 and 3 compared</vt:lpstr>
      <vt:lpstr>Type 1</vt:lpstr>
      <vt:lpstr>Type 2</vt:lpstr>
      <vt:lpstr>Type 3</vt:lpstr>
      <vt:lpstr>Giving teachers money</vt:lpstr>
      <vt:lpstr>Do not use ‘will’ or ‘would’ in the if-part</vt:lpstr>
      <vt:lpstr>The order of the parts can be changed</vt:lpstr>
      <vt:lpstr>Exercise: Correct the incorrect conditional</vt:lpstr>
      <vt:lpstr>Exercise: answers</vt:lpstr>
      <vt:lpstr>Exercise: Finish the conditional</vt:lpstr>
      <vt:lpstr>Finish the conditional (example)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59</cp:revision>
  <dcterms:created xsi:type="dcterms:W3CDTF">2017-06-18T09:29:51Z</dcterms:created>
  <dcterms:modified xsi:type="dcterms:W3CDTF">2024-10-04T13:33:19Z</dcterms:modified>
</cp:coreProperties>
</file>
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7" r:id="rId2"/>
    <p:sldId id="440" r:id="rId3"/>
    <p:sldId id="304" r:id="rId4"/>
    <p:sldId id="442" r:id="rId5"/>
    <p:sldId id="328" r:id="rId6"/>
    <p:sldId id="353" r:id="rId7"/>
    <p:sldId id="327" r:id="rId8"/>
    <p:sldId id="329" r:id="rId9"/>
    <p:sldId id="330" r:id="rId10"/>
    <p:sldId id="332" r:id="rId11"/>
    <p:sldId id="349" r:id="rId12"/>
    <p:sldId id="441" r:id="rId13"/>
    <p:sldId id="334" r:id="rId14"/>
    <p:sldId id="358" r:id="rId15"/>
    <p:sldId id="443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49" autoAdjust="0"/>
    <p:restoredTop sz="94660"/>
  </p:normalViewPr>
  <p:slideViewPr>
    <p:cSldViewPr snapToGrid="0">
      <p:cViewPr varScale="1">
        <p:scale>
          <a:sx n="91" d="100"/>
          <a:sy n="91" d="100"/>
        </p:scale>
        <p:origin x="8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eek Metsch" userId="021ef47b-1d71-428a-9075-16ffbc2c7c18" providerId="ADAL" clId="{5F943916-16B0-4A90-AB74-AF6F27672B16}"/>
    <pc:docChg chg="custSel delSld modSld">
      <pc:chgData name="Freek Metsch" userId="021ef47b-1d71-428a-9075-16ffbc2c7c18" providerId="ADAL" clId="{5F943916-16B0-4A90-AB74-AF6F27672B16}" dt="2026-03-02T08:27:17.509" v="155" actId="47"/>
      <pc:docMkLst>
        <pc:docMk/>
      </pc:docMkLst>
      <pc:sldChg chg="modSp del mod">
        <pc:chgData name="Freek Metsch" userId="021ef47b-1d71-428a-9075-16ffbc2c7c18" providerId="ADAL" clId="{5F943916-16B0-4A90-AB74-AF6F27672B16}" dt="2026-03-02T08:27:17.509" v="155" actId="47"/>
        <pc:sldMkLst>
          <pc:docMk/>
          <pc:sldMk cId="1679811417" sldId="449"/>
        </pc:sldMkLst>
      </pc:sldChg>
      <pc:sldMasterChg chg="delSldLayout">
        <pc:chgData name="Freek Metsch" userId="021ef47b-1d71-428a-9075-16ffbc2c7c18" providerId="ADAL" clId="{5F943916-16B0-4A90-AB74-AF6F27672B16}" dt="2026-03-02T08:27:17.509" v="155" actId="47"/>
        <pc:sldMasterMkLst>
          <pc:docMk/>
          <pc:sldMasterMk cId="104831422" sldId="2147483648"/>
        </pc:sldMasterMkLst>
        <pc:sldLayoutChg chg="del">
          <pc:chgData name="Freek Metsch" userId="021ef47b-1d71-428a-9075-16ffbc2c7c18" providerId="ADAL" clId="{5F943916-16B0-4A90-AB74-AF6F27672B16}" dt="2026-03-02T08:27:17.509" v="155" actId="47"/>
          <pc:sldLayoutMkLst>
            <pc:docMk/>
            <pc:sldMasterMk cId="104831422" sldId="2147483648"/>
            <pc:sldLayoutMk cId="809193414" sldId="2147483660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B180DB-3468-49B2-A8FF-9286D0B949D0}" type="datetimeFigureOut">
              <a:rPr lang="en-GB" smtClean="0"/>
              <a:t>02/03/2026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597793-C826-47FB-843D-2F7BE58D3144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85969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483" name="Tijdelijke aanduiding voor notiti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8587CAC-01CF-4301-897E-1255C7E2ED99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C8008B-58CC-4600-BA0E-B8D67D43116A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C8008B-58CC-4600-BA0E-B8D67D43116A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1584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C8008B-58CC-4600-BA0E-B8D67D43116A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79D1B3-CE51-42A3-B19C-79ABFB6306E5}" type="slidenum">
              <a:rPr lang="nl-NL" smtClean="0"/>
              <a:pPr/>
              <a:t>7</a:t>
            </a:fld>
            <a:endParaRPr lang="nl-NL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79D1B3-CE51-42A3-B19C-79ABFB6306E5}" type="slidenum">
              <a:rPr lang="nl-NL" smtClean="0"/>
              <a:pPr/>
              <a:t>8</a:t>
            </a:fld>
            <a:endParaRPr lang="nl-NL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79D1B3-CE51-42A3-B19C-79ABFB6306E5}" type="slidenum">
              <a:rPr lang="nl-NL" smtClean="0"/>
              <a:pPr/>
              <a:t>9</a:t>
            </a:fld>
            <a:endParaRPr lang="nl-NL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79D1B3-CE51-42A3-B19C-79ABFB6306E5}" type="slidenum">
              <a:rPr lang="nl-NL" smtClean="0"/>
              <a:pPr/>
              <a:t>10</a:t>
            </a:fld>
            <a:endParaRPr lang="nl-NL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C8008B-58CC-4600-BA0E-B8D67D43116A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C8008B-58CC-4600-BA0E-B8D67D43116A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C8008B-58CC-4600-BA0E-B8D67D43116A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AC7C1-E363-EDC0-ED05-666B9BB2FC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9D81F4-6443-0FEE-A6B6-05F7BD527A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212FCA-2B61-8BB5-56E8-6C93F9F44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CE5A1-8161-449C-9899-43C736AFA5AD}" type="datetimeFigureOut">
              <a:rPr lang="en-GB" smtClean="0"/>
              <a:t>02/03/2026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1F8844-87F5-1A1A-4ADE-08C4E16FB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FFD1AC-F1D2-0778-B574-C2763D7A2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64A41-2C53-45F6-B310-3597B34EEBB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90777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77168-1DB3-3397-399F-ECDC7CB2B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52A183-4CEF-9CF2-ABB5-3E2D9741EE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0C6B64-C333-1F91-C77D-73A1167F5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CE5A1-8161-449C-9899-43C736AFA5AD}" type="datetimeFigureOut">
              <a:rPr lang="en-GB" smtClean="0"/>
              <a:t>02/03/2026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EA655B-C7E9-5F2D-5BE3-4B055A7C7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266880-7877-805A-1861-26EF5C3D0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64A41-2C53-45F6-B310-3597B34EEBB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437065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1843F-846B-20E0-F9F6-D67A90D576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D93CC7-D9F8-9FFE-2FBC-2B565E1015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68F153-6DD8-18E8-75D4-2A38D02E0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CE5A1-8161-449C-9899-43C736AFA5AD}" type="datetimeFigureOut">
              <a:rPr lang="en-GB" smtClean="0"/>
              <a:t>02/03/2026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FAE3E8-B01A-EA0F-0CC4-B57781E032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DA7A30-BD00-1E1F-4A75-245AB0B6B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64A41-2C53-45F6-B310-3597B34EEBB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29953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E4048-8EF8-A542-BB41-840139DB6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7B97C6-E634-4A08-4907-68402319AA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BB582A-979F-6830-FADE-69D15E9A8C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8F9214-24AC-B2FD-EB4B-6F951879C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CE5A1-8161-449C-9899-43C736AFA5AD}" type="datetimeFigureOut">
              <a:rPr lang="en-GB" smtClean="0"/>
              <a:t>02/03/2026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32A113-DE64-FA62-0D2D-CD2C2735A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5FB2FA-DB42-E621-22CC-F6ED97821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64A41-2C53-45F6-B310-3597B34EEBB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84588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8246C-1E57-F7A8-DBFD-5DE7FCBBC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D77702-5854-3575-EB6F-DFCB608B88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061979-FDFA-AB2E-F860-AE0CD617D7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142A91-B7BD-BA2D-2E8D-5C2394F6F5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D7F5171-2093-8D13-2F57-6EA420812B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60B7AB9-60A9-37E3-49A8-55EB110797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CE5A1-8161-449C-9899-43C736AFA5AD}" type="datetimeFigureOut">
              <a:rPr lang="en-GB" smtClean="0"/>
              <a:t>02/03/2026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515109-80D4-35D4-FCD8-0BB0AB45A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BFA92C-CE0A-9DB4-8ECE-C711A212C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64A41-2C53-45F6-B310-3597B34EEBB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1620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BAA28-B495-4ED7-CA81-B85E807F1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4EC929-C2B7-FB36-2437-823435575F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CE5A1-8161-449C-9899-43C736AFA5AD}" type="datetimeFigureOut">
              <a:rPr lang="en-GB" smtClean="0"/>
              <a:t>02/03/2026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B87203-2467-9182-4439-C42A53273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1E358D-BD9E-D74D-2888-E1336A302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64A41-2C53-45F6-B310-3597B34EEBB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1528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947BB4-2D9E-0155-502D-FFA23F2C9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CE5A1-8161-449C-9899-43C736AFA5AD}" type="datetimeFigureOut">
              <a:rPr lang="en-GB" smtClean="0"/>
              <a:t>02/03/2026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016BEC-482C-235D-79A1-4E85705CD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17DDE2-ED52-CD29-62E3-9ED656F98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64A41-2C53-45F6-B310-3597B34EEBB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72242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9E550-D959-5098-183E-864881B3CB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BAE13-50BB-0FF2-3E7D-2A04491538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EE4592-E54F-0A5D-40AD-34ABD57D64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45D2BD-07DF-C4FD-0607-A7D2A1A43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CE5A1-8161-449C-9899-43C736AFA5AD}" type="datetimeFigureOut">
              <a:rPr lang="en-GB" smtClean="0"/>
              <a:t>02/03/2026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1DC158-31A3-22DC-8AC3-83CC34BF71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59EF6C-C5DE-27EC-016C-AF4519FFE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64A41-2C53-45F6-B310-3597B34EEBB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13930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E263F-ABF0-AE80-3F56-3080F87AD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05F364C-E13A-4DD9-8441-2DAC64EE6C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E97FF2-6667-85B3-F838-E31BA21E83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51BC48-54D3-373F-B3B5-8B03E64C8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CE5A1-8161-449C-9899-43C736AFA5AD}" type="datetimeFigureOut">
              <a:rPr lang="en-GB" smtClean="0"/>
              <a:t>02/03/2026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02D498-CA67-9C10-F785-49626B7E48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35B1EA-B53B-7D51-928F-5BF806E8C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64A41-2C53-45F6-B310-3597B34EEBB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53349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A8221-00EF-C7CE-435D-8B84E68A4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E2EB15-2E94-5B85-AA9F-A581E7EE40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0A3D32-8C0B-5FEE-7208-1614AF7C2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CE5A1-8161-449C-9899-43C736AFA5AD}" type="datetimeFigureOut">
              <a:rPr lang="en-GB" smtClean="0"/>
              <a:t>02/03/2026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977A93-FBAD-E79E-49CB-E081300EBB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2ACBDB-ED3C-B342-B20E-3AD3E02CD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64A41-2C53-45F6-B310-3597B34EEBB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56146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570DEB-E56A-5563-0947-ADF861D7D3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DCA796-7B5E-0315-AB19-E98D685452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C3E107-8BBC-43C5-6A86-01203BECB2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CE5A1-8161-449C-9899-43C736AFA5AD}" type="datetimeFigureOut">
              <a:rPr lang="en-GB" smtClean="0"/>
              <a:t>02/03/2026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39837D-EAFD-F0D0-A89D-AF0E70D9D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084A32-A55D-F0E4-66C0-B4A6EAE18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64A41-2C53-45F6-B310-3597B34EEBB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16472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D06FA5-A51B-AF5D-5415-70345F290C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A18B7E-8B6E-785F-7D41-1500FA525B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CCA4ED-83CC-8688-B360-1A6FA9D2AE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9CE5A1-8161-449C-9899-43C736AFA5AD}" type="datetimeFigureOut">
              <a:rPr lang="en-GB" smtClean="0"/>
              <a:t>02/03/2026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1C4784-6580-0C4C-0489-5279C0D865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A9259B-788A-549B-4AC6-2B2513BB6D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664A41-2C53-45F6-B310-3597B34EEBB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8314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571500" y="639098"/>
            <a:ext cx="3609804" cy="3686015"/>
          </a:xfrm>
        </p:spPr>
        <p:txBody>
          <a:bodyPr>
            <a:normAutofit/>
          </a:bodyPr>
          <a:lstStyle/>
          <a:p>
            <a:r>
              <a:rPr lang="en-US" sz="6800"/>
              <a:t>Grammar &amp; Basics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571499" y="4455621"/>
            <a:ext cx="3621826" cy="123861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Word order</a:t>
            </a:r>
          </a:p>
        </p:txBody>
      </p:sp>
      <p:pic>
        <p:nvPicPr>
          <p:cNvPr id="7" name="Picture 6" descr="Stack of books">
            <a:extLst>
              <a:ext uri="{FF2B5EF4-FFF2-40B4-BE49-F238E27FC236}">
                <a16:creationId xmlns:a16="http://schemas.microsoft.com/office/drawing/2014/main" id="{35F4B628-46DF-4869-8D93-EBA2C8B22DB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136" r="10364" b="-1"/>
          <a:stretch/>
        </p:blipFill>
        <p:spPr>
          <a:xfrm>
            <a:off x="1524020" y="10"/>
            <a:ext cx="4571980" cy="68579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62001" y="1141711"/>
            <a:ext cx="3234466" cy="347436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Today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3193FD5-6A49-7562-EA76-F15D42E158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Content Placeholder 5" descr="A picture depicting a child yoga and an adult yoda, the young one says &quot;an apple I have&quot; and the adult looks defeated with hif hand covering his face standing in front of a sign that says 'I have an apple'">
            <a:extLst>
              <a:ext uri="{FF2B5EF4-FFF2-40B4-BE49-F238E27FC236}">
                <a16:creationId xmlns:a16="http://schemas.microsoft.com/office/drawing/2014/main" id="{25544B1C-EE65-4F35-B03D-3614239D93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2717" y="1449161"/>
            <a:ext cx="6711317" cy="3959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9186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hoek 1"/>
          <p:cNvSpPr/>
          <p:nvPr/>
        </p:nvSpPr>
        <p:spPr>
          <a:xfrm>
            <a:off x="3111978" y="2606512"/>
            <a:ext cx="59680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nl-NL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0000"/>
                </a:solidFill>
              </a:rPr>
              <a:t>Subject-</a:t>
            </a:r>
            <a:r>
              <a:rPr lang="nl-NL" sz="5400" b="1" dirty="0" err="1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0000"/>
                </a:solidFill>
              </a:rPr>
              <a:t>Verb</a:t>
            </a:r>
            <a:r>
              <a:rPr lang="nl-NL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0000"/>
                </a:solidFill>
              </a:rPr>
              <a:t>-Object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7" name="Rectangle 3"/>
          <p:cNvSpPr>
            <a:spLocks noGrp="1" noChangeArrowheads="1"/>
          </p:cNvSpPr>
          <p:nvPr>
            <p:ph idx="1"/>
          </p:nvPr>
        </p:nvSpPr>
        <p:spPr>
          <a:xfrm>
            <a:off x="2346960" y="417809"/>
            <a:ext cx="7543801" cy="5099052"/>
          </a:xfrm>
        </p:spPr>
        <p:txBody>
          <a:bodyPr/>
          <a:lstStyle/>
          <a:p>
            <a:r>
              <a:rPr lang="nl-NL" dirty="0"/>
              <a:t>General word order in English and Dutch is the </a:t>
            </a:r>
            <a:r>
              <a:rPr lang="nl-NL" dirty="0" err="1"/>
              <a:t>same</a:t>
            </a:r>
            <a:r>
              <a:rPr lang="nl-NL" dirty="0"/>
              <a:t>: </a:t>
            </a:r>
          </a:p>
          <a:p>
            <a:r>
              <a:rPr lang="nl-NL" dirty="0"/>
              <a:t>First the </a:t>
            </a:r>
            <a:r>
              <a:rPr lang="nl-NL" dirty="0" err="1"/>
              <a:t>one</a:t>
            </a:r>
            <a:r>
              <a:rPr lang="nl-NL" dirty="0"/>
              <a:t> </a:t>
            </a:r>
            <a:r>
              <a:rPr lang="nl-NL" dirty="0" err="1"/>
              <a:t>doing</a:t>
            </a:r>
            <a:r>
              <a:rPr lang="nl-NL" dirty="0"/>
              <a:t> </a:t>
            </a:r>
            <a:r>
              <a:rPr lang="nl-NL" dirty="0" err="1"/>
              <a:t>it</a:t>
            </a:r>
            <a:r>
              <a:rPr lang="nl-NL" dirty="0"/>
              <a:t> (=</a:t>
            </a:r>
            <a:r>
              <a:rPr lang="nl-NL" b="1" dirty="0">
                <a:solidFill>
                  <a:schemeClr val="tx2"/>
                </a:solidFill>
              </a:rPr>
              <a:t>subject</a:t>
            </a:r>
            <a:r>
              <a:rPr lang="nl-NL" dirty="0"/>
              <a:t>), </a:t>
            </a:r>
            <a:r>
              <a:rPr lang="nl-NL" dirty="0" err="1"/>
              <a:t>then</a:t>
            </a:r>
            <a:r>
              <a:rPr lang="nl-NL" dirty="0"/>
              <a:t> the action (=</a:t>
            </a:r>
            <a:r>
              <a:rPr lang="nl-NL" b="1" dirty="0" err="1">
                <a:solidFill>
                  <a:srgbClr val="00B050"/>
                </a:solidFill>
              </a:rPr>
              <a:t>verb</a:t>
            </a:r>
            <a:r>
              <a:rPr lang="nl-NL" dirty="0"/>
              <a:t>)</a:t>
            </a:r>
          </a:p>
          <a:p>
            <a:pPr lvl="1"/>
            <a:r>
              <a:rPr lang="nl-NL" b="1" dirty="0">
                <a:solidFill>
                  <a:schemeClr val="accent2"/>
                </a:solidFill>
              </a:rPr>
              <a:t>He</a:t>
            </a:r>
            <a:r>
              <a:rPr lang="nl-NL" dirty="0"/>
              <a:t> </a:t>
            </a:r>
            <a:r>
              <a:rPr lang="nl-NL" b="1" dirty="0" err="1">
                <a:solidFill>
                  <a:srgbClr val="00B050"/>
                </a:solidFill>
              </a:rPr>
              <a:t>walks</a:t>
            </a:r>
            <a:r>
              <a:rPr lang="nl-NL" dirty="0"/>
              <a:t>		</a:t>
            </a:r>
            <a:r>
              <a:rPr lang="nl-NL" b="1" dirty="0">
                <a:solidFill>
                  <a:schemeClr val="accent2"/>
                </a:solidFill>
              </a:rPr>
              <a:t>hij</a:t>
            </a:r>
            <a:r>
              <a:rPr lang="nl-NL" dirty="0"/>
              <a:t> </a:t>
            </a:r>
            <a:r>
              <a:rPr lang="nl-NL" b="1" dirty="0">
                <a:solidFill>
                  <a:srgbClr val="00B050"/>
                </a:solidFill>
              </a:rPr>
              <a:t>loopt</a:t>
            </a:r>
          </a:p>
          <a:p>
            <a:pPr lvl="1"/>
            <a:r>
              <a:rPr lang="nl-NL" b="1" dirty="0">
                <a:solidFill>
                  <a:schemeClr val="accent2"/>
                </a:solidFill>
              </a:rPr>
              <a:t>I</a:t>
            </a:r>
            <a:r>
              <a:rPr lang="nl-NL" dirty="0"/>
              <a:t> </a:t>
            </a:r>
            <a:r>
              <a:rPr lang="nl-NL" b="1" dirty="0" err="1">
                <a:solidFill>
                  <a:srgbClr val="00B050"/>
                </a:solidFill>
              </a:rPr>
              <a:t>can</a:t>
            </a:r>
            <a:r>
              <a:rPr lang="nl-NL" dirty="0"/>
              <a:t>		</a:t>
            </a:r>
            <a:r>
              <a:rPr lang="nl-NL" b="1" dirty="0">
                <a:solidFill>
                  <a:schemeClr val="accent2"/>
                </a:solidFill>
              </a:rPr>
              <a:t>ik</a:t>
            </a:r>
            <a:r>
              <a:rPr lang="nl-NL" dirty="0"/>
              <a:t> </a:t>
            </a:r>
            <a:r>
              <a:rPr lang="nl-NL" b="1" dirty="0">
                <a:solidFill>
                  <a:srgbClr val="00B050"/>
                </a:solidFill>
              </a:rPr>
              <a:t>kan</a:t>
            </a:r>
          </a:p>
          <a:p>
            <a:pPr lvl="1"/>
            <a:endParaRPr lang="nl-NL" dirty="0"/>
          </a:p>
          <a:p>
            <a:pPr marL="457200" lvl="1" indent="0">
              <a:buNone/>
            </a:pPr>
            <a:endParaRPr lang="nl-NL" dirty="0"/>
          </a:p>
          <a:p>
            <a:r>
              <a:rPr lang="nl-NL" dirty="0"/>
              <a:t>More </a:t>
            </a:r>
            <a:r>
              <a:rPr lang="nl-NL" dirty="0" err="1"/>
              <a:t>than</a:t>
            </a:r>
            <a:r>
              <a:rPr lang="nl-NL" dirty="0"/>
              <a:t> </a:t>
            </a:r>
            <a:r>
              <a:rPr lang="nl-NL" dirty="0" err="1"/>
              <a:t>one</a:t>
            </a:r>
            <a:r>
              <a:rPr lang="nl-NL" dirty="0"/>
              <a:t> </a:t>
            </a:r>
            <a:r>
              <a:rPr lang="nl-NL" dirty="0" err="1"/>
              <a:t>verb</a:t>
            </a:r>
            <a:r>
              <a:rPr lang="nl-NL" dirty="0"/>
              <a:t> is </a:t>
            </a:r>
            <a:r>
              <a:rPr lang="nl-NL" dirty="0" err="1"/>
              <a:t>possible</a:t>
            </a:r>
            <a:endParaRPr lang="nl-NL" dirty="0"/>
          </a:p>
          <a:p>
            <a:pPr lvl="1"/>
            <a:r>
              <a:rPr lang="nl-NL" b="1" dirty="0">
                <a:solidFill>
                  <a:schemeClr val="accent2"/>
                </a:solidFill>
              </a:rPr>
              <a:t>He</a:t>
            </a:r>
            <a:r>
              <a:rPr lang="nl-NL" dirty="0"/>
              <a:t> </a:t>
            </a:r>
            <a:r>
              <a:rPr lang="nl-NL" b="1" dirty="0">
                <a:solidFill>
                  <a:srgbClr val="00B050"/>
                </a:solidFill>
              </a:rPr>
              <a:t>has </a:t>
            </a:r>
            <a:r>
              <a:rPr lang="nl-NL" b="1" dirty="0" err="1">
                <a:solidFill>
                  <a:srgbClr val="00B050"/>
                </a:solidFill>
              </a:rPr>
              <a:t>walked</a:t>
            </a:r>
            <a:r>
              <a:rPr lang="nl-NL" dirty="0">
                <a:solidFill>
                  <a:srgbClr val="00B050"/>
                </a:solidFill>
              </a:rPr>
              <a:t>	</a:t>
            </a:r>
            <a:r>
              <a:rPr lang="nl-NL" dirty="0"/>
              <a:t>	</a:t>
            </a:r>
            <a:r>
              <a:rPr lang="nl-NL" b="1" dirty="0">
                <a:solidFill>
                  <a:schemeClr val="accent2"/>
                </a:solidFill>
              </a:rPr>
              <a:t>hij</a:t>
            </a:r>
            <a:r>
              <a:rPr lang="nl-NL" dirty="0"/>
              <a:t> </a:t>
            </a:r>
            <a:r>
              <a:rPr lang="nl-NL" b="1" dirty="0">
                <a:solidFill>
                  <a:srgbClr val="00B050"/>
                </a:solidFill>
              </a:rPr>
              <a:t>heeft gelopen</a:t>
            </a:r>
          </a:p>
          <a:p>
            <a:pPr lvl="1"/>
            <a:r>
              <a:rPr lang="nl-NL" b="1" dirty="0">
                <a:solidFill>
                  <a:schemeClr val="accent2"/>
                </a:solidFill>
              </a:rPr>
              <a:t>I</a:t>
            </a:r>
            <a:r>
              <a:rPr lang="nl-NL" dirty="0"/>
              <a:t> </a:t>
            </a:r>
            <a:r>
              <a:rPr lang="nl-NL" b="1" dirty="0" err="1">
                <a:solidFill>
                  <a:srgbClr val="00B050"/>
                </a:solidFill>
              </a:rPr>
              <a:t>can</a:t>
            </a:r>
            <a:r>
              <a:rPr lang="nl-NL" b="1" dirty="0">
                <a:solidFill>
                  <a:srgbClr val="00B050"/>
                </a:solidFill>
              </a:rPr>
              <a:t> </a:t>
            </a:r>
            <a:r>
              <a:rPr lang="nl-NL" b="1" dirty="0" err="1">
                <a:solidFill>
                  <a:srgbClr val="00B050"/>
                </a:solidFill>
              </a:rPr>
              <a:t>see</a:t>
            </a:r>
            <a:r>
              <a:rPr lang="nl-NL" dirty="0"/>
              <a:t>			</a:t>
            </a:r>
            <a:r>
              <a:rPr lang="nl-NL" b="1" dirty="0">
                <a:solidFill>
                  <a:schemeClr val="accent2"/>
                </a:solidFill>
              </a:rPr>
              <a:t>Ik</a:t>
            </a:r>
            <a:r>
              <a:rPr lang="nl-NL" dirty="0"/>
              <a:t> </a:t>
            </a:r>
            <a:r>
              <a:rPr lang="nl-NL" b="1" dirty="0">
                <a:solidFill>
                  <a:srgbClr val="00B050"/>
                </a:solidFill>
              </a:rPr>
              <a:t>kan zien</a:t>
            </a:r>
          </a:p>
          <a:p>
            <a:endParaRPr lang="nl-NL" dirty="0"/>
          </a:p>
          <a:p>
            <a:endParaRPr lang="nl-NL" dirty="0"/>
          </a:p>
        </p:txBody>
      </p:sp>
      <p:sp>
        <p:nvSpPr>
          <p:cNvPr id="2" name="Rechthoek 1"/>
          <p:cNvSpPr/>
          <p:nvPr/>
        </p:nvSpPr>
        <p:spPr>
          <a:xfrm>
            <a:off x="2651204" y="5379209"/>
            <a:ext cx="59680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nl-NL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0000"/>
                </a:solidFill>
              </a:rPr>
              <a:t>Subject-</a:t>
            </a:r>
            <a:r>
              <a:rPr lang="nl-NL" sz="5400" b="1" dirty="0" err="1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0000"/>
                </a:solidFill>
              </a:rPr>
              <a:t>Verb</a:t>
            </a:r>
            <a:r>
              <a:rPr lang="nl-NL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0000"/>
                </a:solidFill>
              </a:rPr>
              <a:t>-Object</a:t>
            </a:r>
          </a:p>
        </p:txBody>
      </p:sp>
    </p:spTree>
    <p:extLst>
      <p:ext uri="{BB962C8B-B14F-4D97-AF65-F5344CB8AC3E}">
        <p14:creationId xmlns:p14="http://schemas.microsoft.com/office/powerpoint/2010/main" val="2611794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1710814" y="1845734"/>
            <a:ext cx="9330812" cy="4023360"/>
          </a:xfrm>
        </p:spPr>
        <p:txBody>
          <a:bodyPr/>
          <a:lstStyle/>
          <a:p>
            <a:r>
              <a:rPr lang="nl-NL" dirty="0"/>
              <a:t>Word order is </a:t>
            </a:r>
            <a:r>
              <a:rPr lang="nl-NL" dirty="0" err="1"/>
              <a:t>always</a:t>
            </a:r>
            <a:r>
              <a:rPr lang="nl-NL" dirty="0"/>
              <a:t> like </a:t>
            </a:r>
            <a:r>
              <a:rPr lang="nl-NL" dirty="0" err="1"/>
              <a:t>that</a:t>
            </a:r>
            <a:r>
              <a:rPr lang="nl-NL" dirty="0"/>
              <a:t> in English (</a:t>
            </a:r>
            <a:r>
              <a:rPr lang="nl-NL" dirty="0" err="1"/>
              <a:t>not</a:t>
            </a:r>
            <a:r>
              <a:rPr lang="nl-NL" dirty="0"/>
              <a:t> in Dutch!)</a:t>
            </a:r>
          </a:p>
          <a:p>
            <a:pPr lvl="1"/>
            <a:r>
              <a:rPr lang="nl-NL" dirty="0" err="1"/>
              <a:t>Then</a:t>
            </a:r>
            <a:r>
              <a:rPr lang="nl-NL" dirty="0"/>
              <a:t> </a:t>
            </a:r>
            <a:r>
              <a:rPr lang="nl-NL" b="1" dirty="0">
                <a:solidFill>
                  <a:schemeClr val="accent2"/>
                </a:solidFill>
              </a:rPr>
              <a:t>he</a:t>
            </a:r>
            <a:r>
              <a:rPr lang="nl-NL" b="1" dirty="0"/>
              <a:t> </a:t>
            </a:r>
            <a:r>
              <a:rPr lang="nl-NL" b="1" dirty="0" err="1">
                <a:solidFill>
                  <a:srgbClr val="00B050"/>
                </a:solidFill>
              </a:rPr>
              <a:t>walks</a:t>
            </a:r>
            <a:r>
              <a:rPr lang="nl-NL" b="1" dirty="0"/>
              <a:t>	</a:t>
            </a:r>
            <a:r>
              <a:rPr lang="nl-NL" dirty="0"/>
              <a:t>		Dan </a:t>
            </a:r>
            <a:r>
              <a:rPr lang="nl-NL" b="1" dirty="0">
                <a:solidFill>
                  <a:srgbClr val="00B050"/>
                </a:solidFill>
              </a:rPr>
              <a:t>loopt</a:t>
            </a:r>
            <a:r>
              <a:rPr lang="nl-NL" b="1" dirty="0"/>
              <a:t> </a:t>
            </a:r>
            <a:r>
              <a:rPr lang="nl-NL" b="1" dirty="0">
                <a:solidFill>
                  <a:schemeClr val="accent2"/>
                </a:solidFill>
              </a:rPr>
              <a:t>hij</a:t>
            </a:r>
          </a:p>
          <a:p>
            <a:pPr lvl="1"/>
            <a:r>
              <a:rPr lang="nl-NL" dirty="0" err="1"/>
              <a:t>Eventually</a:t>
            </a:r>
            <a:r>
              <a:rPr lang="nl-NL" dirty="0"/>
              <a:t> </a:t>
            </a:r>
            <a:r>
              <a:rPr lang="nl-NL" b="1" dirty="0">
                <a:solidFill>
                  <a:schemeClr val="accent2"/>
                </a:solidFill>
              </a:rPr>
              <a:t>I</a:t>
            </a:r>
            <a:r>
              <a:rPr lang="nl-NL" b="1" dirty="0"/>
              <a:t> </a:t>
            </a:r>
            <a:r>
              <a:rPr lang="nl-NL" b="1" dirty="0" err="1">
                <a:solidFill>
                  <a:srgbClr val="00B050"/>
                </a:solidFill>
              </a:rPr>
              <a:t>see</a:t>
            </a:r>
            <a:r>
              <a:rPr lang="nl-NL" b="1" dirty="0"/>
              <a:t>	</a:t>
            </a:r>
            <a:r>
              <a:rPr lang="nl-NL" dirty="0"/>
              <a:t>		Uiteindelijk </a:t>
            </a:r>
            <a:r>
              <a:rPr lang="nl-NL" b="1" dirty="0">
                <a:solidFill>
                  <a:srgbClr val="00B050"/>
                </a:solidFill>
              </a:rPr>
              <a:t>zie</a:t>
            </a:r>
            <a:r>
              <a:rPr lang="nl-NL" b="1" dirty="0"/>
              <a:t> </a:t>
            </a:r>
            <a:r>
              <a:rPr lang="nl-NL" b="1" dirty="0">
                <a:solidFill>
                  <a:schemeClr val="accent2"/>
                </a:solidFill>
              </a:rPr>
              <a:t>ik</a:t>
            </a:r>
          </a:p>
          <a:p>
            <a:pPr lvl="1"/>
            <a:endParaRPr lang="nl-NL" dirty="0"/>
          </a:p>
          <a:p>
            <a:r>
              <a:rPr lang="nl-NL" dirty="0"/>
              <a:t>The </a:t>
            </a:r>
            <a:r>
              <a:rPr lang="nl-NL" dirty="0" err="1"/>
              <a:t>only</a:t>
            </a:r>
            <a:r>
              <a:rPr lang="nl-NL" dirty="0"/>
              <a:t> </a:t>
            </a:r>
            <a:r>
              <a:rPr lang="nl-NL" dirty="0" err="1"/>
              <a:t>exception</a:t>
            </a:r>
            <a:r>
              <a:rPr lang="nl-NL" dirty="0"/>
              <a:t> is in </a:t>
            </a:r>
            <a:r>
              <a:rPr lang="nl-NL" b="1" u="sng" dirty="0"/>
              <a:t>QUESTIONS</a:t>
            </a:r>
          </a:p>
          <a:p>
            <a:pPr lvl="1"/>
            <a:r>
              <a:rPr lang="nl-NL" b="1" dirty="0" err="1">
                <a:solidFill>
                  <a:srgbClr val="00B050"/>
                </a:solidFill>
              </a:rPr>
              <a:t>Can</a:t>
            </a:r>
            <a:r>
              <a:rPr lang="nl-NL" b="1" dirty="0"/>
              <a:t> </a:t>
            </a:r>
            <a:r>
              <a:rPr lang="nl-NL" b="1" dirty="0">
                <a:solidFill>
                  <a:schemeClr val="accent2"/>
                </a:solidFill>
              </a:rPr>
              <a:t>I</a:t>
            </a:r>
            <a:r>
              <a:rPr lang="nl-NL" dirty="0"/>
              <a:t>?			</a:t>
            </a:r>
            <a:r>
              <a:rPr lang="nl-NL" b="1" dirty="0">
                <a:solidFill>
                  <a:srgbClr val="00B050"/>
                </a:solidFill>
              </a:rPr>
              <a:t>Kan</a:t>
            </a:r>
            <a:r>
              <a:rPr lang="nl-NL" b="1" dirty="0"/>
              <a:t> </a:t>
            </a:r>
            <a:r>
              <a:rPr lang="nl-NL" b="1" dirty="0">
                <a:solidFill>
                  <a:schemeClr val="accent2"/>
                </a:solidFill>
              </a:rPr>
              <a:t>ik</a:t>
            </a:r>
            <a:r>
              <a:rPr lang="nl-NL" dirty="0"/>
              <a:t>?</a:t>
            </a:r>
          </a:p>
          <a:p>
            <a:r>
              <a:rPr lang="nl-NL" dirty="0" err="1"/>
              <a:t>But</a:t>
            </a:r>
            <a:r>
              <a:rPr lang="nl-NL" dirty="0"/>
              <a:t> </a:t>
            </a:r>
            <a:r>
              <a:rPr lang="nl-NL" dirty="0" err="1"/>
              <a:t>note</a:t>
            </a:r>
            <a:r>
              <a:rPr lang="nl-NL" dirty="0"/>
              <a:t>:</a:t>
            </a:r>
          </a:p>
          <a:p>
            <a:pPr lvl="1"/>
            <a:r>
              <a:rPr lang="nl-NL" b="1" dirty="0">
                <a:solidFill>
                  <a:srgbClr val="00B050"/>
                </a:solidFill>
              </a:rPr>
              <a:t>Does</a:t>
            </a:r>
            <a:r>
              <a:rPr lang="nl-NL" dirty="0"/>
              <a:t> </a:t>
            </a:r>
            <a:r>
              <a:rPr lang="nl-NL" b="1" dirty="0">
                <a:solidFill>
                  <a:schemeClr val="accent2"/>
                </a:solidFill>
              </a:rPr>
              <a:t>he</a:t>
            </a:r>
            <a:r>
              <a:rPr lang="nl-NL" b="1" dirty="0"/>
              <a:t> </a:t>
            </a:r>
            <a:r>
              <a:rPr lang="nl-NL" b="1" dirty="0">
                <a:solidFill>
                  <a:srgbClr val="00B050"/>
                </a:solidFill>
              </a:rPr>
              <a:t>walk</a:t>
            </a:r>
            <a:r>
              <a:rPr lang="nl-NL" dirty="0"/>
              <a:t>?		</a:t>
            </a:r>
            <a:r>
              <a:rPr lang="nl-NL" b="1" dirty="0">
                <a:solidFill>
                  <a:srgbClr val="00B050"/>
                </a:solidFill>
              </a:rPr>
              <a:t>Loopt</a:t>
            </a:r>
            <a:r>
              <a:rPr lang="nl-NL" b="1" dirty="0"/>
              <a:t> </a:t>
            </a:r>
            <a:r>
              <a:rPr lang="nl-NL" b="1" dirty="0">
                <a:solidFill>
                  <a:schemeClr val="accent2"/>
                </a:solidFill>
              </a:rPr>
              <a:t>hij</a:t>
            </a:r>
            <a:r>
              <a:rPr lang="nl-NL" dirty="0"/>
              <a:t>?</a:t>
            </a:r>
          </a:p>
        </p:txBody>
      </p:sp>
      <p:sp>
        <p:nvSpPr>
          <p:cNvPr id="4" name="Rechthoek 1">
            <a:extLst>
              <a:ext uri="{FF2B5EF4-FFF2-40B4-BE49-F238E27FC236}">
                <a16:creationId xmlns:a16="http://schemas.microsoft.com/office/drawing/2014/main" id="{C3466502-75E3-7F05-1877-0466F4AA4CB0}"/>
              </a:ext>
            </a:extLst>
          </p:cNvPr>
          <p:cNvSpPr/>
          <p:nvPr/>
        </p:nvSpPr>
        <p:spPr>
          <a:xfrm>
            <a:off x="2906843" y="384422"/>
            <a:ext cx="59680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0000"/>
                </a:solidFill>
              </a:rPr>
              <a:t>Subject-Verb-Object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Word order </a:t>
            </a:r>
            <a:r>
              <a:rPr lang="nl-NL" dirty="0" err="1"/>
              <a:t>with</a:t>
            </a:r>
            <a:r>
              <a:rPr lang="nl-NL" dirty="0"/>
              <a:t> </a:t>
            </a:r>
            <a:r>
              <a:rPr lang="nl-NL" dirty="0" err="1">
                <a:solidFill>
                  <a:srgbClr val="0070C0"/>
                </a:solidFill>
              </a:rPr>
              <a:t>objects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 err="1"/>
              <a:t>Sometimes</a:t>
            </a:r>
            <a:r>
              <a:rPr lang="nl-NL" dirty="0"/>
              <a:t> a </a:t>
            </a:r>
            <a:r>
              <a:rPr lang="nl-NL" dirty="0" err="1"/>
              <a:t>sentence</a:t>
            </a:r>
            <a:r>
              <a:rPr lang="nl-NL" dirty="0"/>
              <a:t> </a:t>
            </a:r>
            <a:r>
              <a:rPr lang="nl-NL" dirty="0" err="1"/>
              <a:t>also</a:t>
            </a:r>
            <a:r>
              <a:rPr lang="nl-NL" dirty="0"/>
              <a:t> </a:t>
            </a:r>
            <a:r>
              <a:rPr lang="nl-NL" dirty="0" err="1"/>
              <a:t>contains</a:t>
            </a:r>
            <a:r>
              <a:rPr lang="nl-NL" dirty="0"/>
              <a:t> the </a:t>
            </a:r>
            <a:r>
              <a:rPr lang="nl-NL" dirty="0" err="1"/>
              <a:t>thing</a:t>
            </a:r>
            <a:r>
              <a:rPr lang="nl-NL" dirty="0"/>
              <a:t>/</a:t>
            </a:r>
            <a:r>
              <a:rPr lang="nl-NL" dirty="0" err="1"/>
              <a:t>person</a:t>
            </a:r>
            <a:r>
              <a:rPr lang="nl-NL" dirty="0"/>
              <a:t> </a:t>
            </a:r>
            <a:r>
              <a:rPr lang="nl-NL" dirty="0" err="1"/>
              <a:t>undergoing</a:t>
            </a:r>
            <a:r>
              <a:rPr lang="nl-NL" dirty="0"/>
              <a:t> the </a:t>
            </a:r>
            <a:r>
              <a:rPr lang="nl-NL" dirty="0" err="1"/>
              <a:t>action</a:t>
            </a:r>
            <a:r>
              <a:rPr lang="nl-NL" dirty="0"/>
              <a:t> (= </a:t>
            </a:r>
            <a:r>
              <a:rPr lang="nl-NL" dirty="0">
                <a:solidFill>
                  <a:srgbClr val="0070C0"/>
                </a:solidFill>
              </a:rPr>
              <a:t>object</a:t>
            </a:r>
            <a:r>
              <a:rPr lang="nl-NL" dirty="0"/>
              <a:t> (lijdend voorwerp))</a:t>
            </a:r>
          </a:p>
          <a:p>
            <a:r>
              <a:rPr lang="nl-NL" dirty="0" err="1"/>
              <a:t>Normal</a:t>
            </a:r>
            <a:r>
              <a:rPr lang="nl-NL" dirty="0"/>
              <a:t> order the </a:t>
            </a:r>
            <a:r>
              <a:rPr lang="nl-NL" dirty="0" err="1"/>
              <a:t>same</a:t>
            </a:r>
            <a:r>
              <a:rPr lang="nl-NL" dirty="0"/>
              <a:t> in Dutch and </a:t>
            </a:r>
            <a:r>
              <a:rPr lang="nl-NL" dirty="0" err="1"/>
              <a:t>English</a:t>
            </a:r>
            <a:endParaRPr lang="nl-NL" dirty="0"/>
          </a:p>
          <a:p>
            <a:pPr lvl="1"/>
            <a:r>
              <a:rPr lang="nl-NL" dirty="0">
                <a:solidFill>
                  <a:srgbClr val="FF0000"/>
                </a:solidFill>
              </a:rPr>
              <a:t>I</a:t>
            </a:r>
            <a:r>
              <a:rPr lang="nl-NL" dirty="0"/>
              <a:t> </a:t>
            </a:r>
            <a:r>
              <a:rPr lang="nl-NL" dirty="0" err="1">
                <a:solidFill>
                  <a:srgbClr val="00B050"/>
                </a:solidFill>
              </a:rPr>
              <a:t>see</a:t>
            </a:r>
            <a:r>
              <a:rPr lang="nl-NL" dirty="0"/>
              <a:t> </a:t>
            </a:r>
            <a:r>
              <a:rPr lang="nl-NL" dirty="0" err="1">
                <a:solidFill>
                  <a:srgbClr val="0070C0"/>
                </a:solidFill>
              </a:rPr>
              <a:t>him</a:t>
            </a:r>
            <a:r>
              <a:rPr lang="nl-NL" dirty="0"/>
              <a:t>			</a:t>
            </a:r>
            <a:r>
              <a:rPr lang="nl-NL" i="1" dirty="0">
                <a:solidFill>
                  <a:srgbClr val="FF0000"/>
                </a:solidFill>
              </a:rPr>
              <a:t>ik</a:t>
            </a:r>
            <a:r>
              <a:rPr lang="nl-NL" i="1" dirty="0"/>
              <a:t> </a:t>
            </a:r>
            <a:r>
              <a:rPr lang="nl-NL" i="1" dirty="0">
                <a:solidFill>
                  <a:srgbClr val="00B050"/>
                </a:solidFill>
              </a:rPr>
              <a:t>zie</a:t>
            </a:r>
            <a:r>
              <a:rPr lang="nl-NL" i="1" dirty="0"/>
              <a:t> </a:t>
            </a:r>
            <a:r>
              <a:rPr lang="nl-NL" i="1" dirty="0">
                <a:solidFill>
                  <a:srgbClr val="0070C0"/>
                </a:solidFill>
              </a:rPr>
              <a:t>hem</a:t>
            </a:r>
          </a:p>
          <a:p>
            <a:pPr marL="366713" lvl="1" indent="0">
              <a:buNone/>
            </a:pPr>
            <a:endParaRPr lang="nl-NL" i="1" dirty="0">
              <a:solidFill>
                <a:srgbClr val="0070C0"/>
              </a:solidFill>
            </a:endParaRPr>
          </a:p>
          <a:p>
            <a:r>
              <a:rPr lang="nl-NL" dirty="0"/>
              <a:t>In </a:t>
            </a:r>
            <a:r>
              <a:rPr lang="nl-NL" dirty="0" err="1"/>
              <a:t>English</a:t>
            </a:r>
            <a:r>
              <a:rPr lang="nl-NL" dirty="0"/>
              <a:t> all the </a:t>
            </a:r>
            <a:r>
              <a:rPr lang="nl-NL" dirty="0" err="1"/>
              <a:t>verbs</a:t>
            </a:r>
            <a:r>
              <a:rPr lang="nl-NL" dirty="0"/>
              <a:t> are </a:t>
            </a:r>
            <a:r>
              <a:rPr lang="nl-NL" dirty="0" err="1"/>
              <a:t>together</a:t>
            </a:r>
            <a:endParaRPr lang="nl-NL" dirty="0"/>
          </a:p>
          <a:p>
            <a:pPr lvl="1"/>
            <a:r>
              <a:rPr lang="nl-NL" dirty="0">
                <a:solidFill>
                  <a:srgbClr val="FF0000"/>
                </a:solidFill>
              </a:rPr>
              <a:t>I </a:t>
            </a:r>
            <a:r>
              <a:rPr lang="nl-NL" dirty="0">
                <a:solidFill>
                  <a:srgbClr val="00B050"/>
                </a:solidFill>
              </a:rPr>
              <a:t>have </a:t>
            </a:r>
            <a:r>
              <a:rPr lang="nl-NL" dirty="0" err="1">
                <a:solidFill>
                  <a:srgbClr val="00B050"/>
                </a:solidFill>
              </a:rPr>
              <a:t>seen</a:t>
            </a:r>
            <a:r>
              <a:rPr lang="nl-NL" dirty="0">
                <a:solidFill>
                  <a:srgbClr val="00B050"/>
                </a:solidFill>
              </a:rPr>
              <a:t> </a:t>
            </a:r>
            <a:r>
              <a:rPr lang="nl-NL" dirty="0" err="1">
                <a:solidFill>
                  <a:srgbClr val="0070C0"/>
                </a:solidFill>
              </a:rPr>
              <a:t>him</a:t>
            </a:r>
            <a:r>
              <a:rPr lang="nl-NL" dirty="0"/>
              <a:t>	</a:t>
            </a:r>
            <a:r>
              <a:rPr lang="nl-NL" i="1" dirty="0">
                <a:solidFill>
                  <a:srgbClr val="FF0000"/>
                </a:solidFill>
              </a:rPr>
              <a:t>ik</a:t>
            </a:r>
            <a:r>
              <a:rPr lang="nl-NL" i="1" dirty="0"/>
              <a:t> </a:t>
            </a:r>
            <a:r>
              <a:rPr lang="nl-NL" i="1" dirty="0">
                <a:solidFill>
                  <a:srgbClr val="00B050"/>
                </a:solidFill>
              </a:rPr>
              <a:t>heb </a:t>
            </a:r>
            <a:r>
              <a:rPr lang="nl-NL" i="1" dirty="0">
                <a:solidFill>
                  <a:srgbClr val="0070C0"/>
                </a:solidFill>
              </a:rPr>
              <a:t>hem</a:t>
            </a:r>
            <a:r>
              <a:rPr lang="nl-NL" i="1" dirty="0">
                <a:solidFill>
                  <a:srgbClr val="00B050"/>
                </a:solidFill>
              </a:rPr>
              <a:t> gezien</a:t>
            </a:r>
          </a:p>
          <a:p>
            <a:pPr lvl="1"/>
            <a:r>
              <a:rPr lang="nl-NL" dirty="0">
                <a:solidFill>
                  <a:srgbClr val="FF0000"/>
                </a:solidFill>
              </a:rPr>
              <a:t>I</a:t>
            </a:r>
            <a:r>
              <a:rPr lang="nl-NL" dirty="0"/>
              <a:t> </a:t>
            </a:r>
            <a:r>
              <a:rPr lang="nl-NL" dirty="0" err="1">
                <a:solidFill>
                  <a:srgbClr val="00B050"/>
                </a:solidFill>
              </a:rPr>
              <a:t>can</a:t>
            </a:r>
            <a:r>
              <a:rPr lang="nl-NL" dirty="0">
                <a:solidFill>
                  <a:srgbClr val="00B050"/>
                </a:solidFill>
              </a:rPr>
              <a:t> </a:t>
            </a:r>
            <a:r>
              <a:rPr lang="nl-NL" dirty="0" err="1">
                <a:solidFill>
                  <a:srgbClr val="00B050"/>
                </a:solidFill>
              </a:rPr>
              <a:t>see</a:t>
            </a:r>
            <a:r>
              <a:rPr lang="nl-NL" dirty="0">
                <a:solidFill>
                  <a:srgbClr val="00B050"/>
                </a:solidFill>
              </a:rPr>
              <a:t> </a:t>
            </a:r>
            <a:r>
              <a:rPr lang="nl-NL" dirty="0" err="1">
                <a:solidFill>
                  <a:srgbClr val="0070C0"/>
                </a:solidFill>
              </a:rPr>
              <a:t>him</a:t>
            </a:r>
            <a:r>
              <a:rPr lang="nl-NL" dirty="0"/>
              <a:t>		</a:t>
            </a:r>
            <a:r>
              <a:rPr lang="nl-NL" i="1" dirty="0">
                <a:solidFill>
                  <a:srgbClr val="FF0000"/>
                </a:solidFill>
              </a:rPr>
              <a:t>ik</a:t>
            </a:r>
            <a:r>
              <a:rPr lang="nl-NL" i="1" dirty="0"/>
              <a:t> </a:t>
            </a:r>
            <a:r>
              <a:rPr lang="nl-NL" i="1" dirty="0">
                <a:solidFill>
                  <a:srgbClr val="00B050"/>
                </a:solidFill>
              </a:rPr>
              <a:t>kan </a:t>
            </a:r>
            <a:r>
              <a:rPr lang="nl-NL" i="1" dirty="0">
                <a:solidFill>
                  <a:srgbClr val="0070C0"/>
                </a:solidFill>
              </a:rPr>
              <a:t>hem</a:t>
            </a:r>
            <a:r>
              <a:rPr lang="nl-NL" i="1" dirty="0">
                <a:solidFill>
                  <a:srgbClr val="00B050"/>
                </a:solidFill>
              </a:rPr>
              <a:t> zien</a:t>
            </a:r>
            <a:endParaRPr lang="nl-NL" dirty="0">
              <a:solidFill>
                <a:srgbClr val="00B050"/>
              </a:solidFill>
            </a:endParaRPr>
          </a:p>
          <a:p>
            <a:pPr lvl="1"/>
            <a:endParaRPr lang="nl-NL" dirty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Word order with </a:t>
            </a:r>
            <a:r>
              <a:rPr lang="en-US" dirty="0">
                <a:solidFill>
                  <a:srgbClr val="0070C0"/>
                </a:solidFill>
              </a:rPr>
              <a:t>objects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nl-NL" dirty="0"/>
              <a:t>In English the </a:t>
            </a:r>
            <a:r>
              <a:rPr lang="nl-NL" dirty="0" err="1">
                <a:solidFill>
                  <a:srgbClr val="00B050"/>
                </a:solidFill>
              </a:rPr>
              <a:t>verb</a:t>
            </a:r>
            <a:r>
              <a:rPr lang="nl-NL" dirty="0"/>
              <a:t> </a:t>
            </a:r>
            <a:r>
              <a:rPr lang="nl-NL" dirty="0" err="1"/>
              <a:t>always</a:t>
            </a:r>
            <a:r>
              <a:rPr lang="nl-NL" dirty="0"/>
              <a:t> comes </a:t>
            </a:r>
            <a:r>
              <a:rPr lang="nl-NL" dirty="0" err="1"/>
              <a:t>before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>
                <a:solidFill>
                  <a:srgbClr val="0070C0"/>
                </a:solidFill>
              </a:rPr>
              <a:t>object</a:t>
            </a:r>
          </a:p>
          <a:p>
            <a:pPr marL="640715" lvl="1" indent="-320040">
              <a:defRPr/>
            </a:pPr>
            <a:r>
              <a:rPr lang="nl-NL" dirty="0" err="1"/>
              <a:t>Because</a:t>
            </a:r>
            <a:r>
              <a:rPr lang="nl-NL" dirty="0"/>
              <a:t> </a:t>
            </a:r>
            <a:r>
              <a:rPr lang="nl-NL" dirty="0">
                <a:solidFill>
                  <a:srgbClr val="FF0000"/>
                </a:solidFill>
              </a:rPr>
              <a:t>I</a:t>
            </a:r>
            <a:r>
              <a:rPr lang="nl-NL" dirty="0"/>
              <a:t> </a:t>
            </a:r>
            <a:r>
              <a:rPr lang="nl-NL" dirty="0" err="1">
                <a:solidFill>
                  <a:srgbClr val="00B050"/>
                </a:solidFill>
              </a:rPr>
              <a:t>see</a:t>
            </a:r>
            <a:r>
              <a:rPr lang="nl-NL" dirty="0"/>
              <a:t> </a:t>
            </a:r>
            <a:r>
              <a:rPr lang="nl-NL" dirty="0" err="1">
                <a:solidFill>
                  <a:srgbClr val="0070C0"/>
                </a:solidFill>
              </a:rPr>
              <a:t>him</a:t>
            </a:r>
            <a:r>
              <a:rPr lang="nl-NL" dirty="0"/>
              <a:t>		</a:t>
            </a:r>
            <a:r>
              <a:rPr lang="nl-NL" i="1" dirty="0"/>
              <a:t>Omdat </a:t>
            </a:r>
            <a:r>
              <a:rPr lang="nl-NL" i="1" dirty="0">
                <a:solidFill>
                  <a:srgbClr val="FF0000"/>
                </a:solidFill>
              </a:rPr>
              <a:t>ik</a:t>
            </a:r>
            <a:r>
              <a:rPr lang="nl-NL" i="1" dirty="0"/>
              <a:t> </a:t>
            </a:r>
            <a:r>
              <a:rPr lang="nl-NL" i="1" dirty="0">
                <a:solidFill>
                  <a:srgbClr val="0070C0"/>
                </a:solidFill>
              </a:rPr>
              <a:t>hem</a:t>
            </a:r>
            <a:r>
              <a:rPr lang="nl-NL" i="1" dirty="0"/>
              <a:t> </a:t>
            </a:r>
            <a:r>
              <a:rPr lang="nl-NL" i="1" dirty="0">
                <a:solidFill>
                  <a:srgbClr val="00B050"/>
                </a:solidFill>
              </a:rPr>
              <a:t>zie</a:t>
            </a:r>
          </a:p>
          <a:p>
            <a:pPr marL="640715" lvl="1" indent="-320040">
              <a:defRPr/>
            </a:pPr>
            <a:r>
              <a:rPr lang="nl-NL" dirty="0" err="1"/>
              <a:t>Because</a:t>
            </a:r>
            <a:r>
              <a:rPr lang="nl-NL" dirty="0"/>
              <a:t> </a:t>
            </a:r>
            <a:r>
              <a:rPr lang="nl-NL" dirty="0">
                <a:solidFill>
                  <a:srgbClr val="FF0000"/>
                </a:solidFill>
              </a:rPr>
              <a:t>I</a:t>
            </a:r>
            <a:r>
              <a:rPr lang="nl-NL" dirty="0"/>
              <a:t> </a:t>
            </a:r>
            <a:r>
              <a:rPr lang="nl-NL" dirty="0">
                <a:solidFill>
                  <a:srgbClr val="00B050"/>
                </a:solidFill>
              </a:rPr>
              <a:t>have </a:t>
            </a:r>
            <a:r>
              <a:rPr lang="nl-NL" dirty="0" err="1">
                <a:solidFill>
                  <a:srgbClr val="00B050"/>
                </a:solidFill>
              </a:rPr>
              <a:t>seen</a:t>
            </a:r>
            <a:r>
              <a:rPr lang="nl-NL" dirty="0">
                <a:solidFill>
                  <a:srgbClr val="00B050"/>
                </a:solidFill>
              </a:rPr>
              <a:t> </a:t>
            </a:r>
            <a:r>
              <a:rPr lang="nl-NL" dirty="0" err="1">
                <a:solidFill>
                  <a:srgbClr val="0070C0"/>
                </a:solidFill>
              </a:rPr>
              <a:t>him</a:t>
            </a:r>
            <a:r>
              <a:rPr lang="nl-NL" dirty="0"/>
              <a:t>		</a:t>
            </a:r>
            <a:r>
              <a:rPr lang="nl-NL" i="1" dirty="0"/>
              <a:t>Omdat </a:t>
            </a:r>
            <a:r>
              <a:rPr lang="nl-NL" i="1" dirty="0">
                <a:solidFill>
                  <a:srgbClr val="FF0000"/>
                </a:solidFill>
              </a:rPr>
              <a:t>ik</a:t>
            </a:r>
            <a:r>
              <a:rPr lang="nl-NL" i="1" dirty="0"/>
              <a:t> </a:t>
            </a:r>
            <a:r>
              <a:rPr lang="nl-NL" i="1" dirty="0">
                <a:solidFill>
                  <a:srgbClr val="0070C0"/>
                </a:solidFill>
              </a:rPr>
              <a:t>hem</a:t>
            </a:r>
            <a:r>
              <a:rPr lang="nl-NL" i="1" dirty="0"/>
              <a:t> </a:t>
            </a:r>
            <a:r>
              <a:rPr lang="nl-NL" i="1" dirty="0">
                <a:solidFill>
                  <a:srgbClr val="00B050"/>
                </a:solidFill>
              </a:rPr>
              <a:t>heb gezien</a:t>
            </a:r>
          </a:p>
          <a:p>
            <a:pPr marL="320040" indent="-320040">
              <a:defRPr/>
            </a:pPr>
            <a:endParaRPr lang="nl-NL" dirty="0"/>
          </a:p>
          <a:p>
            <a:pPr marL="0" indent="0">
              <a:buNone/>
              <a:defRPr/>
            </a:pPr>
            <a:r>
              <a:rPr lang="nl-NL" dirty="0" err="1"/>
              <a:t>Also</a:t>
            </a:r>
            <a:r>
              <a:rPr lang="nl-NL" dirty="0"/>
              <a:t> </a:t>
            </a:r>
            <a:r>
              <a:rPr lang="nl-NL" dirty="0" err="1"/>
              <a:t>for</a:t>
            </a:r>
            <a:r>
              <a:rPr lang="nl-NL" dirty="0"/>
              <a:t> </a:t>
            </a:r>
            <a:r>
              <a:rPr lang="nl-NL" dirty="0" err="1"/>
              <a:t>questions</a:t>
            </a:r>
            <a:endParaRPr lang="nl-NL" dirty="0"/>
          </a:p>
          <a:p>
            <a:pPr marL="640715" lvl="1" indent="-320040">
              <a:defRPr/>
            </a:pPr>
            <a:r>
              <a:rPr lang="nl-NL" dirty="0"/>
              <a:t>Do </a:t>
            </a:r>
            <a:r>
              <a:rPr lang="nl-NL" dirty="0">
                <a:solidFill>
                  <a:srgbClr val="FF0000"/>
                </a:solidFill>
              </a:rPr>
              <a:t>I</a:t>
            </a:r>
            <a:r>
              <a:rPr lang="nl-NL" dirty="0"/>
              <a:t> </a:t>
            </a:r>
            <a:r>
              <a:rPr lang="nl-NL" dirty="0" err="1">
                <a:solidFill>
                  <a:srgbClr val="00B050"/>
                </a:solidFill>
              </a:rPr>
              <a:t>see</a:t>
            </a:r>
            <a:r>
              <a:rPr lang="nl-NL" dirty="0"/>
              <a:t> </a:t>
            </a:r>
            <a:r>
              <a:rPr lang="nl-NL" dirty="0" err="1">
                <a:solidFill>
                  <a:srgbClr val="0070C0"/>
                </a:solidFill>
              </a:rPr>
              <a:t>him</a:t>
            </a:r>
            <a:r>
              <a:rPr lang="nl-NL" dirty="0"/>
              <a:t>?			</a:t>
            </a:r>
            <a:r>
              <a:rPr lang="nl-NL" i="1" dirty="0">
                <a:solidFill>
                  <a:srgbClr val="00B050"/>
                </a:solidFill>
              </a:rPr>
              <a:t>Zie</a:t>
            </a:r>
            <a:r>
              <a:rPr lang="nl-NL" i="1" dirty="0"/>
              <a:t> </a:t>
            </a:r>
            <a:r>
              <a:rPr lang="nl-NL" i="1" dirty="0">
                <a:solidFill>
                  <a:srgbClr val="FF0000"/>
                </a:solidFill>
              </a:rPr>
              <a:t>ik</a:t>
            </a:r>
            <a:r>
              <a:rPr lang="nl-NL" i="1" dirty="0"/>
              <a:t> </a:t>
            </a:r>
            <a:r>
              <a:rPr lang="nl-NL" i="1" dirty="0">
                <a:solidFill>
                  <a:srgbClr val="0070C0"/>
                </a:solidFill>
              </a:rPr>
              <a:t>hem</a:t>
            </a:r>
            <a:r>
              <a:rPr lang="nl-NL" i="1" dirty="0"/>
              <a:t>?</a:t>
            </a:r>
          </a:p>
          <a:p>
            <a:pPr marL="640715" lvl="1" indent="-320040">
              <a:defRPr/>
            </a:pPr>
            <a:r>
              <a:rPr lang="nl-NL" dirty="0">
                <a:solidFill>
                  <a:srgbClr val="00B050"/>
                </a:solidFill>
              </a:rPr>
              <a:t>Have</a:t>
            </a:r>
            <a:r>
              <a:rPr lang="nl-NL" dirty="0"/>
              <a:t> </a:t>
            </a:r>
            <a:r>
              <a:rPr lang="nl-NL" dirty="0">
                <a:solidFill>
                  <a:srgbClr val="FF0000"/>
                </a:solidFill>
              </a:rPr>
              <a:t>I</a:t>
            </a:r>
            <a:r>
              <a:rPr lang="nl-NL" dirty="0"/>
              <a:t> </a:t>
            </a:r>
            <a:r>
              <a:rPr lang="nl-NL" dirty="0" err="1">
                <a:solidFill>
                  <a:srgbClr val="00B050"/>
                </a:solidFill>
              </a:rPr>
              <a:t>seen</a:t>
            </a:r>
            <a:r>
              <a:rPr lang="nl-NL" dirty="0"/>
              <a:t> </a:t>
            </a:r>
            <a:r>
              <a:rPr lang="nl-NL" dirty="0" err="1">
                <a:solidFill>
                  <a:srgbClr val="0070C0"/>
                </a:solidFill>
              </a:rPr>
              <a:t>him</a:t>
            </a:r>
            <a:r>
              <a:rPr lang="nl-NL" dirty="0"/>
              <a:t>?			</a:t>
            </a:r>
            <a:r>
              <a:rPr lang="nl-NL" i="1" dirty="0">
                <a:solidFill>
                  <a:srgbClr val="00B050"/>
                </a:solidFill>
              </a:rPr>
              <a:t>Heb</a:t>
            </a:r>
            <a:r>
              <a:rPr lang="nl-NL" i="1" dirty="0"/>
              <a:t> </a:t>
            </a:r>
            <a:r>
              <a:rPr lang="nl-NL" i="1" dirty="0">
                <a:solidFill>
                  <a:srgbClr val="FF0000"/>
                </a:solidFill>
              </a:rPr>
              <a:t>ik</a:t>
            </a:r>
            <a:r>
              <a:rPr lang="nl-NL" i="1" dirty="0"/>
              <a:t> </a:t>
            </a:r>
            <a:r>
              <a:rPr lang="nl-NL" i="1" dirty="0">
                <a:solidFill>
                  <a:srgbClr val="0070C0"/>
                </a:solidFill>
              </a:rPr>
              <a:t>hem</a:t>
            </a:r>
            <a:r>
              <a:rPr lang="nl-NL" i="1" dirty="0"/>
              <a:t> </a:t>
            </a:r>
            <a:r>
              <a:rPr lang="nl-NL" i="1" dirty="0">
                <a:solidFill>
                  <a:srgbClr val="00B050"/>
                </a:solidFill>
              </a:rPr>
              <a:t>gezien</a:t>
            </a:r>
            <a:r>
              <a:rPr lang="nl-NL" i="1" dirty="0"/>
              <a:t>?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>
          <a:xfrm>
            <a:off x="1012723" y="260649"/>
            <a:ext cx="10215715" cy="1450757"/>
          </a:xfrm>
        </p:spPr>
        <p:txBody>
          <a:bodyPr>
            <a:normAutofit/>
          </a:bodyPr>
          <a:lstStyle/>
          <a:p>
            <a:pPr eaLnBrk="1" hangingPunct="1"/>
            <a:r>
              <a:rPr lang="en-US" dirty="0"/>
              <a:t>Where to put </a:t>
            </a:r>
            <a:r>
              <a:rPr lang="en-US" dirty="0">
                <a:solidFill>
                  <a:srgbClr val="00B0F0"/>
                </a:solidFill>
              </a:rPr>
              <a:t>words ending in –</a:t>
            </a:r>
            <a:r>
              <a:rPr lang="en-US" dirty="0" err="1">
                <a:solidFill>
                  <a:srgbClr val="00B0F0"/>
                </a:solidFill>
              </a:rPr>
              <a:t>ly</a:t>
            </a:r>
            <a:r>
              <a:rPr lang="en-US" dirty="0">
                <a:solidFill>
                  <a:srgbClr val="00B0F0"/>
                </a:solidFill>
              </a:rPr>
              <a:t> </a:t>
            </a:r>
            <a:r>
              <a:rPr lang="en-US" sz="3200" dirty="0">
                <a:solidFill>
                  <a:srgbClr val="00B0F0"/>
                </a:solidFill>
              </a:rPr>
              <a:t>(adverbs)</a:t>
            </a:r>
            <a:endParaRPr lang="en-US" dirty="0">
              <a:solidFill>
                <a:srgbClr val="00B0F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1445" y="1622324"/>
            <a:ext cx="11238271" cy="4542982"/>
          </a:xfrm>
        </p:spPr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nl-NL" dirty="0"/>
              <a:t>The </a:t>
            </a:r>
            <a:r>
              <a:rPr lang="nl-NL" dirty="0" err="1"/>
              <a:t>normal</a:t>
            </a:r>
            <a:r>
              <a:rPr lang="nl-NL" dirty="0"/>
              <a:t> </a:t>
            </a:r>
            <a:r>
              <a:rPr lang="nl-NL" dirty="0" err="1"/>
              <a:t>place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put </a:t>
            </a:r>
            <a:r>
              <a:rPr lang="nl-NL" dirty="0" err="1"/>
              <a:t>them</a:t>
            </a:r>
            <a:r>
              <a:rPr lang="nl-NL" dirty="0"/>
              <a:t> is right </a:t>
            </a:r>
            <a:r>
              <a:rPr lang="nl-NL" dirty="0" err="1"/>
              <a:t>before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>
                <a:solidFill>
                  <a:srgbClr val="00B050"/>
                </a:solidFill>
              </a:rPr>
              <a:t>verb</a:t>
            </a:r>
            <a:r>
              <a:rPr lang="nl-NL" dirty="0">
                <a:solidFill>
                  <a:srgbClr val="00B050"/>
                </a:solidFill>
              </a:rPr>
              <a:t> </a:t>
            </a:r>
            <a:r>
              <a:rPr lang="nl-NL" dirty="0"/>
              <a:t>(</a:t>
            </a:r>
            <a:r>
              <a:rPr lang="nl-NL" dirty="0" err="1"/>
              <a:t>this</a:t>
            </a:r>
            <a:r>
              <a:rPr lang="nl-NL" dirty="0"/>
              <a:t> </a:t>
            </a:r>
            <a:r>
              <a:rPr lang="nl-NL" dirty="0" err="1"/>
              <a:t>doesn’t</a:t>
            </a:r>
            <a:r>
              <a:rPr lang="nl-NL" dirty="0"/>
              <a:t> </a:t>
            </a:r>
            <a:r>
              <a:rPr lang="nl-NL" dirty="0" err="1"/>
              <a:t>work</a:t>
            </a:r>
            <a:r>
              <a:rPr lang="nl-NL" dirty="0"/>
              <a:t> in Dutch)</a:t>
            </a:r>
            <a:endParaRPr lang="nl-NL" dirty="0">
              <a:solidFill>
                <a:srgbClr val="00B050"/>
              </a:solidFill>
            </a:endParaRPr>
          </a:p>
          <a:p>
            <a:pPr marL="640715" lvl="1" indent="-320040">
              <a:defRPr/>
            </a:pPr>
            <a:r>
              <a:rPr lang="nl-NL" dirty="0" err="1"/>
              <a:t>She</a:t>
            </a:r>
            <a:r>
              <a:rPr lang="nl-NL" dirty="0"/>
              <a:t> </a:t>
            </a:r>
            <a:r>
              <a:rPr lang="nl-NL" dirty="0" err="1">
                <a:solidFill>
                  <a:srgbClr val="00B0F0"/>
                </a:solidFill>
              </a:rPr>
              <a:t>carefully</a:t>
            </a:r>
            <a:r>
              <a:rPr lang="nl-NL" dirty="0"/>
              <a:t> </a:t>
            </a:r>
            <a:r>
              <a:rPr lang="nl-NL" dirty="0" err="1">
                <a:solidFill>
                  <a:srgbClr val="00B050"/>
                </a:solidFill>
              </a:rPr>
              <a:t>parked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car</a:t>
            </a:r>
            <a:endParaRPr lang="nl-NL" dirty="0"/>
          </a:p>
          <a:p>
            <a:pPr marL="640715" lvl="1" indent="-320040">
              <a:defRPr/>
            </a:pPr>
            <a:r>
              <a:rPr lang="nl-NL" i="1" strike="sngStrike" dirty="0"/>
              <a:t>Ze </a:t>
            </a:r>
            <a:r>
              <a:rPr lang="nl-NL" i="1" strike="sngStrike" dirty="0">
                <a:solidFill>
                  <a:srgbClr val="00B0F0"/>
                </a:solidFill>
              </a:rPr>
              <a:t>voorzichtig</a:t>
            </a:r>
            <a:r>
              <a:rPr lang="nl-NL" i="1" strike="sngStrike" dirty="0"/>
              <a:t> </a:t>
            </a:r>
            <a:r>
              <a:rPr lang="nl-NL" i="1" strike="sngStrike" dirty="0">
                <a:solidFill>
                  <a:srgbClr val="00B050"/>
                </a:solidFill>
              </a:rPr>
              <a:t>parkeerde</a:t>
            </a:r>
            <a:r>
              <a:rPr lang="nl-NL" i="1" strike="sngStrike" dirty="0"/>
              <a:t> de auto</a:t>
            </a:r>
          </a:p>
          <a:p>
            <a:pPr marL="320675" lvl="1" indent="0">
              <a:buNone/>
              <a:defRPr/>
            </a:pPr>
            <a:endParaRPr lang="nl-NL" i="1" strike="sngStrike" dirty="0"/>
          </a:p>
          <a:p>
            <a:pPr marL="0" indent="0">
              <a:buNone/>
              <a:defRPr/>
            </a:pPr>
            <a:r>
              <a:rPr lang="nl-NL" dirty="0"/>
              <a:t>It’s </a:t>
            </a:r>
            <a:r>
              <a:rPr lang="nl-NL" dirty="0" err="1"/>
              <a:t>also</a:t>
            </a:r>
            <a:r>
              <a:rPr lang="nl-NL" dirty="0"/>
              <a:t> </a:t>
            </a:r>
            <a:r>
              <a:rPr lang="nl-NL" dirty="0" err="1"/>
              <a:t>possible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put </a:t>
            </a:r>
            <a:r>
              <a:rPr lang="nl-NL" dirty="0" err="1"/>
              <a:t>it</a:t>
            </a:r>
            <a:r>
              <a:rPr lang="nl-NL" dirty="0"/>
              <a:t> at </a:t>
            </a:r>
            <a:r>
              <a:rPr lang="nl-NL" dirty="0" err="1"/>
              <a:t>the</a:t>
            </a:r>
            <a:r>
              <a:rPr lang="nl-NL" dirty="0"/>
              <a:t> end or </a:t>
            </a:r>
            <a:r>
              <a:rPr lang="nl-NL" dirty="0" err="1"/>
              <a:t>beginning</a:t>
            </a:r>
            <a:r>
              <a:rPr lang="nl-NL" dirty="0"/>
              <a:t> (</a:t>
            </a:r>
            <a:r>
              <a:rPr lang="nl-NL" dirty="0" err="1"/>
              <a:t>also</a:t>
            </a:r>
            <a:r>
              <a:rPr lang="nl-NL" dirty="0"/>
              <a:t> </a:t>
            </a:r>
            <a:r>
              <a:rPr lang="nl-NL" dirty="0" err="1"/>
              <a:t>works</a:t>
            </a:r>
            <a:r>
              <a:rPr lang="nl-NL" dirty="0"/>
              <a:t> in Dutch)</a:t>
            </a:r>
          </a:p>
          <a:p>
            <a:pPr marL="640715" lvl="1" indent="-320040">
              <a:defRPr/>
            </a:pPr>
            <a:r>
              <a:rPr lang="nl-NL" dirty="0" err="1"/>
              <a:t>She</a:t>
            </a:r>
            <a:r>
              <a:rPr lang="nl-NL" dirty="0"/>
              <a:t> </a:t>
            </a:r>
            <a:r>
              <a:rPr lang="nl-NL" dirty="0" err="1">
                <a:solidFill>
                  <a:srgbClr val="00B050"/>
                </a:solidFill>
              </a:rPr>
              <a:t>parked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car</a:t>
            </a:r>
            <a:r>
              <a:rPr lang="nl-NL" dirty="0"/>
              <a:t> </a:t>
            </a:r>
            <a:r>
              <a:rPr lang="nl-NL" dirty="0" err="1">
                <a:solidFill>
                  <a:srgbClr val="00B0F0"/>
                </a:solidFill>
              </a:rPr>
              <a:t>carefully</a:t>
            </a:r>
            <a:br>
              <a:rPr lang="nl-NL" dirty="0">
                <a:solidFill>
                  <a:srgbClr val="00B0F0"/>
                </a:solidFill>
              </a:rPr>
            </a:br>
            <a:r>
              <a:rPr lang="nl-NL" i="1" dirty="0"/>
              <a:t>Ze </a:t>
            </a:r>
            <a:r>
              <a:rPr lang="nl-NL" i="1" dirty="0">
                <a:solidFill>
                  <a:srgbClr val="00B050"/>
                </a:solidFill>
              </a:rPr>
              <a:t>parkeerde</a:t>
            </a:r>
            <a:r>
              <a:rPr lang="nl-NL" i="1" dirty="0"/>
              <a:t> de auto </a:t>
            </a:r>
            <a:r>
              <a:rPr lang="nl-NL" i="1" dirty="0">
                <a:solidFill>
                  <a:srgbClr val="00B0F0"/>
                </a:solidFill>
              </a:rPr>
              <a:t>voorzichtig</a:t>
            </a:r>
          </a:p>
          <a:p>
            <a:pPr marL="320675" lvl="1" indent="0">
              <a:buNone/>
              <a:defRPr/>
            </a:pPr>
            <a:endParaRPr lang="nl-NL" i="1" dirty="0">
              <a:solidFill>
                <a:srgbClr val="00B0F0"/>
              </a:solidFill>
            </a:endParaRPr>
          </a:p>
          <a:p>
            <a:pPr marL="640715" lvl="1" indent="-320040">
              <a:defRPr/>
            </a:pPr>
            <a:r>
              <a:rPr lang="nl-NL" dirty="0" err="1">
                <a:solidFill>
                  <a:srgbClr val="00B0F0"/>
                </a:solidFill>
              </a:rPr>
              <a:t>Carefully</a:t>
            </a:r>
            <a:r>
              <a:rPr lang="nl-NL" dirty="0"/>
              <a:t> </a:t>
            </a:r>
            <a:r>
              <a:rPr lang="nl-NL" dirty="0" err="1"/>
              <a:t>she</a:t>
            </a:r>
            <a:r>
              <a:rPr lang="nl-NL" dirty="0"/>
              <a:t> </a:t>
            </a:r>
            <a:r>
              <a:rPr lang="nl-NL" dirty="0" err="1">
                <a:solidFill>
                  <a:srgbClr val="00B050"/>
                </a:solidFill>
              </a:rPr>
              <a:t>parked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car</a:t>
            </a:r>
            <a:br>
              <a:rPr lang="nl-NL" dirty="0"/>
            </a:br>
            <a:r>
              <a:rPr lang="nl-NL" i="1" dirty="0">
                <a:solidFill>
                  <a:srgbClr val="00B0F0"/>
                </a:solidFill>
              </a:rPr>
              <a:t>Voorzichtig</a:t>
            </a:r>
            <a:r>
              <a:rPr lang="nl-NL" i="1" dirty="0"/>
              <a:t> </a:t>
            </a:r>
            <a:r>
              <a:rPr lang="nl-NL" i="1" dirty="0">
                <a:solidFill>
                  <a:srgbClr val="00B050"/>
                </a:solidFill>
              </a:rPr>
              <a:t>parkeerde</a:t>
            </a:r>
            <a:r>
              <a:rPr lang="nl-NL" i="1" dirty="0"/>
              <a:t> ze de auto</a:t>
            </a:r>
          </a:p>
          <a:p>
            <a:pPr marL="320040" indent="-320040">
              <a:buFont typeface="Wingdings"/>
              <a:buChar char=""/>
              <a:defRPr/>
            </a:pPr>
            <a:endParaRPr lang="en-US" dirty="0"/>
          </a:p>
          <a:p>
            <a:pPr marL="320040" indent="-320040">
              <a:buFont typeface="Wingdings"/>
              <a:buChar char=""/>
              <a:defRPr/>
            </a:pPr>
            <a:endParaRPr lang="en-US" dirty="0"/>
          </a:p>
          <a:p>
            <a:pPr marL="320040" indent="-320040">
              <a:buFont typeface="Wingdings"/>
              <a:buChar char=""/>
              <a:defRPr/>
            </a:pPr>
            <a:endParaRPr lang="en-US" dirty="0"/>
          </a:p>
          <a:p>
            <a:pPr marL="320040" indent="-320040">
              <a:buFont typeface="Wingdings"/>
              <a:buChar char=""/>
              <a:defRPr/>
            </a:pPr>
            <a:endParaRPr lang="en-US" dirty="0"/>
          </a:p>
          <a:p>
            <a:pPr marL="320040" indent="-320040">
              <a:buFont typeface="Wingdings"/>
              <a:buChar char=""/>
              <a:defRPr/>
            </a:pPr>
            <a:endParaRPr lang="en-US" dirty="0"/>
          </a:p>
          <a:p>
            <a:pPr marL="320040" indent="-320040">
              <a:buFont typeface="Wingdings"/>
              <a:buChar char=""/>
              <a:defRPr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>
          <a:xfrm>
            <a:off x="825910" y="260649"/>
            <a:ext cx="10540180" cy="1450757"/>
          </a:xfrm>
        </p:spPr>
        <p:txBody>
          <a:bodyPr>
            <a:normAutofit/>
          </a:bodyPr>
          <a:lstStyle/>
          <a:p>
            <a:pPr eaLnBrk="1" hangingPunct="1"/>
            <a:r>
              <a:rPr lang="nl-NL" sz="3600" dirty="0" err="1"/>
              <a:t>Where</a:t>
            </a:r>
            <a:r>
              <a:rPr lang="nl-NL" sz="3600" dirty="0"/>
              <a:t> to put </a:t>
            </a:r>
            <a:r>
              <a:rPr lang="nl-NL" sz="3600" dirty="0" err="1"/>
              <a:t>words</a:t>
            </a:r>
            <a:r>
              <a:rPr lang="nl-NL" sz="3600" dirty="0"/>
              <a:t> </a:t>
            </a:r>
            <a:r>
              <a:rPr lang="nl-NL" sz="3600" dirty="0" err="1"/>
              <a:t>that</a:t>
            </a:r>
            <a:r>
              <a:rPr lang="nl-NL" sz="3600" dirty="0"/>
              <a:t> </a:t>
            </a:r>
            <a:r>
              <a:rPr lang="nl-NL" sz="3600" dirty="0" err="1"/>
              <a:t>indicate</a:t>
            </a:r>
            <a:r>
              <a:rPr lang="nl-NL" sz="3600" dirty="0"/>
              <a:t> </a:t>
            </a:r>
            <a:r>
              <a:rPr lang="nl-NL" sz="3600" dirty="0" err="1">
                <a:solidFill>
                  <a:srgbClr val="F955F1"/>
                </a:solidFill>
              </a:rPr>
              <a:t>how</a:t>
            </a:r>
            <a:r>
              <a:rPr lang="nl-NL" sz="3600" dirty="0">
                <a:solidFill>
                  <a:srgbClr val="F955F1"/>
                </a:solidFill>
              </a:rPr>
              <a:t> </a:t>
            </a:r>
            <a:r>
              <a:rPr lang="nl-NL" sz="3600" dirty="0" err="1">
                <a:solidFill>
                  <a:srgbClr val="F955F1"/>
                </a:solidFill>
              </a:rPr>
              <a:t>often</a:t>
            </a:r>
            <a:r>
              <a:rPr lang="nl-NL" sz="3600" dirty="0">
                <a:solidFill>
                  <a:srgbClr val="F955F1"/>
                </a:solidFill>
              </a:rPr>
              <a:t> </a:t>
            </a:r>
            <a:r>
              <a:rPr lang="nl-NL" sz="3600" dirty="0" err="1">
                <a:solidFill>
                  <a:srgbClr val="F955F1"/>
                </a:solidFill>
              </a:rPr>
              <a:t>something</a:t>
            </a:r>
            <a:r>
              <a:rPr lang="nl-NL" sz="3600" dirty="0">
                <a:solidFill>
                  <a:srgbClr val="F955F1"/>
                </a:solidFill>
              </a:rPr>
              <a:t> happens</a:t>
            </a:r>
            <a:endParaRPr lang="en-US" sz="3600" dirty="0">
              <a:solidFill>
                <a:srgbClr val="F955F1"/>
              </a:solidFill>
            </a:endParaRPr>
          </a:p>
        </p:txBody>
      </p:sp>
      <p:sp>
        <p:nvSpPr>
          <p:cNvPr id="22531" name="Content Placeholder 2"/>
          <p:cNvSpPr>
            <a:spLocks noGrp="1"/>
          </p:cNvSpPr>
          <p:nvPr>
            <p:ph idx="1"/>
          </p:nvPr>
        </p:nvSpPr>
        <p:spPr>
          <a:xfrm>
            <a:off x="825910" y="1916832"/>
            <a:ext cx="10638503" cy="4176464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nl-NL" dirty="0"/>
              <a:t>For </a:t>
            </a:r>
            <a:r>
              <a:rPr lang="nl-NL" dirty="0" err="1"/>
              <a:t>example</a:t>
            </a:r>
            <a:r>
              <a:rPr lang="nl-NL" dirty="0"/>
              <a:t>: </a:t>
            </a:r>
            <a:r>
              <a:rPr lang="nl-NL" b="1" dirty="0" err="1">
                <a:solidFill>
                  <a:srgbClr val="F955F1"/>
                </a:solidFill>
              </a:rPr>
              <a:t>always</a:t>
            </a:r>
            <a:r>
              <a:rPr lang="nl-NL" b="1" dirty="0">
                <a:solidFill>
                  <a:srgbClr val="F955F1"/>
                </a:solidFill>
              </a:rPr>
              <a:t>, </a:t>
            </a:r>
            <a:r>
              <a:rPr lang="nl-NL" b="1" dirty="0" err="1">
                <a:solidFill>
                  <a:srgbClr val="F955F1"/>
                </a:solidFill>
              </a:rPr>
              <a:t>never</a:t>
            </a:r>
            <a:r>
              <a:rPr lang="nl-NL" b="1" dirty="0">
                <a:solidFill>
                  <a:srgbClr val="F955F1"/>
                </a:solidFill>
              </a:rPr>
              <a:t>, </a:t>
            </a:r>
            <a:r>
              <a:rPr lang="nl-NL" b="1" dirty="0" err="1">
                <a:solidFill>
                  <a:srgbClr val="F955F1"/>
                </a:solidFill>
              </a:rPr>
              <a:t>often</a:t>
            </a:r>
            <a:r>
              <a:rPr lang="nl-NL" b="1" dirty="0">
                <a:solidFill>
                  <a:srgbClr val="F955F1"/>
                </a:solidFill>
              </a:rPr>
              <a:t>, </a:t>
            </a:r>
            <a:r>
              <a:rPr lang="nl-NL" b="1" dirty="0" err="1">
                <a:solidFill>
                  <a:srgbClr val="F955F1"/>
                </a:solidFill>
              </a:rPr>
              <a:t>sometimes</a:t>
            </a:r>
            <a:r>
              <a:rPr lang="nl-NL" b="1" dirty="0">
                <a:solidFill>
                  <a:srgbClr val="F955F1"/>
                </a:solidFill>
              </a:rPr>
              <a:t>, </a:t>
            </a:r>
            <a:r>
              <a:rPr lang="nl-NL" b="1" dirty="0" err="1">
                <a:solidFill>
                  <a:srgbClr val="F955F1"/>
                </a:solidFill>
              </a:rPr>
              <a:t>usually</a:t>
            </a:r>
            <a:r>
              <a:rPr lang="nl-NL" b="1" dirty="0">
                <a:solidFill>
                  <a:srgbClr val="F955F1"/>
                </a:solidFill>
              </a:rPr>
              <a:t>, </a:t>
            </a:r>
            <a:r>
              <a:rPr lang="nl-NL" b="1" dirty="0" err="1">
                <a:solidFill>
                  <a:srgbClr val="F955F1"/>
                </a:solidFill>
              </a:rPr>
              <a:t>frequently</a:t>
            </a:r>
            <a:r>
              <a:rPr lang="nl-NL" b="1" dirty="0">
                <a:solidFill>
                  <a:srgbClr val="F955F1"/>
                </a:solidFill>
              </a:rPr>
              <a:t>, </a:t>
            </a:r>
            <a:r>
              <a:rPr lang="nl-NL" b="1" dirty="0" err="1">
                <a:solidFill>
                  <a:srgbClr val="F955F1"/>
                </a:solidFill>
              </a:rPr>
              <a:t>regularly</a:t>
            </a:r>
            <a:r>
              <a:rPr lang="nl-NL" b="1" dirty="0">
                <a:solidFill>
                  <a:srgbClr val="F955F1"/>
                </a:solidFill>
              </a:rPr>
              <a:t>, </a:t>
            </a:r>
            <a:r>
              <a:rPr lang="nl-NL" b="1" dirty="0" err="1">
                <a:solidFill>
                  <a:srgbClr val="F955F1"/>
                </a:solidFill>
              </a:rPr>
              <a:t>seldom</a:t>
            </a:r>
            <a:endParaRPr lang="nl-NL" b="1" dirty="0">
              <a:solidFill>
                <a:srgbClr val="F955F1"/>
              </a:solidFill>
            </a:endParaRPr>
          </a:p>
          <a:p>
            <a:pPr eaLnBrk="1" hangingPunct="1"/>
            <a:r>
              <a:rPr lang="nl-NL" dirty="0" err="1"/>
              <a:t>Used</a:t>
            </a:r>
            <a:r>
              <a:rPr lang="nl-NL" dirty="0"/>
              <a:t> </a:t>
            </a:r>
            <a:r>
              <a:rPr lang="nl-NL" dirty="0" err="1"/>
              <a:t>before</a:t>
            </a:r>
            <a:r>
              <a:rPr lang="nl-NL" dirty="0"/>
              <a:t> the </a:t>
            </a:r>
            <a:r>
              <a:rPr lang="nl-NL" dirty="0" err="1">
                <a:solidFill>
                  <a:srgbClr val="00B050"/>
                </a:solidFill>
              </a:rPr>
              <a:t>verb</a:t>
            </a:r>
            <a:endParaRPr lang="nl-NL" dirty="0">
              <a:solidFill>
                <a:srgbClr val="00B050"/>
              </a:solidFill>
            </a:endParaRPr>
          </a:p>
          <a:p>
            <a:pPr lvl="1" eaLnBrk="1" hangingPunct="1"/>
            <a:r>
              <a:rPr lang="nl-NL" dirty="0"/>
              <a:t>He </a:t>
            </a:r>
            <a:r>
              <a:rPr lang="nl-NL" dirty="0" err="1">
                <a:solidFill>
                  <a:srgbClr val="F955F1"/>
                </a:solidFill>
              </a:rPr>
              <a:t>always</a:t>
            </a:r>
            <a:r>
              <a:rPr lang="nl-NL" dirty="0"/>
              <a:t> </a:t>
            </a:r>
            <a:r>
              <a:rPr lang="nl-NL" dirty="0" err="1">
                <a:solidFill>
                  <a:srgbClr val="00B050"/>
                </a:solidFill>
              </a:rPr>
              <a:t>walks</a:t>
            </a:r>
            <a:r>
              <a:rPr lang="nl-NL" dirty="0"/>
              <a:t>		</a:t>
            </a:r>
            <a:r>
              <a:rPr lang="nl-NL" i="1" dirty="0"/>
              <a:t>Hij </a:t>
            </a:r>
            <a:r>
              <a:rPr lang="nl-NL" i="1" dirty="0">
                <a:solidFill>
                  <a:srgbClr val="00B050"/>
                </a:solidFill>
              </a:rPr>
              <a:t>loopt</a:t>
            </a:r>
            <a:r>
              <a:rPr lang="nl-NL" i="1" dirty="0"/>
              <a:t> </a:t>
            </a:r>
            <a:r>
              <a:rPr lang="nl-NL" i="1" dirty="0">
                <a:solidFill>
                  <a:srgbClr val="F955F1"/>
                </a:solidFill>
              </a:rPr>
              <a:t>altijd</a:t>
            </a:r>
          </a:p>
          <a:p>
            <a:pPr lvl="1" eaLnBrk="1" hangingPunct="1"/>
            <a:r>
              <a:rPr lang="nl-NL" dirty="0"/>
              <a:t>I </a:t>
            </a:r>
            <a:r>
              <a:rPr lang="nl-NL" dirty="0" err="1">
                <a:solidFill>
                  <a:srgbClr val="F955F1"/>
                </a:solidFill>
              </a:rPr>
              <a:t>always</a:t>
            </a:r>
            <a:r>
              <a:rPr lang="nl-NL" dirty="0"/>
              <a:t> </a:t>
            </a:r>
            <a:r>
              <a:rPr lang="nl-NL" dirty="0" err="1">
                <a:solidFill>
                  <a:srgbClr val="00B050"/>
                </a:solidFill>
              </a:rPr>
              <a:t>see</a:t>
            </a:r>
            <a:r>
              <a:rPr lang="nl-NL" dirty="0"/>
              <a:t> </a:t>
            </a:r>
            <a:r>
              <a:rPr lang="nl-NL" dirty="0" err="1"/>
              <a:t>him</a:t>
            </a:r>
            <a:r>
              <a:rPr lang="nl-NL" dirty="0"/>
              <a:t> 	</a:t>
            </a:r>
            <a:r>
              <a:rPr lang="nl-NL" i="1" dirty="0"/>
              <a:t>Ik </a:t>
            </a:r>
            <a:r>
              <a:rPr lang="nl-NL" i="1" dirty="0">
                <a:solidFill>
                  <a:srgbClr val="00B050"/>
                </a:solidFill>
              </a:rPr>
              <a:t>zie</a:t>
            </a:r>
            <a:r>
              <a:rPr lang="nl-NL" i="1" dirty="0"/>
              <a:t> hem </a:t>
            </a:r>
            <a:r>
              <a:rPr lang="nl-NL" i="1" dirty="0">
                <a:solidFill>
                  <a:srgbClr val="F955F1"/>
                </a:solidFill>
              </a:rPr>
              <a:t>altijd</a:t>
            </a:r>
          </a:p>
          <a:p>
            <a:pPr eaLnBrk="1" hangingPunct="1"/>
            <a:endParaRPr lang="nl-NL" dirty="0"/>
          </a:p>
          <a:p>
            <a:pPr eaLnBrk="1" hangingPunct="1"/>
            <a:r>
              <a:rPr lang="nl-NL" dirty="0"/>
              <a:t>But </a:t>
            </a:r>
            <a:r>
              <a:rPr lang="nl-NL" dirty="0" err="1"/>
              <a:t>after</a:t>
            </a:r>
            <a:r>
              <a:rPr lang="nl-NL" dirty="0"/>
              <a:t> </a:t>
            </a:r>
            <a:r>
              <a:rPr lang="nl-NL" dirty="0" err="1"/>
              <a:t>forms</a:t>
            </a:r>
            <a:r>
              <a:rPr lang="nl-NL" dirty="0"/>
              <a:t> of ‘</a:t>
            </a:r>
            <a:r>
              <a:rPr lang="nl-NL" u="sng" dirty="0"/>
              <a:t>to </a:t>
            </a:r>
            <a:r>
              <a:rPr lang="nl-NL" u="sng" dirty="0" err="1"/>
              <a:t>be</a:t>
            </a:r>
            <a:r>
              <a:rPr lang="nl-NL" dirty="0"/>
              <a:t>’ and </a:t>
            </a:r>
            <a:r>
              <a:rPr lang="nl-NL" dirty="0" err="1"/>
              <a:t>after</a:t>
            </a:r>
            <a:r>
              <a:rPr lang="nl-NL" dirty="0"/>
              <a:t> the first </a:t>
            </a:r>
            <a:r>
              <a:rPr lang="nl-NL" dirty="0" err="1">
                <a:solidFill>
                  <a:srgbClr val="00B050"/>
                </a:solidFill>
              </a:rPr>
              <a:t>verb</a:t>
            </a:r>
            <a:r>
              <a:rPr lang="nl-NL" dirty="0"/>
              <a:t> </a:t>
            </a:r>
            <a:r>
              <a:rPr lang="nl-NL" dirty="0" err="1"/>
              <a:t>if</a:t>
            </a:r>
            <a:r>
              <a:rPr lang="nl-NL" dirty="0"/>
              <a:t> </a:t>
            </a:r>
            <a:r>
              <a:rPr lang="nl-NL" dirty="0" err="1"/>
              <a:t>there</a:t>
            </a:r>
            <a:r>
              <a:rPr lang="nl-NL" dirty="0"/>
              <a:t> is more </a:t>
            </a:r>
            <a:r>
              <a:rPr lang="nl-NL" dirty="0" err="1"/>
              <a:t>than</a:t>
            </a:r>
            <a:r>
              <a:rPr lang="nl-NL" dirty="0"/>
              <a:t> </a:t>
            </a:r>
            <a:r>
              <a:rPr lang="nl-NL" dirty="0" err="1"/>
              <a:t>one</a:t>
            </a:r>
            <a:r>
              <a:rPr lang="nl-NL" dirty="0"/>
              <a:t> (</a:t>
            </a:r>
            <a:r>
              <a:rPr lang="nl-NL" dirty="0" err="1"/>
              <a:t>same</a:t>
            </a:r>
            <a:r>
              <a:rPr lang="nl-NL" dirty="0"/>
              <a:t> in Dutch)</a:t>
            </a:r>
          </a:p>
          <a:p>
            <a:pPr lvl="1" eaLnBrk="1" hangingPunct="1"/>
            <a:r>
              <a:rPr lang="nl-NL" dirty="0"/>
              <a:t>He </a:t>
            </a:r>
            <a:r>
              <a:rPr lang="nl-NL" u="sng" dirty="0"/>
              <a:t>is</a:t>
            </a:r>
            <a:r>
              <a:rPr lang="nl-NL" dirty="0"/>
              <a:t> </a:t>
            </a:r>
            <a:r>
              <a:rPr lang="nl-NL" dirty="0" err="1">
                <a:solidFill>
                  <a:srgbClr val="F955F1"/>
                </a:solidFill>
              </a:rPr>
              <a:t>always</a:t>
            </a:r>
            <a:r>
              <a:rPr lang="nl-NL" dirty="0"/>
              <a:t> late		</a:t>
            </a:r>
            <a:r>
              <a:rPr lang="nl-NL" i="1" dirty="0"/>
              <a:t>Hij </a:t>
            </a:r>
            <a:r>
              <a:rPr lang="nl-NL" i="1" u="sng" dirty="0"/>
              <a:t>is</a:t>
            </a:r>
            <a:r>
              <a:rPr lang="nl-NL" i="1" dirty="0"/>
              <a:t> </a:t>
            </a:r>
            <a:r>
              <a:rPr lang="nl-NL" i="1" dirty="0">
                <a:solidFill>
                  <a:srgbClr val="F955F1"/>
                </a:solidFill>
              </a:rPr>
              <a:t>altijd</a:t>
            </a:r>
            <a:r>
              <a:rPr lang="nl-NL" i="1" dirty="0"/>
              <a:t> laat</a:t>
            </a:r>
            <a:endParaRPr lang="nl-NL" dirty="0"/>
          </a:p>
          <a:p>
            <a:pPr lvl="1" eaLnBrk="1" hangingPunct="1"/>
            <a:r>
              <a:rPr lang="nl-NL" dirty="0"/>
              <a:t>I </a:t>
            </a:r>
            <a:r>
              <a:rPr lang="nl-NL" dirty="0" err="1">
                <a:solidFill>
                  <a:srgbClr val="00B050"/>
                </a:solidFill>
              </a:rPr>
              <a:t>can</a:t>
            </a:r>
            <a:r>
              <a:rPr lang="nl-NL" dirty="0"/>
              <a:t> </a:t>
            </a:r>
            <a:r>
              <a:rPr lang="nl-NL" dirty="0" err="1">
                <a:solidFill>
                  <a:srgbClr val="F955F1"/>
                </a:solidFill>
              </a:rPr>
              <a:t>always</a:t>
            </a:r>
            <a:r>
              <a:rPr lang="nl-NL" dirty="0"/>
              <a:t> </a:t>
            </a:r>
            <a:r>
              <a:rPr lang="nl-NL" dirty="0" err="1">
                <a:solidFill>
                  <a:srgbClr val="00B050"/>
                </a:solidFill>
              </a:rPr>
              <a:t>see</a:t>
            </a:r>
            <a:r>
              <a:rPr lang="nl-NL" dirty="0"/>
              <a:t>		</a:t>
            </a:r>
            <a:r>
              <a:rPr lang="nl-NL" i="1" dirty="0"/>
              <a:t>Ik </a:t>
            </a:r>
            <a:r>
              <a:rPr lang="nl-NL" i="1" dirty="0">
                <a:solidFill>
                  <a:srgbClr val="00B050"/>
                </a:solidFill>
              </a:rPr>
              <a:t>kan</a:t>
            </a:r>
            <a:r>
              <a:rPr lang="nl-NL" i="1" dirty="0"/>
              <a:t> </a:t>
            </a:r>
            <a:r>
              <a:rPr lang="nl-NL" i="1" dirty="0">
                <a:solidFill>
                  <a:srgbClr val="F955F1"/>
                </a:solidFill>
              </a:rPr>
              <a:t>altijd</a:t>
            </a:r>
            <a:r>
              <a:rPr lang="nl-NL" i="1" dirty="0"/>
              <a:t> </a:t>
            </a:r>
            <a:r>
              <a:rPr lang="nl-NL" i="1" dirty="0">
                <a:solidFill>
                  <a:srgbClr val="00B050"/>
                </a:solidFill>
              </a:rPr>
              <a:t>zien</a:t>
            </a:r>
            <a:endParaRPr lang="en-US" dirty="0">
              <a:solidFill>
                <a:srgbClr val="00B05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nl-NL" sz="3600" dirty="0" err="1"/>
              <a:t>Where</a:t>
            </a:r>
            <a:r>
              <a:rPr lang="nl-NL" sz="3600" dirty="0"/>
              <a:t> to put </a:t>
            </a:r>
            <a:r>
              <a:rPr lang="nl-NL" sz="3600" dirty="0" err="1"/>
              <a:t>words</a:t>
            </a:r>
            <a:r>
              <a:rPr lang="nl-NL" sz="3600" dirty="0"/>
              <a:t> </a:t>
            </a:r>
            <a:r>
              <a:rPr lang="nl-NL" sz="3600" dirty="0" err="1"/>
              <a:t>that</a:t>
            </a:r>
            <a:r>
              <a:rPr lang="nl-NL" sz="3600" dirty="0"/>
              <a:t> </a:t>
            </a:r>
            <a:r>
              <a:rPr lang="nl-NL" sz="3600" dirty="0" err="1"/>
              <a:t>indicate</a:t>
            </a:r>
            <a:r>
              <a:rPr lang="nl-NL" sz="3600" dirty="0">
                <a:solidFill>
                  <a:srgbClr val="F955F1"/>
                </a:solidFill>
              </a:rPr>
              <a:t> </a:t>
            </a:r>
            <a:r>
              <a:rPr lang="nl-NL" sz="3600" dirty="0" err="1">
                <a:solidFill>
                  <a:srgbClr val="F955F1"/>
                </a:solidFill>
              </a:rPr>
              <a:t>how</a:t>
            </a:r>
            <a:r>
              <a:rPr lang="nl-NL" sz="3600" dirty="0">
                <a:solidFill>
                  <a:srgbClr val="F955F1"/>
                </a:solidFill>
              </a:rPr>
              <a:t> </a:t>
            </a:r>
            <a:r>
              <a:rPr lang="nl-NL" sz="3600" dirty="0" err="1">
                <a:solidFill>
                  <a:srgbClr val="F955F1"/>
                </a:solidFill>
              </a:rPr>
              <a:t>often</a:t>
            </a:r>
            <a:r>
              <a:rPr lang="nl-NL" sz="3600" dirty="0">
                <a:solidFill>
                  <a:srgbClr val="F955F1"/>
                </a:solidFill>
              </a:rPr>
              <a:t> </a:t>
            </a:r>
            <a:r>
              <a:rPr lang="nl-NL" sz="3600" dirty="0" err="1">
                <a:solidFill>
                  <a:srgbClr val="F955F1"/>
                </a:solidFill>
              </a:rPr>
              <a:t>something</a:t>
            </a:r>
            <a:r>
              <a:rPr lang="nl-NL" sz="3600" dirty="0">
                <a:solidFill>
                  <a:srgbClr val="F955F1"/>
                </a:solidFill>
              </a:rPr>
              <a:t> happens</a:t>
            </a:r>
            <a:endParaRPr lang="en-US" sz="3600" dirty="0"/>
          </a:p>
        </p:txBody>
      </p:sp>
      <p:sp>
        <p:nvSpPr>
          <p:cNvPr id="2253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nl-NL" dirty="0"/>
              <a:t>Do </a:t>
            </a:r>
            <a:r>
              <a:rPr lang="nl-NL" dirty="0" err="1"/>
              <a:t>not</a:t>
            </a:r>
            <a:r>
              <a:rPr lang="nl-NL" dirty="0"/>
              <a:t> put </a:t>
            </a:r>
            <a:r>
              <a:rPr lang="nl-NL" dirty="0" err="1"/>
              <a:t>them</a:t>
            </a:r>
            <a:r>
              <a:rPr lang="nl-NL" dirty="0"/>
              <a:t> at the </a:t>
            </a:r>
            <a:r>
              <a:rPr lang="nl-NL" dirty="0" err="1"/>
              <a:t>beginning</a:t>
            </a:r>
            <a:r>
              <a:rPr lang="nl-NL" dirty="0"/>
              <a:t> or end of the </a:t>
            </a:r>
            <a:r>
              <a:rPr lang="nl-NL" dirty="0" err="1"/>
              <a:t>sentence</a:t>
            </a:r>
            <a:r>
              <a:rPr lang="nl-NL" dirty="0"/>
              <a:t> like in Dutch</a:t>
            </a:r>
            <a:br>
              <a:rPr lang="nl-NL" dirty="0"/>
            </a:br>
            <a:r>
              <a:rPr lang="nl-NL" dirty="0"/>
              <a:t> </a:t>
            </a:r>
          </a:p>
          <a:p>
            <a:pPr lvl="1" eaLnBrk="1" hangingPunct="1"/>
            <a:r>
              <a:rPr lang="nl-NL" dirty="0">
                <a:solidFill>
                  <a:srgbClr val="F955F1"/>
                </a:solidFill>
              </a:rPr>
              <a:t>Altijd</a:t>
            </a:r>
            <a:r>
              <a:rPr lang="nl-NL" dirty="0"/>
              <a:t> zie ik hem</a:t>
            </a:r>
          </a:p>
          <a:p>
            <a:pPr lvl="1" eaLnBrk="1" hangingPunct="1"/>
            <a:r>
              <a:rPr lang="nl-NL" strike="sngStrike" dirty="0">
                <a:solidFill>
                  <a:srgbClr val="F955F1"/>
                </a:solidFill>
              </a:rPr>
              <a:t>Always</a:t>
            </a:r>
            <a:r>
              <a:rPr lang="nl-NL" strike="sngStrike" dirty="0"/>
              <a:t> I </a:t>
            </a:r>
            <a:r>
              <a:rPr lang="nl-NL" strike="sngStrike" dirty="0" err="1"/>
              <a:t>see</a:t>
            </a:r>
            <a:r>
              <a:rPr lang="nl-NL" strike="sngStrike" dirty="0"/>
              <a:t> </a:t>
            </a:r>
            <a:r>
              <a:rPr lang="nl-NL" strike="sngStrike" dirty="0" err="1"/>
              <a:t>him</a:t>
            </a:r>
            <a:endParaRPr lang="nl-NL" strike="sngStrike" dirty="0"/>
          </a:p>
          <a:p>
            <a:pPr lvl="1" eaLnBrk="1" hangingPunct="1"/>
            <a:r>
              <a:rPr lang="nl-NL" dirty="0"/>
              <a:t>Ik zie hem </a:t>
            </a:r>
            <a:r>
              <a:rPr lang="nl-NL" dirty="0">
                <a:solidFill>
                  <a:srgbClr val="F955F1"/>
                </a:solidFill>
              </a:rPr>
              <a:t>altijd</a:t>
            </a:r>
          </a:p>
          <a:p>
            <a:pPr lvl="1" eaLnBrk="1" hangingPunct="1"/>
            <a:r>
              <a:rPr lang="nl-NL" strike="sngStrike" dirty="0"/>
              <a:t>I </a:t>
            </a:r>
            <a:r>
              <a:rPr lang="nl-NL" strike="sngStrike" dirty="0" err="1"/>
              <a:t>see</a:t>
            </a:r>
            <a:r>
              <a:rPr lang="nl-NL" strike="sngStrike" dirty="0"/>
              <a:t> </a:t>
            </a:r>
            <a:r>
              <a:rPr lang="nl-NL" strike="sngStrike" dirty="0" err="1"/>
              <a:t>him</a:t>
            </a:r>
            <a:r>
              <a:rPr lang="nl-NL" strike="sngStrike" dirty="0"/>
              <a:t> </a:t>
            </a:r>
            <a:r>
              <a:rPr lang="nl-NL" strike="sngStrike" dirty="0" err="1">
                <a:solidFill>
                  <a:srgbClr val="F955F1"/>
                </a:solidFill>
              </a:rPr>
              <a:t>always</a:t>
            </a:r>
            <a:endParaRPr lang="en-US" strike="sngStrike" dirty="0">
              <a:solidFill>
                <a:srgbClr val="F955F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Note</a:t>
            </a:r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r>
              <a:rPr lang="nl-NL" dirty="0"/>
              <a:t>The </a:t>
            </a:r>
            <a:r>
              <a:rPr lang="nl-NL" dirty="0" err="1"/>
              <a:t>same</a:t>
            </a:r>
            <a:r>
              <a:rPr lang="nl-NL" dirty="0"/>
              <a:t> </a:t>
            </a:r>
            <a:r>
              <a:rPr lang="nl-NL" dirty="0" err="1"/>
              <a:t>rules</a:t>
            </a:r>
            <a:r>
              <a:rPr lang="nl-NL" dirty="0"/>
              <a:t> </a:t>
            </a:r>
            <a:r>
              <a:rPr lang="nl-NL" dirty="0" err="1"/>
              <a:t>apply</a:t>
            </a:r>
            <a:r>
              <a:rPr lang="nl-NL" dirty="0"/>
              <a:t> to the word </a:t>
            </a:r>
            <a:r>
              <a:rPr lang="nl-NL" dirty="0" err="1">
                <a:solidFill>
                  <a:srgbClr val="F955F1"/>
                </a:solidFill>
              </a:rPr>
              <a:t>also</a:t>
            </a:r>
            <a:r>
              <a:rPr lang="nl-NL" dirty="0">
                <a:solidFill>
                  <a:srgbClr val="F955F1"/>
                </a:solidFill>
              </a:rPr>
              <a:t>.</a:t>
            </a:r>
          </a:p>
          <a:p>
            <a:pPr lvl="1"/>
            <a:r>
              <a:rPr lang="nl-NL" dirty="0"/>
              <a:t>He </a:t>
            </a:r>
            <a:r>
              <a:rPr lang="nl-NL" dirty="0" err="1">
                <a:solidFill>
                  <a:srgbClr val="F955F1"/>
                </a:solidFill>
              </a:rPr>
              <a:t>also</a:t>
            </a:r>
            <a:r>
              <a:rPr lang="nl-NL" dirty="0"/>
              <a:t> </a:t>
            </a:r>
            <a:r>
              <a:rPr lang="nl-NL" dirty="0" err="1"/>
              <a:t>walks</a:t>
            </a:r>
            <a:r>
              <a:rPr lang="nl-NL" dirty="0"/>
              <a:t>		</a:t>
            </a:r>
            <a:r>
              <a:rPr lang="nl-NL" i="1" dirty="0"/>
              <a:t>Hij loopt </a:t>
            </a:r>
            <a:r>
              <a:rPr lang="nl-NL" i="1" dirty="0">
                <a:solidFill>
                  <a:srgbClr val="F955F1"/>
                </a:solidFill>
              </a:rPr>
              <a:t>ook</a:t>
            </a:r>
            <a:endParaRPr lang="nl-NL" dirty="0">
              <a:solidFill>
                <a:srgbClr val="F955F1"/>
              </a:solidFill>
            </a:endParaRPr>
          </a:p>
          <a:p>
            <a:pPr lvl="1"/>
            <a:r>
              <a:rPr lang="nl-NL" dirty="0"/>
              <a:t>I </a:t>
            </a:r>
            <a:r>
              <a:rPr lang="nl-NL" dirty="0" err="1"/>
              <a:t>am</a:t>
            </a:r>
            <a:r>
              <a:rPr lang="nl-NL" dirty="0"/>
              <a:t> </a:t>
            </a:r>
            <a:r>
              <a:rPr lang="nl-NL" dirty="0" err="1">
                <a:solidFill>
                  <a:srgbClr val="F955F1"/>
                </a:solidFill>
              </a:rPr>
              <a:t>also</a:t>
            </a:r>
            <a:r>
              <a:rPr lang="nl-NL" dirty="0"/>
              <a:t>…		</a:t>
            </a:r>
            <a:r>
              <a:rPr lang="nl-NL" i="1" dirty="0"/>
              <a:t>Ik ben </a:t>
            </a:r>
            <a:r>
              <a:rPr lang="nl-NL" i="1" dirty="0">
                <a:solidFill>
                  <a:srgbClr val="F955F1"/>
                </a:solidFill>
              </a:rPr>
              <a:t>ook</a:t>
            </a:r>
            <a:r>
              <a:rPr lang="nl-NL" i="1" dirty="0"/>
              <a:t>…</a:t>
            </a:r>
            <a:endParaRPr lang="nl-NL" dirty="0">
              <a:solidFill>
                <a:srgbClr val="F955F1"/>
              </a:solidFill>
            </a:endParaRPr>
          </a:p>
          <a:p>
            <a:pPr lvl="1"/>
            <a:r>
              <a:rPr lang="nl-NL" dirty="0"/>
              <a:t>I </a:t>
            </a:r>
            <a:r>
              <a:rPr lang="nl-NL" dirty="0" err="1"/>
              <a:t>can</a:t>
            </a:r>
            <a:r>
              <a:rPr lang="nl-NL" dirty="0"/>
              <a:t> </a:t>
            </a:r>
            <a:r>
              <a:rPr lang="nl-NL" dirty="0" err="1">
                <a:solidFill>
                  <a:srgbClr val="F955F1"/>
                </a:solidFill>
              </a:rPr>
              <a:t>also</a:t>
            </a:r>
            <a:r>
              <a:rPr lang="nl-NL" dirty="0"/>
              <a:t> </a:t>
            </a:r>
            <a:r>
              <a:rPr lang="nl-NL" dirty="0" err="1"/>
              <a:t>see</a:t>
            </a:r>
            <a:r>
              <a:rPr lang="nl-NL" dirty="0"/>
              <a:t>		</a:t>
            </a:r>
            <a:r>
              <a:rPr lang="nl-NL" i="1" dirty="0"/>
              <a:t>Ik kan </a:t>
            </a:r>
            <a:r>
              <a:rPr lang="nl-NL" i="1" dirty="0">
                <a:solidFill>
                  <a:srgbClr val="F955F1"/>
                </a:solidFill>
              </a:rPr>
              <a:t>ook</a:t>
            </a:r>
            <a:r>
              <a:rPr lang="nl-NL" i="1" dirty="0"/>
              <a:t> zien</a:t>
            </a:r>
            <a:endParaRPr lang="nl-NL" dirty="0"/>
          </a:p>
          <a:p>
            <a:pPr lvl="1"/>
            <a:r>
              <a:rPr lang="nl-NL" strike="sngStrike" dirty="0" err="1">
                <a:solidFill>
                  <a:srgbClr val="F955F1"/>
                </a:solidFill>
              </a:rPr>
              <a:t>Also</a:t>
            </a:r>
            <a:r>
              <a:rPr lang="nl-NL" strike="sngStrike" dirty="0"/>
              <a:t> </a:t>
            </a:r>
            <a:r>
              <a:rPr lang="nl-NL" strike="sngStrike" dirty="0" err="1"/>
              <a:t>he</a:t>
            </a:r>
            <a:r>
              <a:rPr lang="nl-NL" strike="sngStrike" dirty="0"/>
              <a:t> </a:t>
            </a:r>
            <a:r>
              <a:rPr lang="nl-NL" strike="sngStrike" dirty="0" err="1"/>
              <a:t>walks</a:t>
            </a:r>
            <a:r>
              <a:rPr lang="nl-NL" dirty="0"/>
              <a:t>		</a:t>
            </a:r>
            <a:r>
              <a:rPr lang="nl-NL" i="1" dirty="0">
                <a:solidFill>
                  <a:srgbClr val="F955F1"/>
                </a:solidFill>
              </a:rPr>
              <a:t>Ook</a:t>
            </a:r>
            <a:r>
              <a:rPr lang="nl-NL" i="1" dirty="0"/>
              <a:t> loopt hij</a:t>
            </a:r>
            <a:endParaRPr lang="nl-NL" strike="sngStrike" dirty="0"/>
          </a:p>
          <a:p>
            <a:pPr lvl="1"/>
            <a:r>
              <a:rPr lang="nl-NL" strike="sngStrike" dirty="0"/>
              <a:t>He </a:t>
            </a:r>
            <a:r>
              <a:rPr lang="nl-NL" strike="sngStrike" dirty="0" err="1"/>
              <a:t>walks</a:t>
            </a:r>
            <a:r>
              <a:rPr lang="nl-NL" strike="sngStrike" dirty="0"/>
              <a:t> </a:t>
            </a:r>
            <a:r>
              <a:rPr lang="nl-NL" strike="sngStrike" dirty="0" err="1">
                <a:solidFill>
                  <a:srgbClr val="F955F1"/>
                </a:solidFill>
              </a:rPr>
              <a:t>also</a:t>
            </a:r>
            <a:r>
              <a:rPr lang="nl-NL" dirty="0">
                <a:solidFill>
                  <a:srgbClr val="F955F1"/>
                </a:solidFill>
              </a:rPr>
              <a:t>		</a:t>
            </a:r>
            <a:r>
              <a:rPr lang="nl-NL" i="1" dirty="0"/>
              <a:t>Hij loopt </a:t>
            </a:r>
            <a:r>
              <a:rPr lang="nl-NL" i="1" dirty="0">
                <a:solidFill>
                  <a:srgbClr val="F955F1"/>
                </a:solidFill>
              </a:rPr>
              <a:t>ook</a:t>
            </a:r>
          </a:p>
          <a:p>
            <a:pPr marL="457200" lvl="1" indent="0">
              <a:buNone/>
            </a:pPr>
            <a:endParaRPr lang="nl-NL" strike="sngStrike" dirty="0">
              <a:solidFill>
                <a:srgbClr val="F955F1"/>
              </a:solidFill>
            </a:endParaRPr>
          </a:p>
          <a:p>
            <a:r>
              <a:rPr lang="nl-NL" dirty="0"/>
              <a:t>At the end, </a:t>
            </a:r>
            <a:r>
              <a:rPr lang="nl-NL" dirty="0" err="1"/>
              <a:t>instead</a:t>
            </a:r>
            <a:r>
              <a:rPr lang="nl-NL" dirty="0"/>
              <a:t> of ‘</a:t>
            </a:r>
            <a:r>
              <a:rPr lang="nl-NL" dirty="0" err="1"/>
              <a:t>also</a:t>
            </a:r>
            <a:r>
              <a:rPr lang="nl-NL" dirty="0"/>
              <a:t>’, </a:t>
            </a:r>
            <a:r>
              <a:rPr lang="nl-NL" dirty="0" err="1"/>
              <a:t>you</a:t>
            </a:r>
            <a:r>
              <a:rPr lang="nl-NL" dirty="0"/>
              <a:t> </a:t>
            </a:r>
            <a:r>
              <a:rPr lang="nl-NL" dirty="0" err="1"/>
              <a:t>can</a:t>
            </a:r>
            <a:r>
              <a:rPr lang="nl-NL" dirty="0"/>
              <a:t> </a:t>
            </a:r>
            <a:r>
              <a:rPr lang="nl-NL" dirty="0" err="1"/>
              <a:t>use</a:t>
            </a:r>
            <a:r>
              <a:rPr lang="nl-NL" dirty="0"/>
              <a:t> ‘</a:t>
            </a:r>
            <a:r>
              <a:rPr lang="nl-NL" dirty="0" err="1"/>
              <a:t>too</a:t>
            </a:r>
            <a:r>
              <a:rPr lang="nl-NL" dirty="0"/>
              <a:t>’/’as well’</a:t>
            </a:r>
          </a:p>
          <a:p>
            <a:pPr lvl="1"/>
            <a:r>
              <a:rPr lang="nl-NL" dirty="0"/>
              <a:t>I </a:t>
            </a:r>
            <a:r>
              <a:rPr lang="nl-NL" dirty="0" err="1"/>
              <a:t>can</a:t>
            </a:r>
            <a:r>
              <a:rPr lang="nl-NL" dirty="0"/>
              <a:t> </a:t>
            </a:r>
            <a:r>
              <a:rPr lang="nl-NL" dirty="0" err="1"/>
              <a:t>see</a:t>
            </a:r>
            <a:r>
              <a:rPr lang="nl-NL" dirty="0"/>
              <a:t> </a:t>
            </a:r>
            <a:r>
              <a:rPr lang="nl-NL" dirty="0" err="1">
                <a:solidFill>
                  <a:srgbClr val="F955F1"/>
                </a:solidFill>
              </a:rPr>
              <a:t>too</a:t>
            </a:r>
            <a:endParaRPr lang="nl-NL" dirty="0">
              <a:solidFill>
                <a:srgbClr val="F955F1"/>
              </a:solidFill>
            </a:endParaRPr>
          </a:p>
          <a:p>
            <a:pPr lvl="1"/>
            <a:r>
              <a:rPr lang="nl-NL" dirty="0"/>
              <a:t>I </a:t>
            </a:r>
            <a:r>
              <a:rPr lang="nl-NL" dirty="0" err="1"/>
              <a:t>can</a:t>
            </a:r>
            <a:r>
              <a:rPr lang="nl-NL" dirty="0"/>
              <a:t> </a:t>
            </a:r>
            <a:r>
              <a:rPr lang="nl-NL" dirty="0" err="1"/>
              <a:t>see</a:t>
            </a:r>
            <a:r>
              <a:rPr lang="nl-NL" dirty="0"/>
              <a:t> </a:t>
            </a:r>
            <a:r>
              <a:rPr lang="nl-NL" dirty="0">
                <a:solidFill>
                  <a:srgbClr val="F955F1"/>
                </a:solidFill>
              </a:rPr>
              <a:t>as </a:t>
            </a:r>
            <a:r>
              <a:rPr lang="nl-NL" dirty="0" err="1">
                <a:solidFill>
                  <a:srgbClr val="F955F1"/>
                </a:solidFill>
              </a:rPr>
              <a:t>well</a:t>
            </a:r>
            <a:endParaRPr lang="nl-NL" dirty="0">
              <a:solidFill>
                <a:srgbClr val="F955F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32392-F698-422E-BB47-0BA38A73FF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1500" y="639098"/>
            <a:ext cx="3609804" cy="368601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8000">
                <a:solidFill>
                  <a:schemeClr val="tx1">
                    <a:lumMod val="85000"/>
                    <a:lumOff val="15000"/>
                  </a:schemeClr>
                </a:solidFill>
              </a:rPr>
              <a:t>Place and time</a:t>
            </a:r>
          </a:p>
        </p:txBody>
      </p:sp>
      <p:pic>
        <p:nvPicPr>
          <p:cNvPr id="4" name="Picture 3" descr="Hourglass">
            <a:extLst>
              <a:ext uri="{FF2B5EF4-FFF2-40B4-BE49-F238E27FC236}">
                <a16:creationId xmlns:a16="http://schemas.microsoft.com/office/drawing/2014/main" id="{FE18C29A-3C48-42B2-80B5-16814ACA291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4020" r="8480" b="-1"/>
          <a:stretch/>
        </p:blipFill>
        <p:spPr>
          <a:xfrm>
            <a:off x="1524020" y="10"/>
            <a:ext cx="457198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415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Expressions</a:t>
            </a:r>
            <a:r>
              <a:rPr lang="nl-NL" dirty="0"/>
              <a:t> of </a:t>
            </a:r>
            <a:r>
              <a:rPr lang="nl-NL" dirty="0">
                <a:solidFill>
                  <a:srgbClr val="FF9900"/>
                </a:solidFill>
              </a:rPr>
              <a:t>place </a:t>
            </a:r>
            <a:r>
              <a:rPr lang="nl-NL" dirty="0">
                <a:solidFill>
                  <a:schemeClr val="tx1"/>
                </a:solidFill>
              </a:rPr>
              <a:t>and </a:t>
            </a:r>
            <a:r>
              <a:rPr lang="nl-NL" dirty="0">
                <a:solidFill>
                  <a:srgbClr val="CC00CC"/>
                </a:solidFill>
              </a:rPr>
              <a:t>time</a:t>
            </a:r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In English </a:t>
            </a:r>
            <a:r>
              <a:rPr lang="nl-NL" dirty="0" err="1"/>
              <a:t>expressions</a:t>
            </a:r>
            <a:r>
              <a:rPr lang="nl-NL" dirty="0"/>
              <a:t> of </a:t>
            </a:r>
            <a:r>
              <a:rPr lang="nl-NL" u="sng" dirty="0">
                <a:solidFill>
                  <a:srgbClr val="FF9900"/>
                </a:solidFill>
              </a:rPr>
              <a:t>place</a:t>
            </a:r>
            <a:r>
              <a:rPr lang="nl-NL" dirty="0"/>
              <a:t> </a:t>
            </a:r>
            <a:r>
              <a:rPr lang="nl-NL" dirty="0" err="1"/>
              <a:t>come</a:t>
            </a:r>
            <a:r>
              <a:rPr lang="nl-NL" dirty="0"/>
              <a:t> </a:t>
            </a:r>
            <a:r>
              <a:rPr lang="nl-NL" dirty="0" err="1"/>
              <a:t>before</a:t>
            </a:r>
            <a:r>
              <a:rPr lang="nl-NL" dirty="0"/>
              <a:t> </a:t>
            </a:r>
            <a:r>
              <a:rPr lang="nl-NL" dirty="0" err="1"/>
              <a:t>expressions</a:t>
            </a:r>
            <a:r>
              <a:rPr lang="nl-NL" dirty="0"/>
              <a:t> of </a:t>
            </a:r>
            <a:r>
              <a:rPr lang="nl-NL" u="sng" dirty="0">
                <a:solidFill>
                  <a:srgbClr val="CC00CC"/>
                </a:solidFill>
              </a:rPr>
              <a:t>time</a:t>
            </a:r>
            <a:r>
              <a:rPr lang="nl-NL" dirty="0"/>
              <a:t> </a:t>
            </a:r>
          </a:p>
          <a:p>
            <a:pPr marL="0" indent="0">
              <a:buNone/>
            </a:pPr>
            <a:r>
              <a:rPr lang="nl-NL" dirty="0"/>
              <a:t>(</a:t>
            </a:r>
            <a:r>
              <a:rPr lang="nl-NL" dirty="0" err="1"/>
              <a:t>also</a:t>
            </a:r>
            <a:r>
              <a:rPr lang="nl-NL" dirty="0"/>
              <a:t> </a:t>
            </a:r>
            <a:r>
              <a:rPr lang="nl-NL" dirty="0" err="1"/>
              <a:t>possible</a:t>
            </a:r>
            <a:r>
              <a:rPr lang="nl-NL" dirty="0"/>
              <a:t> in Dutch) </a:t>
            </a:r>
            <a:r>
              <a:rPr lang="nl-NL" dirty="0" err="1"/>
              <a:t>place</a:t>
            </a:r>
            <a:r>
              <a:rPr lang="nl-NL" dirty="0"/>
              <a:t>&gt; time</a:t>
            </a:r>
          </a:p>
          <a:p>
            <a:endParaRPr lang="nl-NL" dirty="0"/>
          </a:p>
          <a:p>
            <a:pPr lvl="1"/>
            <a:r>
              <a:rPr lang="nl-NL" dirty="0"/>
              <a:t>I </a:t>
            </a:r>
            <a:r>
              <a:rPr lang="nl-NL" dirty="0" err="1"/>
              <a:t>am</a:t>
            </a:r>
            <a:r>
              <a:rPr lang="nl-NL" dirty="0"/>
              <a:t> </a:t>
            </a:r>
            <a:r>
              <a:rPr lang="nl-NL" dirty="0" err="1"/>
              <a:t>flying</a:t>
            </a:r>
            <a:r>
              <a:rPr lang="nl-NL" dirty="0"/>
              <a:t> </a:t>
            </a:r>
            <a:r>
              <a:rPr lang="nl-NL" dirty="0">
                <a:solidFill>
                  <a:srgbClr val="FF9900"/>
                </a:solidFill>
              </a:rPr>
              <a:t>to London </a:t>
            </a:r>
            <a:r>
              <a:rPr lang="nl-NL" dirty="0" err="1">
                <a:solidFill>
                  <a:srgbClr val="CC00CC"/>
                </a:solidFill>
              </a:rPr>
              <a:t>tomorrow</a:t>
            </a:r>
            <a:br>
              <a:rPr lang="nl-NL" dirty="0">
                <a:solidFill>
                  <a:srgbClr val="CC00CC"/>
                </a:solidFill>
              </a:rPr>
            </a:br>
            <a:r>
              <a:rPr lang="nl-NL" i="1" dirty="0"/>
              <a:t>Ik vlieg </a:t>
            </a:r>
            <a:r>
              <a:rPr lang="nl-NL" i="1" dirty="0">
                <a:solidFill>
                  <a:srgbClr val="FF9900"/>
                </a:solidFill>
              </a:rPr>
              <a:t>naar Londen </a:t>
            </a:r>
            <a:r>
              <a:rPr lang="nl-NL" i="1" dirty="0">
                <a:solidFill>
                  <a:srgbClr val="CC00CC"/>
                </a:solidFill>
              </a:rPr>
              <a:t>morgen</a:t>
            </a:r>
          </a:p>
          <a:p>
            <a:pPr marL="457200" lvl="1" indent="0">
              <a:buNone/>
            </a:pPr>
            <a:endParaRPr lang="nl-NL" i="1" dirty="0">
              <a:solidFill>
                <a:srgbClr val="CC00CC"/>
              </a:solidFill>
            </a:endParaRPr>
          </a:p>
          <a:p>
            <a:pPr lvl="1"/>
            <a:r>
              <a:rPr lang="nl-NL" dirty="0"/>
              <a:t>I </a:t>
            </a:r>
            <a:r>
              <a:rPr lang="nl-NL" dirty="0" err="1"/>
              <a:t>am</a:t>
            </a:r>
            <a:r>
              <a:rPr lang="nl-NL" dirty="0"/>
              <a:t> </a:t>
            </a:r>
            <a:r>
              <a:rPr lang="nl-NL" dirty="0" err="1"/>
              <a:t>working</a:t>
            </a:r>
            <a:r>
              <a:rPr lang="nl-NL" dirty="0"/>
              <a:t> </a:t>
            </a:r>
            <a:r>
              <a:rPr lang="nl-NL" dirty="0" err="1">
                <a:solidFill>
                  <a:srgbClr val="FF9900"/>
                </a:solidFill>
              </a:rPr>
              <a:t>downstairs</a:t>
            </a:r>
            <a:r>
              <a:rPr lang="nl-NL" dirty="0"/>
              <a:t> </a:t>
            </a:r>
            <a:r>
              <a:rPr lang="nl-NL" dirty="0" err="1">
                <a:solidFill>
                  <a:srgbClr val="CC00CC"/>
                </a:solidFill>
              </a:rPr>
              <a:t>today</a:t>
            </a:r>
            <a:br>
              <a:rPr lang="nl-NL" dirty="0">
                <a:solidFill>
                  <a:srgbClr val="CC00CC"/>
                </a:solidFill>
              </a:rPr>
            </a:br>
            <a:r>
              <a:rPr lang="nl-NL" i="1" dirty="0"/>
              <a:t>Ik werk </a:t>
            </a:r>
            <a:r>
              <a:rPr lang="nl-NL" i="1" dirty="0">
                <a:solidFill>
                  <a:srgbClr val="FF9900"/>
                </a:solidFill>
              </a:rPr>
              <a:t>beneden</a:t>
            </a:r>
            <a:r>
              <a:rPr lang="nl-NL" i="1" dirty="0"/>
              <a:t> </a:t>
            </a:r>
            <a:r>
              <a:rPr lang="nl-NL" i="1" dirty="0">
                <a:solidFill>
                  <a:srgbClr val="CC00CC"/>
                </a:solidFill>
              </a:rPr>
              <a:t>vandaag</a:t>
            </a:r>
          </a:p>
          <a:p>
            <a:pPr lvl="1"/>
            <a:endParaRPr lang="nl-NL" i="1" dirty="0"/>
          </a:p>
          <a:p>
            <a:endParaRPr lang="nl-NL" dirty="0"/>
          </a:p>
          <a:p>
            <a:endParaRPr lang="nl-NL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Expressions</a:t>
            </a:r>
            <a:r>
              <a:rPr lang="nl-NL" dirty="0"/>
              <a:t> of </a:t>
            </a:r>
            <a:r>
              <a:rPr lang="nl-NL" dirty="0">
                <a:solidFill>
                  <a:srgbClr val="FF9900"/>
                </a:solidFill>
              </a:rPr>
              <a:t>place </a:t>
            </a:r>
            <a:r>
              <a:rPr lang="nl-NL" dirty="0">
                <a:solidFill>
                  <a:schemeClr val="tx1"/>
                </a:solidFill>
              </a:rPr>
              <a:t>and </a:t>
            </a:r>
            <a:r>
              <a:rPr lang="nl-NL" dirty="0">
                <a:solidFill>
                  <a:srgbClr val="CC00CC"/>
                </a:solidFill>
              </a:rPr>
              <a:t>time</a:t>
            </a:r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838200" y="1553497"/>
            <a:ext cx="10515600" cy="4623466"/>
          </a:xfrm>
        </p:spPr>
        <p:txBody>
          <a:bodyPr/>
          <a:lstStyle/>
          <a:p>
            <a:r>
              <a:rPr lang="nl-NL" dirty="0"/>
              <a:t>In Dutch </a:t>
            </a:r>
            <a:r>
              <a:rPr lang="nl-NL" dirty="0" err="1"/>
              <a:t>it’s</a:t>
            </a:r>
            <a:r>
              <a:rPr lang="nl-NL" dirty="0"/>
              <a:t> </a:t>
            </a:r>
            <a:r>
              <a:rPr lang="nl-NL" dirty="0" err="1"/>
              <a:t>also</a:t>
            </a:r>
            <a:r>
              <a:rPr lang="nl-NL" dirty="0"/>
              <a:t> </a:t>
            </a:r>
            <a:r>
              <a:rPr lang="nl-NL" dirty="0" err="1"/>
              <a:t>possible</a:t>
            </a:r>
            <a:r>
              <a:rPr lang="nl-NL" dirty="0"/>
              <a:t> to switch </a:t>
            </a:r>
            <a:r>
              <a:rPr lang="nl-NL" dirty="0" err="1"/>
              <a:t>them</a:t>
            </a:r>
            <a:r>
              <a:rPr lang="nl-NL" dirty="0"/>
              <a:t> (</a:t>
            </a:r>
            <a:r>
              <a:rPr lang="nl-NL" dirty="0" err="1"/>
              <a:t>but</a:t>
            </a:r>
            <a:r>
              <a:rPr lang="nl-NL" dirty="0"/>
              <a:t> </a:t>
            </a:r>
            <a:r>
              <a:rPr lang="nl-NL" dirty="0" err="1"/>
              <a:t>not</a:t>
            </a:r>
            <a:r>
              <a:rPr lang="nl-NL" dirty="0"/>
              <a:t> in </a:t>
            </a:r>
            <a:r>
              <a:rPr lang="nl-NL" dirty="0" err="1"/>
              <a:t>English</a:t>
            </a:r>
            <a:r>
              <a:rPr lang="nl-NL" dirty="0"/>
              <a:t>)</a:t>
            </a:r>
          </a:p>
          <a:p>
            <a:pPr lvl="1"/>
            <a:r>
              <a:rPr lang="nl-NL" i="1" dirty="0"/>
              <a:t>Ik vlieg </a:t>
            </a:r>
            <a:r>
              <a:rPr lang="nl-NL" i="1" dirty="0">
                <a:solidFill>
                  <a:srgbClr val="CC00CC"/>
                </a:solidFill>
              </a:rPr>
              <a:t>morgen</a:t>
            </a:r>
            <a:r>
              <a:rPr lang="nl-NL" i="1" dirty="0"/>
              <a:t> </a:t>
            </a:r>
            <a:r>
              <a:rPr lang="nl-NL" i="1" dirty="0">
                <a:solidFill>
                  <a:srgbClr val="FF9900"/>
                </a:solidFill>
              </a:rPr>
              <a:t>naar Londen</a:t>
            </a:r>
            <a:endParaRPr lang="nl-NL" dirty="0">
              <a:solidFill>
                <a:srgbClr val="FF9900"/>
              </a:solidFill>
            </a:endParaRPr>
          </a:p>
          <a:p>
            <a:pPr lvl="1"/>
            <a:r>
              <a:rPr lang="nl-NL" strike="sngStrike" dirty="0"/>
              <a:t>I </a:t>
            </a:r>
            <a:r>
              <a:rPr lang="nl-NL" strike="sngStrike" dirty="0" err="1"/>
              <a:t>am</a:t>
            </a:r>
            <a:r>
              <a:rPr lang="nl-NL" strike="sngStrike" dirty="0"/>
              <a:t> </a:t>
            </a:r>
            <a:r>
              <a:rPr lang="nl-NL" strike="sngStrike" dirty="0" err="1"/>
              <a:t>flying</a:t>
            </a:r>
            <a:r>
              <a:rPr lang="nl-NL" strike="sngStrike" dirty="0"/>
              <a:t> </a:t>
            </a:r>
            <a:r>
              <a:rPr lang="nl-NL" strike="sngStrike" dirty="0" err="1">
                <a:solidFill>
                  <a:srgbClr val="CC00CC"/>
                </a:solidFill>
              </a:rPr>
              <a:t>tomorrow</a:t>
            </a:r>
            <a:r>
              <a:rPr lang="nl-NL" strike="sngStrike" dirty="0"/>
              <a:t> </a:t>
            </a:r>
            <a:r>
              <a:rPr lang="nl-NL" strike="sngStrike" dirty="0">
                <a:solidFill>
                  <a:srgbClr val="FF9900"/>
                </a:solidFill>
              </a:rPr>
              <a:t>to London</a:t>
            </a:r>
          </a:p>
          <a:p>
            <a:pPr lvl="1"/>
            <a:r>
              <a:rPr lang="nl-NL" i="1" dirty="0"/>
              <a:t>Ik werk </a:t>
            </a:r>
            <a:r>
              <a:rPr lang="nl-NL" i="1" dirty="0">
                <a:solidFill>
                  <a:srgbClr val="CC00CC"/>
                </a:solidFill>
              </a:rPr>
              <a:t>vandaag</a:t>
            </a:r>
            <a:r>
              <a:rPr lang="nl-NL" i="1" dirty="0"/>
              <a:t> </a:t>
            </a:r>
            <a:r>
              <a:rPr lang="nl-NL" i="1" dirty="0">
                <a:solidFill>
                  <a:srgbClr val="FF9900"/>
                </a:solidFill>
              </a:rPr>
              <a:t>beneden</a:t>
            </a:r>
            <a:endParaRPr lang="nl-NL" strike="sngStrike" dirty="0">
              <a:solidFill>
                <a:srgbClr val="FF9900"/>
              </a:solidFill>
            </a:endParaRPr>
          </a:p>
          <a:p>
            <a:pPr lvl="1"/>
            <a:r>
              <a:rPr lang="nl-NL" strike="sngStrike" dirty="0"/>
              <a:t>I </a:t>
            </a:r>
            <a:r>
              <a:rPr lang="nl-NL" strike="sngStrike" dirty="0" err="1"/>
              <a:t>am</a:t>
            </a:r>
            <a:r>
              <a:rPr lang="nl-NL" strike="sngStrike" dirty="0"/>
              <a:t> </a:t>
            </a:r>
            <a:r>
              <a:rPr lang="nl-NL" strike="sngStrike" dirty="0" err="1"/>
              <a:t>working</a:t>
            </a:r>
            <a:r>
              <a:rPr lang="nl-NL" strike="sngStrike" dirty="0"/>
              <a:t> </a:t>
            </a:r>
            <a:r>
              <a:rPr lang="nl-NL" strike="sngStrike" dirty="0" err="1">
                <a:solidFill>
                  <a:srgbClr val="CC00CC"/>
                </a:solidFill>
              </a:rPr>
              <a:t>today</a:t>
            </a:r>
            <a:r>
              <a:rPr lang="nl-NL" strike="sngStrike" dirty="0"/>
              <a:t> </a:t>
            </a:r>
            <a:r>
              <a:rPr lang="nl-NL" strike="sngStrike" dirty="0" err="1">
                <a:solidFill>
                  <a:srgbClr val="FF9900"/>
                </a:solidFill>
              </a:rPr>
              <a:t>downstairs</a:t>
            </a:r>
            <a:endParaRPr lang="nl-NL" strike="sngStrike" dirty="0">
              <a:solidFill>
                <a:srgbClr val="FF9900"/>
              </a:solidFill>
            </a:endParaRPr>
          </a:p>
          <a:p>
            <a:pPr marL="457200" lvl="1" indent="0">
              <a:buNone/>
            </a:pPr>
            <a:endParaRPr lang="nl-NL" strike="sngStrike" dirty="0">
              <a:solidFill>
                <a:srgbClr val="FF9900"/>
              </a:solidFill>
            </a:endParaRPr>
          </a:p>
          <a:p>
            <a:r>
              <a:rPr lang="nl-NL" dirty="0"/>
              <a:t>It’s </a:t>
            </a:r>
            <a:r>
              <a:rPr lang="nl-NL" dirty="0" err="1"/>
              <a:t>only</a:t>
            </a:r>
            <a:r>
              <a:rPr lang="nl-NL" dirty="0"/>
              <a:t> </a:t>
            </a:r>
            <a:r>
              <a:rPr lang="nl-NL" dirty="0" err="1"/>
              <a:t>possible</a:t>
            </a:r>
            <a:r>
              <a:rPr lang="nl-NL" dirty="0"/>
              <a:t> </a:t>
            </a:r>
            <a:r>
              <a:rPr lang="nl-NL" dirty="0" err="1"/>
              <a:t>if</a:t>
            </a:r>
            <a:r>
              <a:rPr lang="nl-NL" dirty="0"/>
              <a:t> </a:t>
            </a:r>
            <a:r>
              <a:rPr lang="nl-NL" dirty="0" err="1"/>
              <a:t>you</a:t>
            </a:r>
            <a:r>
              <a:rPr lang="nl-NL" dirty="0"/>
              <a:t> move the time </a:t>
            </a:r>
            <a:r>
              <a:rPr lang="nl-NL" dirty="0" err="1"/>
              <a:t>expressions</a:t>
            </a:r>
            <a:r>
              <a:rPr lang="nl-NL" dirty="0"/>
              <a:t> to the </a:t>
            </a:r>
            <a:r>
              <a:rPr lang="nl-NL" dirty="0" err="1"/>
              <a:t>beginning</a:t>
            </a:r>
            <a:r>
              <a:rPr lang="nl-NL" dirty="0"/>
              <a:t> of the </a:t>
            </a:r>
            <a:r>
              <a:rPr lang="nl-NL" dirty="0" err="1"/>
              <a:t>sentence</a:t>
            </a:r>
            <a:r>
              <a:rPr lang="nl-NL" dirty="0"/>
              <a:t> (</a:t>
            </a:r>
            <a:r>
              <a:rPr lang="nl-NL" dirty="0" err="1"/>
              <a:t>also</a:t>
            </a:r>
            <a:r>
              <a:rPr lang="nl-NL" dirty="0"/>
              <a:t> in Dutch)</a:t>
            </a:r>
          </a:p>
          <a:p>
            <a:pPr lvl="1"/>
            <a:r>
              <a:rPr lang="nl-NL" dirty="0" err="1">
                <a:solidFill>
                  <a:srgbClr val="CC00CC"/>
                </a:solidFill>
              </a:rPr>
              <a:t>Tomorrow</a:t>
            </a:r>
            <a:r>
              <a:rPr lang="nl-NL" dirty="0"/>
              <a:t> I </a:t>
            </a:r>
            <a:r>
              <a:rPr lang="nl-NL" dirty="0" err="1"/>
              <a:t>am</a:t>
            </a:r>
            <a:r>
              <a:rPr lang="nl-NL" dirty="0"/>
              <a:t> </a:t>
            </a:r>
            <a:r>
              <a:rPr lang="nl-NL" dirty="0" err="1"/>
              <a:t>flying</a:t>
            </a:r>
            <a:r>
              <a:rPr lang="nl-NL" dirty="0"/>
              <a:t> </a:t>
            </a:r>
            <a:r>
              <a:rPr lang="nl-NL" dirty="0">
                <a:solidFill>
                  <a:srgbClr val="FF9900"/>
                </a:solidFill>
              </a:rPr>
              <a:t>to London</a:t>
            </a:r>
          </a:p>
          <a:p>
            <a:pPr lvl="1"/>
            <a:r>
              <a:rPr lang="nl-NL" dirty="0">
                <a:solidFill>
                  <a:srgbClr val="CC00CC"/>
                </a:solidFill>
              </a:rPr>
              <a:t>Morgen</a:t>
            </a:r>
            <a:r>
              <a:rPr lang="nl-NL" dirty="0"/>
              <a:t> vlieg ik </a:t>
            </a:r>
            <a:r>
              <a:rPr lang="nl-NL" dirty="0">
                <a:solidFill>
                  <a:srgbClr val="FF9900"/>
                </a:solidFill>
              </a:rPr>
              <a:t>naar London</a:t>
            </a:r>
          </a:p>
          <a:p>
            <a:pPr lvl="1"/>
            <a:endParaRPr lang="nl-NL" i="1" dirty="0"/>
          </a:p>
          <a:p>
            <a:endParaRPr lang="nl-NL" dirty="0"/>
          </a:p>
          <a:p>
            <a:endParaRPr lang="nl-NL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01D0AF59-99C3-4251-AB9A-C966C6AD44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855405F-37A2-4869-9154-F8BE3BECE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n inforgraphic which shows a word order &quot;snake&quot;. ">
            <a:extLst>
              <a:ext uri="{FF2B5EF4-FFF2-40B4-BE49-F238E27FC236}">
                <a16:creationId xmlns:a16="http://schemas.microsoft.com/office/drawing/2014/main" id="{0447576B-96FC-579D-0057-8F3DDCFBC0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0554" y="556027"/>
            <a:ext cx="4050892" cy="5745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40594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680</Words>
  <Application>Microsoft Office PowerPoint</Application>
  <PresentationFormat>Breedbeeld</PresentationFormat>
  <Paragraphs>109</Paragraphs>
  <Slides>15</Slides>
  <Notes>11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4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Wingdings</vt:lpstr>
      <vt:lpstr>Office Theme</vt:lpstr>
      <vt:lpstr>Grammar &amp; Basics</vt:lpstr>
      <vt:lpstr>Today</vt:lpstr>
      <vt:lpstr>PowerPoint-presentatie</vt:lpstr>
      <vt:lpstr>PowerPoint-presentatie</vt:lpstr>
      <vt:lpstr>PowerPoint-presentatie</vt:lpstr>
      <vt:lpstr>Word order with objects</vt:lpstr>
      <vt:lpstr>Word order with objects</vt:lpstr>
      <vt:lpstr>Where to put words ending in –ly (adverbs)</vt:lpstr>
      <vt:lpstr>Where to put words that indicate how often something happens</vt:lpstr>
      <vt:lpstr>Where to put words that indicate how often something happens</vt:lpstr>
      <vt:lpstr>Note</vt:lpstr>
      <vt:lpstr>Place and time</vt:lpstr>
      <vt:lpstr>Expressions of place and time</vt:lpstr>
      <vt:lpstr>Expressions of place and time</vt:lpstr>
      <vt:lpstr>PowerPoint-presentatie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Grammar &amp; Basics</dc:title>
  <dc:creator>Fatima Kajouj</dc:creator>
  <cp:lastModifiedBy>Freek Metsch</cp:lastModifiedBy>
  <cp:revision>1</cp:revision>
  <dcterms:created xsi:type="dcterms:W3CDTF">2023-08-28T13:18:06Z</dcterms:created>
  <dcterms:modified xsi:type="dcterms:W3CDTF">2026-03-02T08:27:18Z</dcterms:modified>
</cp:coreProperties>
</file>
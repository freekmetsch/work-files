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7"/>
  </p:notesMasterIdLst>
  <p:sldIdLst>
    <p:sldId id="412" r:id="rId2"/>
    <p:sldId id="424" r:id="rId3"/>
    <p:sldId id="425" r:id="rId4"/>
    <p:sldId id="426" r:id="rId5"/>
    <p:sldId id="427" r:id="rId6"/>
    <p:sldId id="440" r:id="rId7"/>
    <p:sldId id="429" r:id="rId8"/>
    <p:sldId id="441" r:id="rId9"/>
    <p:sldId id="430" r:id="rId10"/>
    <p:sldId id="431" r:id="rId11"/>
    <p:sldId id="438" r:id="rId12"/>
    <p:sldId id="442" r:id="rId13"/>
    <p:sldId id="444" r:id="rId14"/>
    <p:sldId id="443" r:id="rId15"/>
    <p:sldId id="44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102B9A-F4AF-47EF-BDF8-38BB53548D85}" v="4" dt="2024-09-25T10:02:23.8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e France" userId="fbd91d28-26b5-4f93-b162-d3fc612d7479" providerId="ADAL" clId="{3F102B9A-F4AF-47EF-BDF8-38BB53548D85}"/>
    <pc:docChg chg="custSel addSld delSld modSld sldOrd">
      <pc:chgData name="Thomas de France" userId="fbd91d28-26b5-4f93-b162-d3fc612d7479" providerId="ADAL" clId="{3F102B9A-F4AF-47EF-BDF8-38BB53548D85}" dt="2024-09-25T10:04:28.103" v="1920" actId="14100"/>
      <pc:docMkLst>
        <pc:docMk/>
      </pc:docMkLst>
      <pc:sldChg chg="del">
        <pc:chgData name="Thomas de France" userId="fbd91d28-26b5-4f93-b162-d3fc612d7479" providerId="ADAL" clId="{3F102B9A-F4AF-47EF-BDF8-38BB53548D85}" dt="2024-09-25T09:33:29.076" v="1259" actId="2696"/>
        <pc:sldMkLst>
          <pc:docMk/>
          <pc:sldMk cId="1543653370" sldId="414"/>
        </pc:sldMkLst>
      </pc:sldChg>
      <pc:sldChg chg="del">
        <pc:chgData name="Thomas de France" userId="fbd91d28-26b5-4f93-b162-d3fc612d7479" providerId="ADAL" clId="{3F102B9A-F4AF-47EF-BDF8-38BB53548D85}" dt="2024-09-25T09:33:29.076" v="1259" actId="2696"/>
        <pc:sldMkLst>
          <pc:docMk/>
          <pc:sldMk cId="655563795" sldId="415"/>
        </pc:sldMkLst>
      </pc:sldChg>
      <pc:sldChg chg="del">
        <pc:chgData name="Thomas de France" userId="fbd91d28-26b5-4f93-b162-d3fc612d7479" providerId="ADAL" clId="{3F102B9A-F4AF-47EF-BDF8-38BB53548D85}" dt="2024-09-25T09:33:29.076" v="1259" actId="2696"/>
        <pc:sldMkLst>
          <pc:docMk/>
          <pc:sldMk cId="3547454751" sldId="416"/>
        </pc:sldMkLst>
      </pc:sldChg>
      <pc:sldChg chg="del">
        <pc:chgData name="Thomas de France" userId="fbd91d28-26b5-4f93-b162-d3fc612d7479" providerId="ADAL" clId="{3F102B9A-F4AF-47EF-BDF8-38BB53548D85}" dt="2024-09-25T09:33:29.076" v="1259" actId="2696"/>
        <pc:sldMkLst>
          <pc:docMk/>
          <pc:sldMk cId="3780987014" sldId="417"/>
        </pc:sldMkLst>
      </pc:sldChg>
      <pc:sldChg chg="del">
        <pc:chgData name="Thomas de France" userId="fbd91d28-26b5-4f93-b162-d3fc612d7479" providerId="ADAL" clId="{3F102B9A-F4AF-47EF-BDF8-38BB53548D85}" dt="2024-09-25T09:33:29.076" v="1259" actId="2696"/>
        <pc:sldMkLst>
          <pc:docMk/>
          <pc:sldMk cId="2600875166" sldId="418"/>
        </pc:sldMkLst>
      </pc:sldChg>
      <pc:sldChg chg="del">
        <pc:chgData name="Thomas de France" userId="fbd91d28-26b5-4f93-b162-d3fc612d7479" providerId="ADAL" clId="{3F102B9A-F4AF-47EF-BDF8-38BB53548D85}" dt="2024-09-25T09:33:47.715" v="1260" actId="2696"/>
        <pc:sldMkLst>
          <pc:docMk/>
          <pc:sldMk cId="2782572689" sldId="419"/>
        </pc:sldMkLst>
      </pc:sldChg>
      <pc:sldChg chg="del">
        <pc:chgData name="Thomas de France" userId="fbd91d28-26b5-4f93-b162-d3fc612d7479" providerId="ADAL" clId="{3F102B9A-F4AF-47EF-BDF8-38BB53548D85}" dt="2024-09-25T09:33:47.715" v="1260" actId="2696"/>
        <pc:sldMkLst>
          <pc:docMk/>
          <pc:sldMk cId="3635464547" sldId="420"/>
        </pc:sldMkLst>
      </pc:sldChg>
      <pc:sldChg chg="del">
        <pc:chgData name="Thomas de France" userId="fbd91d28-26b5-4f93-b162-d3fc612d7479" providerId="ADAL" clId="{3F102B9A-F4AF-47EF-BDF8-38BB53548D85}" dt="2024-09-25T09:33:47.715" v="1260" actId="2696"/>
        <pc:sldMkLst>
          <pc:docMk/>
          <pc:sldMk cId="3419120995" sldId="421"/>
        </pc:sldMkLst>
      </pc:sldChg>
      <pc:sldChg chg="del">
        <pc:chgData name="Thomas de France" userId="fbd91d28-26b5-4f93-b162-d3fc612d7479" providerId="ADAL" clId="{3F102B9A-F4AF-47EF-BDF8-38BB53548D85}" dt="2024-09-25T09:33:47.715" v="1260" actId="2696"/>
        <pc:sldMkLst>
          <pc:docMk/>
          <pc:sldMk cId="2023265075" sldId="422"/>
        </pc:sldMkLst>
      </pc:sldChg>
      <pc:sldChg chg="del">
        <pc:chgData name="Thomas de France" userId="fbd91d28-26b5-4f93-b162-d3fc612d7479" providerId="ADAL" clId="{3F102B9A-F4AF-47EF-BDF8-38BB53548D85}" dt="2024-09-25T09:33:47.715" v="1260" actId="2696"/>
        <pc:sldMkLst>
          <pc:docMk/>
          <pc:sldMk cId="851464539" sldId="423"/>
        </pc:sldMkLst>
      </pc:sldChg>
      <pc:sldChg chg="modSp mod">
        <pc:chgData name="Thomas de France" userId="fbd91d28-26b5-4f93-b162-d3fc612d7479" providerId="ADAL" clId="{3F102B9A-F4AF-47EF-BDF8-38BB53548D85}" dt="2024-09-24T19:34:40.950" v="225" actId="20577"/>
        <pc:sldMkLst>
          <pc:docMk/>
          <pc:sldMk cId="1093074901" sldId="427"/>
        </pc:sldMkLst>
        <pc:graphicFrameChg chg="modGraphic">
          <ac:chgData name="Thomas de France" userId="fbd91d28-26b5-4f93-b162-d3fc612d7479" providerId="ADAL" clId="{3F102B9A-F4AF-47EF-BDF8-38BB53548D85}" dt="2024-09-24T19:34:40.950" v="225" actId="20577"/>
          <ac:graphicFrameMkLst>
            <pc:docMk/>
            <pc:sldMk cId="1093074901" sldId="427"/>
            <ac:graphicFrameMk id="4" creationId="{47CF971C-995D-44AB-98A1-C0D248F88D10}"/>
          </ac:graphicFrameMkLst>
        </pc:graphicFrameChg>
      </pc:sldChg>
      <pc:sldChg chg="del">
        <pc:chgData name="Thomas de France" userId="fbd91d28-26b5-4f93-b162-d3fc612d7479" providerId="ADAL" clId="{3F102B9A-F4AF-47EF-BDF8-38BB53548D85}" dt="2024-09-24T19:35:00.890" v="226" actId="2696"/>
        <pc:sldMkLst>
          <pc:docMk/>
          <pc:sldMk cId="2418902195" sldId="428"/>
        </pc:sldMkLst>
      </pc:sldChg>
      <pc:sldChg chg="modSp mod">
        <pc:chgData name="Thomas de France" userId="fbd91d28-26b5-4f93-b162-d3fc612d7479" providerId="ADAL" clId="{3F102B9A-F4AF-47EF-BDF8-38BB53548D85}" dt="2024-09-24T19:36:45.690" v="371" actId="20577"/>
        <pc:sldMkLst>
          <pc:docMk/>
          <pc:sldMk cId="270074201" sldId="429"/>
        </pc:sldMkLst>
        <pc:graphicFrameChg chg="modGraphic">
          <ac:chgData name="Thomas de France" userId="fbd91d28-26b5-4f93-b162-d3fc612d7479" providerId="ADAL" clId="{3F102B9A-F4AF-47EF-BDF8-38BB53548D85}" dt="2024-09-24T19:36:45.690" v="371" actId="20577"/>
          <ac:graphicFrameMkLst>
            <pc:docMk/>
            <pc:sldMk cId="270074201" sldId="429"/>
            <ac:graphicFrameMk id="4" creationId="{97092F2E-F9DE-4DB7-B351-414A44EB414C}"/>
          </ac:graphicFrameMkLst>
        </pc:graphicFrameChg>
      </pc:sldChg>
      <pc:sldChg chg="del">
        <pc:chgData name="Thomas de France" userId="fbd91d28-26b5-4f93-b162-d3fc612d7479" providerId="ADAL" clId="{3F102B9A-F4AF-47EF-BDF8-38BB53548D85}" dt="2024-09-25T09:35:03.569" v="1262" actId="2696"/>
        <pc:sldMkLst>
          <pc:docMk/>
          <pc:sldMk cId="1739468092" sldId="432"/>
        </pc:sldMkLst>
      </pc:sldChg>
      <pc:sldChg chg="del">
        <pc:chgData name="Thomas de France" userId="fbd91d28-26b5-4f93-b162-d3fc612d7479" providerId="ADAL" clId="{3F102B9A-F4AF-47EF-BDF8-38BB53548D85}" dt="2024-09-25T09:34:56.850" v="1261" actId="2696"/>
        <pc:sldMkLst>
          <pc:docMk/>
          <pc:sldMk cId="165493862" sldId="433"/>
        </pc:sldMkLst>
      </pc:sldChg>
      <pc:sldChg chg="del">
        <pc:chgData name="Thomas de France" userId="fbd91d28-26b5-4f93-b162-d3fc612d7479" providerId="ADAL" clId="{3F102B9A-F4AF-47EF-BDF8-38BB53548D85}" dt="2024-09-25T09:34:56.850" v="1261" actId="2696"/>
        <pc:sldMkLst>
          <pc:docMk/>
          <pc:sldMk cId="3010028600" sldId="434"/>
        </pc:sldMkLst>
      </pc:sldChg>
      <pc:sldChg chg="del">
        <pc:chgData name="Thomas de France" userId="fbd91d28-26b5-4f93-b162-d3fc612d7479" providerId="ADAL" clId="{3F102B9A-F4AF-47EF-BDF8-38BB53548D85}" dt="2024-09-25T09:34:56.850" v="1261" actId="2696"/>
        <pc:sldMkLst>
          <pc:docMk/>
          <pc:sldMk cId="2801892701" sldId="435"/>
        </pc:sldMkLst>
      </pc:sldChg>
      <pc:sldChg chg="del">
        <pc:chgData name="Thomas de France" userId="fbd91d28-26b5-4f93-b162-d3fc612d7479" providerId="ADAL" clId="{3F102B9A-F4AF-47EF-BDF8-38BB53548D85}" dt="2024-09-25T09:34:56.850" v="1261" actId="2696"/>
        <pc:sldMkLst>
          <pc:docMk/>
          <pc:sldMk cId="4136561345" sldId="436"/>
        </pc:sldMkLst>
      </pc:sldChg>
      <pc:sldChg chg="del">
        <pc:chgData name="Thomas de France" userId="fbd91d28-26b5-4f93-b162-d3fc612d7479" providerId="ADAL" clId="{3F102B9A-F4AF-47EF-BDF8-38BB53548D85}" dt="2024-09-25T09:34:56.850" v="1261" actId="2696"/>
        <pc:sldMkLst>
          <pc:docMk/>
          <pc:sldMk cId="3919666879" sldId="437"/>
        </pc:sldMkLst>
      </pc:sldChg>
      <pc:sldChg chg="del">
        <pc:chgData name="Thomas de France" userId="fbd91d28-26b5-4f93-b162-d3fc612d7479" providerId="ADAL" clId="{3F102B9A-F4AF-47EF-BDF8-38BB53548D85}" dt="2024-09-25T09:35:12.708" v="1263" actId="2696"/>
        <pc:sldMkLst>
          <pc:docMk/>
          <pc:sldMk cId="2557769936" sldId="439"/>
        </pc:sldMkLst>
      </pc:sldChg>
      <pc:sldChg chg="add">
        <pc:chgData name="Thomas de France" userId="fbd91d28-26b5-4f93-b162-d3fc612d7479" providerId="ADAL" clId="{3F102B9A-F4AF-47EF-BDF8-38BB53548D85}" dt="2024-09-24T19:34:03.957" v="0"/>
        <pc:sldMkLst>
          <pc:docMk/>
          <pc:sldMk cId="2213588952" sldId="440"/>
        </pc:sldMkLst>
      </pc:sldChg>
      <pc:sldChg chg="add">
        <pc:chgData name="Thomas de France" userId="fbd91d28-26b5-4f93-b162-d3fc612d7479" providerId="ADAL" clId="{3F102B9A-F4AF-47EF-BDF8-38BB53548D85}" dt="2024-09-24T19:36:19.248" v="227"/>
        <pc:sldMkLst>
          <pc:docMk/>
          <pc:sldMk cId="1154623925" sldId="441"/>
        </pc:sldMkLst>
      </pc:sldChg>
      <pc:sldChg chg="modSp new mod ord">
        <pc:chgData name="Thomas de France" userId="fbd91d28-26b5-4f93-b162-d3fc612d7479" providerId="ADAL" clId="{3F102B9A-F4AF-47EF-BDF8-38BB53548D85}" dt="2024-09-25T09:31:49.924" v="1258"/>
        <pc:sldMkLst>
          <pc:docMk/>
          <pc:sldMk cId="3399728099" sldId="442"/>
        </pc:sldMkLst>
        <pc:spChg chg="mod">
          <ac:chgData name="Thomas de France" userId="fbd91d28-26b5-4f93-b162-d3fc612d7479" providerId="ADAL" clId="{3F102B9A-F4AF-47EF-BDF8-38BB53548D85}" dt="2024-09-25T08:02:13.178" v="422" actId="20577"/>
          <ac:spMkLst>
            <pc:docMk/>
            <pc:sldMk cId="3399728099" sldId="442"/>
            <ac:spMk id="2" creationId="{9800206D-B061-8445-FFB4-D52D73E5D4DA}"/>
          </ac:spMkLst>
        </pc:spChg>
        <pc:spChg chg="mod">
          <ac:chgData name="Thomas de France" userId="fbd91d28-26b5-4f93-b162-d3fc612d7479" providerId="ADAL" clId="{3F102B9A-F4AF-47EF-BDF8-38BB53548D85}" dt="2024-09-25T08:08:38.852" v="983" actId="20577"/>
          <ac:spMkLst>
            <pc:docMk/>
            <pc:sldMk cId="3399728099" sldId="442"/>
            <ac:spMk id="3" creationId="{47A64A38-62C0-C34B-EEDF-14DBE142C90B}"/>
          </ac:spMkLst>
        </pc:spChg>
      </pc:sldChg>
      <pc:sldChg chg="modSp new mod">
        <pc:chgData name="Thomas de France" userId="fbd91d28-26b5-4f93-b162-d3fc612d7479" providerId="ADAL" clId="{3F102B9A-F4AF-47EF-BDF8-38BB53548D85}" dt="2024-09-25T08:12:21.546" v="1256"/>
        <pc:sldMkLst>
          <pc:docMk/>
          <pc:sldMk cId="4278952164" sldId="443"/>
        </pc:sldMkLst>
        <pc:spChg chg="mod">
          <ac:chgData name="Thomas de France" userId="fbd91d28-26b5-4f93-b162-d3fc612d7479" providerId="ADAL" clId="{3F102B9A-F4AF-47EF-BDF8-38BB53548D85}" dt="2024-09-25T08:06:08.335" v="694" actId="14100"/>
          <ac:spMkLst>
            <pc:docMk/>
            <pc:sldMk cId="4278952164" sldId="443"/>
            <ac:spMk id="2" creationId="{6FEB5897-355E-D86E-C79E-8480D5CBCEF8}"/>
          </ac:spMkLst>
        </pc:spChg>
        <pc:spChg chg="mod">
          <ac:chgData name="Thomas de France" userId="fbd91d28-26b5-4f93-b162-d3fc612d7479" providerId="ADAL" clId="{3F102B9A-F4AF-47EF-BDF8-38BB53548D85}" dt="2024-09-25T08:12:21.546" v="1256"/>
          <ac:spMkLst>
            <pc:docMk/>
            <pc:sldMk cId="4278952164" sldId="443"/>
            <ac:spMk id="3" creationId="{E806B9D6-54A3-73D6-C8D8-D2EDBB05F02F}"/>
          </ac:spMkLst>
        </pc:spChg>
      </pc:sldChg>
      <pc:sldChg chg="modSp add mod">
        <pc:chgData name="Thomas de France" userId="fbd91d28-26b5-4f93-b162-d3fc612d7479" providerId="ADAL" clId="{3F102B9A-F4AF-47EF-BDF8-38BB53548D85}" dt="2024-09-25T10:04:17.989" v="1918" actId="14100"/>
        <pc:sldMkLst>
          <pc:docMk/>
          <pc:sldMk cId="2545004985" sldId="444"/>
        </pc:sldMkLst>
        <pc:spChg chg="mod">
          <ac:chgData name="Thomas de France" userId="fbd91d28-26b5-4f93-b162-d3fc612d7479" providerId="ADAL" clId="{3F102B9A-F4AF-47EF-BDF8-38BB53548D85}" dt="2024-09-25T10:04:17.989" v="1918" actId="14100"/>
          <ac:spMkLst>
            <pc:docMk/>
            <pc:sldMk cId="2545004985" sldId="444"/>
            <ac:spMk id="2" creationId="{9800206D-B061-8445-FFB4-D52D73E5D4DA}"/>
          </ac:spMkLst>
        </pc:spChg>
        <pc:spChg chg="mod">
          <ac:chgData name="Thomas de France" userId="fbd91d28-26b5-4f93-b162-d3fc612d7479" providerId="ADAL" clId="{3F102B9A-F4AF-47EF-BDF8-38BB53548D85}" dt="2024-09-25T10:02:19.246" v="1664" actId="113"/>
          <ac:spMkLst>
            <pc:docMk/>
            <pc:sldMk cId="2545004985" sldId="444"/>
            <ac:spMk id="3" creationId="{47A64A38-62C0-C34B-EEDF-14DBE142C90B}"/>
          </ac:spMkLst>
        </pc:spChg>
      </pc:sldChg>
      <pc:sldChg chg="modSp add mod">
        <pc:chgData name="Thomas de France" userId="fbd91d28-26b5-4f93-b162-d3fc612d7479" providerId="ADAL" clId="{3F102B9A-F4AF-47EF-BDF8-38BB53548D85}" dt="2024-09-25T10:04:28.103" v="1920" actId="14100"/>
        <pc:sldMkLst>
          <pc:docMk/>
          <pc:sldMk cId="2644065163" sldId="445"/>
        </pc:sldMkLst>
        <pc:spChg chg="mod">
          <ac:chgData name="Thomas de France" userId="fbd91d28-26b5-4f93-b162-d3fc612d7479" providerId="ADAL" clId="{3F102B9A-F4AF-47EF-BDF8-38BB53548D85}" dt="2024-09-25T10:04:28.103" v="1920" actId="14100"/>
          <ac:spMkLst>
            <pc:docMk/>
            <pc:sldMk cId="2644065163" sldId="445"/>
            <ac:spMk id="2" creationId="{6FEB5897-355E-D86E-C79E-8480D5CBCEF8}"/>
          </ac:spMkLst>
        </pc:spChg>
        <pc:spChg chg="mod">
          <ac:chgData name="Thomas de France" userId="fbd91d28-26b5-4f93-b162-d3fc612d7479" providerId="ADAL" clId="{3F102B9A-F4AF-47EF-BDF8-38BB53548D85}" dt="2024-09-25T10:03:50.535" v="1873" actId="113"/>
          <ac:spMkLst>
            <pc:docMk/>
            <pc:sldMk cId="2644065163" sldId="445"/>
            <ac:spMk id="3" creationId="{E806B9D6-54A3-73D6-C8D8-D2EDBB05F02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041669-AD2A-4162-BD44-F3A81349A453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F9C733-D3C4-4262-8754-A85F3A6999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24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179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096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92AD33-90D0-49EC-8CB2-036AB37422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231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605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7C818-B4E2-4414-87E3-5B90117EC14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18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19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F2958A-7EA6-4128-89D4-B14E33C351D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59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1988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F2958A-7EA6-4128-89D4-B14E33C351D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96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403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73CD48-4D48-45DB-8C62-115389DBED5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645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403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73CD48-4D48-45DB-8C62-115389DBED5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802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/>
          </a:p>
        </p:txBody>
      </p:sp>
      <p:sp>
        <p:nvSpPr>
          <p:cNvPr id="45060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C5CBB3-3BB1-499F-9629-80C09B35FC3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71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  <p:sp>
        <p:nvSpPr>
          <p:cNvPr id="46084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A4D889-104F-4EFF-AB51-FA5370A2F4C0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573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Tijdelijke aanduiding voor notiti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/>
          </a:p>
        </p:txBody>
      </p:sp>
      <p:sp>
        <p:nvSpPr>
          <p:cNvPr id="49156" name="Tijdelijke aanduiding voor dianumm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6A17B1F-5201-45A1-8F1C-0502553D97A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823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7C3F-0FB2-4B2E-BA6A-FEEEFF1AF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400" y="685801"/>
            <a:ext cx="8115300" cy="3046228"/>
          </a:xfrm>
        </p:spPr>
        <p:txBody>
          <a:bodyPr anchor="b">
            <a:normAutofit/>
          </a:bodyPr>
          <a:lstStyle>
            <a:lvl1pPr algn="ctr">
              <a:defRPr sz="36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583AE9-1CC1-4572-A6E5-E97F80E4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57400" y="4114800"/>
            <a:ext cx="8115300" cy="2057400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4DE7C-68AB-403D-B9D8-7398C292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A57E-7C1A-457B-A4CD-5DCEB057B502}" type="datetime1">
              <a:rPr lang="en-US" smtClean="0"/>
              <a:t>9/25/2024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03E50-6613-4D86-AA22-43B14E72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69AB5-A56D-471F-9236-EFA981E2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058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9B412-EBAB-4569-B3D9-6B346BF83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</p:spPr>
        <p:txBody>
          <a:bodyPr>
            <a:normAutofit/>
          </a:bodyPr>
          <a:lstStyle>
            <a:lvl1pPr algn="l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7C8AE-B0F4-404F-BCAD-A14C18E50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A9CAD-DAFB-4DE3-9C41-7FD03EA8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AF2CE-4F37-411C-A3EE-BBBE223265BF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E3137-8136-46C5-AC2F-49E5F55E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AB6EF-A0B1-4706-AE44-253A6B182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40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2F68-BF19-468D-B422-54B6D189F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77407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BF7D7-84D4-4A39-B44E-9B029EEB1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41624"/>
            <a:ext cx="10515600" cy="1448026"/>
          </a:xfrm>
        </p:spPr>
        <p:txBody>
          <a:bodyPr/>
          <a:lstStyle>
            <a:lvl1pPr marL="0" indent="0" algn="ctr">
              <a:buNone/>
              <a:defRPr sz="2400" i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29709-D243-41E8-89FA-62FA7AEB5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083D4-708C-4BB5-B4FD-30CE9FA12FD5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B99C0-DC2A-4133-A10D-D43A1E05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22EFD-A17E-47F5-8AC9-EFD6D813D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30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C668D-BFBE-4765-A294-8303931B5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071" y="566278"/>
            <a:ext cx="9512429" cy="965458"/>
          </a:xfrm>
        </p:spPr>
        <p:txBody>
          <a:bodyPr/>
          <a:lstStyle>
            <a:lvl1pPr algn="ctr">
              <a:defRPr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3C212-F55F-4D0D-BFA7-F00A33CAA1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9758" y="2057400"/>
            <a:ext cx="5031521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4BDD7-2575-4E82-887D-DCAF9EB15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5408" y="2057401"/>
            <a:ext cx="5016834" cy="41195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AECC8-3C3A-4A5D-AB7A-1F99E50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239B2-65BC-4C2A-A62B-3EABFE9590E4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47609B-ACA4-4323-9340-C7DB166D7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409EA3-C5C7-4AC6-956A-DB9A3B4F3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295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CDE0-7431-4F05-AA47-F10EB46C9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276552" cy="1149350"/>
          </a:xfrm>
        </p:spPr>
        <p:txBody>
          <a:bodyPr>
            <a:normAutofit/>
          </a:bodyPr>
          <a:lstStyle>
            <a:lvl1pPr algn="ctr">
              <a:defRPr sz="32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9FFA7-D3EA-4CB8-A471-94235AD62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360D2-88E8-43C8-92D1-67AB23BBE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C768F6-20A1-47A1-90FE-903135EEFD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555EC1-268F-4324-A003-3608AA0D8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55C8E4-FCB8-4E06-9C43-0ACD949A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E05F5A-E4A3-476F-A89E-C2B73F2431E4}" type="datetime1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1C005-C973-4D82-942A-334F1D43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FB6186-6570-4DE8-8603-70B0A51DF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56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5ADD3-88C8-4B01-8CC6-808C0E416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634E6A-1390-4101-B78E-759231340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761515-4A26-4F31-9F61-5A10B1FABBFC}" type="datetime1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C7B90-4C99-4653-872A-3572A02DA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B03516-4D31-49D2-9488-33C734A7A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0D8488-CF25-431B-A87A-AAF141BD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5DC65-7D1F-4BAB-9695-F7E734143E14}" type="datetime1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2F58E5-C92D-4C64-B867-0576B1EA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16797-ABEC-4FE0-AFDE-36107B96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6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8F2B0-990D-418E-9D10-2464E9866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81131-AFFD-4339-9F30-D408B510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7C47F4-7968-4698-8BD3-A583099FA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12BC6F-3996-4B2B-B8F2-DD3A82CCF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24077-BD55-4036-8E92-6558FDF3B653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2E66-581A-4CF2-A40A-4E24FAAC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3B1C89-C625-4618-81A2-FB34E4DA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474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486F-443A-4F2D-AB1F-8B1F4C4D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A21213-E7FB-406A-B8CD-735AAC7AD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41A03-500E-49F7-8D99-A1EAFE4D3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1523D-69E9-4EAE-A610-B3A237B75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225F2-7107-4609-BCC2-77C63064A5E8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B852F-4134-4AB5-BA87-483B1E1AD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C5CB-918E-4A09-8222-D36E37B6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45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2744C-12E6-455B-B646-2EA92DE0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71C4D-C062-4EEE-9A9A-31ADCC5C8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44DC97-C26E-407A-9E29-68C52D547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9749-A4CD-447F-8298-2B7988C91CEA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E9353-B771-47FF-975E-72337414E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5A858-B8B2-4364-A7D0-B2E8FAE0A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455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A6BABE-D80C-4F54-A03C-E1F9EBCA8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85191-EF5B-48BE-AB5D-B7BA4C3D0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A387A-1231-4FE3-8574-D4331A343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0444D3-C0BA-4587-A56C-581AB9F841BE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1559-4901-4AD3-ABE7-DF0235457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C18E-B751-4E7B-9CD8-1BF44DAB8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28480-1C08-4458-AD97-0283E6FFD0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74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AA0686-7BAC-45C0-BA30-0D0CBCE5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4202DE-82CD-407D-8C68-174B0CBB5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599" y="2254103"/>
            <a:ext cx="9486901" cy="39180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4AC9D-6E1B-46D3-959F-A068A1EDBD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9800022" y="3223751"/>
            <a:ext cx="4114801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D3FE42E8-8B57-452D-A122-4DCE9AC771EF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C0015-9EFB-40F8-BC00-AC2483D609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708136" y="3223750"/>
            <a:ext cx="4114800" cy="4105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300" baseline="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C732-0E3E-49E0-A72E-D4C08CB445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6340" y="6356350"/>
            <a:ext cx="8718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spc="300">
                <a:solidFill>
                  <a:schemeClr val="tx2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F8E28480-1C08-4458-AD97-0283E6FFD0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1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7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7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8" name="Rectangle 5127">
            <a:extLst>
              <a:ext uri="{FF2B5EF4-FFF2-40B4-BE49-F238E27FC236}">
                <a16:creationId xmlns:a16="http://schemas.microsoft.com/office/drawing/2014/main" id="{97C478F1-26B5-44C9-823B-523B85B11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0" name="Rectangle 5129">
            <a:extLst>
              <a:ext uri="{FF2B5EF4-FFF2-40B4-BE49-F238E27FC236}">
                <a16:creationId xmlns:a16="http://schemas.microsoft.com/office/drawing/2014/main" id="{8337CC61-9E93-4D80-9F1C-12CE9A0C07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74" name="AutoShape 2"/>
          <p:cNvSpPr>
            <a:spLocks noGrp="1" noChangeArrowheads="1"/>
          </p:cNvSpPr>
          <p:nvPr>
            <p:ph type="ctrTitle"/>
          </p:nvPr>
        </p:nvSpPr>
        <p:spPr>
          <a:xfrm>
            <a:off x="862818" y="685801"/>
            <a:ext cx="3057379" cy="3046228"/>
          </a:xfrm>
        </p:spPr>
        <p:txBody>
          <a:bodyPr>
            <a:normAutofit/>
          </a:bodyPr>
          <a:lstStyle/>
          <a:p>
            <a:pPr>
              <a:defRPr/>
            </a:pPr>
            <a:br>
              <a:rPr lang="nl-NL" dirty="0">
                <a:solidFill>
                  <a:schemeClr val="bg2"/>
                </a:solidFill>
                <a:latin typeface="+mn-lt"/>
              </a:rPr>
            </a:br>
            <a:r>
              <a:rPr lang="nl-NL" dirty="0">
                <a:solidFill>
                  <a:schemeClr val="bg2"/>
                </a:solidFill>
                <a:latin typeface="+mn-lt"/>
              </a:rPr>
              <a:t>Grammar &amp; </a:t>
            </a:r>
            <a:r>
              <a:rPr lang="nl-NL" dirty="0" err="1">
                <a:solidFill>
                  <a:schemeClr val="bg2"/>
                </a:solidFill>
                <a:latin typeface="+mn-lt"/>
              </a:rPr>
              <a:t>Basica</a:t>
            </a:r>
            <a:endParaRPr lang="en-US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28468" y="4114800"/>
            <a:ext cx="2991729" cy="2057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The Passive</a:t>
            </a:r>
          </a:p>
        </p:txBody>
      </p:sp>
      <p:pic>
        <p:nvPicPr>
          <p:cNvPr id="5" name="Picture 4" descr="A picture containing shape&#10;&#10;Description automatically generated">
            <a:extLst>
              <a:ext uri="{FF2B5EF4-FFF2-40B4-BE49-F238E27FC236}">
                <a16:creationId xmlns:a16="http://schemas.microsoft.com/office/drawing/2014/main" id="{DA9669DF-AA64-4555-A6D1-B06CEEFD6E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990600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785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el 1"/>
          <p:cNvSpPr>
            <a:spLocks noGrp="1"/>
          </p:cNvSpPr>
          <p:nvPr>
            <p:ph type="title"/>
          </p:nvPr>
        </p:nvSpPr>
        <p:spPr>
          <a:xfrm>
            <a:off x="1641987" y="286605"/>
            <a:ext cx="8248773" cy="1450757"/>
          </a:xfrm>
        </p:spPr>
        <p:txBody>
          <a:bodyPr>
            <a:normAutofit/>
          </a:bodyPr>
          <a:lstStyle/>
          <a:p>
            <a:r>
              <a:rPr lang="en-GB" sz="4000" dirty="0"/>
              <a:t>How to make an active sentence passive</a:t>
            </a:r>
          </a:p>
        </p:txBody>
      </p:sp>
      <p:sp>
        <p:nvSpPr>
          <p:cNvPr id="15363" name="Tijdelijke aanduiding voor inhoud 2"/>
          <p:cNvSpPr>
            <a:spLocks noGrp="1"/>
          </p:cNvSpPr>
          <p:nvPr>
            <p:ph idx="1"/>
          </p:nvPr>
        </p:nvSpPr>
        <p:spPr>
          <a:xfrm>
            <a:off x="1710813" y="2180031"/>
            <a:ext cx="8157087" cy="402336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nl-NL" dirty="0" err="1"/>
              <a:t>Make</a:t>
            </a:r>
            <a:r>
              <a:rPr lang="nl-NL" dirty="0"/>
              <a:t> the </a:t>
            </a:r>
            <a:r>
              <a:rPr lang="nl-NL" b="1" dirty="0"/>
              <a:t>object</a:t>
            </a:r>
            <a:r>
              <a:rPr lang="nl-NL" dirty="0"/>
              <a:t> of the </a:t>
            </a:r>
            <a:r>
              <a:rPr lang="nl-NL" dirty="0" err="1"/>
              <a:t>active</a:t>
            </a:r>
            <a:r>
              <a:rPr lang="nl-NL" dirty="0"/>
              <a:t> </a:t>
            </a:r>
            <a:r>
              <a:rPr lang="nl-NL" dirty="0" err="1"/>
              <a:t>sentence</a:t>
            </a:r>
            <a:r>
              <a:rPr lang="nl-NL" dirty="0"/>
              <a:t> the </a:t>
            </a:r>
            <a:r>
              <a:rPr lang="nl-NL" u="sng" dirty="0"/>
              <a:t>subject</a:t>
            </a:r>
            <a:r>
              <a:rPr lang="nl-NL" dirty="0"/>
              <a:t> of the </a:t>
            </a:r>
            <a:r>
              <a:rPr lang="nl-NL" dirty="0" err="1"/>
              <a:t>passive</a:t>
            </a:r>
            <a:r>
              <a:rPr lang="nl-NL" dirty="0"/>
              <a:t> </a:t>
            </a:r>
            <a:r>
              <a:rPr lang="nl-NL" dirty="0" err="1"/>
              <a:t>sentence</a:t>
            </a:r>
            <a:endParaRPr lang="nl-NL" dirty="0"/>
          </a:p>
          <a:p>
            <a:pPr marL="457200" indent="-457200">
              <a:buFont typeface="+mj-lt"/>
              <a:buAutoNum type="arabicPeriod"/>
            </a:pPr>
            <a:r>
              <a:rPr lang="nl-NL" dirty="0" err="1"/>
              <a:t>Use</a:t>
            </a:r>
            <a:r>
              <a:rPr lang="nl-NL" dirty="0"/>
              <a:t> a form of (</a:t>
            </a:r>
            <a:r>
              <a:rPr lang="nl-NL" b="1" dirty="0" err="1"/>
              <a:t>to</a:t>
            </a:r>
            <a:r>
              <a:rPr lang="nl-NL" b="1" dirty="0"/>
              <a:t>) </a:t>
            </a:r>
            <a:r>
              <a:rPr lang="nl-NL" b="1" dirty="0" err="1"/>
              <a:t>be</a:t>
            </a:r>
            <a:r>
              <a:rPr lang="nl-NL" b="1" dirty="0"/>
              <a:t> </a:t>
            </a:r>
            <a:r>
              <a:rPr lang="nl-NL" dirty="0"/>
              <a:t>in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tense</a:t>
            </a:r>
            <a:r>
              <a:rPr lang="nl-NL" dirty="0"/>
              <a:t> and </a:t>
            </a:r>
            <a:r>
              <a:rPr lang="nl-NL" dirty="0" err="1"/>
              <a:t>use</a:t>
            </a:r>
            <a:r>
              <a:rPr lang="nl-NL" dirty="0"/>
              <a:t> the </a:t>
            </a:r>
            <a:r>
              <a:rPr lang="nl-NL" b="1" dirty="0"/>
              <a:t>past </a:t>
            </a:r>
            <a:r>
              <a:rPr lang="nl-NL" b="1" dirty="0" err="1"/>
              <a:t>participle</a:t>
            </a:r>
            <a:r>
              <a:rPr lang="nl-NL" b="1" dirty="0"/>
              <a:t> </a:t>
            </a:r>
            <a:r>
              <a:rPr lang="nl-NL" dirty="0"/>
              <a:t>(of the </a:t>
            </a:r>
            <a:r>
              <a:rPr lang="nl-NL" dirty="0" err="1"/>
              <a:t>verb</a:t>
            </a:r>
            <a:r>
              <a:rPr lang="nl-NL" dirty="0"/>
              <a:t> in the </a:t>
            </a:r>
            <a:r>
              <a:rPr lang="nl-NL" dirty="0" err="1"/>
              <a:t>active</a:t>
            </a:r>
            <a:r>
              <a:rPr lang="nl-NL" dirty="0"/>
              <a:t> </a:t>
            </a:r>
            <a:r>
              <a:rPr lang="nl-NL" dirty="0" err="1"/>
              <a:t>sentence</a:t>
            </a:r>
            <a:r>
              <a:rPr lang="nl-NL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nl-NL" dirty="0" err="1"/>
              <a:t>If</a:t>
            </a:r>
            <a:r>
              <a:rPr lang="nl-NL" dirty="0"/>
              <a:t> relevant, the subject of the </a:t>
            </a:r>
            <a:r>
              <a:rPr lang="nl-NL" dirty="0" err="1"/>
              <a:t>active</a:t>
            </a:r>
            <a:r>
              <a:rPr lang="nl-NL" dirty="0"/>
              <a:t> </a:t>
            </a:r>
            <a:r>
              <a:rPr lang="nl-NL" dirty="0" err="1"/>
              <a:t>sentence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put at the end in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b="1" u="sng" dirty="0" err="1"/>
              <a:t>adverbial</a:t>
            </a:r>
            <a:r>
              <a:rPr lang="nl-NL" b="1" u="sng" dirty="0"/>
              <a:t> </a:t>
            </a:r>
            <a:r>
              <a:rPr lang="nl-NL" dirty="0"/>
              <a:t>(</a:t>
            </a:r>
            <a:r>
              <a:rPr lang="nl-NL" dirty="0" err="1"/>
              <a:t>by-phrase</a:t>
            </a:r>
            <a:r>
              <a:rPr lang="nl-NL" dirty="0"/>
              <a:t>)</a:t>
            </a:r>
          </a:p>
          <a:p>
            <a:endParaRPr lang="nl-NL" dirty="0"/>
          </a:p>
          <a:p>
            <a:pPr marL="0" indent="0">
              <a:buNone/>
            </a:pPr>
            <a:r>
              <a:rPr lang="nl-NL" dirty="0"/>
              <a:t>		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82923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2346960" y="286605"/>
            <a:ext cx="7543800" cy="1450757"/>
          </a:xfrm>
        </p:spPr>
        <p:txBody>
          <a:bodyPr/>
          <a:lstStyle/>
          <a:p>
            <a:r>
              <a:rPr lang="en-US" dirty="0"/>
              <a:t>How to make an active sentence passive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14685034-3738-4D45-81B9-362DAFD557EB}"/>
              </a:ext>
            </a:extLst>
          </p:cNvPr>
          <p:cNvGraphicFramePr>
            <a:graphicFrameLocks noGrp="1"/>
          </p:cNvGraphicFramePr>
          <p:nvPr/>
        </p:nvGraphicFramePr>
        <p:xfrm>
          <a:off x="2495601" y="1964966"/>
          <a:ext cx="7200801" cy="876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7">
                  <a:extLst>
                    <a:ext uri="{9D8B030D-6E8A-4147-A177-3AD203B41FA5}">
                      <a16:colId xmlns:a16="http://schemas.microsoft.com/office/drawing/2014/main" val="262244882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3874926905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1055333729"/>
                    </a:ext>
                  </a:extLst>
                </a:gridCol>
              </a:tblGrid>
              <a:tr h="438049">
                <a:tc>
                  <a:txBody>
                    <a:bodyPr/>
                    <a:lstStyle/>
                    <a:p>
                      <a:r>
                        <a:rPr lang="nl-NL" sz="2000" dirty="0"/>
                        <a:t>John</a:t>
                      </a:r>
                    </a:p>
                  </a:txBody>
                  <a:tcPr marL="108012" marR="108012" marT="54006" marB="54006"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opens</a:t>
                      </a:r>
                      <a:endParaRPr lang="nl-NL" sz="2000" dirty="0"/>
                    </a:p>
                  </a:txBody>
                  <a:tcPr marL="108012" marR="108012" marT="54006" marB="54006"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the</a:t>
                      </a:r>
                      <a:r>
                        <a:rPr lang="nl-NL" sz="2000" dirty="0"/>
                        <a:t> door</a:t>
                      </a:r>
                    </a:p>
                  </a:txBody>
                  <a:tcPr marL="108012" marR="108012" marT="54006" marB="54006"/>
                </a:tc>
                <a:extLst>
                  <a:ext uri="{0D108BD9-81ED-4DB2-BD59-A6C34878D82A}">
                    <a16:rowId xmlns:a16="http://schemas.microsoft.com/office/drawing/2014/main" val="2779419798"/>
                  </a:ext>
                </a:extLst>
              </a:tr>
              <a:tr h="438049">
                <a:tc>
                  <a:txBody>
                    <a:bodyPr/>
                    <a:lstStyle/>
                    <a:p>
                      <a:r>
                        <a:rPr lang="nl-NL" sz="2000" dirty="0"/>
                        <a:t>subject</a:t>
                      </a:r>
                    </a:p>
                  </a:txBody>
                  <a:tcPr marL="108012" marR="108012" marT="54006" marB="54006"/>
                </a:tc>
                <a:tc>
                  <a:txBody>
                    <a:bodyPr/>
                    <a:lstStyle/>
                    <a:p>
                      <a:r>
                        <a:rPr lang="nl-NL" sz="2000" dirty="0" err="1"/>
                        <a:t>verb</a:t>
                      </a:r>
                      <a:endParaRPr lang="nl-NL" sz="2000" dirty="0"/>
                    </a:p>
                  </a:txBody>
                  <a:tcPr marL="108012" marR="108012" marT="54006" marB="54006"/>
                </a:tc>
                <a:tc>
                  <a:txBody>
                    <a:bodyPr/>
                    <a:lstStyle/>
                    <a:p>
                      <a:r>
                        <a:rPr lang="nl-NL" sz="2000" dirty="0"/>
                        <a:t>object</a:t>
                      </a:r>
                    </a:p>
                  </a:txBody>
                  <a:tcPr marL="108012" marR="108012" marT="54006" marB="54006"/>
                </a:tc>
                <a:extLst>
                  <a:ext uri="{0D108BD9-81ED-4DB2-BD59-A6C34878D82A}">
                    <a16:rowId xmlns:a16="http://schemas.microsoft.com/office/drawing/2014/main" val="3395697072"/>
                  </a:ext>
                </a:extLst>
              </a:tr>
            </a:tbl>
          </a:graphicData>
        </a:graphic>
      </p:graphicFrame>
      <p:graphicFrame>
        <p:nvGraphicFramePr>
          <p:cNvPr id="24" name="Table 9">
            <a:extLst>
              <a:ext uri="{FF2B5EF4-FFF2-40B4-BE49-F238E27FC236}">
                <a16:creationId xmlns:a16="http://schemas.microsoft.com/office/drawing/2014/main" id="{525D26FE-005F-49EA-810B-6647BE6F7773}"/>
              </a:ext>
            </a:extLst>
          </p:cNvPr>
          <p:cNvGraphicFramePr>
            <a:graphicFrameLocks noGrp="1"/>
          </p:cNvGraphicFramePr>
          <p:nvPr/>
        </p:nvGraphicFramePr>
        <p:xfrm>
          <a:off x="2495600" y="4228782"/>
          <a:ext cx="7200801" cy="101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267">
                  <a:extLst>
                    <a:ext uri="{9D8B030D-6E8A-4147-A177-3AD203B41FA5}">
                      <a16:colId xmlns:a16="http://schemas.microsoft.com/office/drawing/2014/main" val="262244882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3874926905"/>
                    </a:ext>
                  </a:extLst>
                </a:gridCol>
                <a:gridCol w="2400267">
                  <a:extLst>
                    <a:ext uri="{9D8B030D-6E8A-4147-A177-3AD203B41FA5}">
                      <a16:colId xmlns:a16="http://schemas.microsoft.com/office/drawing/2014/main" val="1055333729"/>
                    </a:ext>
                  </a:extLst>
                </a:gridCol>
              </a:tblGrid>
              <a:tr h="506210">
                <a:tc>
                  <a:txBody>
                    <a:bodyPr/>
                    <a:lstStyle/>
                    <a:p>
                      <a:r>
                        <a:rPr lang="nl-NL" dirty="0"/>
                        <a:t>The door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is </a:t>
                      </a:r>
                      <a:r>
                        <a:rPr lang="nl-NL" dirty="0" err="1"/>
                        <a:t>opened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(</a:t>
                      </a:r>
                      <a:r>
                        <a:rPr lang="nl-NL" dirty="0" err="1"/>
                        <a:t>by</a:t>
                      </a:r>
                      <a:r>
                        <a:rPr lang="nl-NL" dirty="0"/>
                        <a:t> John)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419798"/>
                  </a:ext>
                </a:extLst>
              </a:tr>
              <a:tr h="506210">
                <a:tc>
                  <a:txBody>
                    <a:bodyPr/>
                    <a:lstStyle/>
                    <a:p>
                      <a:r>
                        <a:rPr lang="nl-NL" dirty="0"/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/>
                        <a:t>verb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object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697072"/>
                  </a:ext>
                </a:extLst>
              </a:tr>
            </a:tbl>
          </a:graphicData>
        </a:graphic>
      </p:graphicFrame>
      <p:sp>
        <p:nvSpPr>
          <p:cNvPr id="63500" name="Line 12"/>
          <p:cNvSpPr>
            <a:spLocks noChangeShapeType="1"/>
          </p:cNvSpPr>
          <p:nvPr/>
        </p:nvSpPr>
        <p:spPr bwMode="auto">
          <a:xfrm flipH="1">
            <a:off x="3982064" y="2817051"/>
            <a:ext cx="3777903" cy="154805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3501" name="Line 13"/>
          <p:cNvSpPr>
            <a:spLocks noChangeShapeType="1"/>
          </p:cNvSpPr>
          <p:nvPr/>
        </p:nvSpPr>
        <p:spPr bwMode="auto">
          <a:xfrm>
            <a:off x="3600400" y="2791903"/>
            <a:ext cx="3862284" cy="152404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1491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798871"/>
          </a:xfrm>
        </p:spPr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Passive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371600" y="1791987"/>
            <a:ext cx="9964994" cy="3918098"/>
          </a:xfrm>
        </p:spPr>
        <p:txBody>
          <a:bodyPr/>
          <a:lstStyle/>
          <a:p>
            <a:pPr marL="0" indent="0">
              <a:buNone/>
            </a:pPr>
            <a:r>
              <a:rPr lang="nl-NL" sz="2800" dirty="0"/>
              <a:t>We </a:t>
            </a:r>
            <a:r>
              <a:rPr lang="nl-NL" sz="2800" dirty="0" err="1"/>
              <a:t>saw</a:t>
            </a:r>
            <a:r>
              <a:rPr lang="nl-NL" sz="2800" dirty="0"/>
              <a:t> </a:t>
            </a:r>
            <a:r>
              <a:rPr lang="nl-NL" sz="2800" dirty="0" err="1"/>
              <a:t>an</a:t>
            </a:r>
            <a:r>
              <a:rPr lang="nl-NL" sz="2800" dirty="0"/>
              <a:t> </a:t>
            </a:r>
            <a:r>
              <a:rPr lang="nl-NL" sz="2800" dirty="0" err="1"/>
              <a:t>example</a:t>
            </a:r>
            <a:r>
              <a:rPr lang="nl-NL" sz="2800" dirty="0"/>
              <a:t> of the past </a:t>
            </a:r>
            <a:r>
              <a:rPr lang="nl-NL" sz="2800" dirty="0" err="1"/>
              <a:t>simple</a:t>
            </a:r>
            <a:r>
              <a:rPr lang="nl-NL" sz="2800" dirty="0"/>
              <a:t> </a:t>
            </a:r>
            <a:r>
              <a:rPr lang="nl-NL" sz="2800" dirty="0" err="1"/>
              <a:t>tense</a:t>
            </a:r>
            <a:r>
              <a:rPr lang="nl-NL" sz="2800" dirty="0"/>
              <a:t> </a:t>
            </a:r>
          </a:p>
          <a:p>
            <a:pPr marL="0" indent="0">
              <a:buNone/>
            </a:pPr>
            <a:r>
              <a:rPr lang="nl-NL" sz="2800" dirty="0"/>
              <a:t>(</a:t>
            </a:r>
            <a:r>
              <a:rPr lang="nl-NL" sz="2800" i="1" dirty="0"/>
              <a:t>America was </a:t>
            </a:r>
            <a:r>
              <a:rPr lang="nl-NL" sz="2800" i="1" dirty="0" err="1"/>
              <a:t>discovered</a:t>
            </a:r>
            <a:r>
              <a:rPr lang="nl-NL" sz="2800" i="1" dirty="0"/>
              <a:t> </a:t>
            </a:r>
            <a:r>
              <a:rPr lang="nl-NL" sz="2800" i="1" dirty="0" err="1"/>
              <a:t>by</a:t>
            </a:r>
            <a:r>
              <a:rPr lang="nl-NL" sz="2800" i="1" dirty="0"/>
              <a:t> Columbus)</a:t>
            </a:r>
          </a:p>
          <a:p>
            <a:pPr marL="0" indent="0">
              <a:buNone/>
            </a:pPr>
            <a:r>
              <a:rPr lang="nl-NL" sz="2800" i="1" dirty="0"/>
              <a:t>			</a:t>
            </a:r>
            <a:r>
              <a:rPr lang="nl-NL" sz="2800" dirty="0" err="1"/>
              <a:t>and</a:t>
            </a:r>
            <a:r>
              <a:rPr lang="nl-NL" sz="2800" dirty="0"/>
              <a:t> </a:t>
            </a:r>
          </a:p>
          <a:p>
            <a:pPr marL="0" indent="0">
              <a:buNone/>
            </a:pPr>
            <a:r>
              <a:rPr lang="nl-NL" sz="2800" dirty="0"/>
              <a:t>of the present </a:t>
            </a:r>
            <a:r>
              <a:rPr lang="nl-NL" sz="2800" dirty="0" err="1"/>
              <a:t>simple</a:t>
            </a:r>
            <a:r>
              <a:rPr lang="nl-NL" sz="2800" dirty="0"/>
              <a:t> </a:t>
            </a:r>
            <a:r>
              <a:rPr lang="nl-NL" sz="2800" dirty="0" err="1"/>
              <a:t>tense</a:t>
            </a:r>
            <a:r>
              <a:rPr lang="nl-NL" sz="2800" dirty="0"/>
              <a:t> </a:t>
            </a:r>
          </a:p>
          <a:p>
            <a:pPr marL="0" indent="0">
              <a:buNone/>
            </a:pPr>
            <a:r>
              <a:rPr lang="nl-NL" sz="2800" dirty="0"/>
              <a:t>(</a:t>
            </a:r>
            <a:r>
              <a:rPr lang="nl-NL" sz="2800" i="1" dirty="0"/>
              <a:t>the door is </a:t>
            </a:r>
            <a:r>
              <a:rPr lang="nl-NL" sz="2800" i="1" dirty="0" err="1"/>
              <a:t>opened</a:t>
            </a:r>
            <a:r>
              <a:rPr lang="nl-NL" sz="2800" i="1" dirty="0"/>
              <a:t>)</a:t>
            </a:r>
          </a:p>
          <a:p>
            <a:endParaRPr lang="nl-NL" sz="2800" dirty="0"/>
          </a:p>
          <a:p>
            <a:r>
              <a:rPr lang="nl-NL" sz="2800" dirty="0"/>
              <a:t>The </a:t>
            </a:r>
            <a:r>
              <a:rPr lang="nl-NL" sz="2800" dirty="0" err="1"/>
              <a:t>passive</a:t>
            </a:r>
            <a:r>
              <a:rPr lang="nl-NL" sz="2800" dirty="0"/>
              <a:t> </a:t>
            </a:r>
            <a:r>
              <a:rPr lang="nl-NL" sz="2800" dirty="0" err="1"/>
              <a:t>can</a:t>
            </a:r>
            <a:r>
              <a:rPr lang="nl-NL" sz="2800" dirty="0"/>
              <a:t> </a:t>
            </a:r>
            <a:r>
              <a:rPr lang="nl-NL" sz="2800" dirty="0" err="1"/>
              <a:t>be</a:t>
            </a:r>
            <a:r>
              <a:rPr lang="nl-NL" sz="2800" dirty="0"/>
              <a:t> </a:t>
            </a:r>
            <a:r>
              <a:rPr lang="nl-NL" sz="2800" dirty="0" err="1"/>
              <a:t>used</a:t>
            </a:r>
            <a:r>
              <a:rPr lang="nl-NL" sz="2800" dirty="0"/>
              <a:t> in </a:t>
            </a:r>
            <a:r>
              <a:rPr lang="nl-NL" sz="2800" u="sng" dirty="0" err="1"/>
              <a:t>nearly</a:t>
            </a:r>
            <a:r>
              <a:rPr lang="nl-NL" sz="2800" u="sng" dirty="0"/>
              <a:t> all of the </a:t>
            </a:r>
            <a:r>
              <a:rPr lang="nl-NL" sz="2800" u="sng" dirty="0" err="1"/>
              <a:t>tenses</a:t>
            </a:r>
            <a:endParaRPr lang="en-US" sz="2800" u="sng" dirty="0"/>
          </a:p>
          <a:p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9021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el 1"/>
          <p:cNvSpPr>
            <a:spLocks noGrp="1"/>
          </p:cNvSpPr>
          <p:nvPr>
            <p:ph type="title"/>
          </p:nvPr>
        </p:nvSpPr>
        <p:spPr>
          <a:xfrm>
            <a:off x="1150374" y="275302"/>
            <a:ext cx="7543800" cy="411485"/>
          </a:xfrm>
        </p:spPr>
        <p:txBody>
          <a:bodyPr>
            <a:normAutofit fontScale="90000"/>
          </a:bodyPr>
          <a:lstStyle/>
          <a:p>
            <a:r>
              <a:rPr lang="en-GB" dirty="0"/>
              <a:t>Tenses and the passive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CF971C-995D-44AB-98A1-C0D248F88D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568615"/>
              </p:ext>
            </p:extLst>
          </p:nvPr>
        </p:nvGraphicFramePr>
        <p:xfrm>
          <a:off x="1150373" y="814603"/>
          <a:ext cx="10225548" cy="5374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97">
                  <a:extLst>
                    <a:ext uri="{9D8B030D-6E8A-4147-A177-3AD203B41FA5}">
                      <a16:colId xmlns:a16="http://schemas.microsoft.com/office/drawing/2014/main" val="46703103"/>
                    </a:ext>
                  </a:extLst>
                </a:gridCol>
                <a:gridCol w="2997355">
                  <a:extLst>
                    <a:ext uri="{9D8B030D-6E8A-4147-A177-3AD203B41FA5}">
                      <a16:colId xmlns:a16="http://schemas.microsoft.com/office/drawing/2014/main" val="657627527"/>
                    </a:ext>
                  </a:extLst>
                </a:gridCol>
                <a:gridCol w="4589696">
                  <a:extLst>
                    <a:ext uri="{9D8B030D-6E8A-4147-A177-3AD203B41FA5}">
                      <a16:colId xmlns:a16="http://schemas.microsoft.com/office/drawing/2014/main" val="2079525309"/>
                    </a:ext>
                  </a:extLst>
                </a:gridCol>
              </a:tblGrid>
              <a:tr h="405111">
                <a:tc>
                  <a:txBody>
                    <a:bodyPr/>
                    <a:lstStyle/>
                    <a:p>
                      <a:r>
                        <a:rPr lang="nl-NL" sz="2400" dirty="0">
                          <a:latin typeface="Arial Nova" panose="020B0504020202020204" pitchFamily="34" charset="0"/>
                        </a:rPr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400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400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sz="24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23590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simple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clean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313570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continuous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are cleaning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84198"/>
                  </a:ext>
                </a:extLst>
              </a:tr>
              <a:tr h="36868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have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243296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simple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39571"/>
                  </a:ext>
                </a:extLst>
              </a:tr>
              <a:tr h="391105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continuous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were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cleaning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612313"/>
                  </a:ext>
                </a:extLst>
              </a:tr>
              <a:tr h="385530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had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12357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Future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will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* clean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376387"/>
                  </a:ext>
                </a:extLst>
              </a:tr>
              <a:tr h="303833"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822107"/>
                  </a:ext>
                </a:extLst>
              </a:tr>
              <a:tr h="465976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* Same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for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all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modal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verbs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389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074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el 1"/>
          <p:cNvSpPr>
            <a:spLocks noGrp="1"/>
          </p:cNvSpPr>
          <p:nvPr>
            <p:ph type="title"/>
          </p:nvPr>
        </p:nvSpPr>
        <p:spPr>
          <a:xfrm>
            <a:off x="1150374" y="275302"/>
            <a:ext cx="7543800" cy="411485"/>
          </a:xfrm>
        </p:spPr>
        <p:txBody>
          <a:bodyPr>
            <a:normAutofit fontScale="90000"/>
          </a:bodyPr>
          <a:lstStyle/>
          <a:p>
            <a:r>
              <a:rPr lang="en-GB" dirty="0"/>
              <a:t>Tenses and the passive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7CF971C-995D-44AB-98A1-C0D248F88D10}"/>
              </a:ext>
            </a:extLst>
          </p:cNvPr>
          <p:cNvGraphicFramePr>
            <a:graphicFrameLocks noGrp="1"/>
          </p:cNvGraphicFramePr>
          <p:nvPr/>
        </p:nvGraphicFramePr>
        <p:xfrm>
          <a:off x="1150373" y="814603"/>
          <a:ext cx="10225548" cy="53749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8497">
                  <a:extLst>
                    <a:ext uri="{9D8B030D-6E8A-4147-A177-3AD203B41FA5}">
                      <a16:colId xmlns:a16="http://schemas.microsoft.com/office/drawing/2014/main" val="46703103"/>
                    </a:ext>
                  </a:extLst>
                </a:gridCol>
                <a:gridCol w="2997355">
                  <a:extLst>
                    <a:ext uri="{9D8B030D-6E8A-4147-A177-3AD203B41FA5}">
                      <a16:colId xmlns:a16="http://schemas.microsoft.com/office/drawing/2014/main" val="657627527"/>
                    </a:ext>
                  </a:extLst>
                </a:gridCol>
                <a:gridCol w="4589696">
                  <a:extLst>
                    <a:ext uri="{9D8B030D-6E8A-4147-A177-3AD203B41FA5}">
                      <a16:colId xmlns:a16="http://schemas.microsoft.com/office/drawing/2014/main" val="2079525309"/>
                    </a:ext>
                  </a:extLst>
                </a:gridCol>
              </a:tblGrid>
              <a:tr h="405111">
                <a:tc>
                  <a:txBody>
                    <a:bodyPr/>
                    <a:lstStyle/>
                    <a:p>
                      <a:r>
                        <a:rPr lang="nl-NL" sz="2400" dirty="0">
                          <a:latin typeface="Arial Nova" panose="020B0504020202020204" pitchFamily="34" charset="0"/>
                        </a:rPr>
                        <a:t>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400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400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sz="24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0223590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simple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clean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is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313570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continuous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are cleaning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is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being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784198"/>
                  </a:ext>
                </a:extLst>
              </a:tr>
              <a:tr h="36868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Present 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have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has been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243296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simple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was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39571"/>
                  </a:ext>
                </a:extLst>
              </a:tr>
              <a:tr h="391105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continuous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were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cleaning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was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being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612313"/>
                  </a:ext>
                </a:extLst>
              </a:tr>
              <a:tr h="385530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Past perfect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had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had been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them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312357"/>
                  </a:ext>
                </a:extLst>
              </a:tr>
              <a:tr h="450532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Future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will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* clean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house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will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cleaned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376387"/>
                  </a:ext>
                </a:extLst>
              </a:tr>
              <a:tr h="303833"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822107"/>
                  </a:ext>
                </a:extLst>
              </a:tr>
              <a:tr h="465976"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* Same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for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all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modal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verbs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0389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3588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>
          <a:xfrm>
            <a:off x="1022555" y="286606"/>
            <a:ext cx="8868205" cy="804776"/>
          </a:xfrm>
        </p:spPr>
        <p:txBody>
          <a:bodyPr/>
          <a:lstStyle/>
          <a:p>
            <a:r>
              <a:rPr lang="en-GB" dirty="0"/>
              <a:t>Verbs that take two objects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7092F2E-F9DE-4DB7-B351-414A44EB4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2760097"/>
              </p:ext>
            </p:extLst>
          </p:nvPr>
        </p:nvGraphicFramePr>
        <p:xfrm>
          <a:off x="1021920" y="1844823"/>
          <a:ext cx="10098364" cy="432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12">
                  <a:extLst>
                    <a:ext uri="{9D8B030D-6E8A-4147-A177-3AD203B41FA5}">
                      <a16:colId xmlns:a16="http://schemas.microsoft.com/office/drawing/2014/main" val="290698559"/>
                    </a:ext>
                  </a:extLst>
                </a:gridCol>
                <a:gridCol w="4328073">
                  <a:extLst>
                    <a:ext uri="{9D8B030D-6E8A-4147-A177-3AD203B41FA5}">
                      <a16:colId xmlns:a16="http://schemas.microsoft.com/office/drawing/2014/main" val="4066293310"/>
                    </a:ext>
                  </a:extLst>
                </a:gridCol>
                <a:gridCol w="4529379">
                  <a:extLst>
                    <a:ext uri="{9D8B030D-6E8A-4147-A177-3AD203B41FA5}">
                      <a16:colId xmlns:a16="http://schemas.microsoft.com/office/drawing/2014/main" val="1570374708"/>
                    </a:ext>
                  </a:extLst>
                </a:gridCol>
              </a:tblGrid>
              <a:tr h="387232"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r>
                        <a:rPr lang="nl-NL" sz="1900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684404763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give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nurse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gives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 the patient a sleeping pill.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494419908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767612398"/>
                  </a:ext>
                </a:extLst>
              </a:tr>
              <a:tr h="387232">
                <a:tc gridSpan="2"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allow</a:t>
                      </a:r>
                      <a:r>
                        <a:rPr lang="nl-NL" sz="1900" dirty="0">
                          <a:latin typeface="Arial Nova" panose="020B0504020202020204" pitchFamily="34" charset="0"/>
                        </a:rPr>
                        <a:t>,  </a:t>
                      </a:r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ask</a:t>
                      </a:r>
                      <a:r>
                        <a:rPr lang="nl-NL" sz="1900" dirty="0">
                          <a:latin typeface="Arial Nova" panose="020B0504020202020204" pitchFamily="34" charset="0"/>
                        </a:rPr>
                        <a:t>, feed, </a:t>
                      </a:r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send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958297753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man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fed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horse a bale of hay.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681709652"/>
                  </a:ext>
                </a:extLst>
              </a:tr>
              <a:tr h="668373"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4041040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74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>
          <a:xfrm>
            <a:off x="1022555" y="286606"/>
            <a:ext cx="8868205" cy="804776"/>
          </a:xfrm>
        </p:spPr>
        <p:txBody>
          <a:bodyPr/>
          <a:lstStyle/>
          <a:p>
            <a:r>
              <a:rPr lang="en-GB" dirty="0"/>
              <a:t>Verbs that take two objects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7092F2E-F9DE-4DB7-B351-414A44EB414C}"/>
              </a:ext>
            </a:extLst>
          </p:cNvPr>
          <p:cNvGraphicFramePr>
            <a:graphicFrameLocks noGrp="1"/>
          </p:cNvGraphicFramePr>
          <p:nvPr/>
        </p:nvGraphicFramePr>
        <p:xfrm>
          <a:off x="1021920" y="1844823"/>
          <a:ext cx="10098364" cy="4322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912">
                  <a:extLst>
                    <a:ext uri="{9D8B030D-6E8A-4147-A177-3AD203B41FA5}">
                      <a16:colId xmlns:a16="http://schemas.microsoft.com/office/drawing/2014/main" val="290698559"/>
                    </a:ext>
                  </a:extLst>
                </a:gridCol>
                <a:gridCol w="4328073">
                  <a:extLst>
                    <a:ext uri="{9D8B030D-6E8A-4147-A177-3AD203B41FA5}">
                      <a16:colId xmlns:a16="http://schemas.microsoft.com/office/drawing/2014/main" val="4066293310"/>
                    </a:ext>
                  </a:extLst>
                </a:gridCol>
                <a:gridCol w="4529379">
                  <a:extLst>
                    <a:ext uri="{9D8B030D-6E8A-4147-A177-3AD203B41FA5}">
                      <a16:colId xmlns:a16="http://schemas.microsoft.com/office/drawing/2014/main" val="1570374708"/>
                    </a:ext>
                  </a:extLst>
                </a:gridCol>
              </a:tblGrid>
              <a:tr h="387232"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r>
                        <a:rPr lang="nl-NL" sz="1900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684404763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give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nurse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gives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 the patient a sleeping pill.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A sleeping pill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is given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to the patient.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494419908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patient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is given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a sleeping pill.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767612398"/>
                  </a:ext>
                </a:extLst>
              </a:tr>
              <a:tr h="387232">
                <a:tc gridSpan="2">
                  <a:txBody>
                    <a:bodyPr/>
                    <a:lstStyle/>
                    <a:p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allow</a:t>
                      </a:r>
                      <a:r>
                        <a:rPr lang="nl-NL" sz="1900" dirty="0">
                          <a:latin typeface="Arial Nova" panose="020B0504020202020204" pitchFamily="34" charset="0"/>
                        </a:rPr>
                        <a:t>,  </a:t>
                      </a:r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ask</a:t>
                      </a:r>
                      <a:r>
                        <a:rPr lang="nl-NL" sz="1900" dirty="0">
                          <a:latin typeface="Arial Nova" panose="020B0504020202020204" pitchFamily="34" charset="0"/>
                        </a:rPr>
                        <a:t>, feed, </a:t>
                      </a:r>
                      <a:r>
                        <a:rPr lang="nl-NL" sz="1900" dirty="0" err="1">
                          <a:latin typeface="Arial Nova" panose="020B0504020202020204" pitchFamily="34" charset="0"/>
                        </a:rPr>
                        <a:t>send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958297753"/>
                  </a:ext>
                </a:extLst>
              </a:tr>
              <a:tr h="954818">
                <a:tc>
                  <a:txBody>
                    <a:bodyPr/>
                    <a:lstStyle/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man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fed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horse a bale of hay.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A bale of hay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was fed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to the horse.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2681709652"/>
                  </a:ext>
                </a:extLst>
              </a:tr>
              <a:tr h="668373"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endParaRPr lang="nl-NL" sz="190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 dirty="0">
                          <a:latin typeface="Arial Nova" panose="020B0504020202020204" pitchFamily="34" charset="0"/>
                        </a:rPr>
                        <a:t>The horse </a:t>
                      </a:r>
                      <a:r>
                        <a:rPr lang="en-US" sz="19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was fed </a:t>
                      </a:r>
                      <a:r>
                        <a:rPr lang="en-US" sz="1900" dirty="0">
                          <a:latin typeface="Arial Nova" panose="020B0504020202020204" pitchFamily="34" charset="0"/>
                        </a:rPr>
                        <a:t>a bale of hay.</a:t>
                      </a:r>
                      <a:endParaRPr lang="nl-NL" sz="1900" dirty="0">
                        <a:latin typeface="Arial Nova" panose="020B0504020202020204" pitchFamily="34" charset="0"/>
                      </a:endParaRPr>
                    </a:p>
                    <a:p>
                      <a:endParaRPr lang="nl-NL" sz="1900" dirty="0">
                        <a:latin typeface="Arial Nova" panose="020B0504020202020204" pitchFamily="34" charset="0"/>
                      </a:endParaRPr>
                    </a:p>
                  </a:txBody>
                  <a:tcPr marL="95482" marR="95482" marT="47741" marB="47741"/>
                </a:tc>
                <a:extLst>
                  <a:ext uri="{0D108BD9-81ED-4DB2-BD59-A6C34878D82A}">
                    <a16:rowId xmlns:a16="http://schemas.microsoft.com/office/drawing/2014/main" val="4041040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623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el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317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Exceptions (I)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C315DF3-1D32-4BBD-B151-71C42C0A2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8842435"/>
              </p:ext>
            </p:extLst>
          </p:nvPr>
        </p:nvGraphicFramePr>
        <p:xfrm>
          <a:off x="1504335" y="1071716"/>
          <a:ext cx="8264073" cy="501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4691">
                  <a:extLst>
                    <a:ext uri="{9D8B030D-6E8A-4147-A177-3AD203B41FA5}">
                      <a16:colId xmlns:a16="http://schemas.microsoft.com/office/drawing/2014/main" val="11984150"/>
                    </a:ext>
                  </a:extLst>
                </a:gridCol>
                <a:gridCol w="2754691">
                  <a:extLst>
                    <a:ext uri="{9D8B030D-6E8A-4147-A177-3AD203B41FA5}">
                      <a16:colId xmlns:a16="http://schemas.microsoft.com/office/drawing/2014/main" val="1831749722"/>
                    </a:ext>
                  </a:extLst>
                </a:gridCol>
                <a:gridCol w="2754691">
                  <a:extLst>
                    <a:ext uri="{9D8B030D-6E8A-4147-A177-3AD203B41FA5}">
                      <a16:colId xmlns:a16="http://schemas.microsoft.com/office/drawing/2014/main" val="3464800132"/>
                    </a:ext>
                  </a:extLst>
                </a:gridCol>
              </a:tblGrid>
              <a:tr h="546735"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843679"/>
                  </a:ext>
                </a:extLst>
              </a:tr>
              <a:tr h="546735">
                <a:tc gridSpan="3">
                  <a:txBody>
                    <a:bodyPr/>
                    <a:lstStyle/>
                    <a:p>
                      <a:r>
                        <a:rPr lang="nl-NL" b="1" dirty="0" err="1">
                          <a:latin typeface="Arial Nova" panose="020B0504020202020204" pitchFamily="34" charset="0"/>
                        </a:rPr>
                        <a:t>Verbs</a:t>
                      </a:r>
                      <a:r>
                        <a:rPr lang="nl-NL" b="1" dirty="0">
                          <a:latin typeface="Arial Nova" panose="020B0504020202020204" pitchFamily="34" charset="0"/>
                        </a:rPr>
                        <a:t> without object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464092"/>
                  </a:ext>
                </a:extLst>
              </a:tr>
              <a:tr h="943680"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happen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Something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happened</a:t>
                      </a:r>
                      <a:endParaRPr lang="nl-NL" b="1" dirty="0">
                        <a:solidFill>
                          <a:schemeClr val="accent2"/>
                        </a:solidFill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6201"/>
                  </a:ext>
                </a:extLst>
              </a:tr>
              <a:tr h="546735"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stay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We </a:t>
                      </a:r>
                      <a:r>
                        <a:rPr lang="nl-NL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stayed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at home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7926652"/>
                  </a:ext>
                </a:extLst>
              </a:tr>
              <a:tr h="546735">
                <a:tc gridSpan="3">
                  <a:txBody>
                    <a:bodyPr/>
                    <a:lstStyle/>
                    <a:p>
                      <a:r>
                        <a:rPr lang="nl-NL" b="1" dirty="0" err="1">
                          <a:latin typeface="Arial Nova" panose="020B0504020202020204" pitchFamily="34" charset="0"/>
                        </a:rPr>
                        <a:t>Some</a:t>
                      </a:r>
                      <a:r>
                        <a:rPr lang="nl-NL" b="1" dirty="0">
                          <a:latin typeface="Arial Nova" panose="020B0504020202020204" pitchFamily="34" charset="0"/>
                        </a:rPr>
                        <a:t> state </a:t>
                      </a:r>
                      <a:r>
                        <a:rPr lang="nl-NL" b="1" dirty="0" err="1">
                          <a:latin typeface="Arial Nova" panose="020B0504020202020204" pitchFamily="34" charset="0"/>
                        </a:rPr>
                        <a:t>verbs</a:t>
                      </a:r>
                      <a:endParaRPr lang="nl-NL" b="1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512708"/>
                  </a:ext>
                </a:extLst>
              </a:tr>
              <a:tr h="943680">
                <a:tc>
                  <a:txBody>
                    <a:bodyPr/>
                    <a:lstStyle/>
                    <a:p>
                      <a:r>
                        <a:rPr lang="nl-NL" dirty="0" err="1">
                          <a:latin typeface="Arial Nova" panose="020B0504020202020204" pitchFamily="34" charset="0"/>
                        </a:rPr>
                        <a:t>lack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The </a:t>
                      </a:r>
                      <a:r>
                        <a:rPr lang="nl-NL" dirty="0" err="1">
                          <a:latin typeface="Arial Nova" panose="020B0504020202020204" pitchFamily="34" charset="0"/>
                        </a:rPr>
                        <a:t>player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lacks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talent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6969238"/>
                  </a:ext>
                </a:extLst>
              </a:tr>
              <a:tr h="943680"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have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We </a:t>
                      </a:r>
                      <a:r>
                        <a:rPr lang="nl-NL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have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dirty="0" err="1">
                          <a:latin typeface="Arial Nova" panose="020B0504020202020204" pitchFamily="34" charset="0"/>
                        </a:rPr>
                        <a:t>three</a:t>
                      </a:r>
                      <a:r>
                        <a:rPr lang="nl-NL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dirty="0" err="1">
                          <a:latin typeface="Arial Nova" panose="020B0504020202020204" pitchFamily="34" charset="0"/>
                        </a:rPr>
                        <a:t>dogs</a:t>
                      </a:r>
                      <a:endParaRPr lang="nl-NL" dirty="0">
                        <a:latin typeface="Arial Nova" panose="020B05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Arial Nova" panose="020B0504020202020204" pitchFamily="34" charset="0"/>
                        </a:rP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1363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09887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el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486900" cy="36625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/>
              <a:t>Exceptions (II)</a:t>
            </a:r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5BA3F5A6-237D-4882-9000-CCA6A0139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52556"/>
              </p:ext>
            </p:extLst>
          </p:nvPr>
        </p:nvGraphicFramePr>
        <p:xfrm>
          <a:off x="1494502" y="1219200"/>
          <a:ext cx="9773265" cy="4788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6832">
                  <a:extLst>
                    <a:ext uri="{9D8B030D-6E8A-4147-A177-3AD203B41FA5}">
                      <a16:colId xmlns:a16="http://schemas.microsoft.com/office/drawing/2014/main" val="11984150"/>
                    </a:ext>
                  </a:extLst>
                </a:gridCol>
                <a:gridCol w="3958108">
                  <a:extLst>
                    <a:ext uri="{9D8B030D-6E8A-4147-A177-3AD203B41FA5}">
                      <a16:colId xmlns:a16="http://schemas.microsoft.com/office/drawing/2014/main" val="847599048"/>
                    </a:ext>
                  </a:extLst>
                </a:gridCol>
                <a:gridCol w="3508325">
                  <a:extLst>
                    <a:ext uri="{9D8B030D-6E8A-4147-A177-3AD203B41FA5}">
                      <a16:colId xmlns:a16="http://schemas.microsoft.com/office/drawing/2014/main" val="2885936011"/>
                    </a:ext>
                  </a:extLst>
                </a:gridCol>
              </a:tblGrid>
              <a:tr h="604840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Active</a:t>
                      </a: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Passive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extLst>
                  <a:ext uri="{0D108BD9-81ED-4DB2-BD59-A6C34878D82A}">
                    <a16:rowId xmlns:a16="http://schemas.microsoft.com/office/drawing/2014/main" val="2997843679"/>
                  </a:ext>
                </a:extLst>
              </a:tr>
              <a:tr h="866465">
                <a:tc gridSpan="3">
                  <a:txBody>
                    <a:bodyPr/>
                    <a:lstStyle/>
                    <a:p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Verbs</a:t>
                      </a:r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that</a:t>
                      </a:r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 are </a:t>
                      </a:r>
                      <a:r>
                        <a:rPr lang="nl-NL" sz="1800" b="1" u="sng" dirty="0">
                          <a:latin typeface="Arial Nova" panose="020B0504020202020204" pitchFamily="34" charset="0"/>
                        </a:rPr>
                        <a:t>action </a:t>
                      </a:r>
                      <a:r>
                        <a:rPr lang="nl-NL" sz="1800" b="1" u="none" dirty="0" err="1">
                          <a:latin typeface="Arial Nova" panose="020B0504020202020204" pitchFamily="34" charset="0"/>
                        </a:rPr>
                        <a:t>and</a:t>
                      </a:r>
                      <a:r>
                        <a:rPr lang="nl-NL" sz="1800" b="1" u="none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u="sng" dirty="0">
                          <a:latin typeface="Arial Nova" panose="020B0504020202020204" pitchFamily="34" charset="0"/>
                        </a:rPr>
                        <a:t>state</a:t>
                      </a:r>
                      <a:r>
                        <a:rPr lang="nl-NL" sz="1800" b="0" u="sng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verbs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.</a:t>
                      </a:r>
                    </a:p>
                    <a:p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Only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passive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when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they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are </a:t>
                      </a:r>
                      <a:r>
                        <a:rPr lang="nl-NL" sz="1800" b="1" u="none" dirty="0">
                          <a:latin typeface="Arial Nova" panose="020B0504020202020204" pitchFamily="34" charset="0"/>
                        </a:rPr>
                        <a:t>action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verbs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cost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, fit,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measure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, </a:t>
                      </a:r>
                      <a:r>
                        <a:rPr lang="nl-NL" sz="1800" b="0" u="none" dirty="0" err="1">
                          <a:latin typeface="Arial Nova" panose="020B0504020202020204" pitchFamily="34" charset="0"/>
                        </a:rPr>
                        <a:t>weigh</a:t>
                      </a:r>
                      <a:r>
                        <a:rPr lang="nl-NL" sz="1800" b="0" u="none" dirty="0">
                          <a:latin typeface="Arial Nova" panose="020B0504020202020204" pitchFamily="34" charset="0"/>
                        </a:rPr>
                        <a:t>)</a:t>
                      </a:r>
                      <a:endParaRPr lang="nl-NL" sz="1800" b="1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6464092"/>
                  </a:ext>
                </a:extLst>
              </a:tr>
              <a:tr h="607891">
                <a:tc gridSpan="3">
                  <a:txBody>
                    <a:bodyPr/>
                    <a:lstStyle/>
                    <a:p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As a state </a:t>
                      </a:r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800" b="1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6201"/>
                  </a:ext>
                </a:extLst>
              </a:tr>
              <a:tr h="866465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weigh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person </a:t>
                      </a:r>
                      <a:r>
                        <a:rPr lang="nl-NL" sz="1800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weighed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80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kilos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-</a:t>
                      </a:r>
                    </a:p>
                  </a:txBody>
                  <a:tcPr marL="93540" marR="93540" marT="46770" marB="46770"/>
                </a:tc>
                <a:extLst>
                  <a:ext uri="{0D108BD9-81ED-4DB2-BD59-A6C34878D82A}">
                    <a16:rowId xmlns:a16="http://schemas.microsoft.com/office/drawing/2014/main" val="1297926652"/>
                  </a:ext>
                </a:extLst>
              </a:tr>
              <a:tr h="604840">
                <a:tc gridSpan="3">
                  <a:txBody>
                    <a:bodyPr/>
                    <a:lstStyle/>
                    <a:p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As </a:t>
                      </a:r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an</a:t>
                      </a:r>
                      <a:r>
                        <a:rPr lang="nl-NL" sz="1800" b="1" dirty="0">
                          <a:latin typeface="Arial Nova" panose="020B0504020202020204" pitchFamily="34" charset="0"/>
                        </a:rPr>
                        <a:t> action </a:t>
                      </a:r>
                      <a:r>
                        <a:rPr lang="nl-NL" sz="1800" b="1" dirty="0" err="1">
                          <a:latin typeface="Arial Nova" panose="020B0504020202020204" pitchFamily="34" charset="0"/>
                        </a:rPr>
                        <a:t>verb</a:t>
                      </a:r>
                      <a:endParaRPr lang="nl-NL" sz="1800" b="1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l-N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512708"/>
                  </a:ext>
                </a:extLst>
              </a:tr>
              <a:tr h="1237809">
                <a:tc>
                  <a:txBody>
                    <a:bodyPr/>
                    <a:lstStyle/>
                    <a:p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weigh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woman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weighed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apples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on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scale</a:t>
                      </a:r>
                      <a:endParaRPr lang="nl-NL" sz="1800" dirty="0">
                        <a:latin typeface="Arial Nova" panose="020B0504020202020204" pitchFamily="34" charset="0"/>
                      </a:endParaRPr>
                    </a:p>
                  </a:txBody>
                  <a:tcPr marL="93540" marR="93540" marT="46770" marB="46770"/>
                </a:tc>
                <a:tc>
                  <a:txBody>
                    <a:bodyPr/>
                    <a:lstStyle/>
                    <a:p>
                      <a:r>
                        <a:rPr lang="nl-NL" sz="1800" dirty="0">
                          <a:latin typeface="Arial Nova" panose="020B0504020202020204" pitchFamily="34" charset="0"/>
                        </a:rPr>
                        <a:t>The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apples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were</a:t>
                      </a:r>
                      <a:r>
                        <a:rPr lang="nl-NL" sz="18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b="1" dirty="0" err="1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weighed</a:t>
                      </a:r>
                      <a:r>
                        <a:rPr lang="nl-NL" sz="1800" b="1" dirty="0">
                          <a:solidFill>
                            <a:schemeClr val="accent2"/>
                          </a:solidFill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on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scale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(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by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the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 </a:t>
                      </a:r>
                      <a:r>
                        <a:rPr lang="nl-NL" sz="1800" dirty="0" err="1">
                          <a:latin typeface="Arial Nova" panose="020B0504020202020204" pitchFamily="34" charset="0"/>
                        </a:rPr>
                        <a:t>woman</a:t>
                      </a:r>
                      <a:r>
                        <a:rPr lang="nl-NL" sz="1800" dirty="0">
                          <a:latin typeface="Arial Nova" panose="020B0504020202020204" pitchFamily="34" charset="0"/>
                        </a:rPr>
                        <a:t>)</a:t>
                      </a:r>
                    </a:p>
                  </a:txBody>
                  <a:tcPr marL="93540" marR="93540" marT="46770" marB="46770"/>
                </a:tc>
                <a:extLst>
                  <a:ext uri="{0D108BD9-81ED-4DB2-BD59-A6C34878D82A}">
                    <a16:rowId xmlns:a16="http://schemas.microsoft.com/office/drawing/2014/main" val="606969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71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el 1"/>
          <p:cNvSpPr>
            <a:spLocks noGrp="1"/>
          </p:cNvSpPr>
          <p:nvPr>
            <p:ph type="title"/>
          </p:nvPr>
        </p:nvSpPr>
        <p:spPr>
          <a:xfrm>
            <a:off x="2346960" y="286605"/>
            <a:ext cx="7543800" cy="1450757"/>
          </a:xfrm>
        </p:spPr>
        <p:txBody>
          <a:bodyPr/>
          <a:lstStyle/>
          <a:p>
            <a:r>
              <a:rPr lang="en-GB"/>
              <a:t>Translating</a:t>
            </a:r>
          </a:p>
        </p:txBody>
      </p:sp>
      <p:sp>
        <p:nvSpPr>
          <p:cNvPr id="27651" name="Tijdelijke aanduiding voor inhoud 2"/>
          <p:cNvSpPr>
            <a:spLocks noGrp="1"/>
          </p:cNvSpPr>
          <p:nvPr>
            <p:ph idx="1"/>
          </p:nvPr>
        </p:nvSpPr>
        <p:spPr>
          <a:xfrm>
            <a:off x="2346960" y="1845734"/>
            <a:ext cx="7543801" cy="402336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Watch out when translating Dutch “</a:t>
            </a:r>
            <a:r>
              <a:rPr lang="en-US" dirty="0" err="1">
                <a:solidFill>
                  <a:schemeClr val="accent2"/>
                </a:solidFill>
              </a:rPr>
              <a:t>er</a:t>
            </a:r>
            <a:r>
              <a:rPr lang="en-US" dirty="0">
                <a:solidFill>
                  <a:schemeClr val="accent2"/>
                </a:solidFill>
              </a:rPr>
              <a:t>”:</a:t>
            </a:r>
            <a:endParaRPr lang="nl-NL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nl-NL" dirty="0"/>
          </a:p>
          <a:p>
            <a:r>
              <a:rPr lang="nl-NL" b="1" dirty="0"/>
              <a:t>Er</a:t>
            </a:r>
            <a:r>
              <a:rPr lang="nl-NL" dirty="0"/>
              <a:t> zijn veel mensen ontslagen.</a:t>
            </a:r>
          </a:p>
          <a:p>
            <a:r>
              <a:rPr lang="en-US" dirty="0"/>
              <a:t>*</a:t>
            </a:r>
            <a:r>
              <a:rPr lang="en-US" strike="sngStrike" dirty="0"/>
              <a:t>There have been many people fired.</a:t>
            </a:r>
          </a:p>
          <a:p>
            <a:r>
              <a:rPr lang="nl-NL" dirty="0" err="1"/>
              <a:t>Many</a:t>
            </a:r>
            <a:r>
              <a:rPr lang="nl-NL" dirty="0"/>
              <a:t> </a:t>
            </a:r>
            <a:r>
              <a:rPr lang="nl-NL" dirty="0" err="1"/>
              <a:t>people</a:t>
            </a:r>
            <a:r>
              <a:rPr lang="nl-NL" dirty="0"/>
              <a:t> have been </a:t>
            </a:r>
            <a:r>
              <a:rPr lang="nl-NL" dirty="0" err="1"/>
              <a:t>fired</a:t>
            </a:r>
            <a:r>
              <a:rPr lang="nl-NL" dirty="0"/>
              <a:t>.</a:t>
            </a:r>
          </a:p>
          <a:p>
            <a:pPr lvl="1"/>
            <a:endParaRPr lang="nl-NL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1374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206D-B061-8445-FFB4-D52D73E5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800"/>
            <a:ext cx="10858500" cy="1371600"/>
          </a:xfrm>
        </p:spPr>
        <p:txBody>
          <a:bodyPr/>
          <a:lstStyle/>
          <a:p>
            <a:r>
              <a:rPr lang="nl-NL"/>
              <a:t>Exercise</a:t>
            </a:r>
            <a:br>
              <a:rPr lang="nl-NL"/>
            </a:br>
            <a:r>
              <a:rPr lang="nl-NL"/>
              <a:t>Change the active sentences to passive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4A38-62C0-C34B-EEDF-14DBE142C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4102"/>
            <a:ext cx="12191999" cy="4603897"/>
          </a:xfrm>
        </p:spPr>
        <p:txBody>
          <a:bodyPr/>
          <a:lstStyle/>
          <a:p>
            <a:pPr marL="0" indent="0">
              <a:buNone/>
            </a:pPr>
            <a:r>
              <a:rPr lang="nl-NL"/>
              <a:t>1. The board supports the latest initiative. 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/>
              <a:t>2. We have informed him.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/>
              <a:t>3. We will offer him many different options. (2 answers!)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/>
              <a:t>4. Jane brought up the issue at last night’s meeting. 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457200" indent="-457200">
              <a:buAutoNum type="arabicPeriod"/>
            </a:pPr>
            <a:endParaRPr lang="nl-NL"/>
          </a:p>
          <a:p>
            <a:pPr marL="457200" indent="-457200">
              <a:buAutoNum type="arabicPeriod"/>
            </a:pPr>
            <a:endParaRPr lang="nl-NL"/>
          </a:p>
          <a:p>
            <a:pPr marL="0" indent="0">
              <a:buNone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9728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0206D-B061-8445-FFB4-D52D73E5D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800"/>
            <a:ext cx="12046688" cy="1371600"/>
          </a:xfrm>
        </p:spPr>
        <p:txBody>
          <a:bodyPr/>
          <a:lstStyle/>
          <a:p>
            <a:r>
              <a:rPr lang="nl-NL"/>
              <a:t>Answer key: pay attention to the verb tense!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64A38-62C0-C34B-EEDF-14DBE142C9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4102"/>
            <a:ext cx="12191999" cy="4603897"/>
          </a:xfrm>
        </p:spPr>
        <p:txBody>
          <a:bodyPr/>
          <a:lstStyle/>
          <a:p>
            <a:pPr marL="0" indent="0">
              <a:buNone/>
            </a:pPr>
            <a:r>
              <a:rPr lang="nl-NL"/>
              <a:t>1. The board supports the latest initiative. </a:t>
            </a:r>
          </a:p>
          <a:p>
            <a:pPr marL="0" indent="0">
              <a:buNone/>
            </a:pPr>
            <a:r>
              <a:rPr lang="nl-NL" b="1"/>
              <a:t>The lastest initiative is supported by the board.</a:t>
            </a:r>
          </a:p>
          <a:p>
            <a:pPr marL="0" indent="0">
              <a:buNone/>
            </a:pPr>
            <a:r>
              <a:rPr lang="nl-NL"/>
              <a:t>2. We have informed him.</a:t>
            </a:r>
          </a:p>
          <a:p>
            <a:pPr marL="0" indent="0">
              <a:buNone/>
            </a:pPr>
            <a:r>
              <a:rPr lang="nl-NL" b="1"/>
              <a:t>He has been informed. / He has been informed by us.</a:t>
            </a:r>
          </a:p>
          <a:p>
            <a:pPr marL="0" indent="0">
              <a:buNone/>
            </a:pPr>
            <a:r>
              <a:rPr lang="nl-NL"/>
              <a:t>3. We will offer him many different options. (2 answers!)</a:t>
            </a:r>
          </a:p>
          <a:p>
            <a:pPr marL="0" indent="0">
              <a:buNone/>
            </a:pPr>
            <a:r>
              <a:rPr lang="nl-NL" b="1"/>
              <a:t>Many different options will be offered to him.</a:t>
            </a:r>
          </a:p>
          <a:p>
            <a:pPr marL="0" indent="0">
              <a:buNone/>
            </a:pPr>
            <a:r>
              <a:rPr lang="nl-NL" b="1"/>
              <a:t>He will be offered many different options.</a:t>
            </a:r>
          </a:p>
          <a:p>
            <a:pPr marL="0" indent="0">
              <a:buNone/>
            </a:pPr>
            <a:r>
              <a:rPr lang="nl-NL"/>
              <a:t>4. Jane brought up the issue at last night’s meeting. </a:t>
            </a:r>
          </a:p>
          <a:p>
            <a:pPr marL="0" indent="0">
              <a:buNone/>
            </a:pPr>
            <a:r>
              <a:rPr lang="nl-NL" b="1"/>
              <a:t>The issue was brought up at last night’s meeting by Jane.</a:t>
            </a:r>
          </a:p>
          <a:p>
            <a:pPr marL="457200" indent="-457200">
              <a:buAutoNum type="arabicPeriod"/>
            </a:pPr>
            <a:endParaRPr lang="nl-NL"/>
          </a:p>
          <a:p>
            <a:pPr marL="457200" indent="-457200">
              <a:buAutoNum type="arabicPeriod"/>
            </a:pPr>
            <a:endParaRPr lang="nl-NL"/>
          </a:p>
          <a:p>
            <a:pPr marL="0" indent="0">
              <a:buNone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45004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5897-355E-D86E-C79E-8480D5CB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800"/>
            <a:ext cx="10858500" cy="1371600"/>
          </a:xfrm>
        </p:spPr>
        <p:txBody>
          <a:bodyPr/>
          <a:lstStyle/>
          <a:p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B9D6-54A3-73D6-C8D8-D2EDBB05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4102"/>
            <a:ext cx="12191999" cy="4603897"/>
          </a:xfrm>
        </p:spPr>
        <p:txBody>
          <a:bodyPr/>
          <a:lstStyle/>
          <a:p>
            <a:pPr marL="0" indent="0">
              <a:buNone/>
            </a:pPr>
            <a:r>
              <a:rPr lang="nl-NL"/>
              <a:t>5. The police are investigating the matter. 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/>
              <a:t>6. They have cleaned the room. 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/>
              <a:t>7. The people gave the candidate an ultimatum. (2 answers!)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r>
              <a:rPr lang="nl-NL"/>
              <a:t>8. This measure could save the company. </a:t>
            </a:r>
          </a:p>
          <a:p>
            <a:pPr marL="0" indent="0">
              <a:buNone/>
            </a:pPr>
            <a:r>
              <a:rPr lang="nl-NL"/>
              <a:t>____________________________________________________________________________</a:t>
            </a:r>
          </a:p>
          <a:p>
            <a:pPr marL="0" indent="0">
              <a:buNone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78952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5897-355E-D86E-C79E-8480D5CBC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85800"/>
            <a:ext cx="12036056" cy="1371600"/>
          </a:xfrm>
        </p:spPr>
        <p:txBody>
          <a:bodyPr/>
          <a:lstStyle/>
          <a:p>
            <a:r>
              <a:rPr lang="nl-NL"/>
              <a:t>Answer key: pay attention to the verb tense!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6B9D6-54A3-73D6-C8D8-D2EDBB05F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254102"/>
            <a:ext cx="12191999" cy="4603897"/>
          </a:xfrm>
        </p:spPr>
        <p:txBody>
          <a:bodyPr/>
          <a:lstStyle/>
          <a:p>
            <a:pPr marL="0" indent="0">
              <a:buNone/>
            </a:pPr>
            <a:r>
              <a:rPr lang="nl-NL"/>
              <a:t>5. The police are investigating the matter. </a:t>
            </a:r>
          </a:p>
          <a:p>
            <a:pPr marL="0" indent="0">
              <a:buNone/>
            </a:pPr>
            <a:r>
              <a:rPr lang="nl-NL" b="1"/>
              <a:t>The matter is being investigated by the police.</a:t>
            </a:r>
          </a:p>
          <a:p>
            <a:pPr marL="0" indent="0">
              <a:buNone/>
            </a:pPr>
            <a:r>
              <a:rPr lang="nl-NL"/>
              <a:t>6. They have cleaned the room. </a:t>
            </a:r>
          </a:p>
          <a:p>
            <a:pPr marL="0" indent="0">
              <a:buNone/>
            </a:pPr>
            <a:r>
              <a:rPr lang="nl-NL" b="1"/>
              <a:t>The room has been cleaned. </a:t>
            </a:r>
          </a:p>
          <a:p>
            <a:pPr marL="0" indent="0">
              <a:buNone/>
            </a:pPr>
            <a:r>
              <a:rPr lang="nl-NL"/>
              <a:t>7. The people gave the candidate an ultimatum. (2 answers!)</a:t>
            </a:r>
          </a:p>
          <a:p>
            <a:pPr marL="0" indent="0">
              <a:buNone/>
            </a:pPr>
            <a:r>
              <a:rPr lang="nl-NL" b="1"/>
              <a:t>The candidate was given an ultimatum.</a:t>
            </a:r>
          </a:p>
          <a:p>
            <a:pPr marL="0" indent="0">
              <a:buNone/>
            </a:pPr>
            <a:r>
              <a:rPr lang="nl-NL" b="1"/>
              <a:t>An ultimatum was given to the candidate.</a:t>
            </a:r>
          </a:p>
          <a:p>
            <a:pPr marL="0" indent="0">
              <a:buNone/>
            </a:pPr>
            <a:r>
              <a:rPr lang="nl-NL"/>
              <a:t>8. This measure could save the company. </a:t>
            </a:r>
          </a:p>
          <a:p>
            <a:pPr marL="0" indent="0">
              <a:buNone/>
            </a:pPr>
            <a:r>
              <a:rPr lang="nl-NL" b="1"/>
              <a:t>The company could be saved by this measure.</a:t>
            </a:r>
          </a:p>
          <a:p>
            <a:pPr marL="0" indent="0">
              <a:buNone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4065163"/>
      </p:ext>
    </p:extLst>
  </p:cSld>
  <p:clrMapOvr>
    <a:masterClrMapping/>
  </p:clrMapOvr>
</p:sld>
</file>

<file path=ppt/theme/theme1.xml><?xml version="1.0" encoding="utf-8"?>
<a:theme xmlns:a="http://schemas.openxmlformats.org/drawingml/2006/main" name="ClassicFrame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Goudy and Gill Sans">
      <a:majorFont>
        <a:latin typeface="Goudy Old Style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FrameVTI" id="{4FA2A165-EC65-4FB0-B019-8C8876A1D8E3}" vid="{9D78F1F1-8226-42FD-A1A3-975EDF6D60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802</TotalTime>
  <Words>859</Words>
  <Application>Microsoft Office PowerPoint</Application>
  <PresentationFormat>Widescreen</PresentationFormat>
  <Paragraphs>183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Nova</vt:lpstr>
      <vt:lpstr>Calibri</vt:lpstr>
      <vt:lpstr>Gill Sans MT</vt:lpstr>
      <vt:lpstr>Goudy Old Style</vt:lpstr>
      <vt:lpstr>ClassicFrameVTI</vt:lpstr>
      <vt:lpstr> Grammar &amp; Basica</vt:lpstr>
      <vt:lpstr>How to make an active sentence passive</vt:lpstr>
      <vt:lpstr>How to make an active sentence passive</vt:lpstr>
      <vt:lpstr>The Passive</vt:lpstr>
      <vt:lpstr>Tenses and the passive</vt:lpstr>
      <vt:lpstr>Tenses and the passive</vt:lpstr>
      <vt:lpstr>Verbs that take two objects</vt:lpstr>
      <vt:lpstr>Verbs that take two objects</vt:lpstr>
      <vt:lpstr>Exceptions (I)</vt:lpstr>
      <vt:lpstr>Exceptions (II)</vt:lpstr>
      <vt:lpstr>Translating</vt:lpstr>
      <vt:lpstr>Exercise Change the active sentences to passive</vt:lpstr>
      <vt:lpstr>Answer key: pay attention to the verb tense!</vt:lpstr>
      <vt:lpstr>PowerPoint Presentation</vt:lpstr>
      <vt:lpstr>Answer key: pay attention to the verb tense!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Grammar &amp; Basica</dc:title>
  <dc:creator>Fatima Kajouj</dc:creator>
  <cp:lastModifiedBy>Thomas de France</cp:lastModifiedBy>
  <cp:revision>1</cp:revision>
  <dcterms:created xsi:type="dcterms:W3CDTF">2023-08-28T13:30:29Z</dcterms:created>
  <dcterms:modified xsi:type="dcterms:W3CDTF">2024-09-25T10:04:29Z</dcterms:modified>
</cp:coreProperties>
</file>
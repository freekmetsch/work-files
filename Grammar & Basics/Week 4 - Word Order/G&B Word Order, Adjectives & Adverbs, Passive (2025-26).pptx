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442" r:id="rId3"/>
    <p:sldId id="443" r:id="rId4"/>
    <p:sldId id="444" r:id="rId5"/>
    <p:sldId id="445" r:id="rId6"/>
    <p:sldId id="446" r:id="rId7"/>
    <p:sldId id="447" r:id="rId8"/>
    <p:sldId id="448" r:id="rId9"/>
    <p:sldId id="405" r:id="rId10"/>
    <p:sldId id="449" r:id="rId11"/>
    <p:sldId id="450" r:id="rId12"/>
    <p:sldId id="418" r:id="rId13"/>
    <p:sldId id="414" r:id="rId14"/>
    <p:sldId id="417" r:id="rId1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5F943916-16B0-4A90-AB74-AF6F27672B16}"/>
    <pc:docChg chg="undo custSel addSld delSld modSld sldOrd">
      <pc:chgData name="Freek Metsch" userId="021ef47b-1d71-428a-9075-16ffbc2c7c18" providerId="ADAL" clId="{5F943916-16B0-4A90-AB74-AF6F27672B16}" dt="2026-03-02T08:26:18.670" v="833" actId="47"/>
      <pc:docMkLst>
        <pc:docMk/>
      </pc:docMkLst>
      <pc:sldChg chg="modSp add del mod setBg">
        <pc:chgData name="Freek Metsch" userId="021ef47b-1d71-428a-9075-16ffbc2c7c18" providerId="ADAL" clId="{5F943916-16B0-4A90-AB74-AF6F27672B16}" dt="2026-03-02T08:26:18.670" v="833" actId="47"/>
        <pc:sldMkLst>
          <pc:docMk/>
          <pc:sldMk cId="1679811417" sldId="452"/>
        </pc:sldMkLst>
      </pc:sldChg>
      <pc:sldMasterChg chg="delSldLayout">
        <pc:chgData name="Freek Metsch" userId="021ef47b-1d71-428a-9075-16ffbc2c7c18" providerId="ADAL" clId="{5F943916-16B0-4A90-AB74-AF6F27672B16}" dt="2026-03-02T08:26:18.670" v="833" actId="47"/>
        <pc:sldMasterMkLst>
          <pc:docMk/>
          <pc:sldMasterMk cId="104831422" sldId="2147483648"/>
        </pc:sldMasterMkLst>
        <pc:sldLayoutChg chg="del">
          <pc:chgData name="Freek Metsch" userId="021ef47b-1d71-428a-9075-16ffbc2c7c18" providerId="ADAL" clId="{5F943916-16B0-4A90-AB74-AF6F27672B16}" dt="2026-03-02T08:26:18.670" v="833" actId="47"/>
          <pc:sldLayoutMkLst>
            <pc:docMk/>
            <pc:sldMasterMk cId="104831422" sldId="2147483648"/>
            <pc:sldLayoutMk cId="262544749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180DB-3468-49B2-A8FF-9286D0B949D0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97793-C826-47FB-843D-2F7BE58D314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59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E455-F726-97E4-8A76-61ACF948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jdelijke aanduiding voor dia-afbeelding 1">
            <a:extLst>
              <a:ext uri="{FF2B5EF4-FFF2-40B4-BE49-F238E27FC236}">
                <a16:creationId xmlns:a16="http://schemas.microsoft.com/office/drawing/2014/main" id="{94810CC9-D1F3-DDE3-EED9-55E6354C78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Tijdelijke aanduiding voor notities 2">
            <a:extLst>
              <a:ext uri="{FF2B5EF4-FFF2-40B4-BE49-F238E27FC236}">
                <a16:creationId xmlns:a16="http://schemas.microsoft.com/office/drawing/2014/main" id="{32FE491B-6772-FC7D-0991-9C289DDC99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3428" name="Tijdelijke aanduiding voor dianummer 3">
            <a:extLst>
              <a:ext uri="{FF2B5EF4-FFF2-40B4-BE49-F238E27FC236}">
                <a16:creationId xmlns:a16="http://schemas.microsoft.com/office/drawing/2014/main" id="{63061FAA-A990-6BB5-59D9-52122F453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F5B-0E03-48E6-9677-8BE0BD701E7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29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342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F5B-0E03-48E6-9677-8BE0BD701E7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1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C7C1-E363-EDC0-ED05-666B9BB2F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D81F4-6443-0FEE-A6B6-05F7BD527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2FCA-2B61-8BB5-56E8-6C93F9F4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F8844-87F5-1A1A-4ADE-08C4E16F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D1AC-F1D2-0778-B574-C2763D7A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07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7168-1DB3-3397-399F-ECDC7CB2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A183-4CEF-9CF2-ABB5-3E2D9741E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6B64-C333-1F91-C77D-73A1167F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A655B-C7E9-5F2D-5BE3-4B055A7C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66880-7877-805A-1861-26EF5C3D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70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843F-846B-20E0-F9F6-D67A90D5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93CC7-D9F8-9FFE-2FBC-2B565E10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8F153-6DD8-18E8-75D4-2A38D02E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E3E8-B01A-EA0F-0CC4-B57781E0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A7A30-BD00-1E1F-4A75-245AB0B6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99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4048-8EF8-A542-BB41-840139D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97C6-E634-4A08-4907-684023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B582A-979F-6830-FADE-69D15E9A8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F9214-24AC-B2FD-EB4B-6F951879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2A113-DE64-FA62-0D2D-CD2C2735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FB2FA-DB42-E621-22CC-F6ED9782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45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46C-1E57-F7A8-DBFD-5DE7FCBB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77702-5854-3575-EB6F-DFCB608B8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61979-FDFA-AB2E-F860-AE0CD617D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42A91-B7BD-BA2D-2E8D-5C2394F6F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F5171-2093-8D13-2F57-6EA420812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B7AB9-60A9-37E3-49A8-55EB1107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15109-80D4-35D4-FCD8-0BB0AB4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FA92C-CE0A-9DB4-8ECE-C711A212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6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AA28-B495-4ED7-CA81-B85E807F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EC929-C2B7-FB36-2437-82343557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87203-2467-9182-4439-C42A5327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E358D-BD9E-D74D-2888-E1336A30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52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47BB4-2D9E-0155-502D-FFA23F2C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16BEC-482C-235D-79A1-4E85705C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DDE2-ED52-CD29-62E3-9ED656F9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22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E550-D959-5098-183E-864881B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AE13-50BB-0FF2-3E7D-2A0449153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E4592-E54F-0A5D-40AD-34ABD57D6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5D2BD-07DF-C4FD-0607-A7D2A1A4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DC158-31A3-22DC-8AC3-83CC34BF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9EF6C-C5DE-27EC-016C-AF4519FF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39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263F-ABF0-AE80-3F56-3080F87A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F364C-E13A-4DD9-8441-2DAC64EE6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97FF2-6667-85B3-F838-E31BA21E8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BC48-54D3-373F-B3B5-8B03E64C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D498-CA67-9C10-F785-49626B7E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B1EA-B53B-7D51-928F-5BF806E8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33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8221-00EF-C7CE-435D-8B84E68A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2EB15-2E94-5B85-AA9F-A581E7EE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A3D32-8C0B-5FEE-7208-1614AF7C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77A93-FBAD-E79E-49CB-E081300E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CBDB-ED3C-B342-B20E-3AD3E02C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61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70DEB-E56A-5563-0947-ADF861D7D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CA796-7B5E-0315-AB19-E98D6854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3E107-8BBC-43C5-6A86-01203BEC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837D-EAFD-F0D0-A89D-AF0E70D9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84A32-A55D-F0E4-66C0-B4A6EAE1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647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GB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05263-5804-4928-AEA0-C1EE9AB43E02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18581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06FA5-A51B-AF5D-5415-70345F29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8B7E-8B6E-785F-7D41-1500FA52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CA4ED-83CC-8688-B360-1A6FA9D2A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4784-6580-0C4C-0489-5279C0D86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259B-788A-549B-4AC6-2B2513BB6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3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1500" y="639098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1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Word order, Adjective &amp; Adverbs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, Passive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 descr="Stack of books">
            <a:extLst>
              <a:ext uri="{FF2B5EF4-FFF2-40B4-BE49-F238E27FC236}">
                <a16:creationId xmlns:a16="http://schemas.microsoft.com/office/drawing/2014/main" id="{35F4B628-46DF-4869-8D93-EBA2C8B22D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6" r="10364" b="-1"/>
          <a:stretch/>
        </p:blipFill>
        <p:spPr>
          <a:xfrm>
            <a:off x="1524020" y="10"/>
            <a:ext cx="4571980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07E1-5830-0415-040B-7FFEDBFF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365125"/>
            <a:ext cx="12192000" cy="1325563"/>
          </a:xfrm>
        </p:spPr>
        <p:txBody>
          <a:bodyPr>
            <a:normAutofit/>
          </a:bodyPr>
          <a:lstStyle/>
          <a:p>
            <a:r>
              <a:rPr lang="nl-NL" dirty="0"/>
              <a:t>Put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adverbials</a:t>
            </a:r>
            <a:r>
              <a:rPr lang="nl-NL" dirty="0"/>
              <a:t> </a:t>
            </a:r>
            <a:r>
              <a:rPr lang="nl-NL" i="1" dirty="0"/>
              <a:t>in </a:t>
            </a:r>
            <a:r>
              <a:rPr lang="nl-NL" i="1" dirty="0" err="1"/>
              <a:t>the</a:t>
            </a:r>
            <a:r>
              <a:rPr lang="nl-NL" i="1" dirty="0"/>
              <a:t> right order</a:t>
            </a:r>
            <a:endParaRPr lang="nl-NL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4F74-E46E-30B4-C364-6489EF43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28" y="1690688"/>
            <a:ext cx="11353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going</a:t>
            </a:r>
            <a:r>
              <a:rPr lang="nl-NL" dirty="0"/>
              <a:t>. (</a:t>
            </a:r>
            <a:r>
              <a:rPr lang="nl-NL" dirty="0" err="1"/>
              <a:t>tomorrow</a:t>
            </a:r>
            <a:r>
              <a:rPr lang="nl-NL" dirty="0"/>
              <a:t> / </a:t>
            </a:r>
            <a:r>
              <a:rPr lang="nl-NL" dirty="0" err="1"/>
              <a:t>to</a:t>
            </a:r>
            <a:r>
              <a:rPr lang="nl-NL" dirty="0"/>
              <a:t> school)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2.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please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? (</a:t>
            </a:r>
            <a:r>
              <a:rPr lang="nl-NL" dirty="0" err="1"/>
              <a:t>now</a:t>
            </a:r>
            <a:r>
              <a:rPr lang="nl-NL" dirty="0"/>
              <a:t> / here)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3. The wedding </a:t>
            </a:r>
            <a:r>
              <a:rPr lang="nl-NL" dirty="0" err="1"/>
              <a:t>took</a:t>
            </a:r>
            <a:r>
              <a:rPr lang="nl-NL" dirty="0"/>
              <a:t> </a:t>
            </a:r>
            <a:r>
              <a:rPr lang="nl-NL" dirty="0" err="1"/>
              <a:t>place</a:t>
            </a:r>
            <a:r>
              <a:rPr lang="nl-NL" dirty="0"/>
              <a:t>. (at </a:t>
            </a:r>
            <a:r>
              <a:rPr lang="nl-NL" dirty="0" err="1"/>
              <a:t>the</a:t>
            </a:r>
            <a:r>
              <a:rPr lang="nl-NL" dirty="0"/>
              <a:t> basilica / last </a:t>
            </a:r>
            <a:r>
              <a:rPr lang="nl-NL" dirty="0" err="1"/>
              <a:t>Saturday</a:t>
            </a:r>
            <a:r>
              <a:rPr lang="nl-NL" dirty="0"/>
              <a:t>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4. We </a:t>
            </a:r>
            <a:r>
              <a:rPr lang="nl-NL" dirty="0" err="1"/>
              <a:t>don’t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. (next week /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HU)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5. I </a:t>
            </a:r>
            <a:r>
              <a:rPr lang="nl-NL" dirty="0" err="1"/>
              <a:t>couldn’t</a:t>
            </a:r>
            <a:r>
              <a:rPr lang="nl-NL" dirty="0"/>
              <a:t> go. (</a:t>
            </a:r>
            <a:r>
              <a:rPr lang="nl-NL" dirty="0" err="1"/>
              <a:t>anywhere</a:t>
            </a:r>
            <a:r>
              <a:rPr lang="nl-NL" dirty="0"/>
              <a:t> / last </a:t>
            </a:r>
            <a:r>
              <a:rPr lang="nl-NL" dirty="0" err="1"/>
              <a:t>summer</a:t>
            </a:r>
            <a:r>
              <a:rPr lang="nl-NL" dirty="0"/>
              <a:t>)</a:t>
            </a:r>
          </a:p>
          <a:p>
            <a:pPr marL="0" indent="0">
              <a:buNone/>
            </a:pPr>
            <a:endParaRPr lang="nl-NL" dirty="0"/>
          </a:p>
          <a:p>
            <a:pPr marL="514350" indent="-514350"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769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07E1-5830-0415-040B-7FFEDBFF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19405"/>
            <a:ext cx="12192000" cy="1325563"/>
          </a:xfrm>
        </p:spPr>
        <p:txBody>
          <a:bodyPr>
            <a:normAutofit/>
          </a:bodyPr>
          <a:lstStyle/>
          <a:p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key</a:t>
            </a:r>
            <a:endParaRPr lang="nl-N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4F74-E46E-30B4-C364-6489EF43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I’m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going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school </a:t>
            </a:r>
            <a:r>
              <a:rPr lang="nl-NL" b="1" dirty="0" err="1"/>
              <a:t>tomorrow</a:t>
            </a:r>
            <a:r>
              <a:rPr lang="nl-NL" dirty="0"/>
              <a:t>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2.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please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b="1" dirty="0"/>
              <a:t> here </a:t>
            </a:r>
            <a:r>
              <a:rPr lang="nl-NL" b="1" dirty="0" err="1"/>
              <a:t>now</a:t>
            </a:r>
            <a:r>
              <a:rPr lang="nl-NL" dirty="0"/>
              <a:t>?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3. The wedding </a:t>
            </a:r>
            <a:r>
              <a:rPr lang="nl-NL" dirty="0" err="1"/>
              <a:t>took</a:t>
            </a:r>
            <a:r>
              <a:rPr lang="nl-NL" dirty="0"/>
              <a:t> </a:t>
            </a:r>
            <a:r>
              <a:rPr lang="nl-NL" dirty="0" err="1"/>
              <a:t>place</a:t>
            </a:r>
            <a:r>
              <a:rPr lang="nl-NL" b="1" dirty="0"/>
              <a:t> at </a:t>
            </a:r>
            <a:r>
              <a:rPr lang="nl-NL" b="1" dirty="0" err="1"/>
              <a:t>the</a:t>
            </a:r>
            <a:r>
              <a:rPr lang="nl-NL" b="1" dirty="0"/>
              <a:t> basilica last </a:t>
            </a:r>
            <a:r>
              <a:rPr lang="nl-NL" b="1" dirty="0" err="1"/>
              <a:t>Saturday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4. We </a:t>
            </a:r>
            <a:r>
              <a:rPr lang="nl-NL" dirty="0" err="1"/>
              <a:t>don’t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</a:t>
            </a:r>
            <a:r>
              <a:rPr lang="nl-NL" b="1" dirty="0" err="1"/>
              <a:t>the</a:t>
            </a:r>
            <a:r>
              <a:rPr lang="nl-NL" b="1" dirty="0"/>
              <a:t> HU next week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5. I </a:t>
            </a:r>
            <a:r>
              <a:rPr lang="nl-NL" dirty="0" err="1"/>
              <a:t>couldn’t</a:t>
            </a:r>
            <a:r>
              <a:rPr lang="nl-NL" dirty="0"/>
              <a:t> go </a:t>
            </a:r>
            <a:r>
              <a:rPr lang="nl-NL" b="1" dirty="0" err="1"/>
              <a:t>anywhere</a:t>
            </a:r>
            <a:r>
              <a:rPr lang="nl-NL" b="1" dirty="0"/>
              <a:t> last </a:t>
            </a:r>
            <a:r>
              <a:rPr lang="nl-NL" b="1" dirty="0" err="1"/>
              <a:t>summer</a:t>
            </a:r>
            <a:r>
              <a:rPr lang="nl-NL" dirty="0"/>
              <a:t>.</a:t>
            </a:r>
          </a:p>
          <a:p>
            <a:pPr marL="0" indent="0">
              <a:buNone/>
            </a:pPr>
            <a:endParaRPr lang="nl-NL" dirty="0"/>
          </a:p>
          <a:p>
            <a:pPr marL="514350" indent="-514350"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9398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206D-B061-8445-FFB4-D52D73E5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475488"/>
            <a:ext cx="10858500" cy="1371600"/>
          </a:xfrm>
        </p:spPr>
        <p:txBody>
          <a:bodyPr/>
          <a:lstStyle/>
          <a:p>
            <a:r>
              <a:rPr lang="nl-NL" dirty="0"/>
              <a:t>Change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passive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4A38-62C0-C34B-EEDF-14DBE142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847089"/>
            <a:ext cx="11881103" cy="4434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1. The board supports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latest</a:t>
            </a:r>
            <a:r>
              <a:rPr lang="nl-NL" dirty="0"/>
              <a:t> </a:t>
            </a:r>
            <a:r>
              <a:rPr lang="nl-NL" dirty="0" err="1"/>
              <a:t>initiative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_________________________________________________________________2. We have </a:t>
            </a:r>
            <a:r>
              <a:rPr lang="nl-NL" dirty="0" err="1"/>
              <a:t>informed</a:t>
            </a:r>
            <a:r>
              <a:rPr lang="nl-NL" dirty="0"/>
              <a:t> </a:t>
            </a:r>
            <a:r>
              <a:rPr lang="nl-NL" dirty="0" err="1"/>
              <a:t>him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_________________________________________________________________3. We </a:t>
            </a:r>
            <a:r>
              <a:rPr lang="nl-NL" dirty="0" err="1"/>
              <a:t>will</a:t>
            </a:r>
            <a:r>
              <a:rPr lang="nl-NL" dirty="0"/>
              <a:t> offer </a:t>
            </a:r>
            <a:r>
              <a:rPr lang="nl-NL" dirty="0" err="1"/>
              <a:t>him</a:t>
            </a:r>
            <a:r>
              <a:rPr lang="nl-NL" dirty="0"/>
              <a:t> </a:t>
            </a:r>
            <a:r>
              <a:rPr lang="nl-NL" dirty="0" err="1"/>
              <a:t>many</a:t>
            </a:r>
            <a:r>
              <a:rPr lang="nl-NL" dirty="0"/>
              <a:t> different options. (2 </a:t>
            </a:r>
            <a:r>
              <a:rPr lang="nl-NL" dirty="0" err="1"/>
              <a:t>answers</a:t>
            </a:r>
            <a:r>
              <a:rPr lang="nl-NL" dirty="0"/>
              <a:t>!)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__________________________________________________________________________________________________________________________________4. Jane </a:t>
            </a:r>
            <a:r>
              <a:rPr lang="nl-NL" dirty="0" err="1"/>
              <a:t>brought</a:t>
            </a:r>
            <a:r>
              <a:rPr lang="nl-NL" dirty="0"/>
              <a:t> up </a:t>
            </a:r>
            <a:r>
              <a:rPr lang="nl-NL" dirty="0" err="1"/>
              <a:t>the</a:t>
            </a:r>
            <a:r>
              <a:rPr lang="nl-NL" dirty="0"/>
              <a:t> issue at last </a:t>
            </a:r>
            <a:r>
              <a:rPr lang="nl-NL" dirty="0" err="1"/>
              <a:t>night’s</a:t>
            </a:r>
            <a:r>
              <a:rPr lang="nl-NL" dirty="0"/>
              <a:t> meeting. 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</a:t>
            </a:r>
          </a:p>
          <a:p>
            <a:pPr marL="457200" indent="-457200">
              <a:buAutoNum type="arabicPeriod"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9972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206D-B061-8445-FFB4-D52D73E5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539496"/>
            <a:ext cx="12046688" cy="1371600"/>
          </a:xfrm>
        </p:spPr>
        <p:txBody>
          <a:bodyPr/>
          <a:lstStyle/>
          <a:p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: </a:t>
            </a:r>
            <a:r>
              <a:rPr lang="nl-NL" dirty="0" err="1"/>
              <a:t>pay</a:t>
            </a:r>
            <a:r>
              <a:rPr lang="nl-NL" dirty="0"/>
              <a:t> attention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verb</a:t>
            </a:r>
            <a:r>
              <a:rPr lang="nl-NL" dirty="0"/>
              <a:t> </a:t>
            </a:r>
            <a:r>
              <a:rPr lang="nl-NL" dirty="0" err="1"/>
              <a:t>tense</a:t>
            </a:r>
            <a:r>
              <a:rPr lang="nl-NL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4A38-62C0-C34B-EEDF-14DBE142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20" y="1911096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1. The board supports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latest</a:t>
            </a:r>
            <a:r>
              <a:rPr lang="nl-NL" dirty="0"/>
              <a:t> </a:t>
            </a:r>
            <a:r>
              <a:rPr lang="nl-NL" dirty="0" err="1"/>
              <a:t>initiative</a:t>
            </a:r>
            <a:r>
              <a:rPr lang="nl-NL" dirty="0"/>
              <a:t>. </a:t>
            </a:r>
          </a:p>
          <a:p>
            <a:pPr marL="0" indent="0">
              <a:buNone/>
            </a:pPr>
            <a:r>
              <a:rPr lang="nl-NL" b="1" dirty="0"/>
              <a:t>The </a:t>
            </a:r>
            <a:r>
              <a:rPr lang="nl-NL" b="1" dirty="0" err="1"/>
              <a:t>lastest</a:t>
            </a:r>
            <a:r>
              <a:rPr lang="nl-NL" b="1" dirty="0"/>
              <a:t> </a:t>
            </a:r>
            <a:r>
              <a:rPr lang="nl-NL" b="1" dirty="0" err="1"/>
              <a:t>initiative</a:t>
            </a:r>
            <a:r>
              <a:rPr lang="nl-NL" b="1" dirty="0"/>
              <a:t> is </a:t>
            </a:r>
            <a:r>
              <a:rPr lang="nl-NL" b="1" dirty="0" err="1"/>
              <a:t>supported</a:t>
            </a:r>
            <a:r>
              <a:rPr lang="nl-NL" b="1" dirty="0"/>
              <a:t> </a:t>
            </a:r>
            <a:r>
              <a:rPr lang="nl-NL" b="1" dirty="0" err="1"/>
              <a:t>by</a:t>
            </a:r>
            <a:r>
              <a:rPr lang="nl-NL" b="1" dirty="0"/>
              <a:t> </a:t>
            </a:r>
            <a:r>
              <a:rPr lang="nl-NL" b="1" dirty="0" err="1"/>
              <a:t>the</a:t>
            </a:r>
            <a:r>
              <a:rPr lang="nl-NL" b="1" dirty="0"/>
              <a:t> board.</a:t>
            </a:r>
          </a:p>
          <a:p>
            <a:pPr marL="0" indent="0">
              <a:buNone/>
            </a:pPr>
            <a:r>
              <a:rPr lang="nl-NL" dirty="0"/>
              <a:t>2. We have </a:t>
            </a:r>
            <a:r>
              <a:rPr lang="nl-NL" dirty="0" err="1"/>
              <a:t>informed</a:t>
            </a:r>
            <a:r>
              <a:rPr lang="nl-NL" dirty="0"/>
              <a:t> </a:t>
            </a:r>
            <a:r>
              <a:rPr lang="nl-NL" dirty="0" err="1"/>
              <a:t>him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b="1" dirty="0"/>
              <a:t>He has been </a:t>
            </a:r>
            <a:r>
              <a:rPr lang="nl-NL" b="1" dirty="0" err="1"/>
              <a:t>informed</a:t>
            </a:r>
            <a:r>
              <a:rPr lang="nl-NL" b="1" dirty="0"/>
              <a:t>. / He has been </a:t>
            </a:r>
            <a:r>
              <a:rPr lang="nl-NL" b="1" dirty="0" err="1"/>
              <a:t>informed</a:t>
            </a:r>
            <a:r>
              <a:rPr lang="nl-NL" b="1" dirty="0"/>
              <a:t> </a:t>
            </a:r>
            <a:r>
              <a:rPr lang="nl-NL" b="1" dirty="0" err="1"/>
              <a:t>by</a:t>
            </a:r>
            <a:r>
              <a:rPr lang="nl-NL" b="1" dirty="0"/>
              <a:t> </a:t>
            </a:r>
            <a:r>
              <a:rPr lang="nl-NL" b="1" dirty="0" err="1"/>
              <a:t>us</a:t>
            </a:r>
            <a:r>
              <a:rPr lang="nl-NL" b="1" dirty="0"/>
              <a:t>.</a:t>
            </a:r>
          </a:p>
          <a:p>
            <a:pPr marL="0" indent="0">
              <a:buNone/>
            </a:pPr>
            <a:r>
              <a:rPr lang="nl-NL" dirty="0"/>
              <a:t>3. We </a:t>
            </a:r>
            <a:r>
              <a:rPr lang="nl-NL" dirty="0" err="1"/>
              <a:t>will</a:t>
            </a:r>
            <a:r>
              <a:rPr lang="nl-NL" dirty="0"/>
              <a:t> offer </a:t>
            </a:r>
            <a:r>
              <a:rPr lang="nl-NL" dirty="0" err="1"/>
              <a:t>him</a:t>
            </a:r>
            <a:r>
              <a:rPr lang="nl-NL" dirty="0"/>
              <a:t> </a:t>
            </a:r>
            <a:r>
              <a:rPr lang="nl-NL" dirty="0" err="1"/>
              <a:t>many</a:t>
            </a:r>
            <a:r>
              <a:rPr lang="nl-NL" dirty="0"/>
              <a:t> different options. (2 </a:t>
            </a:r>
            <a:r>
              <a:rPr lang="nl-NL" dirty="0" err="1"/>
              <a:t>answers</a:t>
            </a:r>
            <a:r>
              <a:rPr lang="nl-NL" dirty="0"/>
              <a:t>!)</a:t>
            </a:r>
          </a:p>
          <a:p>
            <a:pPr marL="0" indent="0">
              <a:buNone/>
            </a:pPr>
            <a:r>
              <a:rPr lang="nl-NL" b="1" dirty="0" err="1"/>
              <a:t>Many</a:t>
            </a:r>
            <a:r>
              <a:rPr lang="nl-NL" b="1" dirty="0"/>
              <a:t> different options </a:t>
            </a:r>
            <a:r>
              <a:rPr lang="nl-NL" b="1" dirty="0" err="1"/>
              <a:t>will</a:t>
            </a:r>
            <a:r>
              <a:rPr lang="nl-NL" b="1" dirty="0"/>
              <a:t> </a:t>
            </a:r>
            <a:r>
              <a:rPr lang="nl-NL" b="1" dirty="0" err="1"/>
              <a:t>be</a:t>
            </a:r>
            <a:r>
              <a:rPr lang="nl-NL" b="1" dirty="0"/>
              <a:t> </a:t>
            </a:r>
            <a:r>
              <a:rPr lang="nl-NL" b="1" dirty="0" err="1"/>
              <a:t>offered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</a:t>
            </a:r>
            <a:r>
              <a:rPr lang="nl-NL" b="1" dirty="0" err="1"/>
              <a:t>him</a:t>
            </a:r>
            <a:r>
              <a:rPr lang="nl-NL" b="1" dirty="0"/>
              <a:t>.</a:t>
            </a:r>
          </a:p>
          <a:p>
            <a:pPr marL="0" indent="0">
              <a:buNone/>
            </a:pPr>
            <a:r>
              <a:rPr lang="nl-NL" b="1" dirty="0"/>
              <a:t>He </a:t>
            </a:r>
            <a:r>
              <a:rPr lang="nl-NL" b="1" dirty="0" err="1"/>
              <a:t>will</a:t>
            </a:r>
            <a:r>
              <a:rPr lang="nl-NL" b="1" dirty="0"/>
              <a:t> </a:t>
            </a:r>
            <a:r>
              <a:rPr lang="nl-NL" b="1" dirty="0" err="1"/>
              <a:t>be</a:t>
            </a:r>
            <a:r>
              <a:rPr lang="nl-NL" b="1" dirty="0"/>
              <a:t> </a:t>
            </a:r>
            <a:r>
              <a:rPr lang="nl-NL" b="1" dirty="0" err="1"/>
              <a:t>offered</a:t>
            </a:r>
            <a:r>
              <a:rPr lang="nl-NL" b="1" dirty="0"/>
              <a:t> </a:t>
            </a:r>
            <a:r>
              <a:rPr lang="nl-NL" b="1" dirty="0" err="1"/>
              <a:t>many</a:t>
            </a:r>
            <a:r>
              <a:rPr lang="nl-NL" b="1" dirty="0"/>
              <a:t> different options.</a:t>
            </a:r>
          </a:p>
          <a:p>
            <a:pPr marL="0" indent="0">
              <a:buNone/>
            </a:pPr>
            <a:r>
              <a:rPr lang="nl-NL" dirty="0"/>
              <a:t>4. Jane </a:t>
            </a:r>
            <a:r>
              <a:rPr lang="nl-NL" dirty="0" err="1"/>
              <a:t>brought</a:t>
            </a:r>
            <a:r>
              <a:rPr lang="nl-NL" dirty="0"/>
              <a:t> up </a:t>
            </a:r>
            <a:r>
              <a:rPr lang="nl-NL" dirty="0" err="1"/>
              <a:t>the</a:t>
            </a:r>
            <a:r>
              <a:rPr lang="nl-NL" dirty="0"/>
              <a:t> issue at last </a:t>
            </a:r>
            <a:r>
              <a:rPr lang="nl-NL" dirty="0" err="1"/>
              <a:t>night’s</a:t>
            </a:r>
            <a:r>
              <a:rPr lang="nl-NL" dirty="0"/>
              <a:t> meeting. </a:t>
            </a:r>
          </a:p>
          <a:p>
            <a:pPr marL="0" indent="0">
              <a:buNone/>
            </a:pPr>
            <a:r>
              <a:rPr lang="nl-NL" b="1" dirty="0"/>
              <a:t>The issue was </a:t>
            </a:r>
            <a:r>
              <a:rPr lang="nl-NL" b="1" dirty="0" err="1"/>
              <a:t>brought</a:t>
            </a:r>
            <a:r>
              <a:rPr lang="nl-NL" b="1" dirty="0"/>
              <a:t> up at last </a:t>
            </a:r>
            <a:r>
              <a:rPr lang="nl-NL" b="1" dirty="0" err="1"/>
              <a:t>night’s</a:t>
            </a:r>
            <a:r>
              <a:rPr lang="nl-NL" b="1" dirty="0"/>
              <a:t> meeting </a:t>
            </a:r>
            <a:r>
              <a:rPr lang="nl-NL" b="1" dirty="0" err="1"/>
              <a:t>by</a:t>
            </a:r>
            <a:r>
              <a:rPr lang="nl-NL" b="1" dirty="0"/>
              <a:t> Jane.</a:t>
            </a:r>
          </a:p>
          <a:p>
            <a:pPr marL="457200" indent="-457200">
              <a:buAutoNum type="arabicPeriod"/>
            </a:pPr>
            <a:endParaRPr lang="nl-NL" dirty="0"/>
          </a:p>
          <a:p>
            <a:pPr marL="457200" indent="-457200">
              <a:buAutoNum type="arabicPeriod"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500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5897-355E-D86E-C79E-8480D5CB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585216"/>
            <a:ext cx="10858500" cy="1371600"/>
          </a:xfrm>
        </p:spPr>
        <p:txBody>
          <a:bodyPr/>
          <a:lstStyle/>
          <a:p>
            <a:r>
              <a:rPr lang="nl-NL" dirty="0"/>
              <a:t>Change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passive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B9D6-54A3-73D6-C8D8-D2EDBB05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2171806"/>
            <a:ext cx="12191999" cy="46038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nl-NL" dirty="0"/>
              <a:t>5. The </a:t>
            </a:r>
            <a:r>
              <a:rPr lang="nl-NL" dirty="0" err="1"/>
              <a:t>police</a:t>
            </a:r>
            <a:r>
              <a:rPr lang="nl-NL" dirty="0"/>
              <a:t> are </a:t>
            </a:r>
            <a:r>
              <a:rPr lang="nl-NL" dirty="0" err="1"/>
              <a:t>investigating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matter. 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 dirty="0"/>
              <a:t>6. </a:t>
            </a:r>
            <a:r>
              <a:rPr lang="nl-NL" dirty="0" err="1"/>
              <a:t>They</a:t>
            </a:r>
            <a:r>
              <a:rPr lang="nl-NL" dirty="0"/>
              <a:t> have </a:t>
            </a:r>
            <a:r>
              <a:rPr lang="nl-NL" dirty="0" err="1"/>
              <a:t>cleaned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room. 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 dirty="0"/>
              <a:t>7. The </a:t>
            </a:r>
            <a:r>
              <a:rPr lang="nl-NL" dirty="0" err="1"/>
              <a:t>people</a:t>
            </a:r>
            <a:r>
              <a:rPr lang="nl-NL" dirty="0"/>
              <a:t> gave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candidate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ultimatum. (2 </a:t>
            </a:r>
            <a:r>
              <a:rPr lang="nl-NL" dirty="0" err="1"/>
              <a:t>answers</a:t>
            </a:r>
            <a:r>
              <a:rPr lang="nl-NL" dirty="0"/>
              <a:t>!)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 dirty="0"/>
              <a:t>8.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measure</a:t>
            </a:r>
            <a:r>
              <a:rPr lang="nl-NL" dirty="0"/>
              <a:t> </a:t>
            </a:r>
            <a:r>
              <a:rPr lang="nl-NL" dirty="0" err="1"/>
              <a:t>could</a:t>
            </a:r>
            <a:r>
              <a:rPr lang="nl-NL" dirty="0"/>
              <a:t> save </a:t>
            </a:r>
            <a:r>
              <a:rPr lang="nl-NL" dirty="0" err="1"/>
              <a:t>the</a:t>
            </a:r>
            <a:r>
              <a:rPr lang="nl-NL" dirty="0"/>
              <a:t> company. </a:t>
            </a:r>
          </a:p>
          <a:p>
            <a:pPr marL="0" indent="0">
              <a:buNone/>
            </a:pPr>
            <a:r>
              <a:rPr lang="nl-NL" dirty="0"/>
              <a:t>____________________________________________________________________________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7895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5897-355E-D86E-C79E-8480D5CB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29768"/>
            <a:ext cx="12036056" cy="1371600"/>
          </a:xfrm>
        </p:spPr>
        <p:txBody>
          <a:bodyPr/>
          <a:lstStyle/>
          <a:p>
            <a:r>
              <a:rPr lang="nl-NL" dirty="0" err="1"/>
              <a:t>Answer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: </a:t>
            </a:r>
            <a:r>
              <a:rPr lang="nl-NL" dirty="0" err="1"/>
              <a:t>pay</a:t>
            </a:r>
            <a:r>
              <a:rPr lang="nl-NL" dirty="0"/>
              <a:t> attention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verb</a:t>
            </a:r>
            <a:r>
              <a:rPr lang="nl-NL" dirty="0"/>
              <a:t> </a:t>
            </a:r>
            <a:r>
              <a:rPr lang="nl-NL" dirty="0" err="1"/>
              <a:t>tense</a:t>
            </a:r>
            <a:r>
              <a:rPr lang="nl-NL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B9D6-54A3-73D6-C8D8-D2EDBB05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934062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5. The </a:t>
            </a:r>
            <a:r>
              <a:rPr lang="nl-NL" dirty="0" err="1"/>
              <a:t>police</a:t>
            </a:r>
            <a:r>
              <a:rPr lang="nl-NL" dirty="0"/>
              <a:t> are </a:t>
            </a:r>
            <a:r>
              <a:rPr lang="nl-NL" dirty="0" err="1"/>
              <a:t>investigating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matter. </a:t>
            </a:r>
          </a:p>
          <a:p>
            <a:pPr marL="0" indent="0">
              <a:buNone/>
            </a:pPr>
            <a:r>
              <a:rPr lang="nl-NL" b="1" dirty="0"/>
              <a:t>The matter is </a:t>
            </a:r>
            <a:r>
              <a:rPr lang="nl-NL" b="1" dirty="0" err="1"/>
              <a:t>being</a:t>
            </a:r>
            <a:r>
              <a:rPr lang="nl-NL" b="1" dirty="0"/>
              <a:t> </a:t>
            </a:r>
            <a:r>
              <a:rPr lang="nl-NL" b="1" dirty="0" err="1"/>
              <a:t>investigated</a:t>
            </a:r>
            <a:r>
              <a:rPr lang="nl-NL" b="1" dirty="0"/>
              <a:t> </a:t>
            </a:r>
            <a:r>
              <a:rPr lang="nl-NL" b="1" dirty="0" err="1"/>
              <a:t>by</a:t>
            </a:r>
            <a:r>
              <a:rPr lang="nl-NL" b="1" dirty="0"/>
              <a:t> </a:t>
            </a:r>
            <a:r>
              <a:rPr lang="nl-NL" b="1" dirty="0" err="1"/>
              <a:t>the</a:t>
            </a:r>
            <a:r>
              <a:rPr lang="nl-NL" b="1" dirty="0"/>
              <a:t> </a:t>
            </a:r>
            <a:r>
              <a:rPr lang="nl-NL" b="1" dirty="0" err="1"/>
              <a:t>police</a:t>
            </a:r>
            <a:r>
              <a:rPr lang="nl-NL" b="1" dirty="0"/>
              <a:t>.</a:t>
            </a:r>
          </a:p>
          <a:p>
            <a:pPr marL="0" indent="0">
              <a:buNone/>
            </a:pPr>
            <a:r>
              <a:rPr lang="nl-NL" dirty="0"/>
              <a:t>6. </a:t>
            </a:r>
            <a:r>
              <a:rPr lang="nl-NL" dirty="0" err="1"/>
              <a:t>They</a:t>
            </a:r>
            <a:r>
              <a:rPr lang="nl-NL" dirty="0"/>
              <a:t> have </a:t>
            </a:r>
            <a:r>
              <a:rPr lang="nl-NL" dirty="0" err="1"/>
              <a:t>cleaned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room. </a:t>
            </a:r>
          </a:p>
          <a:p>
            <a:pPr marL="0" indent="0">
              <a:buNone/>
            </a:pPr>
            <a:r>
              <a:rPr lang="nl-NL" b="1" dirty="0"/>
              <a:t>The room has been </a:t>
            </a:r>
            <a:r>
              <a:rPr lang="nl-NL" b="1" dirty="0" err="1"/>
              <a:t>cleaned</a:t>
            </a:r>
            <a:r>
              <a:rPr lang="nl-NL" b="1" dirty="0"/>
              <a:t>. </a:t>
            </a:r>
          </a:p>
          <a:p>
            <a:pPr marL="0" indent="0">
              <a:buNone/>
            </a:pPr>
            <a:r>
              <a:rPr lang="nl-NL" dirty="0"/>
              <a:t>7. The </a:t>
            </a:r>
            <a:r>
              <a:rPr lang="nl-NL" dirty="0" err="1"/>
              <a:t>people</a:t>
            </a:r>
            <a:r>
              <a:rPr lang="nl-NL" dirty="0"/>
              <a:t> gave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candidate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ultimatum. (2 </a:t>
            </a:r>
            <a:r>
              <a:rPr lang="nl-NL" dirty="0" err="1"/>
              <a:t>answers</a:t>
            </a:r>
            <a:r>
              <a:rPr lang="nl-NL" dirty="0"/>
              <a:t>!)</a:t>
            </a:r>
          </a:p>
          <a:p>
            <a:pPr marL="0" indent="0">
              <a:buNone/>
            </a:pPr>
            <a:r>
              <a:rPr lang="nl-NL" b="1" dirty="0"/>
              <a:t>The </a:t>
            </a:r>
            <a:r>
              <a:rPr lang="nl-NL" b="1" dirty="0" err="1"/>
              <a:t>candidate</a:t>
            </a:r>
            <a:r>
              <a:rPr lang="nl-NL" b="1" dirty="0"/>
              <a:t> was </a:t>
            </a:r>
            <a:r>
              <a:rPr lang="nl-NL" b="1" dirty="0" err="1"/>
              <a:t>given</a:t>
            </a:r>
            <a:r>
              <a:rPr lang="nl-NL" b="1" dirty="0"/>
              <a:t> </a:t>
            </a:r>
            <a:r>
              <a:rPr lang="nl-NL" b="1" dirty="0" err="1"/>
              <a:t>an</a:t>
            </a:r>
            <a:r>
              <a:rPr lang="nl-NL" b="1" dirty="0"/>
              <a:t> ultimatum.</a:t>
            </a:r>
          </a:p>
          <a:p>
            <a:pPr marL="0" indent="0">
              <a:buNone/>
            </a:pPr>
            <a:r>
              <a:rPr lang="nl-NL" b="1" dirty="0"/>
              <a:t>An ultimatum was </a:t>
            </a:r>
            <a:r>
              <a:rPr lang="nl-NL" b="1" dirty="0" err="1"/>
              <a:t>given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</a:t>
            </a:r>
            <a:r>
              <a:rPr lang="nl-NL" b="1" dirty="0" err="1"/>
              <a:t>the</a:t>
            </a:r>
            <a:r>
              <a:rPr lang="nl-NL" b="1" dirty="0"/>
              <a:t> </a:t>
            </a:r>
            <a:r>
              <a:rPr lang="nl-NL" b="1" dirty="0" err="1"/>
              <a:t>candidate</a:t>
            </a:r>
            <a:r>
              <a:rPr lang="nl-NL" b="1" dirty="0"/>
              <a:t>.</a:t>
            </a:r>
          </a:p>
          <a:p>
            <a:pPr marL="0" indent="0">
              <a:buNone/>
            </a:pPr>
            <a:r>
              <a:rPr lang="nl-NL" dirty="0"/>
              <a:t>8.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measure</a:t>
            </a:r>
            <a:r>
              <a:rPr lang="nl-NL" dirty="0"/>
              <a:t> </a:t>
            </a:r>
            <a:r>
              <a:rPr lang="nl-NL" dirty="0" err="1"/>
              <a:t>could</a:t>
            </a:r>
            <a:r>
              <a:rPr lang="nl-NL" dirty="0"/>
              <a:t> save </a:t>
            </a:r>
            <a:r>
              <a:rPr lang="nl-NL" dirty="0" err="1"/>
              <a:t>the</a:t>
            </a:r>
            <a:r>
              <a:rPr lang="nl-NL" dirty="0"/>
              <a:t> company. </a:t>
            </a:r>
          </a:p>
          <a:p>
            <a:pPr marL="0" indent="0">
              <a:buNone/>
            </a:pPr>
            <a:r>
              <a:rPr lang="nl-NL" b="1" dirty="0"/>
              <a:t>The company </a:t>
            </a:r>
            <a:r>
              <a:rPr lang="nl-NL" b="1" dirty="0" err="1"/>
              <a:t>could</a:t>
            </a:r>
            <a:r>
              <a:rPr lang="nl-NL" b="1" dirty="0"/>
              <a:t> </a:t>
            </a:r>
            <a:r>
              <a:rPr lang="nl-NL" b="1" dirty="0" err="1"/>
              <a:t>be</a:t>
            </a:r>
            <a:r>
              <a:rPr lang="nl-NL" b="1" dirty="0"/>
              <a:t> </a:t>
            </a:r>
            <a:r>
              <a:rPr lang="nl-NL" b="1" dirty="0" err="1"/>
              <a:t>saved</a:t>
            </a:r>
            <a:r>
              <a:rPr lang="nl-NL" b="1" dirty="0"/>
              <a:t> </a:t>
            </a:r>
            <a:r>
              <a:rPr lang="nl-NL" b="1" dirty="0" err="1"/>
              <a:t>by</a:t>
            </a:r>
            <a:r>
              <a:rPr lang="nl-NL" b="1" dirty="0"/>
              <a:t> </a:t>
            </a:r>
            <a:r>
              <a:rPr lang="nl-NL" b="1" dirty="0" err="1"/>
              <a:t>this</a:t>
            </a:r>
            <a:r>
              <a:rPr lang="nl-NL" b="1" dirty="0"/>
              <a:t> </a:t>
            </a:r>
            <a:r>
              <a:rPr lang="nl-NL" b="1" dirty="0" err="1"/>
              <a:t>measure</a:t>
            </a:r>
            <a:r>
              <a:rPr lang="nl-NL" b="1" dirty="0"/>
              <a:t>.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4065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F4C1-1F58-E622-E813-F41E21B8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AD1029A1-0405-DB7D-9AB5-795A1A40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When to use Adverbs VS Adjectives  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6AA6604C-C806-941F-84FC-EDDBC7FB8ADB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35239237"/>
              </p:ext>
            </p:extLst>
          </p:nvPr>
        </p:nvGraphicFramePr>
        <p:xfrm>
          <a:off x="566928" y="1502863"/>
          <a:ext cx="10762488" cy="243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872976787"/>
                    </a:ext>
                  </a:extLst>
                </a:gridCol>
              </a:tblGrid>
              <a:tr h="353369">
                <a:tc>
                  <a:txBody>
                    <a:bodyPr/>
                    <a:lstStyle/>
                    <a:p>
                      <a:r>
                        <a:rPr lang="en-US" sz="2000" dirty="0"/>
                        <a:t>Sentence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What’s the kind of question that this sentence answers?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He did it </a:t>
                      </a:r>
                      <a:r>
                        <a:rPr lang="en-US" sz="2000" i="1" dirty="0"/>
                        <a:t>perfectly</a:t>
                      </a:r>
                      <a:r>
                        <a:rPr lang="en-US" sz="2000" i="1" baseline="0" dirty="0"/>
                        <a:t> </a:t>
                      </a:r>
                    </a:p>
                    <a:p>
                      <a:r>
                        <a:rPr lang="en-US" sz="2000" i="0" dirty="0"/>
                        <a:t>The painted the chair </a:t>
                      </a:r>
                      <a:r>
                        <a:rPr lang="en-US" sz="2000" i="1" dirty="0"/>
                        <a:t>carefully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They littered </a:t>
                      </a:r>
                      <a:r>
                        <a:rPr lang="en-US" sz="2000" i="1" dirty="0"/>
                        <a:t>everywhere</a:t>
                      </a:r>
                    </a:p>
                    <a:p>
                      <a:r>
                        <a:rPr lang="en-US" sz="2000" i="0" dirty="0"/>
                        <a:t>You can put that </a:t>
                      </a:r>
                      <a:r>
                        <a:rPr lang="en-US" sz="2000" i="1" dirty="0"/>
                        <a:t>here</a:t>
                      </a:r>
                      <a:endParaRPr lang="en-US" sz="2000" i="0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641951318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We saw that </a:t>
                      </a:r>
                      <a:r>
                        <a:rPr lang="en-US" sz="2000" i="1" dirty="0"/>
                        <a:t>yesterday</a:t>
                      </a:r>
                      <a:br>
                        <a:rPr lang="en-US" sz="2000" i="1" dirty="0"/>
                      </a:br>
                      <a:r>
                        <a:rPr lang="en-US" sz="2000" i="0" dirty="0"/>
                        <a:t>We </a:t>
                      </a:r>
                      <a:r>
                        <a:rPr lang="en-US" sz="2000" i="1" dirty="0"/>
                        <a:t>never </a:t>
                      </a:r>
                      <a:r>
                        <a:rPr lang="en-US" sz="2000" i="0" dirty="0"/>
                        <a:t>liked him anyway</a:t>
                      </a:r>
                      <a:endParaRPr lang="en-US" sz="2000" i="1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801272667"/>
                  </a:ext>
                </a:extLst>
              </a:tr>
            </a:tbl>
          </a:graphicData>
        </a:graphic>
      </p:graphicFrame>
      <p:graphicFrame>
        <p:nvGraphicFramePr>
          <p:cNvPr id="5" name="Table Placeholder 3">
            <a:extLst>
              <a:ext uri="{FF2B5EF4-FFF2-40B4-BE49-F238E27FC236}">
                <a16:creationId xmlns:a16="http://schemas.microsoft.com/office/drawing/2014/main" id="{2BA35094-A53C-1D2C-C63F-C7BA95FCA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563219"/>
              </p:ext>
            </p:extLst>
          </p:nvPr>
        </p:nvGraphicFramePr>
        <p:xfrm>
          <a:off x="566928" y="4499047"/>
          <a:ext cx="10762488" cy="1106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872976787"/>
                    </a:ext>
                  </a:extLst>
                </a:gridCol>
              </a:tblGrid>
              <a:tr h="420425">
                <a:tc>
                  <a:txBody>
                    <a:bodyPr/>
                    <a:lstStyle/>
                    <a:p>
                      <a:r>
                        <a:rPr lang="en-US" sz="2000" dirty="0"/>
                        <a:t>Sentence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What’s the kind of question that this sentence answers?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baseline="0" dirty="0"/>
                        <a:t>She is a very </a:t>
                      </a:r>
                      <a:r>
                        <a:rPr lang="en-US" sz="2000" i="1" baseline="0" dirty="0"/>
                        <a:t>precise</a:t>
                      </a:r>
                      <a:r>
                        <a:rPr lang="en-US" sz="2000" i="0" baseline="0" dirty="0"/>
                        <a:t> writer</a:t>
                      </a:r>
                    </a:p>
                    <a:p>
                      <a:r>
                        <a:rPr lang="en-US" sz="2000" i="0" baseline="0" dirty="0"/>
                        <a:t>It’s the </a:t>
                      </a:r>
                      <a:r>
                        <a:rPr lang="en-US" sz="2000" i="1" baseline="0" dirty="0"/>
                        <a:t>wrong</a:t>
                      </a:r>
                      <a:r>
                        <a:rPr lang="en-US" sz="2000" i="0" baseline="0" dirty="0"/>
                        <a:t> car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48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When to use Adverbs VS Adjectives  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5466825"/>
              </p:ext>
            </p:extLst>
          </p:nvPr>
        </p:nvGraphicFramePr>
        <p:xfrm>
          <a:off x="566928" y="1502863"/>
          <a:ext cx="10762488" cy="243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872976787"/>
                    </a:ext>
                  </a:extLst>
                </a:gridCol>
              </a:tblGrid>
              <a:tr h="353369">
                <a:tc>
                  <a:txBody>
                    <a:bodyPr/>
                    <a:lstStyle/>
                    <a:p>
                      <a:r>
                        <a:rPr lang="en-US" sz="2000" dirty="0"/>
                        <a:t>Sentence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What’s the kind of question that this sentence answers?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He did it </a:t>
                      </a:r>
                      <a:r>
                        <a:rPr lang="en-US" sz="2000" i="1" dirty="0"/>
                        <a:t>perfectly</a:t>
                      </a:r>
                      <a:r>
                        <a:rPr lang="en-US" sz="2000" i="1" baseline="0" dirty="0"/>
                        <a:t> </a:t>
                      </a:r>
                    </a:p>
                    <a:p>
                      <a:r>
                        <a:rPr lang="en-US" sz="2000" i="0" dirty="0"/>
                        <a:t>The painted the chair </a:t>
                      </a:r>
                      <a:r>
                        <a:rPr lang="en-US" sz="2000" i="1" dirty="0"/>
                        <a:t>carefully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</a:t>
                      </a:r>
                      <a:r>
                        <a:rPr lang="en-US" sz="2000" baseline="0" dirty="0"/>
                        <a:t> …</a:t>
                      </a:r>
                      <a:r>
                        <a:rPr lang="en-US" sz="2000" dirty="0"/>
                        <a:t>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They littered </a:t>
                      </a:r>
                      <a:r>
                        <a:rPr lang="en-US" sz="2000" i="1" dirty="0"/>
                        <a:t>everywhere</a:t>
                      </a:r>
                    </a:p>
                    <a:p>
                      <a:r>
                        <a:rPr lang="en-US" sz="2000" i="0" dirty="0"/>
                        <a:t>You can put that </a:t>
                      </a:r>
                      <a:r>
                        <a:rPr lang="en-US" sz="2000" i="1" dirty="0"/>
                        <a:t>here</a:t>
                      </a:r>
                      <a:endParaRPr lang="en-US" sz="2000" i="0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Where …?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641951318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dirty="0"/>
                        <a:t>We saw that </a:t>
                      </a:r>
                      <a:r>
                        <a:rPr lang="en-US" sz="2000" i="1" dirty="0"/>
                        <a:t>yesterday</a:t>
                      </a:r>
                      <a:br>
                        <a:rPr lang="en-US" sz="2000" i="1" dirty="0"/>
                      </a:br>
                      <a:r>
                        <a:rPr lang="en-US" sz="2000" i="0" dirty="0"/>
                        <a:t>We </a:t>
                      </a:r>
                      <a:r>
                        <a:rPr lang="en-US" sz="2000" i="1" dirty="0"/>
                        <a:t>never </a:t>
                      </a:r>
                      <a:r>
                        <a:rPr lang="en-US" sz="2000" i="0" dirty="0"/>
                        <a:t>liked him anyway</a:t>
                      </a:r>
                      <a:endParaRPr lang="en-US" sz="2000" i="1" dirty="0"/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When …?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801272667"/>
                  </a:ext>
                </a:extLst>
              </a:tr>
            </a:tbl>
          </a:graphicData>
        </a:graphic>
      </p:graphicFrame>
      <p:graphicFrame>
        <p:nvGraphicFramePr>
          <p:cNvPr id="5" name="Table Placeholder 3">
            <a:extLst>
              <a:ext uri="{FF2B5EF4-FFF2-40B4-BE49-F238E27FC236}">
                <a16:creationId xmlns:a16="http://schemas.microsoft.com/office/drawing/2014/main" id="{5C335C71-A127-E4DC-C77F-EA4279694F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9678250"/>
              </p:ext>
            </p:extLst>
          </p:nvPr>
        </p:nvGraphicFramePr>
        <p:xfrm>
          <a:off x="566928" y="4499047"/>
          <a:ext cx="10762488" cy="1106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7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5080">
                  <a:extLst>
                    <a:ext uri="{9D8B030D-6E8A-4147-A177-3AD203B41FA5}">
                      <a16:colId xmlns:a16="http://schemas.microsoft.com/office/drawing/2014/main" val="872976787"/>
                    </a:ext>
                  </a:extLst>
                </a:gridCol>
              </a:tblGrid>
              <a:tr h="420425">
                <a:tc>
                  <a:txBody>
                    <a:bodyPr/>
                    <a:lstStyle/>
                    <a:p>
                      <a:r>
                        <a:rPr lang="en-US" sz="2000" dirty="0"/>
                        <a:t>Sentence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What’s the kind of question that this sentence answers?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i="0" baseline="0" dirty="0"/>
                        <a:t>She is a very </a:t>
                      </a:r>
                      <a:r>
                        <a:rPr lang="en-US" sz="2000" i="1" baseline="0" dirty="0"/>
                        <a:t>precise</a:t>
                      </a:r>
                      <a:r>
                        <a:rPr lang="en-US" sz="2000" i="0" baseline="0" dirty="0"/>
                        <a:t> writer</a:t>
                      </a:r>
                    </a:p>
                    <a:p>
                      <a:r>
                        <a:rPr lang="en-US" sz="2000" i="0" baseline="0" dirty="0"/>
                        <a:t>It’s the </a:t>
                      </a:r>
                      <a:r>
                        <a:rPr lang="en-US" sz="2000" i="1" baseline="0" dirty="0"/>
                        <a:t>wrong</a:t>
                      </a:r>
                      <a:r>
                        <a:rPr lang="en-US" sz="2000" i="0" baseline="0" dirty="0"/>
                        <a:t> car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type / What kind of?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2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FFE7C-8043-E177-FB18-9822F821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rule &amp; the exception to the rule</a:t>
            </a:r>
            <a:endParaRPr lang="en-NL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9CF9FB-4485-C7C9-3AA2-D72E4109E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71622"/>
            <a:ext cx="11103864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She spoke __________ (calm/calmly) to the children.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soup tastes __________ (delicious/deliciously).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worked __________ (hard/hardly) all day.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 is a very __________ (careful/carefully) driver.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dog barked __________ (angry/angrily) at the stranger.</a:t>
            </a:r>
            <a:endParaRPr kumimoji="0" lang="en-GB" altLang="en-N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GB" sz="2800" dirty="0"/>
              <a:t>The weather feels __________ (cold/coldly) this morning.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GB" sz="2800" dirty="0"/>
              <a:t>She looked __________ (happy/happily) when she saw the present.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GB" sz="2800" dirty="0"/>
              <a:t>He drives __________ (safe/safely) even on icy roads.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GB" sz="2800" dirty="0"/>
              <a:t>The cake smells __________ (good/well) right now.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GB" sz="2800" dirty="0"/>
              <a:t>They arrived __________ (late/lately) to the meeting.</a:t>
            </a:r>
          </a:p>
        </p:txBody>
      </p:sp>
    </p:spTree>
    <p:extLst>
      <p:ext uri="{BB962C8B-B14F-4D97-AF65-F5344CB8AC3E}">
        <p14:creationId xmlns:p14="http://schemas.microsoft.com/office/powerpoint/2010/main" val="233753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EA6A2-6D7F-6A12-1E28-387385E2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 Key</a:t>
            </a:r>
            <a:endParaRPr lang="en-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9F0A06-C921-A252-7F54-1930CD13E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256" y="1629116"/>
            <a:ext cx="11058144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calmly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she spoke → adverb.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delicious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“tastes” is a linking verb → adjective.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worked → adverb (irregular form, no -</a:t>
            </a:r>
            <a:r>
              <a:rPr kumimoji="0" lang="en-NL" altLang="en-N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ly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careful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kind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driver → adjective.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angrily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dog barked → adverb.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“feels” is a linking verb → adjective.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“looked” here means “appeared” → adjective.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safely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 drives → adverb.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“smells” is a linking verb → adjective. (“well” would mean healthy)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describes </a:t>
            </a:r>
            <a:r>
              <a:rPr kumimoji="0" lang="en-NL" altLang="en-N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n-NL" altLang="en-N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they arrived → adverb (“lately” = recently, over a period).</a:t>
            </a:r>
          </a:p>
        </p:txBody>
      </p:sp>
    </p:spTree>
    <p:extLst>
      <p:ext uri="{BB962C8B-B14F-4D97-AF65-F5344CB8AC3E}">
        <p14:creationId xmlns:p14="http://schemas.microsoft.com/office/powerpoint/2010/main" val="59562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E3294-12A7-5A8F-DC1B-97529F59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12" y="402654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Common exception: </a:t>
            </a:r>
            <a:br>
              <a:rPr lang="en-GB" dirty="0"/>
            </a:br>
            <a:r>
              <a:rPr lang="en-GB" dirty="0"/>
              <a:t>‘to be’ and similar verbs</a:t>
            </a:r>
            <a:endParaRPr lang="en-NL" dirty="0"/>
          </a:p>
        </p:txBody>
      </p:sp>
      <p:sp>
        <p:nvSpPr>
          <p:cNvPr id="3" name="Tijdelijke aanduiding voor tabel 2">
            <a:extLst>
              <a:ext uri="{FF2B5EF4-FFF2-40B4-BE49-F238E27FC236}">
                <a16:creationId xmlns:a16="http://schemas.microsoft.com/office/drawing/2014/main" id="{E291A72A-A529-A1BF-E921-41E19C16D516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23544" y="2171721"/>
            <a:ext cx="9680448" cy="413732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They seem (tired/tiredly) after the hike.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You look (nervous/nervously) before the exam.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This soup smells (amazing/amazingly).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bread tastes (fresh/freshly).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His hands feel (warm/warmly).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 am (hungry/hungrily) after work.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children are (quiet/quietly) now.</a:t>
            </a:r>
          </a:p>
        </p:txBody>
      </p:sp>
    </p:spTree>
    <p:extLst>
      <p:ext uri="{BB962C8B-B14F-4D97-AF65-F5344CB8AC3E}">
        <p14:creationId xmlns:p14="http://schemas.microsoft.com/office/powerpoint/2010/main" val="64760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557E-96A8-DA53-481E-2646C85C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86605"/>
            <a:ext cx="8366760" cy="1450757"/>
          </a:xfrm>
        </p:spPr>
        <p:txBody>
          <a:bodyPr/>
          <a:lstStyle/>
          <a:p>
            <a:r>
              <a:rPr lang="en-GB"/>
              <a:t>Exercises:</a:t>
            </a:r>
            <a:r>
              <a:rPr lang="en-GB" b="1"/>
              <a:t> comparatives </a:t>
            </a:r>
            <a:r>
              <a:rPr lang="en-GB" sz="2000"/>
              <a:t>(see handout)</a:t>
            </a:r>
            <a:br>
              <a:rPr lang="en-GB"/>
            </a:br>
            <a:r>
              <a:rPr lang="en-GB"/>
              <a:t>Fill in the correct form…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3793-2604-01A7-321C-24F1ED27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45734"/>
            <a:ext cx="11036807" cy="5012266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She was ___________ (pretty) girl of all, at the party last night.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Pretty?? Try </a:t>
            </a:r>
            <a:r>
              <a:rPr lang="en-GB" i="1" dirty="0"/>
              <a:t>gorgeous</a:t>
            </a:r>
            <a:r>
              <a:rPr lang="en-GB" dirty="0"/>
              <a:t>! She was ___________ (gorgeous) one there.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Anyway, I think it was probably ___________ (good) party I’ve even been to.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Hmm, I disagree. My brother’s recent birthday party was ___________ (good) and simply ___________ (fun) than last night’s party.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But didn’t you think the band played ___________ (beautiful)?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Yes, they played far ___________ (</a:t>
            </a:r>
            <a:r>
              <a:rPr lang="en-GB" dirty="0" err="1"/>
              <a:t>skillful</a:t>
            </a:r>
            <a:r>
              <a:rPr lang="en-GB" dirty="0"/>
              <a:t>) than the typical “party band”.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They played their songs ___________ (fast) than most bands would dare to.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Contrast that with last week, when I heard just about ___________ (bad) band I’d ever heard in my life. I left after only four songs.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5707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557E-96A8-DA53-481E-2646C85C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86605"/>
            <a:ext cx="8366760" cy="1450757"/>
          </a:xfrm>
        </p:spPr>
        <p:txBody>
          <a:bodyPr/>
          <a:lstStyle/>
          <a:p>
            <a:r>
              <a:rPr lang="en-GB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3793-2604-01A7-321C-24F1ED27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057" y="1559129"/>
            <a:ext cx="10299191" cy="501226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She was </a:t>
            </a:r>
            <a:r>
              <a:rPr lang="en-GB" b="1" dirty="0"/>
              <a:t>the prettiest</a:t>
            </a:r>
            <a:r>
              <a:rPr lang="en-GB" dirty="0"/>
              <a:t> (pretty) girl of all, at the party last night.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Pretty?? Try </a:t>
            </a:r>
            <a:r>
              <a:rPr lang="en-GB" i="1" dirty="0"/>
              <a:t>gorgeous</a:t>
            </a:r>
            <a:r>
              <a:rPr lang="en-GB" dirty="0"/>
              <a:t>! She was </a:t>
            </a:r>
            <a:r>
              <a:rPr lang="en-GB" b="1" dirty="0"/>
              <a:t>the most gorgeous</a:t>
            </a:r>
            <a:r>
              <a:rPr lang="en-GB" dirty="0"/>
              <a:t> (gorgeous) one there.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Anyway, I think it was probably </a:t>
            </a:r>
            <a:r>
              <a:rPr lang="en-GB" b="1" dirty="0"/>
              <a:t>the best</a:t>
            </a:r>
            <a:r>
              <a:rPr lang="en-GB" dirty="0"/>
              <a:t> (good) party I’ve even been to.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Hmm, I disagree. My brother’s recent birthday party was </a:t>
            </a:r>
            <a:r>
              <a:rPr lang="en-GB" b="1" dirty="0"/>
              <a:t>better</a:t>
            </a:r>
            <a:r>
              <a:rPr lang="en-GB" dirty="0"/>
              <a:t> (good) and simply </a:t>
            </a:r>
            <a:r>
              <a:rPr lang="en-GB" b="1" dirty="0"/>
              <a:t>more fun</a:t>
            </a:r>
            <a:r>
              <a:rPr lang="en-GB" dirty="0"/>
              <a:t> (fun) than last night’s party.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But didn’t you think the band played </a:t>
            </a:r>
            <a:r>
              <a:rPr lang="en-GB" b="1" dirty="0"/>
              <a:t>beautifully</a:t>
            </a:r>
            <a:r>
              <a:rPr lang="en-GB" dirty="0"/>
              <a:t> (beautiful)?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Yes, they played far </a:t>
            </a:r>
            <a:r>
              <a:rPr lang="en-GB" b="1" dirty="0"/>
              <a:t>more </a:t>
            </a:r>
            <a:r>
              <a:rPr lang="en-GB" b="1" dirty="0" err="1"/>
              <a:t>skillfully</a:t>
            </a:r>
            <a:r>
              <a:rPr lang="en-GB" dirty="0"/>
              <a:t> (</a:t>
            </a:r>
            <a:r>
              <a:rPr lang="en-GB" dirty="0" err="1"/>
              <a:t>skillful</a:t>
            </a:r>
            <a:r>
              <a:rPr lang="en-GB" dirty="0"/>
              <a:t>) than the typical “party band”.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They played their songs </a:t>
            </a:r>
            <a:r>
              <a:rPr lang="en-GB" b="1" dirty="0"/>
              <a:t>faster</a:t>
            </a:r>
            <a:r>
              <a:rPr lang="en-GB" dirty="0"/>
              <a:t> (fast) than most bands would dare to.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Contrast that with last week, when I heard just about</a:t>
            </a:r>
            <a:r>
              <a:rPr lang="en-GB" b="1" dirty="0"/>
              <a:t> the worst</a:t>
            </a:r>
            <a:r>
              <a:rPr lang="en-GB" dirty="0"/>
              <a:t> (bad) band I’d ever heard in my life. I left after only four songs.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64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1228</Words>
  <Application>Microsoft Office PowerPoint</Application>
  <PresentationFormat>Breedbeeld</PresentationFormat>
  <Paragraphs>138</Paragraphs>
  <Slides>14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Grammar &amp; Basics</vt:lpstr>
      <vt:lpstr>Put the two adverbials in the right order</vt:lpstr>
      <vt:lpstr>Answer key</vt:lpstr>
      <vt:lpstr>Change the active sentences to passive</vt:lpstr>
      <vt:lpstr>Answer key: pay attention to the verb tense!</vt:lpstr>
      <vt:lpstr>Change the active sentences to passive</vt:lpstr>
      <vt:lpstr>Answer key: pay attention to the verb tense!</vt:lpstr>
      <vt:lpstr>When to use Adverbs VS Adjectives  </vt:lpstr>
      <vt:lpstr>When to use Adverbs VS Adjectives  </vt:lpstr>
      <vt:lpstr>The rule &amp; the exception to the rule</vt:lpstr>
      <vt:lpstr>Answer Key</vt:lpstr>
      <vt:lpstr>Common exception:  ‘to be’ and similar verbs</vt:lpstr>
      <vt:lpstr>Exercises: comparatives (see handout) Fill in the correct form…</vt:lpstr>
      <vt:lpstr>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 &amp; Basics</dc:title>
  <dc:creator>Fatima Kajouj</dc:creator>
  <cp:lastModifiedBy>Freek Metsch</cp:lastModifiedBy>
  <cp:revision>1</cp:revision>
  <cp:lastPrinted>2024-09-25T09:41:19Z</cp:lastPrinted>
  <dcterms:created xsi:type="dcterms:W3CDTF">2023-08-28T13:18:06Z</dcterms:created>
  <dcterms:modified xsi:type="dcterms:W3CDTF">2026-03-02T08:26:20Z</dcterms:modified>
</cp:coreProperties>
</file>
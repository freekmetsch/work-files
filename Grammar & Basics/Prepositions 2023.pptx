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8"/>
  </p:notesMasterIdLst>
  <p:sldIdLst>
    <p:sldId id="256" r:id="rId2"/>
    <p:sldId id="335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53" r:id="rId16"/>
    <p:sldId id="35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21EC2-A899-4445-B33A-B766BBF8514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AABB26-25A2-48A4-BD7C-1FE91B8B2424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/>
            <a:t>Off or of?</a:t>
          </a:r>
          <a:endParaRPr lang="en-US"/>
        </a:p>
      </dgm:t>
    </dgm:pt>
    <dgm:pt modelId="{1EF2F2F0-80E3-4A54-ADD8-CD84F333B598}" type="parTrans" cxnId="{7E3736E7-1D32-4946-A2A3-8C8CF8CE4754}">
      <dgm:prSet/>
      <dgm:spPr/>
      <dgm:t>
        <a:bodyPr/>
        <a:lstStyle/>
        <a:p>
          <a:endParaRPr lang="en-US"/>
        </a:p>
      </dgm:t>
    </dgm:pt>
    <dgm:pt modelId="{101A9461-0B55-4C7D-A367-D6FE406A8562}" type="sibTrans" cxnId="{7E3736E7-1D32-4946-A2A3-8C8CF8CE4754}">
      <dgm:prSet/>
      <dgm:spPr/>
      <dgm:t>
        <a:bodyPr/>
        <a:lstStyle/>
        <a:p>
          <a:endParaRPr lang="en-US"/>
        </a:p>
      </dgm:t>
    </dgm:pt>
    <dgm:pt modelId="{32119DBF-BAAA-4F7A-84D0-3703B1E39D00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="1" baseline="0" dirty="0">
              <a:solidFill>
                <a:srgbClr val="FFC000"/>
              </a:solidFill>
            </a:rPr>
            <a:t>Off</a:t>
          </a:r>
          <a:r>
            <a:rPr lang="nl-NL" baseline="0" dirty="0"/>
            <a:t> is </a:t>
          </a:r>
          <a:r>
            <a:rPr lang="nl-NL" baseline="0" dirty="0" err="1"/>
            <a:t>the</a:t>
          </a:r>
          <a:r>
            <a:rPr lang="nl-NL" baseline="0" dirty="0"/>
            <a:t> </a:t>
          </a:r>
          <a:r>
            <a:rPr lang="nl-NL" baseline="0" dirty="0" err="1"/>
            <a:t>opposite</a:t>
          </a:r>
          <a:r>
            <a:rPr lang="nl-NL" baseline="0" dirty="0"/>
            <a:t> of </a:t>
          </a:r>
          <a:r>
            <a:rPr lang="nl-NL" b="1" baseline="0" dirty="0">
              <a:solidFill>
                <a:srgbClr val="FFC000"/>
              </a:solidFill>
            </a:rPr>
            <a:t>on</a:t>
          </a:r>
          <a:endParaRPr lang="en-US" dirty="0">
            <a:solidFill>
              <a:srgbClr val="FFC000"/>
            </a:solidFill>
          </a:endParaRPr>
        </a:p>
      </dgm:t>
    </dgm:pt>
    <dgm:pt modelId="{4994ECE3-988E-45A2-9176-674E7996DE39}" type="parTrans" cxnId="{C66CC240-05F5-42D5-88AF-E147EB22AF73}">
      <dgm:prSet/>
      <dgm:spPr/>
      <dgm:t>
        <a:bodyPr/>
        <a:lstStyle/>
        <a:p>
          <a:endParaRPr lang="en-US"/>
        </a:p>
      </dgm:t>
    </dgm:pt>
    <dgm:pt modelId="{AEFC8347-2089-4A08-ACDC-47956B05F025}" type="sibTrans" cxnId="{C66CC240-05F5-42D5-88AF-E147EB22AF73}">
      <dgm:prSet/>
      <dgm:spPr/>
      <dgm:t>
        <a:bodyPr/>
        <a:lstStyle/>
        <a:p>
          <a:endParaRPr lang="en-US"/>
        </a:p>
      </dgm:t>
    </dgm:pt>
    <dgm:pt modelId="{25BFDF09-152E-4CBC-80BF-D903D72580A1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/>
            <a:t>He </a:t>
          </a:r>
          <a:r>
            <a:rPr lang="nl-NL" baseline="0" dirty="0" err="1"/>
            <a:t>switched</a:t>
          </a:r>
          <a:r>
            <a:rPr lang="nl-NL" baseline="0" dirty="0"/>
            <a:t> </a:t>
          </a:r>
          <a:r>
            <a:rPr lang="nl-NL" baseline="0" dirty="0" err="1"/>
            <a:t>the</a:t>
          </a:r>
          <a:r>
            <a:rPr lang="nl-NL" baseline="0" dirty="0"/>
            <a:t> computer </a:t>
          </a:r>
          <a:r>
            <a:rPr lang="nl-NL" b="1" baseline="0" dirty="0">
              <a:solidFill>
                <a:srgbClr val="FFC000"/>
              </a:solidFill>
            </a:rPr>
            <a:t>off</a:t>
          </a:r>
          <a:r>
            <a:rPr lang="nl-NL" baseline="0" dirty="0"/>
            <a:t> </a:t>
          </a:r>
          <a:r>
            <a:rPr lang="nl-NL" baseline="0" dirty="0" err="1"/>
            <a:t>and</a:t>
          </a:r>
          <a:r>
            <a:rPr lang="nl-NL" baseline="0" dirty="0"/>
            <a:t> on </a:t>
          </a:r>
          <a:r>
            <a:rPr lang="nl-NL" baseline="0" dirty="0" err="1"/>
            <a:t>again</a:t>
          </a:r>
          <a:r>
            <a:rPr lang="nl-NL" baseline="0" dirty="0"/>
            <a:t>.</a:t>
          </a:r>
          <a:endParaRPr lang="en-US" dirty="0"/>
        </a:p>
      </dgm:t>
    </dgm:pt>
    <dgm:pt modelId="{A358F53A-EBBF-4B61-9055-FDAAB896D061}" type="parTrans" cxnId="{7154E289-4615-4BAB-8397-806B8213E23D}">
      <dgm:prSet/>
      <dgm:spPr/>
      <dgm:t>
        <a:bodyPr/>
        <a:lstStyle/>
        <a:p>
          <a:endParaRPr lang="en-US"/>
        </a:p>
      </dgm:t>
    </dgm:pt>
    <dgm:pt modelId="{8B521C08-C768-4AE1-BB38-CC565B43B6B2}" type="sibTrans" cxnId="{7154E289-4615-4BAB-8397-806B8213E23D}">
      <dgm:prSet/>
      <dgm:spPr/>
      <dgm:t>
        <a:bodyPr/>
        <a:lstStyle/>
        <a:p>
          <a:endParaRPr lang="en-US"/>
        </a:p>
      </dgm:t>
    </dgm:pt>
    <dgm:pt modelId="{1243EFAD-089A-41AD-A950-353A10F00B00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/>
            <a:t>The </a:t>
          </a:r>
          <a:r>
            <a:rPr lang="nl-NL" baseline="0" dirty="0" err="1"/>
            <a:t>book</a:t>
          </a:r>
          <a:r>
            <a:rPr lang="nl-NL" baseline="0" dirty="0"/>
            <a:t> was on </a:t>
          </a:r>
          <a:r>
            <a:rPr lang="nl-NL" baseline="0" dirty="0" err="1"/>
            <a:t>the</a:t>
          </a:r>
          <a:r>
            <a:rPr lang="nl-NL" baseline="0" dirty="0"/>
            <a:t> </a:t>
          </a:r>
          <a:r>
            <a:rPr lang="nl-NL" baseline="0" dirty="0" err="1"/>
            <a:t>table</a:t>
          </a:r>
          <a:r>
            <a:rPr lang="nl-NL" baseline="0" dirty="0"/>
            <a:t>, but </a:t>
          </a:r>
          <a:r>
            <a:rPr lang="nl-NL" baseline="0" dirty="0" err="1"/>
            <a:t>then</a:t>
          </a:r>
          <a:r>
            <a:rPr lang="nl-NL" baseline="0" dirty="0"/>
            <a:t> </a:t>
          </a:r>
          <a:r>
            <a:rPr lang="nl-NL" baseline="0" dirty="0" err="1"/>
            <a:t>it</a:t>
          </a:r>
          <a:r>
            <a:rPr lang="nl-NL" baseline="0" dirty="0"/>
            <a:t> </a:t>
          </a:r>
          <a:r>
            <a:rPr lang="nl-NL" baseline="0" dirty="0" err="1"/>
            <a:t>fell</a:t>
          </a:r>
          <a:r>
            <a:rPr lang="nl-NL" baseline="0" dirty="0"/>
            <a:t> </a:t>
          </a:r>
          <a:r>
            <a:rPr lang="nl-NL" b="1" baseline="0" dirty="0">
              <a:solidFill>
                <a:srgbClr val="FFC000"/>
              </a:solidFill>
            </a:rPr>
            <a:t>off</a:t>
          </a:r>
          <a:r>
            <a:rPr lang="nl-NL" baseline="0" dirty="0"/>
            <a:t>.</a:t>
          </a:r>
          <a:endParaRPr lang="en-US" dirty="0"/>
        </a:p>
      </dgm:t>
    </dgm:pt>
    <dgm:pt modelId="{C094354C-0F62-44E1-9C31-B79FF2B19503}" type="parTrans" cxnId="{AAF4DFA2-E7D1-49D3-9009-7F0104BC90A1}">
      <dgm:prSet/>
      <dgm:spPr/>
      <dgm:t>
        <a:bodyPr/>
        <a:lstStyle/>
        <a:p>
          <a:endParaRPr lang="en-US"/>
        </a:p>
      </dgm:t>
    </dgm:pt>
    <dgm:pt modelId="{5756B339-341C-4BCD-8075-C90527A72DB5}" type="sibTrans" cxnId="{AAF4DFA2-E7D1-49D3-9009-7F0104BC90A1}">
      <dgm:prSet/>
      <dgm:spPr/>
      <dgm:t>
        <a:bodyPr/>
        <a:lstStyle/>
        <a:p>
          <a:endParaRPr lang="en-US"/>
        </a:p>
      </dgm:t>
    </dgm:pt>
    <dgm:pt modelId="{44213021-7F16-4012-AA1D-68BF5E93F356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="1" baseline="0" dirty="0">
              <a:solidFill>
                <a:srgbClr val="FFC000"/>
              </a:solidFill>
            </a:rPr>
            <a:t>Of</a:t>
          </a:r>
          <a:r>
            <a:rPr lang="nl-NL" baseline="0" dirty="0"/>
            <a:t>  is </a:t>
          </a:r>
          <a:r>
            <a:rPr lang="nl-NL" baseline="0" dirty="0" err="1"/>
            <a:t>used</a:t>
          </a:r>
          <a:r>
            <a:rPr lang="nl-NL" baseline="0" dirty="0"/>
            <a:t> in </a:t>
          </a:r>
          <a:r>
            <a:rPr lang="nl-NL" baseline="0" dirty="0" err="1"/>
            <a:t>all</a:t>
          </a:r>
          <a:r>
            <a:rPr lang="nl-NL" baseline="0" dirty="0"/>
            <a:t> </a:t>
          </a:r>
          <a:r>
            <a:rPr lang="nl-NL" baseline="0" dirty="0" err="1"/>
            <a:t>other</a:t>
          </a:r>
          <a:r>
            <a:rPr lang="nl-NL" baseline="0" dirty="0"/>
            <a:t> cases (</a:t>
          </a:r>
          <a:r>
            <a:rPr lang="nl-NL" baseline="0" dirty="0" err="1"/>
            <a:t>usually</a:t>
          </a:r>
          <a:r>
            <a:rPr lang="nl-NL" baseline="0" dirty="0"/>
            <a:t> </a:t>
          </a:r>
          <a:r>
            <a:rPr lang="nl-NL" baseline="0" dirty="0" err="1"/>
            <a:t>translates</a:t>
          </a:r>
          <a:r>
            <a:rPr lang="nl-NL" baseline="0" dirty="0"/>
            <a:t> </a:t>
          </a:r>
          <a:r>
            <a:rPr lang="nl-NL" baseline="0" dirty="0" err="1"/>
            <a:t>to</a:t>
          </a:r>
          <a:r>
            <a:rPr lang="nl-NL" baseline="0" dirty="0"/>
            <a:t> Dutch ‘van’)</a:t>
          </a:r>
          <a:endParaRPr lang="en-US" dirty="0"/>
        </a:p>
      </dgm:t>
    </dgm:pt>
    <dgm:pt modelId="{C34E0E7E-D9FC-419F-BA56-D0EDD60462C1}" type="parTrans" cxnId="{FE15D9E0-F3AF-4B3E-B0D3-A7D71436D3B2}">
      <dgm:prSet/>
      <dgm:spPr/>
      <dgm:t>
        <a:bodyPr/>
        <a:lstStyle/>
        <a:p>
          <a:endParaRPr lang="en-US"/>
        </a:p>
      </dgm:t>
    </dgm:pt>
    <dgm:pt modelId="{55804607-658B-4444-97B3-618FFE194EDC}" type="sibTrans" cxnId="{FE15D9E0-F3AF-4B3E-B0D3-A7D71436D3B2}">
      <dgm:prSet/>
      <dgm:spPr/>
      <dgm:t>
        <a:bodyPr/>
        <a:lstStyle/>
        <a:p>
          <a:endParaRPr lang="en-US"/>
        </a:p>
      </dgm:t>
    </dgm:pt>
    <dgm:pt modelId="{BB6ED9B4-3875-434B-889F-1A05CFE591E8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/>
            <a:t>He is </a:t>
          </a:r>
          <a:r>
            <a:rPr lang="nl-NL" baseline="0" dirty="0" err="1"/>
            <a:t>the</a:t>
          </a:r>
          <a:r>
            <a:rPr lang="nl-NL" baseline="0" dirty="0"/>
            <a:t> </a:t>
          </a:r>
          <a:r>
            <a:rPr lang="nl-NL" baseline="0" dirty="0" err="1"/>
            <a:t>head</a:t>
          </a:r>
          <a:r>
            <a:rPr lang="nl-NL" baseline="0" dirty="0"/>
            <a:t> </a:t>
          </a:r>
          <a:r>
            <a:rPr lang="nl-NL" b="1" baseline="0" dirty="0">
              <a:solidFill>
                <a:srgbClr val="FFC000"/>
              </a:solidFill>
            </a:rPr>
            <a:t>of</a:t>
          </a:r>
          <a:r>
            <a:rPr lang="nl-NL" b="1" baseline="0" dirty="0"/>
            <a:t> </a:t>
          </a:r>
          <a:r>
            <a:rPr lang="nl-NL" baseline="0" dirty="0" err="1"/>
            <a:t>our</a:t>
          </a:r>
          <a:r>
            <a:rPr lang="nl-NL" baseline="0" dirty="0"/>
            <a:t> </a:t>
          </a:r>
          <a:r>
            <a:rPr lang="nl-NL" baseline="0" dirty="0" err="1"/>
            <a:t>department</a:t>
          </a:r>
          <a:endParaRPr lang="en-US" dirty="0"/>
        </a:p>
      </dgm:t>
    </dgm:pt>
    <dgm:pt modelId="{459ED307-46F1-40F0-A431-A92484364B5D}" type="parTrans" cxnId="{2E24B2CA-5851-4C37-997B-90E893EECB62}">
      <dgm:prSet/>
      <dgm:spPr/>
      <dgm:t>
        <a:bodyPr/>
        <a:lstStyle/>
        <a:p>
          <a:endParaRPr lang="en-US"/>
        </a:p>
      </dgm:t>
    </dgm:pt>
    <dgm:pt modelId="{EE215239-B3BA-4144-8EB3-B35201900A7A}" type="sibTrans" cxnId="{2E24B2CA-5851-4C37-997B-90E893EECB62}">
      <dgm:prSet/>
      <dgm:spPr/>
      <dgm:t>
        <a:bodyPr/>
        <a:lstStyle/>
        <a:p>
          <a:endParaRPr lang="en-US"/>
        </a:p>
      </dgm:t>
    </dgm:pt>
    <dgm:pt modelId="{D13BB027-E70C-49A7-AE33-9AE7D986311B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dirty="0" err="1"/>
            <a:t>She</a:t>
          </a:r>
          <a:r>
            <a:rPr lang="nl-NL" baseline="0" dirty="0"/>
            <a:t> </a:t>
          </a:r>
          <a:r>
            <a:rPr lang="nl-NL" baseline="0" dirty="0" err="1"/>
            <a:t>cried</a:t>
          </a:r>
          <a:r>
            <a:rPr lang="nl-NL" baseline="0" dirty="0"/>
            <a:t> </a:t>
          </a:r>
          <a:r>
            <a:rPr lang="nl-NL" baseline="0" dirty="0" err="1"/>
            <a:t>tears</a:t>
          </a:r>
          <a:r>
            <a:rPr lang="nl-NL" baseline="0" dirty="0"/>
            <a:t> </a:t>
          </a:r>
          <a:r>
            <a:rPr lang="nl-NL" b="1" baseline="0" dirty="0">
              <a:solidFill>
                <a:srgbClr val="FFC000"/>
              </a:solidFill>
            </a:rPr>
            <a:t>of</a:t>
          </a:r>
          <a:r>
            <a:rPr lang="nl-NL" baseline="0" dirty="0"/>
            <a:t> </a:t>
          </a:r>
          <a:r>
            <a:rPr lang="nl-NL" baseline="0" dirty="0" err="1"/>
            <a:t>happiness</a:t>
          </a:r>
          <a:r>
            <a:rPr lang="nl-NL" baseline="0" dirty="0"/>
            <a:t>.</a:t>
          </a:r>
          <a:endParaRPr lang="en-US" dirty="0"/>
        </a:p>
      </dgm:t>
    </dgm:pt>
    <dgm:pt modelId="{D50A3449-281F-4296-96AF-D0F4CD569507}" type="parTrans" cxnId="{3230EBFE-70C9-4681-9B54-9D5E35C887AF}">
      <dgm:prSet/>
      <dgm:spPr/>
      <dgm:t>
        <a:bodyPr/>
        <a:lstStyle/>
        <a:p>
          <a:endParaRPr lang="en-US"/>
        </a:p>
      </dgm:t>
    </dgm:pt>
    <dgm:pt modelId="{31C46711-F18B-4FF1-87BE-181F889FAF81}" type="sibTrans" cxnId="{3230EBFE-70C9-4681-9B54-9D5E35C887AF}">
      <dgm:prSet/>
      <dgm:spPr/>
      <dgm:t>
        <a:bodyPr/>
        <a:lstStyle/>
        <a:p>
          <a:endParaRPr lang="en-US"/>
        </a:p>
      </dgm:t>
    </dgm:pt>
    <dgm:pt modelId="{EE3C0720-75C1-4FF2-A449-B6188869BB64}" type="pres">
      <dgm:prSet presAssocID="{A8921EC2-A899-4445-B33A-B766BBF85148}" presName="root" presStyleCnt="0">
        <dgm:presLayoutVars>
          <dgm:dir/>
          <dgm:resizeHandles val="exact"/>
        </dgm:presLayoutVars>
      </dgm:prSet>
      <dgm:spPr/>
    </dgm:pt>
    <dgm:pt modelId="{243A2F6C-F105-4942-8B24-2A11C498859D}" type="pres">
      <dgm:prSet presAssocID="{C7AABB26-25A2-48A4-BD7C-1FE91B8B2424}" presName="compNode" presStyleCnt="0"/>
      <dgm:spPr/>
    </dgm:pt>
    <dgm:pt modelId="{313F2C49-241B-4975-83EA-7323D542FFDB}" type="pres">
      <dgm:prSet presAssocID="{C7AABB26-25A2-48A4-BD7C-1FE91B8B2424}" presName="bgRect" presStyleLbl="bgShp" presStyleIdx="0" presStyleCnt="3" custLinFactNeighborX="-3182" custLinFactNeighborY="-43"/>
      <dgm:spPr/>
    </dgm:pt>
    <dgm:pt modelId="{6DBE88D8-C853-4D30-B96F-06B101140C4B}" type="pres">
      <dgm:prSet presAssocID="{C7AABB26-25A2-48A4-BD7C-1FE91B8B24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A0F03CDB-572A-49A5-8DC7-8E6CDED27C11}" type="pres">
      <dgm:prSet presAssocID="{C7AABB26-25A2-48A4-BD7C-1FE91B8B2424}" presName="spaceRect" presStyleCnt="0"/>
      <dgm:spPr/>
    </dgm:pt>
    <dgm:pt modelId="{88F95F3B-401C-45B5-A0A6-512729081E54}" type="pres">
      <dgm:prSet presAssocID="{C7AABB26-25A2-48A4-BD7C-1FE91B8B2424}" presName="parTx" presStyleLbl="revTx" presStyleIdx="0" presStyleCnt="5">
        <dgm:presLayoutVars>
          <dgm:chMax val="0"/>
          <dgm:chPref val="0"/>
        </dgm:presLayoutVars>
      </dgm:prSet>
      <dgm:spPr/>
    </dgm:pt>
    <dgm:pt modelId="{BA5CE997-292F-40CC-8644-818783B97C21}" type="pres">
      <dgm:prSet presAssocID="{101A9461-0B55-4C7D-A367-D6FE406A8562}" presName="sibTrans" presStyleCnt="0"/>
      <dgm:spPr/>
    </dgm:pt>
    <dgm:pt modelId="{2554C99C-6CDC-49EA-A44A-8E63C3BCF78C}" type="pres">
      <dgm:prSet presAssocID="{32119DBF-BAAA-4F7A-84D0-3703B1E39D00}" presName="compNode" presStyleCnt="0"/>
      <dgm:spPr/>
    </dgm:pt>
    <dgm:pt modelId="{D4A20825-5141-475D-8BAF-584E57270156}" type="pres">
      <dgm:prSet presAssocID="{32119DBF-BAAA-4F7A-84D0-3703B1E39D00}" presName="bgRect" presStyleLbl="bgShp" presStyleIdx="1" presStyleCnt="3"/>
      <dgm:spPr/>
    </dgm:pt>
    <dgm:pt modelId="{59B43C96-F9F7-47B8-A801-CEF367F7A692}" type="pres">
      <dgm:prSet presAssocID="{32119DBF-BAAA-4F7A-84D0-3703B1E39D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06F23DB-D1AB-4B00-9E07-8A1B8F76AE17}" type="pres">
      <dgm:prSet presAssocID="{32119DBF-BAAA-4F7A-84D0-3703B1E39D00}" presName="spaceRect" presStyleCnt="0"/>
      <dgm:spPr/>
    </dgm:pt>
    <dgm:pt modelId="{69BCF687-6CB0-485F-A709-686A52A5F960}" type="pres">
      <dgm:prSet presAssocID="{32119DBF-BAAA-4F7A-84D0-3703B1E39D00}" presName="parTx" presStyleLbl="revTx" presStyleIdx="1" presStyleCnt="5">
        <dgm:presLayoutVars>
          <dgm:chMax val="0"/>
          <dgm:chPref val="0"/>
        </dgm:presLayoutVars>
      </dgm:prSet>
      <dgm:spPr/>
    </dgm:pt>
    <dgm:pt modelId="{76DB694D-1274-4A2D-B7D0-DB733E4497CD}" type="pres">
      <dgm:prSet presAssocID="{32119DBF-BAAA-4F7A-84D0-3703B1E39D00}" presName="desTx" presStyleLbl="revTx" presStyleIdx="2" presStyleCnt="5">
        <dgm:presLayoutVars/>
      </dgm:prSet>
      <dgm:spPr/>
    </dgm:pt>
    <dgm:pt modelId="{F3B3A8F0-ABC7-4B02-8568-55FBD747026E}" type="pres">
      <dgm:prSet presAssocID="{AEFC8347-2089-4A08-ACDC-47956B05F025}" presName="sibTrans" presStyleCnt="0"/>
      <dgm:spPr/>
    </dgm:pt>
    <dgm:pt modelId="{6E7CC1D9-D83C-43B8-9B6E-70117C3EB3EF}" type="pres">
      <dgm:prSet presAssocID="{44213021-7F16-4012-AA1D-68BF5E93F356}" presName="compNode" presStyleCnt="0"/>
      <dgm:spPr/>
    </dgm:pt>
    <dgm:pt modelId="{FCB8C8A6-DC1F-4A32-AEDE-D75840B35C72}" type="pres">
      <dgm:prSet presAssocID="{44213021-7F16-4012-AA1D-68BF5E93F356}" presName="bgRect" presStyleLbl="bgShp" presStyleIdx="2" presStyleCnt="3"/>
      <dgm:spPr/>
    </dgm:pt>
    <dgm:pt modelId="{2EA3C0D5-FC2D-4BD8-B555-CB1A5FA766F2}" type="pres">
      <dgm:prSet presAssocID="{44213021-7F16-4012-AA1D-68BF5E93F3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AC153AA0-5478-49EC-A223-50F36FC6BA5E}" type="pres">
      <dgm:prSet presAssocID="{44213021-7F16-4012-AA1D-68BF5E93F356}" presName="spaceRect" presStyleCnt="0"/>
      <dgm:spPr/>
    </dgm:pt>
    <dgm:pt modelId="{D1DFFC54-F9DF-4A31-8CFC-B59268F71918}" type="pres">
      <dgm:prSet presAssocID="{44213021-7F16-4012-AA1D-68BF5E93F356}" presName="parTx" presStyleLbl="revTx" presStyleIdx="3" presStyleCnt="5">
        <dgm:presLayoutVars>
          <dgm:chMax val="0"/>
          <dgm:chPref val="0"/>
        </dgm:presLayoutVars>
      </dgm:prSet>
      <dgm:spPr/>
    </dgm:pt>
    <dgm:pt modelId="{30781D9D-25FB-4C5C-8D28-2C0A6AF940BB}" type="pres">
      <dgm:prSet presAssocID="{44213021-7F16-4012-AA1D-68BF5E93F356}" presName="desTx" presStyleLbl="revTx" presStyleIdx="4" presStyleCnt="5">
        <dgm:presLayoutVars/>
      </dgm:prSet>
      <dgm:spPr/>
    </dgm:pt>
  </dgm:ptLst>
  <dgm:cxnLst>
    <dgm:cxn modelId="{90BDA704-11FD-4C26-B1CF-B0D80C84D6D0}" type="presOf" srcId="{C7AABB26-25A2-48A4-BD7C-1FE91B8B2424}" destId="{88F95F3B-401C-45B5-A0A6-512729081E54}" srcOrd="0" destOrd="0" presId="urn:microsoft.com/office/officeart/2018/2/layout/IconVerticalSolidList"/>
    <dgm:cxn modelId="{70D2100F-44EA-4A1F-A2D1-2B5B3C3A51B0}" type="presOf" srcId="{32119DBF-BAAA-4F7A-84D0-3703B1E39D00}" destId="{69BCF687-6CB0-485F-A709-686A52A5F960}" srcOrd="0" destOrd="0" presId="urn:microsoft.com/office/officeart/2018/2/layout/IconVerticalSolidList"/>
    <dgm:cxn modelId="{C7462318-7700-4B96-8466-5FA546450CBA}" type="presOf" srcId="{A8921EC2-A899-4445-B33A-B766BBF85148}" destId="{EE3C0720-75C1-4FF2-A449-B6188869BB64}" srcOrd="0" destOrd="0" presId="urn:microsoft.com/office/officeart/2018/2/layout/IconVerticalSolidList"/>
    <dgm:cxn modelId="{C66CC240-05F5-42D5-88AF-E147EB22AF73}" srcId="{A8921EC2-A899-4445-B33A-B766BBF85148}" destId="{32119DBF-BAAA-4F7A-84D0-3703B1E39D00}" srcOrd="1" destOrd="0" parTransId="{4994ECE3-988E-45A2-9176-674E7996DE39}" sibTransId="{AEFC8347-2089-4A08-ACDC-47956B05F025}"/>
    <dgm:cxn modelId="{1D32AF75-3725-4A2F-BD86-665921A98C9E}" type="presOf" srcId="{BB6ED9B4-3875-434B-889F-1A05CFE591E8}" destId="{30781D9D-25FB-4C5C-8D28-2C0A6AF940BB}" srcOrd="0" destOrd="0" presId="urn:microsoft.com/office/officeart/2018/2/layout/IconVerticalSolidList"/>
    <dgm:cxn modelId="{7154E289-4615-4BAB-8397-806B8213E23D}" srcId="{32119DBF-BAAA-4F7A-84D0-3703B1E39D00}" destId="{25BFDF09-152E-4CBC-80BF-D903D72580A1}" srcOrd="0" destOrd="0" parTransId="{A358F53A-EBBF-4B61-9055-FDAAB896D061}" sibTransId="{8B521C08-C768-4AE1-BB38-CC565B43B6B2}"/>
    <dgm:cxn modelId="{0C20C98B-B14C-4A26-AD41-7C834715C4A2}" type="presOf" srcId="{D13BB027-E70C-49A7-AE33-9AE7D986311B}" destId="{30781D9D-25FB-4C5C-8D28-2C0A6AF940BB}" srcOrd="0" destOrd="1" presId="urn:microsoft.com/office/officeart/2018/2/layout/IconVerticalSolidList"/>
    <dgm:cxn modelId="{AAF4DFA2-E7D1-49D3-9009-7F0104BC90A1}" srcId="{32119DBF-BAAA-4F7A-84D0-3703B1E39D00}" destId="{1243EFAD-089A-41AD-A950-353A10F00B00}" srcOrd="1" destOrd="0" parTransId="{C094354C-0F62-44E1-9C31-B79FF2B19503}" sibTransId="{5756B339-341C-4BCD-8075-C90527A72DB5}"/>
    <dgm:cxn modelId="{2E24B2CA-5851-4C37-997B-90E893EECB62}" srcId="{44213021-7F16-4012-AA1D-68BF5E93F356}" destId="{BB6ED9B4-3875-434B-889F-1A05CFE591E8}" srcOrd="0" destOrd="0" parTransId="{459ED307-46F1-40F0-A431-A92484364B5D}" sibTransId="{EE215239-B3BA-4144-8EB3-B35201900A7A}"/>
    <dgm:cxn modelId="{532A96D5-91FE-40DE-B21D-B4AE434ECAD5}" type="presOf" srcId="{1243EFAD-089A-41AD-A950-353A10F00B00}" destId="{76DB694D-1274-4A2D-B7D0-DB733E4497CD}" srcOrd="0" destOrd="1" presId="urn:microsoft.com/office/officeart/2018/2/layout/IconVerticalSolidList"/>
    <dgm:cxn modelId="{FE15D9E0-F3AF-4B3E-B0D3-A7D71436D3B2}" srcId="{A8921EC2-A899-4445-B33A-B766BBF85148}" destId="{44213021-7F16-4012-AA1D-68BF5E93F356}" srcOrd="2" destOrd="0" parTransId="{C34E0E7E-D9FC-419F-BA56-D0EDD60462C1}" sibTransId="{55804607-658B-4444-97B3-618FFE194EDC}"/>
    <dgm:cxn modelId="{7E3736E7-1D32-4946-A2A3-8C8CF8CE4754}" srcId="{A8921EC2-A899-4445-B33A-B766BBF85148}" destId="{C7AABB26-25A2-48A4-BD7C-1FE91B8B2424}" srcOrd="0" destOrd="0" parTransId="{1EF2F2F0-80E3-4A54-ADD8-CD84F333B598}" sibTransId="{101A9461-0B55-4C7D-A367-D6FE406A8562}"/>
    <dgm:cxn modelId="{E9A8CDF6-E0D6-4C19-893B-2702352955FF}" type="presOf" srcId="{44213021-7F16-4012-AA1D-68BF5E93F356}" destId="{D1DFFC54-F9DF-4A31-8CFC-B59268F71918}" srcOrd="0" destOrd="0" presId="urn:microsoft.com/office/officeart/2018/2/layout/IconVerticalSolidList"/>
    <dgm:cxn modelId="{3230EBFE-70C9-4681-9B54-9D5E35C887AF}" srcId="{44213021-7F16-4012-AA1D-68BF5E93F356}" destId="{D13BB027-E70C-49A7-AE33-9AE7D986311B}" srcOrd="1" destOrd="0" parTransId="{D50A3449-281F-4296-96AF-D0F4CD569507}" sibTransId="{31C46711-F18B-4FF1-87BE-181F889FAF81}"/>
    <dgm:cxn modelId="{F9A11CFF-C0AC-4813-8ACB-B093EB08ECB5}" type="presOf" srcId="{25BFDF09-152E-4CBC-80BF-D903D72580A1}" destId="{76DB694D-1274-4A2D-B7D0-DB733E4497CD}" srcOrd="0" destOrd="0" presId="urn:microsoft.com/office/officeart/2018/2/layout/IconVerticalSolidList"/>
    <dgm:cxn modelId="{EF3CF483-F355-49C5-9FB4-89E6FC35254C}" type="presParOf" srcId="{EE3C0720-75C1-4FF2-A449-B6188869BB64}" destId="{243A2F6C-F105-4942-8B24-2A11C498859D}" srcOrd="0" destOrd="0" presId="urn:microsoft.com/office/officeart/2018/2/layout/IconVerticalSolidList"/>
    <dgm:cxn modelId="{582D4475-7C0C-46AD-B989-388CBA778ABA}" type="presParOf" srcId="{243A2F6C-F105-4942-8B24-2A11C498859D}" destId="{313F2C49-241B-4975-83EA-7323D542FFDB}" srcOrd="0" destOrd="0" presId="urn:microsoft.com/office/officeart/2018/2/layout/IconVerticalSolidList"/>
    <dgm:cxn modelId="{5988E5DC-1272-497D-966E-C213E1318EA7}" type="presParOf" srcId="{243A2F6C-F105-4942-8B24-2A11C498859D}" destId="{6DBE88D8-C853-4D30-B96F-06B101140C4B}" srcOrd="1" destOrd="0" presId="urn:microsoft.com/office/officeart/2018/2/layout/IconVerticalSolidList"/>
    <dgm:cxn modelId="{09DDDEB7-0DD5-4CC4-BCB8-6E844BFD4E5A}" type="presParOf" srcId="{243A2F6C-F105-4942-8B24-2A11C498859D}" destId="{A0F03CDB-572A-49A5-8DC7-8E6CDED27C11}" srcOrd="2" destOrd="0" presId="urn:microsoft.com/office/officeart/2018/2/layout/IconVerticalSolidList"/>
    <dgm:cxn modelId="{B9D996F2-2DC5-4F53-AD89-0C1A8C8F4549}" type="presParOf" srcId="{243A2F6C-F105-4942-8B24-2A11C498859D}" destId="{88F95F3B-401C-45B5-A0A6-512729081E54}" srcOrd="3" destOrd="0" presId="urn:microsoft.com/office/officeart/2018/2/layout/IconVerticalSolidList"/>
    <dgm:cxn modelId="{59135441-B575-4A2F-8223-61DB57B24CD6}" type="presParOf" srcId="{EE3C0720-75C1-4FF2-A449-B6188869BB64}" destId="{BA5CE997-292F-40CC-8644-818783B97C21}" srcOrd="1" destOrd="0" presId="urn:microsoft.com/office/officeart/2018/2/layout/IconVerticalSolidList"/>
    <dgm:cxn modelId="{4553C840-667D-402C-B4D8-234D2C878EEE}" type="presParOf" srcId="{EE3C0720-75C1-4FF2-A449-B6188869BB64}" destId="{2554C99C-6CDC-49EA-A44A-8E63C3BCF78C}" srcOrd="2" destOrd="0" presId="urn:microsoft.com/office/officeart/2018/2/layout/IconVerticalSolidList"/>
    <dgm:cxn modelId="{12777ED0-B0E0-40C7-8462-CF7293E8FD6D}" type="presParOf" srcId="{2554C99C-6CDC-49EA-A44A-8E63C3BCF78C}" destId="{D4A20825-5141-475D-8BAF-584E57270156}" srcOrd="0" destOrd="0" presId="urn:microsoft.com/office/officeart/2018/2/layout/IconVerticalSolidList"/>
    <dgm:cxn modelId="{DF0A9076-4457-4847-A42A-A9475B380A09}" type="presParOf" srcId="{2554C99C-6CDC-49EA-A44A-8E63C3BCF78C}" destId="{59B43C96-F9F7-47B8-A801-CEF367F7A692}" srcOrd="1" destOrd="0" presId="urn:microsoft.com/office/officeart/2018/2/layout/IconVerticalSolidList"/>
    <dgm:cxn modelId="{E51BBF55-9CF3-46D5-B864-5FE7EBBBEA51}" type="presParOf" srcId="{2554C99C-6CDC-49EA-A44A-8E63C3BCF78C}" destId="{906F23DB-D1AB-4B00-9E07-8A1B8F76AE17}" srcOrd="2" destOrd="0" presId="urn:microsoft.com/office/officeart/2018/2/layout/IconVerticalSolidList"/>
    <dgm:cxn modelId="{B1484A25-BFE7-49B7-96CA-79A92D303E81}" type="presParOf" srcId="{2554C99C-6CDC-49EA-A44A-8E63C3BCF78C}" destId="{69BCF687-6CB0-485F-A709-686A52A5F960}" srcOrd="3" destOrd="0" presId="urn:microsoft.com/office/officeart/2018/2/layout/IconVerticalSolidList"/>
    <dgm:cxn modelId="{65C5BC4F-83F4-4A75-9E0D-295DA4A8B0B8}" type="presParOf" srcId="{2554C99C-6CDC-49EA-A44A-8E63C3BCF78C}" destId="{76DB694D-1274-4A2D-B7D0-DB733E4497CD}" srcOrd="4" destOrd="0" presId="urn:microsoft.com/office/officeart/2018/2/layout/IconVerticalSolidList"/>
    <dgm:cxn modelId="{4EF12C49-3260-402A-B25C-A44761C431CB}" type="presParOf" srcId="{EE3C0720-75C1-4FF2-A449-B6188869BB64}" destId="{F3B3A8F0-ABC7-4B02-8568-55FBD747026E}" srcOrd="3" destOrd="0" presId="urn:microsoft.com/office/officeart/2018/2/layout/IconVerticalSolidList"/>
    <dgm:cxn modelId="{3BBA4089-66A6-4325-B566-FAE0ADB94DD5}" type="presParOf" srcId="{EE3C0720-75C1-4FF2-A449-B6188869BB64}" destId="{6E7CC1D9-D83C-43B8-9B6E-70117C3EB3EF}" srcOrd="4" destOrd="0" presId="urn:microsoft.com/office/officeart/2018/2/layout/IconVerticalSolidList"/>
    <dgm:cxn modelId="{1859F697-6DE5-43F5-A8F0-9DD4EE59B754}" type="presParOf" srcId="{6E7CC1D9-D83C-43B8-9B6E-70117C3EB3EF}" destId="{FCB8C8A6-DC1F-4A32-AEDE-D75840B35C72}" srcOrd="0" destOrd="0" presId="urn:microsoft.com/office/officeart/2018/2/layout/IconVerticalSolidList"/>
    <dgm:cxn modelId="{64E76157-268B-4B64-A850-70DA84BC2448}" type="presParOf" srcId="{6E7CC1D9-D83C-43B8-9B6E-70117C3EB3EF}" destId="{2EA3C0D5-FC2D-4BD8-B555-CB1A5FA766F2}" srcOrd="1" destOrd="0" presId="urn:microsoft.com/office/officeart/2018/2/layout/IconVerticalSolidList"/>
    <dgm:cxn modelId="{90379D48-C9B0-4C8A-A3F2-39BFF6D82D75}" type="presParOf" srcId="{6E7CC1D9-D83C-43B8-9B6E-70117C3EB3EF}" destId="{AC153AA0-5478-49EC-A223-50F36FC6BA5E}" srcOrd="2" destOrd="0" presId="urn:microsoft.com/office/officeart/2018/2/layout/IconVerticalSolidList"/>
    <dgm:cxn modelId="{18E0EA6F-F6FC-4A97-94CD-CF7AEF0F6609}" type="presParOf" srcId="{6E7CC1D9-D83C-43B8-9B6E-70117C3EB3EF}" destId="{D1DFFC54-F9DF-4A31-8CFC-B59268F71918}" srcOrd="3" destOrd="0" presId="urn:microsoft.com/office/officeart/2018/2/layout/IconVerticalSolidList"/>
    <dgm:cxn modelId="{F5B298D5-5BB7-4A4B-9EE3-5D138972A9A0}" type="presParOf" srcId="{6E7CC1D9-D83C-43B8-9B6E-70117C3EB3EF}" destId="{30781D9D-25FB-4C5C-8D28-2C0A6AF940B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F2C49-241B-4975-83EA-7323D542FFDB}">
      <dsp:nvSpPr>
        <dsp:cNvPr id="0" name=""/>
        <dsp:cNvSpPr/>
      </dsp:nvSpPr>
      <dsp:spPr>
        <a:xfrm>
          <a:off x="0" y="0"/>
          <a:ext cx="8961490" cy="15925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E88D8-C853-4D30-B96F-06B101140C4B}">
      <dsp:nvSpPr>
        <dsp:cNvPr id="0" name=""/>
        <dsp:cNvSpPr/>
      </dsp:nvSpPr>
      <dsp:spPr>
        <a:xfrm>
          <a:off x="481732" y="358993"/>
          <a:ext cx="875876" cy="8758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95F3B-401C-45B5-A0A6-512729081E54}">
      <dsp:nvSpPr>
        <dsp:cNvPr id="0" name=""/>
        <dsp:cNvSpPr/>
      </dsp:nvSpPr>
      <dsp:spPr>
        <a:xfrm>
          <a:off x="1839341" y="680"/>
          <a:ext cx="7122148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kern="1200" baseline="0"/>
            <a:t>Off or of?</a:t>
          </a:r>
          <a:endParaRPr lang="en-US" sz="2500" kern="1200"/>
        </a:p>
      </dsp:txBody>
      <dsp:txXfrm>
        <a:off x="1839341" y="680"/>
        <a:ext cx="7122148" cy="1592503"/>
      </dsp:txXfrm>
    </dsp:sp>
    <dsp:sp modelId="{D4A20825-5141-475D-8BAF-584E57270156}">
      <dsp:nvSpPr>
        <dsp:cNvPr id="0" name=""/>
        <dsp:cNvSpPr/>
      </dsp:nvSpPr>
      <dsp:spPr>
        <a:xfrm>
          <a:off x="0" y="1991309"/>
          <a:ext cx="8961490" cy="15925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B43C96-F9F7-47B8-A801-CEF367F7A692}">
      <dsp:nvSpPr>
        <dsp:cNvPr id="0" name=""/>
        <dsp:cNvSpPr/>
      </dsp:nvSpPr>
      <dsp:spPr>
        <a:xfrm>
          <a:off x="481732" y="2349623"/>
          <a:ext cx="875876" cy="8758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CF687-6CB0-485F-A709-686A52A5F960}">
      <dsp:nvSpPr>
        <dsp:cNvPr id="0" name=""/>
        <dsp:cNvSpPr/>
      </dsp:nvSpPr>
      <dsp:spPr>
        <a:xfrm>
          <a:off x="1839341" y="1991309"/>
          <a:ext cx="4032670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b="1" kern="1200" baseline="0" dirty="0">
              <a:solidFill>
                <a:srgbClr val="FFC000"/>
              </a:solidFill>
            </a:rPr>
            <a:t>Off</a:t>
          </a:r>
          <a:r>
            <a:rPr lang="nl-NL" sz="2500" kern="1200" baseline="0" dirty="0"/>
            <a:t> is </a:t>
          </a:r>
          <a:r>
            <a:rPr lang="nl-NL" sz="2500" kern="1200" baseline="0" dirty="0" err="1"/>
            <a:t>the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opposite</a:t>
          </a:r>
          <a:r>
            <a:rPr lang="nl-NL" sz="2500" kern="1200" baseline="0" dirty="0"/>
            <a:t> of </a:t>
          </a:r>
          <a:r>
            <a:rPr lang="nl-NL" sz="2500" b="1" kern="1200" baseline="0" dirty="0">
              <a:solidFill>
                <a:srgbClr val="FFC000"/>
              </a:solidFill>
            </a:rPr>
            <a:t>on</a:t>
          </a:r>
          <a:endParaRPr lang="en-US" sz="2500" kern="1200" dirty="0">
            <a:solidFill>
              <a:srgbClr val="FFC000"/>
            </a:solidFill>
          </a:endParaRPr>
        </a:p>
      </dsp:txBody>
      <dsp:txXfrm>
        <a:off x="1839341" y="1991309"/>
        <a:ext cx="4032670" cy="1592503"/>
      </dsp:txXfrm>
    </dsp:sp>
    <dsp:sp modelId="{76DB694D-1274-4A2D-B7D0-DB733E4497CD}">
      <dsp:nvSpPr>
        <dsp:cNvPr id="0" name=""/>
        <dsp:cNvSpPr/>
      </dsp:nvSpPr>
      <dsp:spPr>
        <a:xfrm>
          <a:off x="5872011" y="1991309"/>
          <a:ext cx="3089478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/>
            <a:t>He </a:t>
          </a:r>
          <a:r>
            <a:rPr lang="nl-NL" sz="1600" kern="1200" baseline="0" dirty="0" err="1"/>
            <a:t>switched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the</a:t>
          </a:r>
          <a:r>
            <a:rPr lang="nl-NL" sz="1600" kern="1200" baseline="0" dirty="0"/>
            <a:t> computer </a:t>
          </a:r>
          <a:r>
            <a:rPr lang="nl-NL" sz="1600" b="1" kern="1200" baseline="0" dirty="0">
              <a:solidFill>
                <a:srgbClr val="FFC000"/>
              </a:solidFill>
            </a:rPr>
            <a:t>off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and</a:t>
          </a:r>
          <a:r>
            <a:rPr lang="nl-NL" sz="1600" kern="1200" baseline="0" dirty="0"/>
            <a:t> on </a:t>
          </a:r>
          <a:r>
            <a:rPr lang="nl-NL" sz="1600" kern="1200" baseline="0" dirty="0" err="1"/>
            <a:t>again</a:t>
          </a:r>
          <a:r>
            <a:rPr lang="nl-NL" sz="1600" kern="1200" baseline="0" dirty="0"/>
            <a:t>.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/>
            <a:t>The </a:t>
          </a:r>
          <a:r>
            <a:rPr lang="nl-NL" sz="1600" kern="1200" baseline="0" dirty="0" err="1"/>
            <a:t>book</a:t>
          </a:r>
          <a:r>
            <a:rPr lang="nl-NL" sz="1600" kern="1200" baseline="0" dirty="0"/>
            <a:t> was on </a:t>
          </a:r>
          <a:r>
            <a:rPr lang="nl-NL" sz="1600" kern="1200" baseline="0" dirty="0" err="1"/>
            <a:t>the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table</a:t>
          </a:r>
          <a:r>
            <a:rPr lang="nl-NL" sz="1600" kern="1200" baseline="0" dirty="0"/>
            <a:t>, but </a:t>
          </a:r>
          <a:r>
            <a:rPr lang="nl-NL" sz="1600" kern="1200" baseline="0" dirty="0" err="1"/>
            <a:t>then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it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fell</a:t>
          </a:r>
          <a:r>
            <a:rPr lang="nl-NL" sz="1600" kern="1200" baseline="0" dirty="0"/>
            <a:t> </a:t>
          </a:r>
          <a:r>
            <a:rPr lang="nl-NL" sz="1600" b="1" kern="1200" baseline="0" dirty="0">
              <a:solidFill>
                <a:srgbClr val="FFC000"/>
              </a:solidFill>
            </a:rPr>
            <a:t>off</a:t>
          </a:r>
          <a:r>
            <a:rPr lang="nl-NL" sz="1600" kern="1200" baseline="0" dirty="0"/>
            <a:t>.</a:t>
          </a:r>
          <a:endParaRPr lang="en-US" sz="1600" kern="1200" dirty="0"/>
        </a:p>
      </dsp:txBody>
      <dsp:txXfrm>
        <a:off x="5872011" y="1991309"/>
        <a:ext cx="3089478" cy="1592503"/>
      </dsp:txXfrm>
    </dsp:sp>
    <dsp:sp modelId="{FCB8C8A6-DC1F-4A32-AEDE-D75840B35C72}">
      <dsp:nvSpPr>
        <dsp:cNvPr id="0" name=""/>
        <dsp:cNvSpPr/>
      </dsp:nvSpPr>
      <dsp:spPr>
        <a:xfrm>
          <a:off x="0" y="3981939"/>
          <a:ext cx="8961490" cy="15925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3C0D5-FC2D-4BD8-B555-CB1A5FA766F2}">
      <dsp:nvSpPr>
        <dsp:cNvPr id="0" name=""/>
        <dsp:cNvSpPr/>
      </dsp:nvSpPr>
      <dsp:spPr>
        <a:xfrm>
          <a:off x="481732" y="4340252"/>
          <a:ext cx="875876" cy="8758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FFC54-F9DF-4A31-8CFC-B59268F71918}">
      <dsp:nvSpPr>
        <dsp:cNvPr id="0" name=""/>
        <dsp:cNvSpPr/>
      </dsp:nvSpPr>
      <dsp:spPr>
        <a:xfrm>
          <a:off x="1839341" y="3981939"/>
          <a:ext cx="4032670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500" b="1" kern="1200" baseline="0" dirty="0">
              <a:solidFill>
                <a:srgbClr val="FFC000"/>
              </a:solidFill>
            </a:rPr>
            <a:t>Of</a:t>
          </a:r>
          <a:r>
            <a:rPr lang="nl-NL" sz="2500" kern="1200" baseline="0" dirty="0"/>
            <a:t>  is </a:t>
          </a:r>
          <a:r>
            <a:rPr lang="nl-NL" sz="2500" kern="1200" baseline="0" dirty="0" err="1"/>
            <a:t>used</a:t>
          </a:r>
          <a:r>
            <a:rPr lang="nl-NL" sz="2500" kern="1200" baseline="0" dirty="0"/>
            <a:t> in </a:t>
          </a:r>
          <a:r>
            <a:rPr lang="nl-NL" sz="2500" kern="1200" baseline="0" dirty="0" err="1"/>
            <a:t>all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other</a:t>
          </a:r>
          <a:r>
            <a:rPr lang="nl-NL" sz="2500" kern="1200" baseline="0" dirty="0"/>
            <a:t> cases (</a:t>
          </a:r>
          <a:r>
            <a:rPr lang="nl-NL" sz="2500" kern="1200" baseline="0" dirty="0" err="1"/>
            <a:t>usually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translates</a:t>
          </a:r>
          <a:r>
            <a:rPr lang="nl-NL" sz="2500" kern="1200" baseline="0" dirty="0"/>
            <a:t> </a:t>
          </a:r>
          <a:r>
            <a:rPr lang="nl-NL" sz="2500" kern="1200" baseline="0" dirty="0" err="1"/>
            <a:t>to</a:t>
          </a:r>
          <a:r>
            <a:rPr lang="nl-NL" sz="2500" kern="1200" baseline="0" dirty="0"/>
            <a:t> Dutch ‘van’)</a:t>
          </a:r>
          <a:endParaRPr lang="en-US" sz="2500" kern="1200" dirty="0"/>
        </a:p>
      </dsp:txBody>
      <dsp:txXfrm>
        <a:off x="1839341" y="3981939"/>
        <a:ext cx="4032670" cy="1592503"/>
      </dsp:txXfrm>
    </dsp:sp>
    <dsp:sp modelId="{30781D9D-25FB-4C5C-8D28-2C0A6AF940BB}">
      <dsp:nvSpPr>
        <dsp:cNvPr id="0" name=""/>
        <dsp:cNvSpPr/>
      </dsp:nvSpPr>
      <dsp:spPr>
        <a:xfrm>
          <a:off x="5872011" y="3981939"/>
          <a:ext cx="3089478" cy="159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40" tIns="168540" rIns="168540" bIns="1685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/>
            <a:t>He is </a:t>
          </a:r>
          <a:r>
            <a:rPr lang="nl-NL" sz="1600" kern="1200" baseline="0" dirty="0" err="1"/>
            <a:t>the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head</a:t>
          </a:r>
          <a:r>
            <a:rPr lang="nl-NL" sz="1600" kern="1200" baseline="0" dirty="0"/>
            <a:t> </a:t>
          </a:r>
          <a:r>
            <a:rPr lang="nl-NL" sz="1600" b="1" kern="1200" baseline="0" dirty="0">
              <a:solidFill>
                <a:srgbClr val="FFC000"/>
              </a:solidFill>
            </a:rPr>
            <a:t>of</a:t>
          </a:r>
          <a:r>
            <a:rPr lang="nl-NL" sz="1600" b="1" kern="1200" baseline="0" dirty="0"/>
            <a:t> </a:t>
          </a:r>
          <a:r>
            <a:rPr lang="nl-NL" sz="1600" kern="1200" baseline="0" dirty="0" err="1"/>
            <a:t>our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department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baseline="0" dirty="0" err="1"/>
            <a:t>She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cried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tears</a:t>
          </a:r>
          <a:r>
            <a:rPr lang="nl-NL" sz="1600" kern="1200" baseline="0" dirty="0"/>
            <a:t> </a:t>
          </a:r>
          <a:r>
            <a:rPr lang="nl-NL" sz="1600" b="1" kern="1200" baseline="0" dirty="0">
              <a:solidFill>
                <a:srgbClr val="FFC000"/>
              </a:solidFill>
            </a:rPr>
            <a:t>of</a:t>
          </a:r>
          <a:r>
            <a:rPr lang="nl-NL" sz="1600" kern="1200" baseline="0" dirty="0"/>
            <a:t> </a:t>
          </a:r>
          <a:r>
            <a:rPr lang="nl-NL" sz="1600" kern="1200" baseline="0" dirty="0" err="1"/>
            <a:t>happiness</a:t>
          </a:r>
          <a:r>
            <a:rPr lang="nl-NL" sz="1600" kern="1200" baseline="0" dirty="0"/>
            <a:t>.</a:t>
          </a:r>
          <a:endParaRPr lang="en-US" sz="1600" kern="1200" dirty="0"/>
        </a:p>
      </dsp:txBody>
      <dsp:txXfrm>
        <a:off x="5872011" y="3981939"/>
        <a:ext cx="3089478" cy="1592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8805E-CE5C-4873-9C75-66BD8C120CF5}" type="datetimeFigureOut">
              <a:rPr lang="en-GB" smtClean="0"/>
              <a:t>28/08/2023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C48EF-A63E-44B8-8641-F9786CA0F8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301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5CD26C-F6AB-41F4-99F4-D64536D370A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5C49F1-949C-47B1-813E-118A2D2DC57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6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811A25-D3C4-4ED7-9720-0F2605922E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95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5C35AE-F63C-4CF4-A29E-E46D382A4B9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73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3889B5-3548-43DA-B33A-5FE31F6A39D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9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B59A9E-1365-4811-BDCE-834EACC0061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37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77B027-DB18-4A07-8112-07C22C8FA4E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11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838A4-9FD5-4CB8-947E-F437136CC57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07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NL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AFE2B2-6292-4B4F-BB20-E71CCCBF4A4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19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Monday, August 28,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84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Monday, August 28,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3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0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1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46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9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9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Monday, August 28,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6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Monday, August 28,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300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F4D251-B7D8-402D-950A-F9D15396E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AD4CE-7A4C-CF9A-0C98-1BDC85986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728663"/>
            <a:ext cx="5015638" cy="2795737"/>
          </a:xfrm>
        </p:spPr>
        <p:txBody>
          <a:bodyPr>
            <a:normAutofit/>
          </a:bodyPr>
          <a:lstStyle/>
          <a:p>
            <a:r>
              <a:rPr lang="nl-NL" dirty="0"/>
              <a:t>Grammar &amp; Basics</a:t>
            </a:r>
            <a:endParaRPr lang="en-GB" dirty="0"/>
          </a:p>
        </p:txBody>
      </p:sp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117AC299-C3BB-4AC5-7013-BFBBF1B103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26" r="12280" b="2"/>
          <a:stretch/>
        </p:blipFill>
        <p:spPr>
          <a:xfrm>
            <a:off x="1" y="10"/>
            <a:ext cx="5662934" cy="6857990"/>
          </a:xfrm>
          <a:custGeom>
            <a:avLst/>
            <a:gdLst/>
            <a:ahLst/>
            <a:cxnLst/>
            <a:rect l="l" t="t" r="r" b="b"/>
            <a:pathLst>
              <a:path w="5662934" h="6858000">
                <a:moveTo>
                  <a:pt x="0" y="0"/>
                </a:moveTo>
                <a:lnTo>
                  <a:pt x="5064602" y="0"/>
                </a:lnTo>
                <a:lnTo>
                  <a:pt x="4889880" y="279455"/>
                </a:lnTo>
                <a:cubicBezTo>
                  <a:pt x="4472355" y="1021447"/>
                  <a:pt x="4263593" y="1948936"/>
                  <a:pt x="4263593" y="3061922"/>
                </a:cubicBezTo>
                <a:cubicBezTo>
                  <a:pt x="4263593" y="3516203"/>
                  <a:pt x="4324186" y="3970483"/>
                  <a:pt x="4445372" y="4515619"/>
                </a:cubicBezTo>
                <a:cubicBezTo>
                  <a:pt x="4596855" y="5030470"/>
                  <a:pt x="4748338" y="5515036"/>
                  <a:pt x="4990710" y="5969316"/>
                </a:cubicBezTo>
                <a:cubicBezTo>
                  <a:pt x="5172489" y="6275955"/>
                  <a:pt x="5371310" y="6544265"/>
                  <a:pt x="5583977" y="6777438"/>
                </a:cubicBezTo>
                <a:lnTo>
                  <a:pt x="566293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E67870A8-BE17-461C-AD58-035AD7FA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7291575">
            <a:off x="3479502" y="491434"/>
            <a:ext cx="2397877" cy="2244442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05DB21-E762-1120-D130-F6AADC8FA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480175" y="3830638"/>
            <a:ext cx="5014913" cy="22987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>
                <a:solidFill>
                  <a:srgbClr val="FFFFFF"/>
                </a:solidFill>
              </a:rPr>
              <a:t>Prepositions</a:t>
            </a:r>
          </a:p>
        </p:txBody>
      </p:sp>
    </p:spTree>
    <p:extLst>
      <p:ext uri="{BB962C8B-B14F-4D97-AF65-F5344CB8AC3E}">
        <p14:creationId xmlns:p14="http://schemas.microsoft.com/office/powerpoint/2010/main" val="221560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1">
            <a:extLst>
              <a:ext uri="{FF2B5EF4-FFF2-40B4-BE49-F238E27FC236}">
                <a16:creationId xmlns:a16="http://schemas.microsoft.com/office/drawing/2014/main" id="{EE2C9455-915A-4F6A-803E-AE8FDA1874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7" b="-1"/>
          <a:stretch/>
        </p:blipFill>
        <p:spPr>
          <a:xfrm>
            <a:off x="500424" y="421284"/>
            <a:ext cx="11191152" cy="6015432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63B9E713-D0DE-C15A-EB03-F02A90ECCF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36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712" name="Rectangle 72711">
            <a:extLst>
              <a:ext uri="{FF2B5EF4-FFF2-40B4-BE49-F238E27FC236}">
                <a16:creationId xmlns:a16="http://schemas.microsoft.com/office/drawing/2014/main" id="{3F58D3F4-AD3E-4263-85BF-7EB712458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14" name="Rectangle 72713">
            <a:extLst>
              <a:ext uri="{FF2B5EF4-FFF2-40B4-BE49-F238E27FC236}">
                <a16:creationId xmlns:a16="http://schemas.microsoft.com/office/drawing/2014/main" id="{B383AC10-A272-4982-A610-DDA728D78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16" name="Freeform: Shape 72715">
            <a:extLst>
              <a:ext uri="{FF2B5EF4-FFF2-40B4-BE49-F238E27FC236}">
                <a16:creationId xmlns:a16="http://schemas.microsoft.com/office/drawing/2014/main" id="{F6FDED66-1461-4834-9923-329986747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95815" y="0"/>
            <a:ext cx="11196185" cy="6858000"/>
          </a:xfrm>
          <a:custGeom>
            <a:avLst/>
            <a:gdLst>
              <a:gd name="connsiteX0" fmla="*/ 678180 w 11196185"/>
              <a:gd name="connsiteY0" fmla="*/ 0 h 6858000"/>
              <a:gd name="connsiteX1" fmla="*/ 10577581 w 11196185"/>
              <a:gd name="connsiteY1" fmla="*/ 0 h 6858000"/>
              <a:gd name="connsiteX2" fmla="*/ 10716113 w 11196185"/>
              <a:gd name="connsiteY2" fmla="*/ 294338 h 6858000"/>
              <a:gd name="connsiteX3" fmla="*/ 11040720 w 11196185"/>
              <a:gd name="connsiteY3" fmla="*/ 992736 h 6858000"/>
              <a:gd name="connsiteX4" fmla="*/ 11188414 w 11196185"/>
              <a:gd name="connsiteY4" fmla="*/ 1350314 h 6858000"/>
              <a:gd name="connsiteX5" fmla="*/ 11196185 w 11196185"/>
              <a:gd name="connsiteY5" fmla="*/ 1382182 h 6858000"/>
              <a:gd name="connsiteX6" fmla="*/ 11196185 w 11196185"/>
              <a:gd name="connsiteY6" fmla="*/ 4121434 h 6858000"/>
              <a:gd name="connsiteX7" fmla="*/ 11176802 w 11196185"/>
              <a:gd name="connsiteY7" fmla="*/ 4304566 h 6858000"/>
              <a:gd name="connsiteX8" fmla="*/ 10289429 w 11196185"/>
              <a:gd name="connsiteY8" fmla="*/ 5937296 h 6858000"/>
              <a:gd name="connsiteX9" fmla="*/ 9411880 w 11196185"/>
              <a:gd name="connsiteY9" fmla="*/ 6851146 h 6858000"/>
              <a:gd name="connsiteX10" fmla="*/ 9402883 w 11196185"/>
              <a:gd name="connsiteY10" fmla="*/ 6858000 h 6858000"/>
              <a:gd name="connsiteX11" fmla="*/ 1880709 w 11196185"/>
              <a:gd name="connsiteY11" fmla="*/ 6858000 h 6858000"/>
              <a:gd name="connsiteX12" fmla="*/ 1838993 w 11196185"/>
              <a:gd name="connsiteY12" fmla="*/ 6821023 h 6858000"/>
              <a:gd name="connsiteX13" fmla="*/ 1110605 w 11196185"/>
              <a:gd name="connsiteY13" fmla="*/ 6101023 h 6858000"/>
              <a:gd name="connsiteX14" fmla="*/ 0 w 11196185"/>
              <a:gd name="connsiteY14" fmla="*/ 3022953 h 6858000"/>
              <a:gd name="connsiteX15" fmla="*/ 653297 w 11196185"/>
              <a:gd name="connsiteY15" fmla="*/ 431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96185" h="6858000">
                <a:moveTo>
                  <a:pt x="678180" y="0"/>
                </a:moveTo>
                <a:lnTo>
                  <a:pt x="10577581" y="0"/>
                </a:lnTo>
                <a:lnTo>
                  <a:pt x="10716113" y="294338"/>
                </a:lnTo>
                <a:cubicBezTo>
                  <a:pt x="10820232" y="519974"/>
                  <a:pt x="10926393" y="755332"/>
                  <a:pt x="11040720" y="992736"/>
                </a:cubicBezTo>
                <a:cubicBezTo>
                  <a:pt x="11101967" y="1099159"/>
                  <a:pt x="11150454" y="1219908"/>
                  <a:pt x="11188414" y="1350314"/>
                </a:cubicBezTo>
                <a:lnTo>
                  <a:pt x="11196185" y="1382182"/>
                </a:lnTo>
                <a:lnTo>
                  <a:pt x="11196185" y="4121434"/>
                </a:lnTo>
                <a:lnTo>
                  <a:pt x="11176802" y="4304566"/>
                </a:lnTo>
                <a:cubicBezTo>
                  <a:pt x="11053990" y="5160104"/>
                  <a:pt x="10546664" y="5536165"/>
                  <a:pt x="10289429" y="5937296"/>
                </a:cubicBezTo>
                <a:cubicBezTo>
                  <a:pt x="10175102" y="6195166"/>
                  <a:pt x="9816937" y="6534516"/>
                  <a:pt x="9411880" y="6851146"/>
                </a:cubicBezTo>
                <a:lnTo>
                  <a:pt x="9402883" y="6858000"/>
                </a:lnTo>
                <a:lnTo>
                  <a:pt x="1880709" y="6858000"/>
                </a:lnTo>
                <a:lnTo>
                  <a:pt x="1838993" y="6821023"/>
                </a:lnTo>
                <a:cubicBezTo>
                  <a:pt x="1404461" y="6426943"/>
                  <a:pt x="1110605" y="6101023"/>
                  <a:pt x="1110605" y="6101023"/>
                </a:cubicBezTo>
                <a:cubicBezTo>
                  <a:pt x="816622" y="5544351"/>
                  <a:pt x="0" y="3776098"/>
                  <a:pt x="0" y="3022953"/>
                </a:cubicBezTo>
                <a:cubicBezTo>
                  <a:pt x="0" y="2171572"/>
                  <a:pt x="195989" y="894500"/>
                  <a:pt x="653297" y="4311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11353" y="638865"/>
            <a:ext cx="4991961" cy="1477328"/>
          </a:xfrm>
        </p:spPr>
        <p:txBody>
          <a:bodyPr wrap="square" anchor="ctr">
            <a:normAutofit/>
          </a:bodyPr>
          <a:lstStyle/>
          <a:p>
            <a:r>
              <a:rPr lang="nl-NL" altLang="en-US" dirty="0" err="1">
                <a:latin typeface="Arial Nova" panose="020B0504020202020204" pitchFamily="34" charset="0"/>
              </a:rPr>
              <a:t>Prepositions</a:t>
            </a:r>
            <a:endParaRPr lang="nl-NL" altLang="en-US" dirty="0">
              <a:latin typeface="Arial Nova" panose="020B0504020202020204" pitchFamily="34" charset="0"/>
            </a:endParaRPr>
          </a:p>
        </p:txBody>
      </p:sp>
      <p:sp>
        <p:nvSpPr>
          <p:cNvPr id="72718" name="Freeform 10">
            <a:extLst>
              <a:ext uri="{FF2B5EF4-FFF2-40B4-BE49-F238E27FC236}">
                <a16:creationId xmlns:a16="http://schemas.microsoft.com/office/drawing/2014/main" id="{1607CD53-0FF9-47E9-94AD-2BF64BA80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5824556">
            <a:off x="198004" y="426519"/>
            <a:ext cx="2955087" cy="2765998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211353" y="1927124"/>
            <a:ext cx="8489034" cy="3830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altLang="en-US" sz="2800" b="1" dirty="0"/>
              <a:t>Are </a:t>
            </a:r>
            <a:r>
              <a:rPr lang="nl-NL" altLang="en-US" sz="2800" b="1" dirty="0" err="1"/>
              <a:t>used</a:t>
            </a:r>
            <a:r>
              <a:rPr lang="nl-NL" altLang="en-US" sz="2800" b="1" dirty="0"/>
              <a:t> </a:t>
            </a:r>
            <a:r>
              <a:rPr lang="nl-NL" altLang="en-US" sz="2800" b="1" dirty="0" err="1"/>
              <a:t>to</a:t>
            </a:r>
            <a:r>
              <a:rPr lang="nl-NL" altLang="en-US" sz="2800" b="1" dirty="0"/>
              <a:t> </a:t>
            </a:r>
            <a:r>
              <a:rPr lang="nl-NL" altLang="en-US" sz="2800" b="1" dirty="0" err="1"/>
              <a:t>express</a:t>
            </a:r>
            <a:r>
              <a:rPr lang="nl-NL" altLang="en-US" sz="2800" dirty="0"/>
              <a:t>: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>
                <a:solidFill>
                  <a:srgbClr val="FFFFFF"/>
                </a:solidFill>
              </a:rPr>
              <a:t>Time</a:t>
            </a:r>
            <a:r>
              <a:rPr lang="nl-NL" altLang="en-US" sz="2800" dirty="0">
                <a:solidFill>
                  <a:schemeClr val="tx2"/>
                </a:solidFill>
              </a:rPr>
              <a:t>:</a:t>
            </a:r>
            <a:r>
              <a:rPr lang="nl-NL" altLang="en-US" sz="2800" dirty="0">
                <a:solidFill>
                  <a:srgbClr val="FFFFFF"/>
                </a:solidFill>
              </a:rPr>
              <a:t> </a:t>
            </a:r>
            <a:r>
              <a:rPr lang="nl-NL" altLang="en-US" sz="2800" dirty="0"/>
              <a:t>in, on, at, </a:t>
            </a:r>
            <a:r>
              <a:rPr lang="nl-NL" altLang="en-US" sz="2800" dirty="0" err="1"/>
              <a:t>after</a:t>
            </a:r>
            <a:r>
              <a:rPr lang="nl-NL" altLang="en-US" sz="2800" dirty="0"/>
              <a:t>, </a:t>
            </a:r>
            <a:r>
              <a:rPr lang="nl-NL" altLang="en-US" sz="2800" dirty="0" err="1"/>
              <a:t>before</a:t>
            </a:r>
            <a:r>
              <a:rPr lang="nl-NL" altLang="en-US" sz="2800" dirty="0"/>
              <a:t> etc.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 err="1">
                <a:solidFill>
                  <a:srgbClr val="FFFFFF"/>
                </a:solidFill>
              </a:rPr>
              <a:t>Position</a:t>
            </a:r>
            <a:r>
              <a:rPr lang="nl-NL" altLang="en-US" sz="2800" dirty="0"/>
              <a:t>: in, on, at, </a:t>
            </a:r>
            <a:r>
              <a:rPr lang="nl-NL" altLang="en-US" sz="2800" dirty="0" err="1"/>
              <a:t>behind</a:t>
            </a:r>
            <a:r>
              <a:rPr lang="nl-NL" altLang="en-US" sz="2800" dirty="0"/>
              <a:t>, in front of etc.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 err="1">
                <a:solidFill>
                  <a:srgbClr val="FFFFFF"/>
                </a:solidFill>
              </a:rPr>
              <a:t>Movement</a:t>
            </a:r>
            <a:r>
              <a:rPr lang="nl-NL" altLang="en-US" sz="2800" dirty="0"/>
              <a:t>: </a:t>
            </a:r>
            <a:r>
              <a:rPr lang="nl-NL" altLang="en-US" sz="2800" dirty="0" err="1"/>
              <a:t>into</a:t>
            </a:r>
            <a:r>
              <a:rPr lang="nl-NL" altLang="en-US" sz="2800" dirty="0"/>
              <a:t>, out of, off, </a:t>
            </a:r>
            <a:r>
              <a:rPr lang="nl-NL" altLang="en-US" sz="2800" dirty="0" err="1"/>
              <a:t>across</a:t>
            </a:r>
            <a:r>
              <a:rPr lang="nl-NL" altLang="en-US" sz="2800" dirty="0"/>
              <a:t>, </a:t>
            </a:r>
            <a:r>
              <a:rPr lang="nl-NL" altLang="en-US" sz="2800" dirty="0" err="1"/>
              <a:t>from</a:t>
            </a:r>
            <a:r>
              <a:rPr lang="nl-NL" altLang="en-US" sz="2800" dirty="0"/>
              <a:t> etc.</a:t>
            </a:r>
          </a:p>
          <a:p>
            <a:pPr marL="823913" lvl="1" indent="-457200">
              <a:buFont typeface="+mj-lt"/>
              <a:buAutoNum type="arabicPeriod"/>
            </a:pPr>
            <a:r>
              <a:rPr lang="nl-NL" altLang="en-US" sz="2800" b="1" dirty="0" err="1">
                <a:solidFill>
                  <a:srgbClr val="FFFFFF"/>
                </a:solidFill>
              </a:rPr>
              <a:t>Other</a:t>
            </a:r>
            <a:r>
              <a:rPr lang="nl-NL" altLang="en-US" sz="2800" b="1" dirty="0">
                <a:solidFill>
                  <a:srgbClr val="FFFFFF"/>
                </a:solidFill>
              </a:rPr>
              <a:t> relations</a:t>
            </a:r>
            <a:r>
              <a:rPr lang="nl-NL" altLang="en-US" sz="2800" dirty="0"/>
              <a:t>: </a:t>
            </a:r>
            <a:r>
              <a:rPr lang="nl-NL" altLang="en-US" sz="2800" dirty="0" err="1"/>
              <a:t>by</a:t>
            </a:r>
            <a:r>
              <a:rPr lang="nl-NL" altLang="en-US" sz="2800" dirty="0"/>
              <a:t>, </a:t>
            </a:r>
            <a:r>
              <a:rPr lang="nl-NL" altLang="en-US" sz="2800" dirty="0" err="1"/>
              <a:t>about</a:t>
            </a:r>
            <a:r>
              <a:rPr lang="nl-NL" altLang="en-US" sz="2800" dirty="0"/>
              <a:t> etc.</a:t>
            </a:r>
          </a:p>
          <a:p>
            <a:endParaRPr lang="nl-NL" altLang="en-US" dirty="0"/>
          </a:p>
          <a:p>
            <a:endParaRPr lang="nl-NL" altLang="en-US" dirty="0"/>
          </a:p>
        </p:txBody>
      </p:sp>
    </p:spTree>
    <p:extLst>
      <p:ext uri="{BB962C8B-B14F-4D97-AF65-F5344CB8AC3E}">
        <p14:creationId xmlns:p14="http://schemas.microsoft.com/office/powerpoint/2010/main" val="12265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el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835974"/>
          </a:xfrm>
        </p:spPr>
        <p:txBody>
          <a:bodyPr/>
          <a:lstStyle/>
          <a:p>
            <a:pPr eaLnBrk="1" hangingPunct="1"/>
            <a:r>
              <a:rPr lang="nl-NL" altLang="en-US" sz="5400" dirty="0" err="1"/>
              <a:t>Prepositions</a:t>
            </a:r>
            <a:endParaRPr lang="en-US" alt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720000" y="1543666"/>
            <a:ext cx="10728325" cy="4225310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nl-NL" altLang="en-US" sz="2400" dirty="0">
                <a:solidFill>
                  <a:srgbClr val="FFFFFF"/>
                </a:solidFill>
              </a:rPr>
              <a:t>Can </a:t>
            </a:r>
            <a:r>
              <a:rPr lang="nl-NL" altLang="en-US" sz="2400" dirty="0" err="1">
                <a:solidFill>
                  <a:srgbClr val="FFFFFF"/>
                </a:solidFill>
              </a:rPr>
              <a:t>be</a:t>
            </a:r>
            <a:r>
              <a:rPr lang="nl-NL" altLang="en-US" sz="2400" dirty="0">
                <a:solidFill>
                  <a:srgbClr val="FFFFFF"/>
                </a:solidFill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</a:rPr>
              <a:t>confusing</a:t>
            </a:r>
            <a:r>
              <a:rPr lang="nl-NL" altLang="en-US" sz="2400" dirty="0">
                <a:solidFill>
                  <a:srgbClr val="FFFFFF"/>
                </a:solidFill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</a:rPr>
              <a:t>for</a:t>
            </a:r>
            <a:r>
              <a:rPr lang="nl-NL" altLang="en-US" sz="2400" dirty="0">
                <a:solidFill>
                  <a:srgbClr val="FFFFFF"/>
                </a:solidFill>
              </a:rPr>
              <a:t> Dutch </a:t>
            </a:r>
            <a:r>
              <a:rPr lang="nl-NL" altLang="en-US" sz="2400" dirty="0" err="1">
                <a:solidFill>
                  <a:srgbClr val="FFFFFF"/>
                </a:solidFill>
              </a:rPr>
              <a:t>learners</a:t>
            </a:r>
            <a:r>
              <a:rPr lang="nl-NL" altLang="en-US" sz="2400" dirty="0">
                <a:solidFill>
                  <a:srgbClr val="FFFFFF"/>
                </a:solidFill>
              </a:rPr>
              <a:t> as </a:t>
            </a:r>
            <a:r>
              <a:rPr lang="nl-NL" altLang="en-US" sz="2400" dirty="0" err="1">
                <a:solidFill>
                  <a:srgbClr val="FFFFFF"/>
                </a:solidFill>
              </a:rPr>
              <a:t>they</a:t>
            </a:r>
            <a:r>
              <a:rPr lang="nl-NL" altLang="en-US" sz="2400" dirty="0">
                <a:solidFill>
                  <a:srgbClr val="FFFFFF"/>
                </a:solidFill>
              </a:rPr>
              <a:t> are </a:t>
            </a:r>
            <a:r>
              <a:rPr lang="nl-NL" altLang="en-US" sz="2400" dirty="0" err="1">
                <a:solidFill>
                  <a:srgbClr val="FFFFFF"/>
                </a:solidFill>
              </a:rPr>
              <a:t>not</a:t>
            </a:r>
            <a:r>
              <a:rPr lang="nl-NL" altLang="en-US" sz="2400" dirty="0">
                <a:solidFill>
                  <a:srgbClr val="FFFFFF"/>
                </a:solidFill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</a:rPr>
              <a:t>always</a:t>
            </a:r>
            <a:r>
              <a:rPr lang="nl-NL" altLang="en-US" sz="2400" dirty="0">
                <a:solidFill>
                  <a:srgbClr val="FFFFFF"/>
                </a:solidFill>
              </a:rPr>
              <a:t> the </a:t>
            </a:r>
            <a:r>
              <a:rPr lang="nl-NL" altLang="en-US" sz="2400" dirty="0" err="1">
                <a:solidFill>
                  <a:srgbClr val="FFFFFF"/>
                </a:solidFill>
              </a:rPr>
              <a:t>same</a:t>
            </a:r>
            <a:r>
              <a:rPr lang="nl-NL" altLang="en-US" sz="2400" dirty="0">
                <a:solidFill>
                  <a:srgbClr val="FFFFFF"/>
                </a:solidFill>
              </a:rPr>
              <a:t> in </a:t>
            </a:r>
            <a:r>
              <a:rPr lang="nl-NL" altLang="en-US" sz="2400" dirty="0" err="1">
                <a:solidFill>
                  <a:srgbClr val="FFFFFF"/>
                </a:solidFill>
              </a:rPr>
              <a:t>translation</a:t>
            </a:r>
            <a:endParaRPr lang="nl-NL" altLang="en-US" sz="2400" dirty="0">
              <a:solidFill>
                <a:srgbClr val="FFFFFF"/>
              </a:solidFill>
            </a:endParaRPr>
          </a:p>
          <a:p>
            <a:pPr lvl="1" eaLnBrk="1" hangingPunct="1"/>
            <a:r>
              <a:rPr lang="nl-NL" altLang="en-US" sz="2400" dirty="0">
                <a:solidFill>
                  <a:srgbClr val="FFFFFF"/>
                </a:solidFill>
              </a:rPr>
              <a:t>He is </a:t>
            </a:r>
            <a:r>
              <a:rPr lang="nl-NL" altLang="en-US" sz="2400" b="1" dirty="0">
                <a:solidFill>
                  <a:srgbClr val="FFFF00"/>
                </a:solidFill>
              </a:rPr>
              <a:t>in</a:t>
            </a:r>
            <a:r>
              <a:rPr lang="nl-NL" altLang="en-US" sz="2400" dirty="0">
                <a:solidFill>
                  <a:srgbClr val="FFFFFF"/>
                </a:solidFill>
              </a:rPr>
              <a:t> the garden 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 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hij is </a:t>
            </a:r>
            <a:r>
              <a:rPr lang="nl-NL" altLang="en-US" sz="2400" b="1" i="1" dirty="0">
                <a:solidFill>
                  <a:srgbClr val="FFFF00"/>
                </a:solidFill>
                <a:sym typeface="Wingdings" pitchFamily="2" charset="2"/>
              </a:rPr>
              <a:t>in</a:t>
            </a:r>
            <a:r>
              <a:rPr lang="nl-NL" altLang="en-US" sz="2400" i="1" dirty="0">
                <a:solidFill>
                  <a:srgbClr val="FFFF00"/>
                </a:solidFill>
                <a:sym typeface="Wingdings" pitchFamily="2" charset="2"/>
              </a:rPr>
              <a:t>  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de tuin</a:t>
            </a:r>
          </a:p>
          <a:p>
            <a:pPr lvl="1" eaLnBrk="1" hangingPunct="1"/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He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will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be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there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b="1" dirty="0">
                <a:solidFill>
                  <a:srgbClr val="FFFF00"/>
                </a:solidFill>
                <a:sym typeface="Wingdings" pitchFamily="2" charset="2"/>
              </a:rPr>
              <a:t>in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5 minutes  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hij is er </a:t>
            </a:r>
            <a:r>
              <a:rPr lang="nl-NL" altLang="en-US" sz="2400" b="1" i="1" dirty="0">
                <a:solidFill>
                  <a:srgbClr val="FFFF00"/>
                </a:solidFill>
                <a:sym typeface="Wingdings" pitchFamily="2" charset="2"/>
              </a:rPr>
              <a:t>over</a:t>
            </a:r>
            <a:r>
              <a:rPr lang="nl-NL" altLang="en-US" sz="2400" i="1" dirty="0">
                <a:solidFill>
                  <a:srgbClr val="FFFFFF"/>
                </a:solidFill>
                <a:sym typeface="Wingdings" pitchFamily="2" charset="2"/>
              </a:rPr>
              <a:t>  5 minuten</a:t>
            </a:r>
          </a:p>
          <a:p>
            <a:pPr lvl="1" eaLnBrk="1" hangingPunct="1"/>
            <a:endParaRPr lang="nl-NL" altLang="en-US" sz="2400" i="1" dirty="0">
              <a:solidFill>
                <a:srgbClr val="FFFFFF"/>
              </a:solidFill>
              <a:sym typeface="Wingdings" pitchFamily="2" charset="2"/>
            </a:endParaRPr>
          </a:p>
          <a:p>
            <a:pPr eaLnBrk="1" hangingPunct="1"/>
            <a:r>
              <a:rPr lang="nl-NL" altLang="en-US" sz="2400" u="sng" dirty="0" err="1">
                <a:solidFill>
                  <a:srgbClr val="FFFFFF"/>
                </a:solidFill>
                <a:sym typeface="Wingdings" pitchFamily="2" charset="2"/>
              </a:rPr>
              <a:t>Study</a:t>
            </a:r>
            <a:r>
              <a:rPr lang="nl-NL" altLang="en-US" sz="2400" u="sng" dirty="0">
                <a:solidFill>
                  <a:srgbClr val="FFFFFF"/>
                </a:solidFill>
                <a:sym typeface="Wingdings" pitchFamily="2" charset="2"/>
              </a:rPr>
              <a:t> the </a:t>
            </a:r>
            <a:r>
              <a:rPr lang="nl-NL" altLang="en-US" sz="2400" u="sng" dirty="0" err="1">
                <a:solidFill>
                  <a:srgbClr val="FFFFFF"/>
                </a:solidFill>
                <a:sym typeface="Wingdings" pitchFamily="2" charset="2"/>
              </a:rPr>
              <a:t>lists</a:t>
            </a:r>
            <a:r>
              <a:rPr lang="nl-NL" altLang="en-US" sz="2400" u="sng" dirty="0">
                <a:solidFill>
                  <a:srgbClr val="FFFFFF"/>
                </a:solidFill>
                <a:sym typeface="Wingdings" pitchFamily="2" charset="2"/>
              </a:rPr>
              <a:t> in the </a:t>
            </a:r>
            <a:r>
              <a:rPr lang="nl-NL" altLang="en-US" sz="2400" u="sng" dirty="0" err="1">
                <a:solidFill>
                  <a:srgbClr val="FFFFFF"/>
                </a:solidFill>
                <a:sym typeface="Wingdings" pitchFamily="2" charset="2"/>
              </a:rPr>
              <a:t>book</a:t>
            </a:r>
            <a:r>
              <a:rPr lang="nl-NL" altLang="en-US" sz="2400" u="sng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u="sng" dirty="0" err="1">
                <a:solidFill>
                  <a:srgbClr val="FFFFFF"/>
                </a:solidFill>
                <a:sym typeface="Wingdings" pitchFamily="2" charset="2"/>
              </a:rPr>
              <a:t>and</a:t>
            </a:r>
            <a:r>
              <a:rPr lang="nl-NL" altLang="en-US" sz="2400" u="sng" dirty="0">
                <a:solidFill>
                  <a:srgbClr val="FFFFFF"/>
                </a:solidFill>
                <a:sym typeface="Wingdings" pitchFamily="2" charset="2"/>
              </a:rPr>
              <a:t> look </a:t>
            </a:r>
            <a:r>
              <a:rPr lang="nl-NL" altLang="en-US" sz="2400" u="sng" dirty="0" err="1">
                <a:solidFill>
                  <a:srgbClr val="FFFFFF"/>
                </a:solidFill>
                <a:sym typeface="Wingdings" pitchFamily="2" charset="2"/>
              </a:rPr>
              <a:t>for</a:t>
            </a:r>
            <a:r>
              <a:rPr lang="nl-NL" altLang="en-US" sz="2400" u="sng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u="sng" dirty="0" err="1">
                <a:solidFill>
                  <a:srgbClr val="FFFFFF"/>
                </a:solidFill>
                <a:sym typeface="Wingdings" pitchFamily="2" charset="2"/>
              </a:rPr>
              <a:t>parallels</a:t>
            </a:r>
            <a:endParaRPr lang="nl-NL" altLang="en-US" sz="2400" u="sng" dirty="0">
              <a:solidFill>
                <a:srgbClr val="FFFFFF"/>
              </a:solidFill>
              <a:sym typeface="Wingdings" pitchFamily="2" charset="2"/>
            </a:endParaRPr>
          </a:p>
          <a:p>
            <a:pPr lvl="1" eaLnBrk="1" hangingPunct="1"/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If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it’s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b="1" dirty="0">
                <a:solidFill>
                  <a:srgbClr val="FFFF00"/>
                </a:solidFill>
                <a:sym typeface="Wingdings" pitchFamily="2" charset="2"/>
              </a:rPr>
              <a:t>in</a:t>
            </a:r>
            <a:r>
              <a:rPr lang="nl-NL" altLang="en-US" sz="2400" b="1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September,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it’s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also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b="1" dirty="0">
                <a:solidFill>
                  <a:srgbClr val="FFFF00"/>
                </a:solidFill>
                <a:sym typeface="Wingdings" pitchFamily="2" charset="2"/>
              </a:rPr>
              <a:t>in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October</a:t>
            </a:r>
            <a:endParaRPr lang="nl-NL" altLang="en-US" sz="2400" dirty="0">
              <a:solidFill>
                <a:srgbClr val="FFFFFF"/>
              </a:solidFill>
              <a:sym typeface="Wingdings" pitchFamily="2" charset="2"/>
            </a:endParaRPr>
          </a:p>
          <a:p>
            <a:pPr lvl="1" eaLnBrk="1" hangingPunct="1"/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If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it’s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b="1" dirty="0">
                <a:solidFill>
                  <a:srgbClr val="FFFF00"/>
                </a:solidFill>
                <a:sym typeface="Wingdings" pitchFamily="2" charset="2"/>
              </a:rPr>
              <a:t>at 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lunch,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it’s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also</a:t>
            </a:r>
            <a:r>
              <a:rPr lang="nl-NL" altLang="en-US" sz="2400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b="1" dirty="0">
                <a:solidFill>
                  <a:srgbClr val="FFFF00"/>
                </a:solidFill>
                <a:sym typeface="Wingdings" pitchFamily="2" charset="2"/>
              </a:rPr>
              <a:t>at</a:t>
            </a:r>
            <a:r>
              <a:rPr lang="nl-NL" altLang="en-US" sz="2400" b="1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nl-NL" altLang="en-US" sz="2400" dirty="0" err="1">
                <a:solidFill>
                  <a:srgbClr val="FFFFFF"/>
                </a:solidFill>
                <a:sym typeface="Wingdings" pitchFamily="2" charset="2"/>
              </a:rPr>
              <a:t>dinner</a:t>
            </a:r>
            <a:endParaRPr lang="nl-NL" altLang="en-US" sz="2400" dirty="0">
              <a:solidFill>
                <a:srgbClr val="FFFFFF"/>
              </a:solidFill>
              <a:sym typeface="Wingdings" pitchFamily="2" charset="2"/>
            </a:endParaRPr>
          </a:p>
          <a:p>
            <a:pPr marL="457200" lvl="1" indent="0" eaLnBrk="1" hangingPunct="1">
              <a:buNone/>
            </a:pPr>
            <a:endParaRPr lang="nl-NL" altLang="en-US" sz="2400" dirty="0">
              <a:solidFill>
                <a:srgbClr val="FFFFFF"/>
              </a:solidFill>
              <a:sym typeface="Wingdings" pitchFamily="2" charset="2"/>
            </a:endParaRPr>
          </a:p>
          <a:p>
            <a:pPr eaLnBrk="1" hangingPunct="1"/>
            <a:r>
              <a:rPr lang="en-US" altLang="en-US" sz="2400" dirty="0">
                <a:solidFill>
                  <a:srgbClr val="FFFFFF"/>
                </a:solidFill>
              </a:rPr>
              <a:t>Other ways to learn them</a:t>
            </a:r>
          </a:p>
          <a:p>
            <a:pPr lvl="1" eaLnBrk="1" hangingPunct="1"/>
            <a:r>
              <a:rPr lang="en-US" altLang="en-US" sz="2400" dirty="0">
                <a:solidFill>
                  <a:srgbClr val="FFFFFF"/>
                </a:solidFill>
              </a:rPr>
              <a:t>Dictionary </a:t>
            </a:r>
          </a:p>
          <a:p>
            <a:pPr lvl="1" eaLnBrk="1" hangingPunct="1"/>
            <a:r>
              <a:rPr lang="en-US" altLang="en-US" sz="2400" dirty="0">
                <a:solidFill>
                  <a:srgbClr val="FFFFFF"/>
                </a:solidFill>
              </a:rPr>
              <a:t>Read a lot </a:t>
            </a:r>
          </a:p>
          <a:p>
            <a:pPr lvl="1" eaLnBrk="1" hangingPunct="1"/>
            <a:r>
              <a:rPr lang="en-US" altLang="en-US" sz="2400" dirty="0">
                <a:solidFill>
                  <a:srgbClr val="FFFFFF"/>
                </a:solidFill>
              </a:rPr>
              <a:t>Learn often used phrases by heart</a:t>
            </a:r>
          </a:p>
        </p:txBody>
      </p:sp>
    </p:spTree>
    <p:extLst>
      <p:ext uri="{BB962C8B-B14F-4D97-AF65-F5344CB8AC3E}">
        <p14:creationId xmlns:p14="http://schemas.microsoft.com/office/powerpoint/2010/main" val="249705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B950CAB9-F0AE-414E-805C-776919054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27C80BC-190C-4813-9BAE-C4B56C5C7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42" y="633600"/>
            <a:ext cx="3095626" cy="1477328"/>
          </a:xfrm>
        </p:spPr>
        <p:txBody>
          <a:bodyPr>
            <a:normAutofit/>
          </a:bodyPr>
          <a:lstStyle/>
          <a:p>
            <a:r>
              <a:rPr lang="nl-NL" sz="4000" dirty="0" err="1">
                <a:solidFill>
                  <a:schemeClr val="tx2"/>
                </a:solidFill>
              </a:rPr>
              <a:t>Confusing</a:t>
            </a:r>
            <a:r>
              <a:rPr lang="nl-NL" sz="4000" dirty="0">
                <a:solidFill>
                  <a:schemeClr val="tx2"/>
                </a:solidFill>
              </a:rPr>
              <a:t> cases –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8272" y="633600"/>
            <a:ext cx="7830054" cy="27192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dirty="0" err="1">
                <a:solidFill>
                  <a:schemeClr val="tx2"/>
                </a:solidFill>
              </a:rPr>
              <a:t>Some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prepositions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that</a:t>
            </a:r>
            <a:r>
              <a:rPr lang="nl-NL" dirty="0">
                <a:solidFill>
                  <a:schemeClr val="tx2"/>
                </a:solidFill>
              </a:rPr>
              <a:t> look </a:t>
            </a:r>
            <a:r>
              <a:rPr lang="nl-NL" dirty="0" err="1">
                <a:solidFill>
                  <a:schemeClr val="tx2"/>
                </a:solidFill>
              </a:rPr>
              <a:t>alike</a:t>
            </a:r>
            <a:r>
              <a:rPr lang="nl-NL" dirty="0">
                <a:solidFill>
                  <a:schemeClr val="tx2"/>
                </a:solidFill>
              </a:rPr>
              <a:t> or translate </a:t>
            </a:r>
            <a:r>
              <a:rPr lang="nl-NL" dirty="0" err="1">
                <a:solidFill>
                  <a:schemeClr val="tx2"/>
                </a:solidFill>
              </a:rPr>
              <a:t>to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same</a:t>
            </a:r>
            <a:r>
              <a:rPr lang="nl-NL" dirty="0">
                <a:solidFill>
                  <a:schemeClr val="tx2"/>
                </a:solidFill>
              </a:rPr>
              <a:t> Dutch word are </a:t>
            </a:r>
            <a:r>
              <a:rPr lang="nl-NL" dirty="0" err="1">
                <a:solidFill>
                  <a:schemeClr val="tx2"/>
                </a:solidFill>
              </a:rPr>
              <a:t>discussed</a:t>
            </a:r>
            <a:r>
              <a:rPr lang="nl-NL" dirty="0">
                <a:solidFill>
                  <a:schemeClr val="tx2"/>
                </a:solidFill>
              </a:rPr>
              <a:t> on </a:t>
            </a:r>
            <a:r>
              <a:rPr lang="nl-NL" dirty="0" err="1">
                <a:solidFill>
                  <a:schemeClr val="tx2"/>
                </a:solidFill>
              </a:rPr>
              <a:t>the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following</a:t>
            </a:r>
            <a:r>
              <a:rPr lang="nl-NL" dirty="0">
                <a:solidFill>
                  <a:schemeClr val="tx2"/>
                </a:solidFill>
              </a:rPr>
              <a:t> slides</a:t>
            </a:r>
          </a:p>
          <a:p>
            <a:pPr marL="0" indent="0">
              <a:lnSpc>
                <a:spcPct val="110000"/>
              </a:lnSpc>
              <a:buNone/>
            </a:pPr>
            <a:endParaRPr lang="nl-NL" dirty="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nl-NL" dirty="0" err="1">
                <a:solidFill>
                  <a:schemeClr val="tx2"/>
                </a:solidFill>
              </a:rPr>
              <a:t>After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that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some</a:t>
            </a:r>
            <a:r>
              <a:rPr lang="nl-NL" dirty="0">
                <a:solidFill>
                  <a:schemeClr val="tx2"/>
                </a:solidFill>
              </a:rPr>
              <a:t> common mistakes </a:t>
            </a:r>
            <a:r>
              <a:rPr lang="nl-NL" dirty="0" err="1">
                <a:solidFill>
                  <a:schemeClr val="tx2"/>
                </a:solidFill>
              </a:rPr>
              <a:t>based</a:t>
            </a:r>
            <a:r>
              <a:rPr lang="nl-NL" dirty="0">
                <a:solidFill>
                  <a:schemeClr val="tx2"/>
                </a:solidFill>
              </a:rPr>
              <a:t> on ‘</a:t>
            </a:r>
            <a:r>
              <a:rPr lang="nl-NL" dirty="0" err="1">
                <a:solidFill>
                  <a:schemeClr val="tx2"/>
                </a:solidFill>
              </a:rPr>
              <a:t>false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friends</a:t>
            </a:r>
            <a:r>
              <a:rPr lang="nl-NL" dirty="0">
                <a:solidFill>
                  <a:schemeClr val="tx2"/>
                </a:solidFill>
              </a:rPr>
              <a:t>’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nl-NL" dirty="0">
                <a:solidFill>
                  <a:schemeClr val="tx2"/>
                </a:solidFill>
              </a:rPr>
              <a:t>(= </a:t>
            </a:r>
            <a:r>
              <a:rPr lang="nl-NL" dirty="0" err="1">
                <a:solidFill>
                  <a:schemeClr val="tx2"/>
                </a:solidFill>
              </a:rPr>
              <a:t>words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that</a:t>
            </a:r>
            <a:r>
              <a:rPr lang="nl-NL" dirty="0">
                <a:solidFill>
                  <a:schemeClr val="tx2"/>
                </a:solidFill>
              </a:rPr>
              <a:t> look </a:t>
            </a:r>
            <a:r>
              <a:rPr lang="nl-NL" dirty="0" err="1">
                <a:solidFill>
                  <a:schemeClr val="tx2"/>
                </a:solidFill>
              </a:rPr>
              <a:t>alike</a:t>
            </a:r>
            <a:r>
              <a:rPr lang="nl-NL" dirty="0">
                <a:solidFill>
                  <a:schemeClr val="tx2"/>
                </a:solidFill>
              </a:rPr>
              <a:t> in </a:t>
            </a:r>
            <a:r>
              <a:rPr lang="nl-NL" dirty="0" err="1">
                <a:solidFill>
                  <a:schemeClr val="tx2"/>
                </a:solidFill>
              </a:rPr>
              <a:t>two</a:t>
            </a:r>
            <a:r>
              <a:rPr lang="nl-NL" dirty="0">
                <a:solidFill>
                  <a:schemeClr val="tx2"/>
                </a:solidFill>
              </a:rPr>
              <a:t> different </a:t>
            </a:r>
            <a:r>
              <a:rPr lang="nl-NL" dirty="0" err="1">
                <a:solidFill>
                  <a:schemeClr val="tx2"/>
                </a:solidFill>
              </a:rPr>
              <a:t>languages</a:t>
            </a:r>
            <a:r>
              <a:rPr lang="nl-NL" dirty="0">
                <a:solidFill>
                  <a:schemeClr val="tx2"/>
                </a:solidFill>
              </a:rPr>
              <a:t> but </a:t>
            </a:r>
            <a:r>
              <a:rPr lang="nl-NL" dirty="0" err="1">
                <a:solidFill>
                  <a:schemeClr val="tx2"/>
                </a:solidFill>
              </a:rPr>
              <a:t>don’t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mean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same</a:t>
            </a:r>
            <a:r>
              <a:rPr lang="nl-NL" dirty="0">
                <a:solidFill>
                  <a:schemeClr val="tx2"/>
                </a:solidFill>
              </a:rPr>
              <a:t>) are </a:t>
            </a:r>
            <a:r>
              <a:rPr lang="nl-NL" dirty="0" err="1">
                <a:solidFill>
                  <a:schemeClr val="tx2"/>
                </a:solidFill>
              </a:rPr>
              <a:t>discussed</a:t>
            </a:r>
            <a:endParaRPr lang="nl-NL" dirty="0">
              <a:solidFill>
                <a:schemeClr val="tx2"/>
              </a:solidFill>
            </a:endParaRPr>
          </a:p>
        </p:txBody>
      </p:sp>
      <p:pic>
        <p:nvPicPr>
          <p:cNvPr id="15" name="Picture 4" descr="Scribbles on a notebook">
            <a:extLst>
              <a:ext uri="{FF2B5EF4-FFF2-40B4-BE49-F238E27FC236}">
                <a16:creationId xmlns:a16="http://schemas.microsoft.com/office/drawing/2014/main" id="{A0D5E85F-DB46-5398-54F1-AD6E5F9C81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19" b="30111"/>
          <a:stretch/>
        </p:blipFill>
        <p:spPr>
          <a:xfrm>
            <a:off x="20" y="3932902"/>
            <a:ext cx="12191980" cy="2925098"/>
          </a:xfrm>
          <a:custGeom>
            <a:avLst/>
            <a:gdLst/>
            <a:ahLst/>
            <a:cxnLst/>
            <a:rect l="l" t="t" r="r" b="b"/>
            <a:pathLst>
              <a:path w="12192000" h="4273465">
                <a:moveTo>
                  <a:pt x="5674827" y="107"/>
                </a:moveTo>
                <a:cubicBezTo>
                  <a:pt x="6770307" y="-2269"/>
                  <a:pt x="8062055" y="35744"/>
                  <a:pt x="8986322" y="35744"/>
                </a:cubicBezTo>
                <a:cubicBezTo>
                  <a:pt x="10233527" y="52639"/>
                  <a:pt x="11168930" y="69533"/>
                  <a:pt x="12015248" y="52639"/>
                </a:cubicBezTo>
                <a:lnTo>
                  <a:pt x="12192000" y="60460"/>
                </a:lnTo>
                <a:lnTo>
                  <a:pt x="12192000" y="4273465"/>
                </a:lnTo>
                <a:lnTo>
                  <a:pt x="0" y="4273465"/>
                </a:lnTo>
                <a:lnTo>
                  <a:pt x="0" y="65877"/>
                </a:lnTo>
                <a:lnTo>
                  <a:pt x="107413" y="52639"/>
                </a:lnTo>
                <a:cubicBezTo>
                  <a:pt x="716168" y="1955"/>
                  <a:pt x="1725810" y="137111"/>
                  <a:pt x="4665650" y="18850"/>
                </a:cubicBezTo>
                <a:cubicBezTo>
                  <a:pt x="4966315" y="6179"/>
                  <a:pt x="5309667" y="899"/>
                  <a:pt x="5674827" y="10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4562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520" name="Rectangle 64519">
            <a:extLst>
              <a:ext uri="{FF2B5EF4-FFF2-40B4-BE49-F238E27FC236}">
                <a16:creationId xmlns:a16="http://schemas.microsoft.com/office/drawing/2014/main" id="{5173AA7E-FB13-4C7C-BE86-ECAD9E590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22" name="Rectangle 64521">
            <a:extLst>
              <a:ext uri="{FF2B5EF4-FFF2-40B4-BE49-F238E27FC236}">
                <a16:creationId xmlns:a16="http://schemas.microsoft.com/office/drawing/2014/main" id="{1B6EC153-DED3-475F-9AE0-D69887DF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24" name="Freeform: Shape 64523">
            <a:extLst>
              <a:ext uri="{FF2B5EF4-FFF2-40B4-BE49-F238E27FC236}">
                <a16:creationId xmlns:a16="http://schemas.microsoft.com/office/drawing/2014/main" id="{A8756A1B-6950-48DF-9439-2314515C3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0"/>
            <a:ext cx="4789061" cy="6858000"/>
          </a:xfrm>
          <a:custGeom>
            <a:avLst/>
            <a:gdLst>
              <a:gd name="connsiteX0" fmla="*/ 0 w 4789061"/>
              <a:gd name="connsiteY0" fmla="*/ 0 h 6858000"/>
              <a:gd name="connsiteX1" fmla="*/ 4248416 w 4789061"/>
              <a:gd name="connsiteY1" fmla="*/ 0 h 6858000"/>
              <a:gd name="connsiteX2" fmla="*/ 4442571 w 4789061"/>
              <a:gd name="connsiteY2" fmla="*/ 413260 h 6858000"/>
              <a:gd name="connsiteX3" fmla="*/ 4652176 w 4789061"/>
              <a:gd name="connsiteY3" fmla="*/ 4153439 h 6858000"/>
              <a:gd name="connsiteX4" fmla="*/ 3478386 w 4789061"/>
              <a:gd name="connsiteY4" fmla="*/ 6758958 h 6858000"/>
              <a:gd name="connsiteX5" fmla="*/ 3423920 w 4789061"/>
              <a:gd name="connsiteY5" fmla="*/ 6858000 h 6858000"/>
              <a:gd name="connsiteX6" fmla="*/ 0 w 47890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9061" h="6858000">
                <a:moveTo>
                  <a:pt x="0" y="0"/>
                </a:moveTo>
                <a:lnTo>
                  <a:pt x="4248416" y="0"/>
                </a:lnTo>
                <a:lnTo>
                  <a:pt x="4442571" y="413260"/>
                </a:lnTo>
                <a:cubicBezTo>
                  <a:pt x="5071387" y="1505896"/>
                  <a:pt x="4652176" y="3775219"/>
                  <a:pt x="4652176" y="4153439"/>
                </a:cubicBezTo>
                <a:cubicBezTo>
                  <a:pt x="4652176" y="5624297"/>
                  <a:pt x="3855675" y="6170615"/>
                  <a:pt x="3478386" y="6758958"/>
                </a:cubicBezTo>
                <a:lnTo>
                  <a:pt x="342392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19200"/>
            <a:ext cx="3095626" cy="3241599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en-US" sz="4000" dirty="0" err="1"/>
              <a:t>Confusing</a:t>
            </a:r>
            <a:r>
              <a:rPr lang="nl-NL" altLang="en-US" sz="4000" dirty="0"/>
              <a:t> cases - II</a:t>
            </a:r>
          </a:p>
        </p:txBody>
      </p:sp>
      <p:sp>
        <p:nvSpPr>
          <p:cNvPr id="64526" name="Freeform 10">
            <a:extLst>
              <a:ext uri="{FF2B5EF4-FFF2-40B4-BE49-F238E27FC236}">
                <a16:creationId xmlns:a16="http://schemas.microsoft.com/office/drawing/2014/main" id="{F85A6BBD-7399-450C-8FA5-F8AE24156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4394617">
            <a:off x="2970833" y="4308884"/>
            <a:ext cx="2069886" cy="1937439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6444000" y="633599"/>
            <a:ext cx="4991962" cy="5914287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During or </a:t>
            </a:r>
            <a:r>
              <a:rPr lang="nl-NL" altLang="en-US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?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= </a:t>
            </a:r>
            <a:r>
              <a:rPr lang="nl-NL" altLang="en-US" dirty="0" err="1"/>
              <a:t>how</a:t>
            </a:r>
            <a:r>
              <a:rPr lang="nl-NL" altLang="en-US" dirty="0"/>
              <a:t> long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He </a:t>
            </a:r>
            <a:r>
              <a:rPr lang="nl-NL" altLang="en-US" dirty="0" err="1"/>
              <a:t>worked</a:t>
            </a:r>
            <a:r>
              <a:rPr lang="nl-NL" altLang="en-US" dirty="0"/>
              <a:t> here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/>
              <a:t> 2 </a:t>
            </a:r>
            <a:r>
              <a:rPr lang="nl-NL" altLang="en-US" dirty="0" err="1"/>
              <a:t>months</a:t>
            </a:r>
            <a:r>
              <a:rPr lang="nl-NL" altLang="en-US" dirty="0"/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During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= </a:t>
            </a:r>
            <a:r>
              <a:rPr lang="nl-NL" altLang="en-US" dirty="0" err="1"/>
              <a:t>when</a:t>
            </a:r>
            <a:endParaRPr lang="nl-NL" altLang="en-US" dirty="0"/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We met </a:t>
            </a:r>
            <a:r>
              <a:rPr lang="nl-NL" altLang="en-US" dirty="0" err="1"/>
              <a:t>some</a:t>
            </a:r>
            <a:r>
              <a:rPr lang="nl-NL" altLang="en-US" dirty="0"/>
              <a:t> </a:t>
            </a:r>
            <a:r>
              <a:rPr lang="nl-NL" altLang="en-US" dirty="0" err="1"/>
              <a:t>nice</a:t>
            </a:r>
            <a:r>
              <a:rPr lang="nl-NL" altLang="en-US" dirty="0"/>
              <a:t> </a:t>
            </a:r>
            <a:r>
              <a:rPr lang="nl-NL" altLang="en-US" dirty="0" err="1"/>
              <a:t>people</a:t>
            </a:r>
            <a:r>
              <a:rPr lang="nl-NL" altLang="en-US" dirty="0"/>
              <a:t>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during</a:t>
            </a:r>
            <a:r>
              <a:rPr lang="nl-NL" altLang="en-US" dirty="0"/>
              <a:t> </a:t>
            </a:r>
            <a:r>
              <a:rPr lang="nl-NL" altLang="en-US" dirty="0" err="1"/>
              <a:t>our</a:t>
            </a:r>
            <a:r>
              <a:rPr lang="nl-NL" altLang="en-US" dirty="0"/>
              <a:t> </a:t>
            </a:r>
            <a:r>
              <a:rPr lang="nl-NL" altLang="en-US" dirty="0" err="1"/>
              <a:t>holiday</a:t>
            </a:r>
            <a:r>
              <a:rPr lang="nl-NL" altLang="en-US" dirty="0"/>
              <a:t>.</a:t>
            </a:r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nl-NL" altLang="en-US" dirty="0"/>
          </a:p>
          <a:p>
            <a:pPr eaLnBrk="1" hangingPunct="1">
              <a:lnSpc>
                <a:spcPct val="110000"/>
              </a:lnSpc>
            </a:pPr>
            <a:r>
              <a:rPr lang="nl-NL" altLang="en-US" dirty="0" err="1"/>
              <a:t>Compare</a:t>
            </a:r>
            <a:r>
              <a:rPr lang="nl-NL" altLang="en-US" dirty="0"/>
              <a:t>: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I </a:t>
            </a:r>
            <a:r>
              <a:rPr lang="nl-NL" altLang="en-US" dirty="0" err="1"/>
              <a:t>fell</a:t>
            </a:r>
            <a:r>
              <a:rPr lang="nl-NL" altLang="en-US" dirty="0"/>
              <a:t> </a:t>
            </a:r>
            <a:r>
              <a:rPr lang="nl-NL" altLang="en-US" dirty="0" err="1"/>
              <a:t>asleep</a:t>
            </a:r>
            <a:r>
              <a:rPr lang="nl-NL" altLang="en-US" dirty="0"/>
              <a:t> </a:t>
            </a:r>
            <a:r>
              <a:rPr lang="nl-NL" altLang="en-US" b="1" dirty="0" err="1"/>
              <a:t>during</a:t>
            </a:r>
            <a:r>
              <a:rPr lang="nl-NL" altLang="en-US" dirty="0"/>
              <a:t> </a:t>
            </a:r>
            <a:r>
              <a:rPr lang="nl-NL" altLang="en-US" dirty="0" err="1"/>
              <a:t>the</a:t>
            </a:r>
            <a:r>
              <a:rPr lang="nl-NL" altLang="en-US" dirty="0"/>
              <a:t> movie. I </a:t>
            </a:r>
            <a:r>
              <a:rPr lang="nl-NL" altLang="en-US" dirty="0" err="1"/>
              <a:t>slept</a:t>
            </a:r>
            <a:r>
              <a:rPr lang="nl-NL" altLang="en-US" dirty="0"/>
              <a:t> </a:t>
            </a:r>
            <a:r>
              <a:rPr lang="nl-NL" altLang="en-US" b="1" dirty="0" err="1"/>
              <a:t>for</a:t>
            </a:r>
            <a:r>
              <a:rPr lang="nl-NL" altLang="en-US" dirty="0"/>
              <a:t> half </a:t>
            </a:r>
            <a:r>
              <a:rPr lang="nl-NL" altLang="en-US" dirty="0" err="1"/>
              <a:t>an</a:t>
            </a:r>
            <a:r>
              <a:rPr lang="nl-NL" altLang="en-US" dirty="0"/>
              <a:t> </a:t>
            </a:r>
            <a:r>
              <a:rPr lang="nl-NL" altLang="en-US" dirty="0" err="1"/>
              <a:t>hour</a:t>
            </a:r>
            <a:r>
              <a:rPr lang="nl-NL" altLang="en-US" dirty="0"/>
              <a:t>.</a:t>
            </a:r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nl-NL" altLang="en-US" dirty="0"/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nl-NL" altLang="en-US" dirty="0"/>
          </a:p>
          <a:p>
            <a:pPr eaLnBrk="1" hangingPunct="1">
              <a:lnSpc>
                <a:spcPct val="110000"/>
              </a:lnSpc>
            </a:pPr>
            <a:r>
              <a:rPr lang="nl-NL" altLang="en-US" dirty="0" err="1"/>
              <a:t>Note</a:t>
            </a:r>
            <a:r>
              <a:rPr lang="nl-NL" altLang="en-US" dirty="0"/>
              <a:t>: </a:t>
            </a:r>
            <a:r>
              <a:rPr lang="nl-NL" altLang="en-US" b="1" dirty="0" err="1"/>
              <a:t>while</a:t>
            </a:r>
            <a:r>
              <a:rPr lang="nl-NL" altLang="en-US" dirty="0"/>
              <a:t> is </a:t>
            </a:r>
            <a:r>
              <a:rPr lang="nl-NL" altLang="en-US" u="sng" dirty="0" err="1"/>
              <a:t>not</a:t>
            </a:r>
            <a:r>
              <a:rPr lang="nl-NL" altLang="en-US" dirty="0"/>
              <a:t> a </a:t>
            </a:r>
            <a:r>
              <a:rPr lang="nl-NL" altLang="en-US" dirty="0" err="1"/>
              <a:t>preposition</a:t>
            </a:r>
            <a:r>
              <a:rPr lang="nl-NL" altLang="en-US" dirty="0"/>
              <a:t>, but a </a:t>
            </a:r>
            <a:r>
              <a:rPr lang="nl-NL" altLang="en-US" dirty="0" err="1"/>
              <a:t>linking</a:t>
            </a:r>
            <a:r>
              <a:rPr lang="nl-NL" altLang="en-US" dirty="0"/>
              <a:t> word, </a:t>
            </a:r>
            <a:r>
              <a:rPr lang="nl-NL" altLang="en-US" dirty="0" err="1"/>
              <a:t>so</a:t>
            </a:r>
            <a:r>
              <a:rPr lang="nl-NL" altLang="en-US" dirty="0"/>
              <a:t> </a:t>
            </a:r>
            <a:r>
              <a:rPr lang="nl-NL" altLang="en-US" dirty="0" err="1"/>
              <a:t>it’s</a:t>
            </a:r>
            <a:r>
              <a:rPr lang="nl-NL" altLang="en-US" dirty="0"/>
              <a:t> </a:t>
            </a:r>
            <a:r>
              <a:rPr lang="nl-NL" altLang="en-US" dirty="0" err="1"/>
              <a:t>followed</a:t>
            </a:r>
            <a:r>
              <a:rPr lang="nl-NL" altLang="en-US" dirty="0"/>
              <a:t> </a:t>
            </a:r>
            <a:r>
              <a:rPr lang="nl-NL" altLang="en-US" dirty="0" err="1"/>
              <a:t>by</a:t>
            </a:r>
            <a:r>
              <a:rPr lang="nl-NL" altLang="en-US" dirty="0"/>
              <a:t> a clause/</a:t>
            </a:r>
            <a:r>
              <a:rPr lang="nl-NL" altLang="en-US" dirty="0" err="1"/>
              <a:t>sentence</a:t>
            </a:r>
            <a:r>
              <a:rPr lang="nl-NL" altLang="en-US" dirty="0"/>
              <a:t> (</a:t>
            </a:r>
            <a:r>
              <a:rPr lang="nl-NL" altLang="en-US" dirty="0" err="1"/>
              <a:t>with</a:t>
            </a:r>
            <a:r>
              <a:rPr lang="nl-NL" altLang="en-US" dirty="0"/>
              <a:t> subject </a:t>
            </a:r>
            <a:r>
              <a:rPr lang="nl-NL" altLang="en-US" dirty="0" err="1"/>
              <a:t>and</a:t>
            </a:r>
            <a:r>
              <a:rPr lang="nl-NL" altLang="en-US" dirty="0"/>
              <a:t> </a:t>
            </a:r>
            <a:r>
              <a:rPr lang="nl-NL" altLang="en-US" dirty="0" err="1"/>
              <a:t>verb</a:t>
            </a:r>
            <a:r>
              <a:rPr lang="nl-NL" altLang="en-US" dirty="0"/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dirty="0"/>
              <a:t>We met </a:t>
            </a:r>
            <a:r>
              <a:rPr lang="nl-NL" altLang="en-US" dirty="0" err="1"/>
              <a:t>some</a:t>
            </a:r>
            <a:r>
              <a:rPr lang="nl-NL" altLang="en-US" dirty="0"/>
              <a:t> </a:t>
            </a:r>
            <a:r>
              <a:rPr lang="nl-NL" altLang="en-US" dirty="0" err="1"/>
              <a:t>nice</a:t>
            </a:r>
            <a:r>
              <a:rPr lang="nl-NL" altLang="en-US" dirty="0"/>
              <a:t> </a:t>
            </a:r>
            <a:r>
              <a:rPr lang="nl-NL" altLang="en-US" dirty="0" err="1"/>
              <a:t>people</a:t>
            </a:r>
            <a:r>
              <a:rPr lang="nl-NL" altLang="en-US" dirty="0"/>
              <a:t> </a:t>
            </a:r>
            <a:r>
              <a:rPr lang="nl-NL" altLang="en-US" b="1" dirty="0" err="1"/>
              <a:t>while</a:t>
            </a:r>
            <a:r>
              <a:rPr lang="nl-NL" altLang="en-US" b="1" dirty="0"/>
              <a:t> </a:t>
            </a:r>
            <a:r>
              <a:rPr lang="nl-NL" altLang="en-US" dirty="0"/>
              <a:t>we </a:t>
            </a:r>
            <a:r>
              <a:rPr lang="nl-NL" altLang="en-US" dirty="0" err="1"/>
              <a:t>were</a:t>
            </a:r>
            <a:r>
              <a:rPr lang="nl-NL" altLang="en-US" dirty="0"/>
              <a:t> on </a:t>
            </a:r>
            <a:r>
              <a:rPr lang="nl-NL" altLang="en-US" dirty="0" err="1"/>
              <a:t>holiday</a:t>
            </a:r>
            <a:r>
              <a:rPr lang="nl-NL" altLang="en-US" dirty="0"/>
              <a:t>.</a:t>
            </a:r>
          </a:p>
          <a:p>
            <a:pPr eaLnBrk="1" hangingPunct="1">
              <a:lnSpc>
                <a:spcPct val="110000"/>
              </a:lnSpc>
            </a:pPr>
            <a:endParaRPr lang="nl-NL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1145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548" name="Rectangle 65543">
            <a:extLst>
              <a:ext uri="{FF2B5EF4-FFF2-40B4-BE49-F238E27FC236}">
                <a16:creationId xmlns:a16="http://schemas.microsoft.com/office/drawing/2014/main" id="{5ED9E2D9-EE69-4775-8CE5-9EAC35AD2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49" name="Rectangle 65545">
            <a:extLst>
              <a:ext uri="{FF2B5EF4-FFF2-40B4-BE49-F238E27FC236}">
                <a16:creationId xmlns:a16="http://schemas.microsoft.com/office/drawing/2014/main" id="{3D75B673-1FA7-415E-8B2E-7A0550C8B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0" y="223654"/>
            <a:ext cx="4991961" cy="1477328"/>
          </a:xfrm>
        </p:spPr>
        <p:txBody>
          <a:bodyPr wrap="square" anchor="ctr">
            <a:normAutofit/>
          </a:bodyPr>
          <a:lstStyle/>
          <a:p>
            <a:pPr eaLnBrk="1" hangingPunct="1"/>
            <a:r>
              <a:rPr lang="nl-NL" altLang="en-US" sz="3600" dirty="0" err="1"/>
              <a:t>Confusing</a:t>
            </a:r>
            <a:r>
              <a:rPr lang="nl-NL" altLang="en-US" sz="3600" dirty="0"/>
              <a:t> cases - III</a:t>
            </a:r>
          </a:p>
        </p:txBody>
      </p:sp>
      <p:pic>
        <p:nvPicPr>
          <p:cNvPr id="3" name="Picture 2" descr="Red dot with arrows pointing to it">
            <a:extLst>
              <a:ext uri="{FF2B5EF4-FFF2-40B4-BE49-F238E27FC236}">
                <a16:creationId xmlns:a16="http://schemas.microsoft.com/office/drawing/2014/main" id="{05296C3B-6E9D-4D7D-B928-ECA0E4BB7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0" r="12838" b="-1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6480000" y="1700982"/>
            <a:ext cx="4991962" cy="4056892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nl-NL" altLang="en-US" sz="2400" dirty="0">
                <a:solidFill>
                  <a:srgbClr val="FFC000"/>
                </a:solidFill>
              </a:rPr>
              <a:t>In</a:t>
            </a:r>
            <a:r>
              <a:rPr lang="nl-NL" altLang="en-US" sz="2400" dirty="0"/>
              <a:t> or </a:t>
            </a:r>
            <a:r>
              <a:rPr lang="nl-NL" altLang="en-US" sz="2400" dirty="0" err="1">
                <a:solidFill>
                  <a:srgbClr val="FFC000"/>
                </a:solidFill>
              </a:rPr>
              <a:t>into</a:t>
            </a:r>
            <a:r>
              <a:rPr lang="nl-NL" altLang="en-US" sz="2400" dirty="0"/>
              <a:t>?</a:t>
            </a:r>
          </a:p>
          <a:p>
            <a:pPr eaLnBrk="1" hangingPunct="1"/>
            <a:r>
              <a:rPr lang="nl-NL" altLang="en-US" sz="2400" b="1" dirty="0">
                <a:solidFill>
                  <a:srgbClr val="FFC000"/>
                </a:solidFill>
              </a:rPr>
              <a:t>In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/>
              <a:t>= </a:t>
            </a:r>
            <a:r>
              <a:rPr lang="nl-NL" altLang="en-US" sz="2400" dirty="0" err="1"/>
              <a:t>position</a:t>
            </a:r>
            <a:endParaRPr lang="nl-NL" altLang="en-US" sz="2400" dirty="0"/>
          </a:p>
          <a:p>
            <a:pPr lvl="1" eaLnBrk="1" hangingPunct="1"/>
            <a:r>
              <a:rPr lang="nl-NL" altLang="en-US" sz="2400" dirty="0" err="1"/>
              <a:t>I’m</a:t>
            </a:r>
            <a:r>
              <a:rPr lang="nl-NL" altLang="en-US" sz="2400" dirty="0"/>
              <a:t> </a:t>
            </a:r>
            <a:r>
              <a:rPr lang="nl-NL" altLang="en-US" sz="2400" b="1" dirty="0">
                <a:solidFill>
                  <a:srgbClr val="FFC000">
                    <a:alpha val="58000"/>
                  </a:srgbClr>
                </a:solidFill>
              </a:rPr>
              <a:t>in</a:t>
            </a:r>
            <a:r>
              <a:rPr lang="nl-NL" altLang="en-US" sz="24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sz="2400" dirty="0" err="1"/>
              <a:t>the</a:t>
            </a:r>
            <a:r>
              <a:rPr lang="nl-NL" altLang="en-US" sz="2400" dirty="0"/>
              <a:t> bathroom.</a:t>
            </a:r>
          </a:p>
          <a:p>
            <a:pPr eaLnBrk="1" hangingPunct="1"/>
            <a:r>
              <a:rPr lang="nl-NL" altLang="en-US" sz="2400" b="1" dirty="0" err="1">
                <a:solidFill>
                  <a:srgbClr val="FFC000">
                    <a:alpha val="58000"/>
                  </a:srgbClr>
                </a:solidFill>
              </a:rPr>
              <a:t>I</a:t>
            </a:r>
            <a:r>
              <a:rPr lang="nl-NL" altLang="en-US" sz="2400" b="1" dirty="0" err="1">
                <a:solidFill>
                  <a:srgbClr val="FFC000"/>
                </a:solidFill>
              </a:rPr>
              <a:t>nto</a:t>
            </a:r>
            <a:r>
              <a:rPr lang="nl-NL" altLang="en-US" sz="2400" dirty="0"/>
              <a:t> = </a:t>
            </a:r>
            <a:r>
              <a:rPr lang="nl-NL" altLang="en-US" sz="2400" dirty="0" err="1"/>
              <a:t>movement</a:t>
            </a:r>
            <a:endParaRPr lang="nl-NL" altLang="en-US" sz="2400" dirty="0"/>
          </a:p>
          <a:p>
            <a:pPr lvl="1" eaLnBrk="1" hangingPunct="1"/>
            <a:r>
              <a:rPr lang="nl-NL" altLang="en-US" sz="2400" dirty="0"/>
              <a:t>He </a:t>
            </a:r>
            <a:r>
              <a:rPr lang="nl-NL" altLang="en-US" sz="2400" dirty="0" err="1"/>
              <a:t>walked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b="1" dirty="0" err="1">
                <a:solidFill>
                  <a:srgbClr val="FFC000"/>
                </a:solidFill>
              </a:rPr>
              <a:t>into</a:t>
            </a:r>
            <a:r>
              <a:rPr lang="nl-NL" altLang="en-US" sz="2400" dirty="0">
                <a:solidFill>
                  <a:srgbClr val="FFC000"/>
                </a:solidFill>
              </a:rPr>
              <a:t> </a:t>
            </a:r>
            <a:r>
              <a:rPr lang="nl-NL" altLang="en-US" sz="2400" dirty="0" err="1"/>
              <a:t>the</a:t>
            </a:r>
            <a:r>
              <a:rPr lang="nl-NL" altLang="en-US" sz="2400" dirty="0"/>
              <a:t> bathroom.</a:t>
            </a:r>
          </a:p>
          <a:p>
            <a:pPr marL="457200" lvl="1" indent="0" eaLnBrk="1" hangingPunct="1">
              <a:buNone/>
            </a:pPr>
            <a:endParaRPr lang="nl-NL" altLang="en-US" sz="2400" dirty="0"/>
          </a:p>
          <a:p>
            <a:pPr eaLnBrk="1" hangingPunct="1"/>
            <a:r>
              <a:rPr lang="nl-NL" altLang="en-US" sz="2400" dirty="0"/>
              <a:t>The </a:t>
            </a:r>
            <a:r>
              <a:rPr lang="nl-NL" altLang="en-US" sz="2400" dirty="0" err="1"/>
              <a:t>opposite</a:t>
            </a:r>
            <a:r>
              <a:rPr lang="nl-NL" altLang="en-US" sz="2400" dirty="0"/>
              <a:t> of </a:t>
            </a:r>
            <a:r>
              <a:rPr lang="nl-NL" altLang="en-US" sz="2400" i="1" dirty="0" err="1"/>
              <a:t>into</a:t>
            </a:r>
            <a:r>
              <a:rPr lang="nl-NL" altLang="en-US" sz="2400" dirty="0"/>
              <a:t> is </a:t>
            </a:r>
            <a:r>
              <a:rPr lang="nl-NL" altLang="en-US" sz="2400" i="1" dirty="0">
                <a:solidFill>
                  <a:srgbClr val="FFC000">
                    <a:alpha val="58000"/>
                  </a:srgbClr>
                </a:solidFill>
              </a:rPr>
              <a:t>out of</a:t>
            </a:r>
          </a:p>
          <a:p>
            <a:pPr lvl="1" eaLnBrk="1" hangingPunct="1"/>
            <a:r>
              <a:rPr lang="nl-NL" altLang="en-US" sz="2400" dirty="0"/>
              <a:t>I </a:t>
            </a:r>
            <a:r>
              <a:rPr lang="nl-NL" altLang="en-US" sz="2400" dirty="0" err="1"/>
              <a:t>told</a:t>
            </a:r>
            <a:r>
              <a:rPr lang="nl-NL" altLang="en-US" sz="2400" dirty="0"/>
              <a:t> </a:t>
            </a:r>
            <a:r>
              <a:rPr lang="nl-NL" altLang="en-US" sz="2400" dirty="0" err="1"/>
              <a:t>him</a:t>
            </a:r>
            <a:r>
              <a:rPr lang="nl-NL" altLang="en-US" sz="2400" dirty="0"/>
              <a:t> </a:t>
            </a:r>
            <a:r>
              <a:rPr lang="nl-NL" altLang="en-US" sz="2400" dirty="0" err="1"/>
              <a:t>to</a:t>
            </a:r>
            <a:r>
              <a:rPr lang="nl-NL" altLang="en-US" sz="2400" dirty="0"/>
              <a:t> get </a:t>
            </a:r>
            <a:r>
              <a:rPr lang="nl-NL" altLang="en-US" sz="2400" b="1" dirty="0">
                <a:solidFill>
                  <a:srgbClr val="FFC000">
                    <a:alpha val="58000"/>
                  </a:srgbClr>
                </a:solidFill>
              </a:rPr>
              <a:t>out of </a:t>
            </a:r>
            <a:r>
              <a:rPr lang="nl-NL" altLang="en-US" sz="2400" dirty="0" err="1"/>
              <a:t>the</a:t>
            </a:r>
            <a:r>
              <a:rPr lang="nl-NL" altLang="en-US" sz="2400" dirty="0"/>
              <a:t> bathroom.</a:t>
            </a:r>
          </a:p>
        </p:txBody>
      </p:sp>
    </p:spTree>
    <p:extLst>
      <p:ext uri="{BB962C8B-B14F-4D97-AF65-F5344CB8AC3E}">
        <p14:creationId xmlns:p14="http://schemas.microsoft.com/office/powerpoint/2010/main" val="3834953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119" name="Rectangle 47118">
            <a:extLst>
              <a:ext uri="{FF2B5EF4-FFF2-40B4-BE49-F238E27FC236}">
                <a16:creationId xmlns:a16="http://schemas.microsoft.com/office/drawing/2014/main" id="{05D1035C-3BF0-4FE0-B3A3-1062F860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06" name="Titel 1"/>
          <p:cNvSpPr>
            <a:spLocks noGrp="1"/>
          </p:cNvSpPr>
          <p:nvPr>
            <p:ph type="title"/>
          </p:nvPr>
        </p:nvSpPr>
        <p:spPr>
          <a:xfrm>
            <a:off x="719998" y="0"/>
            <a:ext cx="4991961" cy="1477328"/>
          </a:xfrm>
        </p:spPr>
        <p:txBody>
          <a:bodyPr wrap="square" anchor="ctr">
            <a:normAutofit/>
          </a:bodyPr>
          <a:lstStyle/>
          <a:p>
            <a:pPr eaLnBrk="1" hangingPunct="1"/>
            <a:r>
              <a:rPr lang="nl-NL" altLang="en-US" sz="3200" dirty="0" err="1"/>
              <a:t>Confusing</a:t>
            </a:r>
            <a:r>
              <a:rPr lang="nl-NL" altLang="en-US" sz="3200" dirty="0"/>
              <a:t> cases - IV</a:t>
            </a:r>
            <a:endParaRPr lang="en-US" altLang="en-US" sz="32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719999" y="1356852"/>
            <a:ext cx="5662937" cy="440102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nl-NL" altLang="en-US" sz="2100" dirty="0" err="1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nl-NL" altLang="en-US" sz="2100" dirty="0">
                <a:solidFill>
                  <a:srgbClr val="FFC000">
                    <a:alpha val="58000"/>
                  </a:srgbClr>
                </a:solidFill>
              </a:rPr>
              <a:t> or </a:t>
            </a:r>
            <a:r>
              <a:rPr lang="nl-NL" altLang="en-US" sz="2100" dirty="0" err="1">
                <a:solidFill>
                  <a:srgbClr val="FFC000">
                    <a:alpha val="58000"/>
                  </a:srgbClr>
                </a:solidFill>
              </a:rPr>
              <a:t>till</a:t>
            </a:r>
            <a:r>
              <a:rPr lang="nl-NL" altLang="en-US" sz="2100" dirty="0">
                <a:solidFill>
                  <a:srgbClr val="FFC000">
                    <a:alpha val="58000"/>
                  </a:srgbClr>
                </a:solidFill>
              </a:rPr>
              <a:t>?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sz="2100" b="1" dirty="0" err="1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nl-NL" altLang="en-US" sz="2100" dirty="0"/>
              <a:t> = </a:t>
            </a:r>
            <a:r>
              <a:rPr lang="nl-NL" altLang="en-US" sz="2100" dirty="0" err="1"/>
              <a:t>movement</a:t>
            </a:r>
            <a:endParaRPr lang="nl-NL" altLang="en-US" sz="2100" dirty="0"/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We </a:t>
            </a:r>
            <a:r>
              <a:rPr lang="nl-NL" altLang="en-US" sz="2100" dirty="0" err="1"/>
              <a:t>drove</a:t>
            </a:r>
            <a:r>
              <a:rPr lang="nl-NL" altLang="en-US" sz="2100" dirty="0"/>
              <a:t> </a:t>
            </a:r>
            <a:r>
              <a:rPr lang="nl-NL" altLang="en-US" sz="2100" b="1" dirty="0" err="1"/>
              <a:t>to</a:t>
            </a:r>
            <a:r>
              <a:rPr lang="nl-NL" altLang="en-US" sz="2100" dirty="0"/>
              <a:t> Paris, but </a:t>
            </a:r>
            <a:r>
              <a:rPr lang="nl-NL" altLang="en-US" sz="2100" dirty="0" err="1"/>
              <a:t>then</a:t>
            </a:r>
            <a:r>
              <a:rPr lang="nl-NL" altLang="en-US" sz="2100" dirty="0"/>
              <a:t> we had </a:t>
            </a:r>
            <a:r>
              <a:rPr lang="nl-NL" altLang="en-US" sz="2100" dirty="0" err="1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nl-NL" altLang="en-US" sz="2100" dirty="0"/>
              <a:t> take a rest.</a:t>
            </a:r>
          </a:p>
          <a:p>
            <a:pPr eaLnBrk="1" hangingPunct="1">
              <a:lnSpc>
                <a:spcPct val="110000"/>
              </a:lnSpc>
            </a:pPr>
            <a:r>
              <a:rPr lang="nl-NL" altLang="en-US" sz="2100" b="1" dirty="0" err="1">
                <a:solidFill>
                  <a:srgbClr val="FFC000">
                    <a:alpha val="58000"/>
                  </a:srgbClr>
                </a:solidFill>
              </a:rPr>
              <a:t>Till</a:t>
            </a:r>
            <a:r>
              <a:rPr lang="nl-NL" altLang="en-US" sz="2100" dirty="0"/>
              <a:t> = time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My </a:t>
            </a:r>
            <a:r>
              <a:rPr lang="nl-NL" altLang="en-US" sz="2100" dirty="0" err="1"/>
              <a:t>wife</a:t>
            </a:r>
            <a:r>
              <a:rPr lang="nl-NL" altLang="en-US" sz="2100" dirty="0"/>
              <a:t> </a:t>
            </a:r>
            <a:r>
              <a:rPr lang="nl-NL" altLang="en-US" sz="2100" dirty="0" err="1"/>
              <a:t>dr</a:t>
            </a:r>
            <a:r>
              <a:rPr lang="nl-NL" altLang="en-US" sz="2100" dirty="0" err="1">
                <a:solidFill>
                  <a:schemeClr val="tx2">
                    <a:alpha val="58000"/>
                  </a:schemeClr>
                </a:solidFill>
              </a:rPr>
              <a:t>o</a:t>
            </a:r>
            <a:r>
              <a:rPr lang="nl-NL" altLang="en-US" sz="2100" dirty="0" err="1"/>
              <a:t>ve</a:t>
            </a:r>
            <a:r>
              <a:rPr lang="nl-NL" altLang="en-US" sz="2100" dirty="0"/>
              <a:t> </a:t>
            </a:r>
            <a:r>
              <a:rPr lang="nl-NL" altLang="en-US" sz="2100" b="1" dirty="0" err="1">
                <a:solidFill>
                  <a:srgbClr val="FFC000">
                    <a:alpha val="58000"/>
                  </a:srgbClr>
                </a:solidFill>
              </a:rPr>
              <a:t>till</a:t>
            </a:r>
            <a:r>
              <a:rPr lang="nl-NL" altLang="en-US" sz="21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sz="2100" dirty="0"/>
              <a:t>7.00, </a:t>
            </a:r>
            <a:r>
              <a:rPr lang="nl-NL" altLang="en-US" sz="2100" dirty="0" err="1"/>
              <a:t>and</a:t>
            </a:r>
            <a:r>
              <a:rPr lang="nl-NL" altLang="en-US" sz="2100" dirty="0"/>
              <a:t> </a:t>
            </a:r>
            <a:r>
              <a:rPr lang="nl-NL" altLang="en-US" sz="2100" dirty="0" err="1"/>
              <a:t>then</a:t>
            </a:r>
            <a:r>
              <a:rPr lang="nl-NL" altLang="en-US" sz="2100" dirty="0"/>
              <a:t> I </a:t>
            </a:r>
            <a:r>
              <a:rPr lang="nl-NL" altLang="en-US" sz="2100" dirty="0" err="1"/>
              <a:t>took</a:t>
            </a:r>
            <a:r>
              <a:rPr lang="nl-NL" altLang="en-US" sz="2100" dirty="0"/>
              <a:t> over.</a:t>
            </a:r>
          </a:p>
          <a:p>
            <a:pPr eaLnBrk="1" hangingPunct="1">
              <a:lnSpc>
                <a:spcPct val="110000"/>
              </a:lnSpc>
            </a:pPr>
            <a:endParaRPr lang="nl-NL" altLang="en-US" sz="2100" dirty="0"/>
          </a:p>
          <a:p>
            <a:pPr eaLnBrk="1" hangingPunct="1">
              <a:lnSpc>
                <a:spcPct val="110000"/>
              </a:lnSpc>
            </a:pPr>
            <a:r>
              <a:rPr lang="nl-NL" altLang="en-US" sz="2100" dirty="0" err="1"/>
              <a:t>Note</a:t>
            </a:r>
            <a:r>
              <a:rPr lang="nl-NL" altLang="en-US" sz="2100" dirty="0"/>
              <a:t>: ‘</a:t>
            </a:r>
            <a:r>
              <a:rPr lang="nl-NL" altLang="en-US" sz="2100" dirty="0" err="1"/>
              <a:t>too</a:t>
            </a:r>
            <a:r>
              <a:rPr lang="nl-NL" altLang="en-US" sz="2100" dirty="0"/>
              <a:t>’ </a:t>
            </a:r>
            <a:r>
              <a:rPr lang="nl-NL" altLang="en-US" sz="2100" dirty="0" err="1"/>
              <a:t>with</a:t>
            </a:r>
            <a:r>
              <a:rPr lang="nl-NL" altLang="en-US" sz="2100" dirty="0"/>
              <a:t> </a:t>
            </a:r>
            <a:r>
              <a:rPr lang="nl-NL" altLang="en-US" sz="2100" dirty="0" err="1"/>
              <a:t>two</a:t>
            </a:r>
            <a:r>
              <a:rPr lang="nl-NL" altLang="en-US" sz="2100" dirty="0"/>
              <a:t> o’s is </a:t>
            </a:r>
            <a:r>
              <a:rPr lang="nl-NL" altLang="en-US" sz="2100" u="sng" dirty="0" err="1"/>
              <a:t>not</a:t>
            </a:r>
            <a:r>
              <a:rPr lang="nl-NL" altLang="en-US" sz="2100" u="sng" dirty="0"/>
              <a:t> a </a:t>
            </a:r>
            <a:r>
              <a:rPr lang="nl-NL" altLang="en-US" sz="2100" u="sng" dirty="0" err="1"/>
              <a:t>prepostion</a:t>
            </a:r>
            <a:r>
              <a:rPr lang="nl-NL" altLang="en-US" sz="2100" dirty="0"/>
              <a:t>, </a:t>
            </a:r>
            <a:r>
              <a:rPr lang="nl-NL" altLang="en-US" sz="2100" dirty="0" err="1"/>
              <a:t>and</a:t>
            </a:r>
            <a:r>
              <a:rPr lang="nl-NL" altLang="en-US" sz="2100" dirty="0"/>
              <a:t> </a:t>
            </a:r>
            <a:r>
              <a:rPr lang="nl-NL" altLang="en-US" sz="2100" dirty="0" err="1"/>
              <a:t>can</a:t>
            </a:r>
            <a:r>
              <a:rPr lang="nl-NL" altLang="en-US" sz="2100" dirty="0"/>
              <a:t> </a:t>
            </a:r>
            <a:r>
              <a:rPr lang="nl-NL" altLang="en-US" sz="2100" dirty="0" err="1"/>
              <a:t>mean</a:t>
            </a:r>
            <a:r>
              <a:rPr lang="nl-NL" altLang="en-US" sz="2100" dirty="0"/>
              <a:t>: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‘</a:t>
            </a:r>
            <a:r>
              <a:rPr lang="nl-NL" altLang="en-US" sz="2100" dirty="0" err="1"/>
              <a:t>also</a:t>
            </a:r>
            <a:r>
              <a:rPr lang="nl-NL" altLang="en-US" sz="2100" dirty="0"/>
              <a:t>’: I </a:t>
            </a:r>
            <a:r>
              <a:rPr lang="nl-NL" altLang="en-US" sz="2100" dirty="0" err="1"/>
              <a:t>saw</a:t>
            </a:r>
            <a:r>
              <a:rPr lang="nl-NL" altLang="en-US" sz="2100" dirty="0"/>
              <a:t> </a:t>
            </a:r>
            <a:r>
              <a:rPr lang="nl-NL" altLang="en-US" sz="2100" dirty="0" err="1"/>
              <a:t>him</a:t>
            </a:r>
            <a:r>
              <a:rPr lang="nl-NL" altLang="en-US" sz="2100" dirty="0"/>
              <a:t> </a:t>
            </a:r>
            <a:r>
              <a:rPr lang="nl-NL" altLang="en-US" sz="2100" b="1" dirty="0" err="1"/>
              <a:t>too</a:t>
            </a:r>
            <a:r>
              <a:rPr lang="nl-NL" altLang="en-US" sz="2100" dirty="0"/>
              <a:t>.</a:t>
            </a:r>
          </a:p>
          <a:p>
            <a:pPr lvl="1" eaLnBrk="1" hangingPunct="1">
              <a:lnSpc>
                <a:spcPct val="110000"/>
              </a:lnSpc>
            </a:pPr>
            <a:r>
              <a:rPr lang="nl-NL" altLang="en-US" sz="2100" dirty="0"/>
              <a:t>Dutch ‘te’: He drank </a:t>
            </a:r>
            <a:r>
              <a:rPr lang="nl-NL" altLang="en-US" sz="2100" b="1" dirty="0" err="1"/>
              <a:t>too</a:t>
            </a:r>
            <a:r>
              <a:rPr lang="nl-NL" altLang="en-US" sz="2100" dirty="0"/>
              <a:t> </a:t>
            </a:r>
            <a:r>
              <a:rPr lang="nl-NL" altLang="en-US" sz="2100" dirty="0" err="1"/>
              <a:t>much</a:t>
            </a:r>
            <a:r>
              <a:rPr lang="nl-NL" altLang="en-US" sz="2100" dirty="0"/>
              <a:t>.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sz="1400" dirty="0"/>
          </a:p>
        </p:txBody>
      </p:sp>
      <p:pic>
        <p:nvPicPr>
          <p:cNvPr id="47108" name="Picture 47107" descr="A railroad extending through the desert">
            <a:extLst>
              <a:ext uri="{FF2B5EF4-FFF2-40B4-BE49-F238E27FC236}">
                <a16:creationId xmlns:a16="http://schemas.microsoft.com/office/drawing/2014/main" id="{9332F639-89C5-9657-F845-914F923642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17" r="2" b="2"/>
          <a:stretch/>
        </p:blipFill>
        <p:spPr>
          <a:xfrm>
            <a:off x="6529065" y="10"/>
            <a:ext cx="5662937" cy="6857990"/>
          </a:xfrm>
          <a:custGeom>
            <a:avLst/>
            <a:gdLst/>
            <a:ahLst/>
            <a:cxnLst/>
            <a:rect l="l" t="t" r="r" b="b"/>
            <a:pathLst>
              <a:path w="5662937" h="6858000">
                <a:moveTo>
                  <a:pt x="598332" y="0"/>
                </a:moveTo>
                <a:lnTo>
                  <a:pt x="5662937" y="0"/>
                </a:lnTo>
                <a:lnTo>
                  <a:pt x="5662937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6" y="5515036"/>
                  <a:pt x="1066079" y="5030470"/>
                  <a:pt x="1217562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79" y="1021447"/>
                  <a:pt x="773055" y="2794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931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595" name="Rectangle 67592">
            <a:extLst>
              <a:ext uri="{FF2B5EF4-FFF2-40B4-BE49-F238E27FC236}">
                <a16:creationId xmlns:a16="http://schemas.microsoft.com/office/drawing/2014/main" id="{7F532A73-CC48-4B70-913D-D8D4400F8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49" y="186580"/>
            <a:ext cx="3107463" cy="619665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en-US" dirty="0" err="1"/>
              <a:t>Confusing</a:t>
            </a:r>
            <a:r>
              <a:rPr lang="nl-NL" altLang="en-US" dirty="0"/>
              <a:t> cases - V</a:t>
            </a:r>
          </a:p>
        </p:txBody>
      </p:sp>
      <p:graphicFrame>
        <p:nvGraphicFramePr>
          <p:cNvPr id="67596" name="Rectangle 3">
            <a:extLst>
              <a:ext uri="{FF2B5EF4-FFF2-40B4-BE49-F238E27FC236}">
                <a16:creationId xmlns:a16="http://schemas.microsoft.com/office/drawing/2014/main" id="{BF7BFA40-1371-975F-8E64-FE02B6F399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271789"/>
              </p:ext>
            </p:extLst>
          </p:nvPr>
        </p:nvGraphicFramePr>
        <p:xfrm>
          <a:off x="1615255" y="806245"/>
          <a:ext cx="8961490" cy="5575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7667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624" name="Rectangle 68623">
            <a:extLst>
              <a:ext uri="{FF2B5EF4-FFF2-40B4-BE49-F238E27FC236}">
                <a16:creationId xmlns:a16="http://schemas.microsoft.com/office/drawing/2014/main" id="{769CF112-CE49-4CE6-991F-E4A6FCAD4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613" name="Picture 68612" descr="Woman peeking out a window">
            <a:extLst>
              <a:ext uri="{FF2B5EF4-FFF2-40B4-BE49-F238E27FC236}">
                <a16:creationId xmlns:a16="http://schemas.microsoft.com/office/drawing/2014/main" id="{98038D55-1A7B-42C5-3D94-995796DE8E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55" r="26354" b="-1"/>
          <a:stretch/>
        </p:blipFill>
        <p:spPr>
          <a:xfrm>
            <a:off x="7333307" y="10"/>
            <a:ext cx="4858695" cy="6857990"/>
          </a:xfrm>
          <a:custGeom>
            <a:avLst/>
            <a:gdLst/>
            <a:ahLst/>
            <a:cxnLst/>
            <a:rect l="l" t="t" r="r" b="b"/>
            <a:pathLst>
              <a:path w="4858695" h="6858000">
                <a:moveTo>
                  <a:pt x="492746" y="0"/>
                </a:moveTo>
                <a:lnTo>
                  <a:pt x="4858695" y="0"/>
                </a:lnTo>
                <a:lnTo>
                  <a:pt x="4858695" y="6858000"/>
                </a:lnTo>
                <a:lnTo>
                  <a:pt x="0" y="6858000"/>
                </a:lnTo>
                <a:lnTo>
                  <a:pt x="8292" y="6849586"/>
                </a:lnTo>
                <a:cubicBezTo>
                  <a:pt x="364724" y="6471364"/>
                  <a:pt x="1039362" y="5693031"/>
                  <a:pt x="1267733" y="4893468"/>
                </a:cubicBezTo>
                <a:cubicBezTo>
                  <a:pt x="1496104" y="4093905"/>
                  <a:pt x="1464141" y="2947616"/>
                  <a:pt x="1378520" y="2052209"/>
                </a:cubicBezTo>
                <a:cubicBezTo>
                  <a:pt x="1292899" y="1156802"/>
                  <a:pt x="980727" y="345663"/>
                  <a:pt x="492746" y="0"/>
                </a:cubicBezTo>
                <a:close/>
              </a:path>
            </a:pathLst>
          </a:custGeom>
        </p:spPr>
      </p:pic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452284"/>
            <a:ext cx="6923812" cy="1644244"/>
          </a:xfrm>
        </p:spPr>
        <p:txBody>
          <a:bodyPr wrap="square" anchor="ctr">
            <a:normAutofit/>
          </a:bodyPr>
          <a:lstStyle/>
          <a:p>
            <a:pPr eaLnBrk="1" hangingPunct="1"/>
            <a:r>
              <a:rPr lang="nl-NL" altLang="en-US" sz="3600" dirty="0" err="1"/>
              <a:t>Confusing</a:t>
            </a:r>
            <a:r>
              <a:rPr lang="nl-NL" altLang="en-US" sz="3600" dirty="0"/>
              <a:t> cases - VI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719999" y="1720645"/>
            <a:ext cx="6923813" cy="4086389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en-US" dirty="0" err="1">
                <a:solidFill>
                  <a:srgbClr val="FFC000">
                    <a:alpha val="58000"/>
                  </a:srgbClr>
                </a:solidFill>
              </a:rPr>
              <a:t>Before</a:t>
            </a:r>
            <a:r>
              <a:rPr lang="nl-NL" altLang="en-US" dirty="0"/>
              <a:t>, 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in front of </a:t>
            </a:r>
            <a:r>
              <a:rPr lang="nl-NL" altLang="en-US" dirty="0"/>
              <a:t>or </a:t>
            </a:r>
            <a:r>
              <a:rPr lang="nl-NL" altLang="en-US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/>
              <a:t>?</a:t>
            </a:r>
          </a:p>
          <a:p>
            <a:pPr eaLnBrk="1" hangingPunct="1"/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Before</a:t>
            </a:r>
            <a:r>
              <a:rPr lang="nl-NL" altLang="en-US" dirty="0"/>
              <a:t> = time</a:t>
            </a:r>
          </a:p>
          <a:p>
            <a:pPr lvl="1" eaLnBrk="1" hangingPunct="1"/>
            <a:r>
              <a:rPr lang="nl-NL" altLang="en-US" dirty="0" err="1"/>
              <a:t>Shall</a:t>
            </a:r>
            <a:r>
              <a:rPr lang="nl-NL" altLang="en-US" dirty="0"/>
              <a:t> we meet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before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7:00?</a:t>
            </a:r>
          </a:p>
          <a:p>
            <a:pPr eaLnBrk="1" hangingPunct="1"/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In front of </a:t>
            </a:r>
            <a:r>
              <a:rPr lang="nl-NL" altLang="en-US" dirty="0"/>
              <a:t>= </a:t>
            </a:r>
            <a:r>
              <a:rPr lang="nl-NL" altLang="en-US" dirty="0" err="1"/>
              <a:t>position</a:t>
            </a:r>
            <a:endParaRPr lang="nl-NL" altLang="en-US" dirty="0"/>
          </a:p>
          <a:p>
            <a:pPr lvl="1" eaLnBrk="1" hangingPunct="1"/>
            <a:r>
              <a:rPr lang="nl-NL" altLang="en-US" dirty="0"/>
              <a:t>Ok, </a:t>
            </a:r>
            <a:r>
              <a:rPr lang="nl-NL" altLang="en-US" dirty="0" err="1"/>
              <a:t>I’ll</a:t>
            </a:r>
            <a:r>
              <a:rPr lang="nl-NL" altLang="en-US" dirty="0"/>
              <a:t> </a:t>
            </a:r>
            <a:r>
              <a:rPr lang="nl-NL" altLang="en-US" dirty="0" err="1"/>
              <a:t>be</a:t>
            </a:r>
            <a:r>
              <a:rPr lang="nl-NL" altLang="en-US" dirty="0"/>
              <a:t> </a:t>
            </a:r>
            <a:r>
              <a:rPr lang="nl-NL" altLang="en-US" dirty="0" err="1"/>
              <a:t>waiting</a:t>
            </a:r>
            <a:r>
              <a:rPr lang="nl-NL" altLang="en-US" dirty="0"/>
              <a:t> </a:t>
            </a:r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in front of </a:t>
            </a:r>
            <a:r>
              <a:rPr lang="nl-NL" altLang="en-US" dirty="0" err="1"/>
              <a:t>the</a:t>
            </a:r>
            <a:r>
              <a:rPr lang="nl-NL" altLang="en-US" dirty="0"/>
              <a:t> restaurant.</a:t>
            </a:r>
          </a:p>
          <a:p>
            <a:pPr eaLnBrk="1" hangingPunct="1"/>
            <a:r>
              <a:rPr lang="nl-NL" altLang="en-US" b="1" dirty="0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nl-NL" altLang="en-US" dirty="0"/>
              <a:t>= </a:t>
            </a:r>
            <a:r>
              <a:rPr lang="nl-NL" altLang="en-US" dirty="0" err="1"/>
              <a:t>other</a:t>
            </a:r>
            <a:endParaRPr lang="nl-NL" altLang="en-US" dirty="0"/>
          </a:p>
          <a:p>
            <a:pPr lvl="1" eaLnBrk="1" hangingPunct="1"/>
            <a:r>
              <a:rPr lang="nl-NL" altLang="en-US" dirty="0"/>
              <a:t>I </a:t>
            </a:r>
            <a:r>
              <a:rPr lang="nl-NL" altLang="en-US" dirty="0" err="1"/>
              <a:t>will</a:t>
            </a:r>
            <a:r>
              <a:rPr lang="nl-NL" altLang="en-US" dirty="0"/>
              <a:t> </a:t>
            </a:r>
            <a:r>
              <a:rPr lang="nl-NL" altLang="en-US" dirty="0" err="1"/>
              <a:t>bring</a:t>
            </a:r>
            <a:r>
              <a:rPr lang="nl-NL" altLang="en-US" dirty="0"/>
              <a:t> </a:t>
            </a:r>
            <a:r>
              <a:rPr lang="nl-NL" altLang="en-US" dirty="0" err="1"/>
              <a:t>something</a:t>
            </a:r>
            <a:r>
              <a:rPr lang="nl-NL" altLang="en-US" dirty="0"/>
              <a:t> special </a:t>
            </a:r>
            <a:r>
              <a:rPr lang="nl-NL" altLang="en-US" b="1" dirty="0" err="1">
                <a:solidFill>
                  <a:srgbClr val="FFC000">
                    <a:alpha val="58000"/>
                  </a:srgbClr>
                </a:solidFill>
              </a:rPr>
              <a:t>for</a:t>
            </a:r>
            <a:r>
              <a:rPr lang="nl-NL" altLang="en-US" dirty="0"/>
              <a:t> </a:t>
            </a:r>
            <a:r>
              <a:rPr lang="nl-NL" altLang="en-US" dirty="0" err="1"/>
              <a:t>you</a:t>
            </a:r>
            <a:r>
              <a:rPr lang="nl-NL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066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D1035C-3BF0-4FE0-B3A3-1062F860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4991961" cy="1477328"/>
          </a:xfrm>
        </p:spPr>
        <p:txBody>
          <a:bodyPr wrap="square" anchor="ctr">
            <a:normAutofit/>
          </a:bodyPr>
          <a:lstStyle/>
          <a:p>
            <a:r>
              <a:rPr lang="nl-NL" sz="4000" dirty="0" err="1"/>
              <a:t>Confusing</a:t>
            </a:r>
            <a:r>
              <a:rPr lang="nl-NL" sz="4000" dirty="0"/>
              <a:t> cases - VII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368" y="1858297"/>
            <a:ext cx="7204800" cy="4027396"/>
          </a:xfrm>
        </p:spPr>
        <p:txBody>
          <a:bodyPr>
            <a:normAutofit/>
          </a:bodyPr>
          <a:lstStyle/>
          <a:p>
            <a:r>
              <a:rPr lang="nl-NL" sz="1900" dirty="0">
                <a:solidFill>
                  <a:srgbClr val="FFC000">
                    <a:alpha val="58000"/>
                  </a:srgbClr>
                </a:solidFill>
              </a:rPr>
              <a:t>As or like?</a:t>
            </a:r>
          </a:p>
          <a:p>
            <a:endParaRPr lang="nl-NL" sz="1900" dirty="0"/>
          </a:p>
          <a:p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As </a:t>
            </a:r>
            <a:r>
              <a:rPr lang="nl-NL" sz="1900" b="1" dirty="0" err="1">
                <a:solidFill>
                  <a:srgbClr val="FFFFFF"/>
                </a:solidFill>
              </a:rPr>
              <a:t>refers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to</a:t>
            </a:r>
            <a:r>
              <a:rPr lang="nl-NL" sz="1900" b="1" dirty="0">
                <a:solidFill>
                  <a:srgbClr val="FFFFFF"/>
                </a:solidFill>
              </a:rPr>
              <a:t> a job or </a:t>
            </a:r>
            <a:r>
              <a:rPr lang="nl-NL" sz="1900" b="1" dirty="0" err="1">
                <a:solidFill>
                  <a:srgbClr val="FFFFFF"/>
                </a:solidFill>
              </a:rPr>
              <a:t>function</a:t>
            </a:r>
            <a:endParaRPr lang="nl-NL" sz="1900" b="1" dirty="0">
              <a:solidFill>
                <a:srgbClr val="FFFFFF"/>
              </a:solidFill>
            </a:endParaRPr>
          </a:p>
          <a:p>
            <a:pPr lvl="1"/>
            <a:r>
              <a:rPr lang="nl-NL" sz="1900" dirty="0"/>
              <a:t>He </a:t>
            </a:r>
            <a:r>
              <a:rPr lang="nl-NL" sz="1900" dirty="0" err="1"/>
              <a:t>works</a:t>
            </a:r>
            <a:r>
              <a:rPr lang="nl-NL" sz="1900" dirty="0"/>
              <a:t> </a:t>
            </a:r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as</a:t>
            </a:r>
            <a:r>
              <a:rPr lang="nl-NL" sz="1900" dirty="0"/>
              <a:t> a clown at </a:t>
            </a:r>
            <a:r>
              <a:rPr lang="nl-NL" sz="1900" dirty="0" err="1"/>
              <a:t>children’s</a:t>
            </a:r>
            <a:r>
              <a:rPr lang="nl-NL" sz="1900" dirty="0"/>
              <a:t> </a:t>
            </a:r>
            <a:r>
              <a:rPr lang="nl-NL" sz="1900" dirty="0" err="1"/>
              <a:t>parties</a:t>
            </a:r>
            <a:r>
              <a:rPr lang="nl-NL" sz="1900" dirty="0"/>
              <a:t>.</a:t>
            </a:r>
          </a:p>
          <a:p>
            <a:pPr marL="457200" lvl="1" indent="0">
              <a:buNone/>
            </a:pPr>
            <a:endParaRPr lang="nl-NL" sz="1900" dirty="0"/>
          </a:p>
          <a:p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Like</a:t>
            </a:r>
            <a:r>
              <a:rPr lang="nl-NL" sz="1900" b="1" dirty="0"/>
              <a:t> </a:t>
            </a:r>
            <a:r>
              <a:rPr lang="nl-NL" sz="1900" b="1" dirty="0">
                <a:solidFill>
                  <a:srgbClr val="FFFFFF"/>
                </a:solidFill>
              </a:rPr>
              <a:t>is </a:t>
            </a:r>
            <a:r>
              <a:rPr lang="nl-NL" sz="1900" b="1" dirty="0" err="1">
                <a:solidFill>
                  <a:srgbClr val="FFFFFF"/>
                </a:solidFill>
              </a:rPr>
              <a:t>used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to</a:t>
            </a:r>
            <a:r>
              <a:rPr lang="nl-NL" sz="1900" b="1" dirty="0">
                <a:solidFill>
                  <a:srgbClr val="FFFFFF"/>
                </a:solidFill>
              </a:rPr>
              <a:t> talk </a:t>
            </a:r>
            <a:r>
              <a:rPr lang="nl-NL" sz="1900" b="1" dirty="0" err="1">
                <a:solidFill>
                  <a:srgbClr val="FFFFFF"/>
                </a:solidFill>
              </a:rPr>
              <a:t>about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things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being</a:t>
            </a:r>
            <a:r>
              <a:rPr lang="nl-NL" sz="1900" b="1" dirty="0">
                <a:solidFill>
                  <a:srgbClr val="FFFFFF"/>
                </a:solidFill>
              </a:rPr>
              <a:t> </a:t>
            </a:r>
            <a:r>
              <a:rPr lang="nl-NL" sz="1900" b="1" dirty="0" err="1">
                <a:solidFill>
                  <a:srgbClr val="FFFFFF"/>
                </a:solidFill>
              </a:rPr>
              <a:t>similar</a:t>
            </a:r>
            <a:endParaRPr lang="nl-NL" sz="1900" b="1" dirty="0">
              <a:solidFill>
                <a:srgbClr val="FFFFFF"/>
              </a:solidFill>
            </a:endParaRPr>
          </a:p>
          <a:p>
            <a:pPr lvl="1"/>
            <a:r>
              <a:rPr lang="nl-NL" sz="1900" dirty="0"/>
              <a:t>He </a:t>
            </a:r>
            <a:r>
              <a:rPr lang="nl-NL" sz="1900" dirty="0" err="1"/>
              <a:t>acted</a:t>
            </a:r>
            <a:r>
              <a:rPr lang="nl-NL" sz="1900" dirty="0"/>
              <a:t> </a:t>
            </a:r>
            <a:r>
              <a:rPr lang="nl-NL" sz="1900" b="1" dirty="0">
                <a:solidFill>
                  <a:srgbClr val="FFC000">
                    <a:alpha val="58000"/>
                  </a:srgbClr>
                </a:solidFill>
              </a:rPr>
              <a:t>like</a:t>
            </a:r>
            <a:r>
              <a:rPr lang="nl-NL" sz="1900" dirty="0"/>
              <a:t> a clown in class </a:t>
            </a:r>
            <a:r>
              <a:rPr lang="nl-NL" sz="1900" dirty="0" err="1"/>
              <a:t>today</a:t>
            </a:r>
            <a:r>
              <a:rPr lang="nl-NL" sz="1900" dirty="0"/>
              <a:t>.</a:t>
            </a:r>
          </a:p>
        </p:txBody>
      </p:sp>
      <p:pic>
        <p:nvPicPr>
          <p:cNvPr id="6" name="Picture 4" descr="Fake glasses, nose, and moustache, graffiti and red wig on a wooden surface">
            <a:extLst>
              <a:ext uri="{FF2B5EF4-FFF2-40B4-BE49-F238E27FC236}">
                <a16:creationId xmlns:a16="http://schemas.microsoft.com/office/drawing/2014/main" id="{ABFA4AC9-8870-E3E3-3FC0-E61B8DE000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03" r="178" b="-1"/>
          <a:stretch/>
        </p:blipFill>
        <p:spPr>
          <a:xfrm>
            <a:off x="6529065" y="10"/>
            <a:ext cx="5662937" cy="6857990"/>
          </a:xfrm>
          <a:custGeom>
            <a:avLst/>
            <a:gdLst/>
            <a:ahLst/>
            <a:cxnLst/>
            <a:rect l="l" t="t" r="r" b="b"/>
            <a:pathLst>
              <a:path w="5662937" h="6858000">
                <a:moveTo>
                  <a:pt x="598332" y="0"/>
                </a:moveTo>
                <a:lnTo>
                  <a:pt x="5662937" y="0"/>
                </a:lnTo>
                <a:lnTo>
                  <a:pt x="5662937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6" y="5515036"/>
                  <a:pt x="1066079" y="5030470"/>
                  <a:pt x="1217562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79" y="1021447"/>
                  <a:pt x="773055" y="279455"/>
                </a:cubicBezTo>
                <a:close/>
              </a:path>
            </a:pathLst>
          </a:custGeom>
        </p:spPr>
      </p:pic>
      <p:sp>
        <p:nvSpPr>
          <p:cNvPr id="4" name="Rectangle 3" descr="Balloon Animal">
            <a:extLst>
              <a:ext uri="{FF2B5EF4-FFF2-40B4-BE49-F238E27FC236}">
                <a16:creationId xmlns:a16="http://schemas.microsoft.com/office/drawing/2014/main" id="{E91F5016-8AD2-F316-C508-3994B361B382}"/>
              </a:ext>
            </a:extLst>
          </p:cNvPr>
          <p:cNvSpPr/>
          <p:nvPr/>
        </p:nvSpPr>
        <p:spPr>
          <a:xfrm>
            <a:off x="6027620" y="2772943"/>
            <a:ext cx="1120710" cy="112071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7" name="Rectangle 6" descr="Joker Hat">
            <a:extLst>
              <a:ext uri="{FF2B5EF4-FFF2-40B4-BE49-F238E27FC236}">
                <a16:creationId xmlns:a16="http://schemas.microsoft.com/office/drawing/2014/main" id="{554C7190-5D6D-404A-C733-BBB280676854}"/>
              </a:ext>
            </a:extLst>
          </p:cNvPr>
          <p:cNvSpPr/>
          <p:nvPr/>
        </p:nvSpPr>
        <p:spPr>
          <a:xfrm>
            <a:off x="5929104" y="4454013"/>
            <a:ext cx="1120710" cy="112071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09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3">
            <a:extLst>
              <a:ext uri="{FF2B5EF4-FFF2-40B4-BE49-F238E27FC236}">
                <a16:creationId xmlns:a16="http://schemas.microsoft.com/office/drawing/2014/main" id="{769CF112-CE49-4CE6-991F-E4A6FCAD4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Calendar on table">
            <a:extLst>
              <a:ext uri="{FF2B5EF4-FFF2-40B4-BE49-F238E27FC236}">
                <a16:creationId xmlns:a16="http://schemas.microsoft.com/office/drawing/2014/main" id="{CA6EAB80-B900-1ABF-C805-EF6DF0648F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19" r="45189" b="-1"/>
          <a:stretch/>
        </p:blipFill>
        <p:spPr>
          <a:xfrm>
            <a:off x="7333307" y="10"/>
            <a:ext cx="4858695" cy="6857990"/>
          </a:xfrm>
          <a:custGeom>
            <a:avLst/>
            <a:gdLst/>
            <a:ahLst/>
            <a:cxnLst/>
            <a:rect l="l" t="t" r="r" b="b"/>
            <a:pathLst>
              <a:path w="4858695" h="6858000">
                <a:moveTo>
                  <a:pt x="492746" y="0"/>
                </a:moveTo>
                <a:lnTo>
                  <a:pt x="4858695" y="0"/>
                </a:lnTo>
                <a:lnTo>
                  <a:pt x="4858695" y="6858000"/>
                </a:lnTo>
                <a:lnTo>
                  <a:pt x="0" y="6858000"/>
                </a:lnTo>
                <a:lnTo>
                  <a:pt x="8292" y="6849586"/>
                </a:lnTo>
                <a:cubicBezTo>
                  <a:pt x="364724" y="6471364"/>
                  <a:pt x="1039362" y="5693031"/>
                  <a:pt x="1267733" y="4893468"/>
                </a:cubicBezTo>
                <a:cubicBezTo>
                  <a:pt x="1496104" y="4093905"/>
                  <a:pt x="1464141" y="2947616"/>
                  <a:pt x="1378520" y="2052209"/>
                </a:cubicBezTo>
                <a:cubicBezTo>
                  <a:pt x="1292899" y="1156802"/>
                  <a:pt x="980727" y="345663"/>
                  <a:pt x="492746" y="0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97" y="361462"/>
            <a:ext cx="6923812" cy="1477328"/>
          </a:xfrm>
        </p:spPr>
        <p:txBody>
          <a:bodyPr wrap="square" anchor="ctr">
            <a:normAutofit/>
          </a:bodyPr>
          <a:lstStyle/>
          <a:p>
            <a:r>
              <a:rPr lang="nl-NL" altLang="en-US" sz="3600" dirty="0" err="1"/>
              <a:t>Confusing</a:t>
            </a:r>
            <a:r>
              <a:rPr lang="nl-NL" altLang="en-US" sz="3600" dirty="0"/>
              <a:t> cases - VIII</a:t>
            </a:r>
            <a:endParaRPr lang="nl-NL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9" y="1622324"/>
            <a:ext cx="6923813" cy="4135550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FFC000">
                    <a:alpha val="58000"/>
                  </a:srgbClr>
                </a:solidFill>
              </a:rPr>
              <a:t>In time </a:t>
            </a:r>
            <a:r>
              <a:rPr lang="nl-NL" dirty="0"/>
              <a:t>or </a:t>
            </a:r>
            <a:r>
              <a:rPr lang="nl-NL" dirty="0">
                <a:solidFill>
                  <a:srgbClr val="FFC000">
                    <a:alpha val="58000"/>
                  </a:srgbClr>
                </a:solidFill>
              </a:rPr>
              <a:t>on time</a:t>
            </a:r>
            <a:r>
              <a:rPr lang="nl-NL" dirty="0"/>
              <a:t>?</a:t>
            </a:r>
          </a:p>
          <a:p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In time </a:t>
            </a:r>
            <a:r>
              <a:rPr lang="nl-NL" b="1" dirty="0"/>
              <a:t>means </a:t>
            </a:r>
            <a:r>
              <a:rPr lang="nl-NL" b="1" dirty="0">
                <a:solidFill>
                  <a:srgbClr val="FFFFFF"/>
                </a:solidFill>
              </a:rPr>
              <a:t>‘</a:t>
            </a:r>
            <a:r>
              <a:rPr lang="nl-NL" b="1" dirty="0" err="1">
                <a:solidFill>
                  <a:srgbClr val="FFFFFF"/>
                </a:solidFill>
              </a:rPr>
              <a:t>early</a:t>
            </a:r>
            <a:r>
              <a:rPr lang="nl-NL" b="1" dirty="0">
                <a:solidFill>
                  <a:srgbClr val="FFFFFF"/>
                </a:solidFill>
              </a:rPr>
              <a:t> </a:t>
            </a:r>
            <a:r>
              <a:rPr lang="nl-NL" b="1" dirty="0" err="1">
                <a:solidFill>
                  <a:srgbClr val="FFFFFF"/>
                </a:solidFill>
              </a:rPr>
              <a:t>enough</a:t>
            </a:r>
            <a:r>
              <a:rPr lang="nl-NL" b="1" dirty="0">
                <a:solidFill>
                  <a:srgbClr val="FFFFFF"/>
                </a:solidFill>
              </a:rPr>
              <a:t>’</a:t>
            </a:r>
          </a:p>
          <a:p>
            <a:pPr lvl="1"/>
            <a:r>
              <a:rPr lang="nl-NL" dirty="0"/>
              <a:t>I was </a:t>
            </a:r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in time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announcement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winner.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On time </a:t>
            </a:r>
            <a:r>
              <a:rPr lang="nl-NL" b="1" dirty="0"/>
              <a:t>means </a:t>
            </a:r>
            <a:r>
              <a:rPr lang="nl-NL" b="1" dirty="0">
                <a:solidFill>
                  <a:srgbClr val="FFFFFF"/>
                </a:solidFill>
              </a:rPr>
              <a:t>‘at </a:t>
            </a:r>
            <a:r>
              <a:rPr lang="nl-NL" b="1" dirty="0" err="1">
                <a:solidFill>
                  <a:srgbClr val="FFFFFF"/>
                </a:solidFill>
              </a:rPr>
              <a:t>the</a:t>
            </a:r>
            <a:r>
              <a:rPr lang="nl-NL" b="1" dirty="0">
                <a:solidFill>
                  <a:srgbClr val="FFFFFF"/>
                </a:solidFill>
              </a:rPr>
              <a:t> right time’ </a:t>
            </a:r>
            <a:r>
              <a:rPr lang="nl-NL" b="1" dirty="0"/>
              <a:t>or  </a:t>
            </a:r>
            <a:r>
              <a:rPr lang="nl-NL" b="1" dirty="0">
                <a:solidFill>
                  <a:srgbClr val="FFFFFF"/>
                </a:solidFill>
              </a:rPr>
              <a:t>‘on </a:t>
            </a:r>
            <a:r>
              <a:rPr lang="nl-NL" b="1" dirty="0" err="1">
                <a:solidFill>
                  <a:srgbClr val="FFFFFF"/>
                </a:solidFill>
              </a:rPr>
              <a:t>schedule</a:t>
            </a:r>
            <a:r>
              <a:rPr lang="nl-NL" dirty="0">
                <a:solidFill>
                  <a:srgbClr val="FFFFFF"/>
                </a:solidFill>
              </a:rPr>
              <a:t>’</a:t>
            </a:r>
          </a:p>
          <a:p>
            <a:pPr lvl="1"/>
            <a:r>
              <a:rPr lang="nl-NL" dirty="0"/>
              <a:t>The show </a:t>
            </a:r>
            <a:r>
              <a:rPr lang="nl-NL" dirty="0" err="1"/>
              <a:t>started</a:t>
            </a:r>
            <a:r>
              <a:rPr lang="nl-NL" dirty="0"/>
              <a:t> </a:t>
            </a:r>
            <a:r>
              <a:rPr lang="nl-NL" dirty="0">
                <a:solidFill>
                  <a:srgbClr val="FFC000">
                    <a:alpha val="58000"/>
                  </a:srgbClr>
                </a:solidFill>
              </a:rPr>
              <a:t>right </a:t>
            </a:r>
            <a:r>
              <a:rPr lang="nl-NL" b="1" dirty="0">
                <a:solidFill>
                  <a:srgbClr val="FFC000">
                    <a:alpha val="58000"/>
                  </a:srgbClr>
                </a:solidFill>
              </a:rPr>
              <a:t>on time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2100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0" y="679895"/>
            <a:ext cx="7543800" cy="1450757"/>
          </a:xfrm>
        </p:spPr>
        <p:txBody>
          <a:bodyPr>
            <a:normAutofit/>
          </a:bodyPr>
          <a:lstStyle/>
          <a:p>
            <a:r>
              <a:rPr lang="nl-NL" altLang="en-US" sz="3600" dirty="0"/>
              <a:t>Common mistakes </a:t>
            </a:r>
            <a:r>
              <a:rPr lang="nl-NL" altLang="en-US" sz="3600" dirty="0" err="1"/>
              <a:t>by</a:t>
            </a:r>
            <a:r>
              <a:rPr lang="nl-NL" altLang="en-US" sz="3600" dirty="0"/>
              <a:t> Dutch </a:t>
            </a:r>
            <a:r>
              <a:rPr lang="nl-NL" altLang="en-US" sz="3600" dirty="0" err="1"/>
              <a:t>people</a:t>
            </a:r>
            <a:r>
              <a:rPr lang="nl-NL" altLang="en-US" sz="3600" dirty="0"/>
              <a:t> - I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346960" y="1356852"/>
            <a:ext cx="7543801" cy="451224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Ik ben niet goed </a:t>
            </a:r>
            <a:r>
              <a:rPr lang="nl-NL" b="1" dirty="0">
                <a:solidFill>
                  <a:srgbClr val="FFC000"/>
                </a:solidFill>
              </a:rPr>
              <a:t>in</a:t>
            </a:r>
            <a:r>
              <a:rPr lang="nl-NL" dirty="0">
                <a:solidFill>
                  <a:srgbClr val="FFC000"/>
                </a:solidFill>
              </a:rPr>
              <a:t> </a:t>
            </a:r>
            <a:r>
              <a:rPr lang="nl-NL" dirty="0"/>
              <a:t>Engels </a:t>
            </a:r>
          </a:p>
          <a:p>
            <a:pPr lvl="1"/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b="1" dirty="0">
                <a:solidFill>
                  <a:srgbClr val="FF0000"/>
                </a:solidFill>
              </a:rPr>
              <a:t>in</a:t>
            </a:r>
            <a:r>
              <a:rPr lang="nl-NL" dirty="0"/>
              <a:t> </a:t>
            </a:r>
            <a:r>
              <a:rPr lang="nl-NL" dirty="0" err="1"/>
              <a:t>English</a:t>
            </a:r>
            <a:endParaRPr lang="nl-NL" dirty="0"/>
          </a:p>
          <a:p>
            <a:pPr lvl="1"/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English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dirty="0"/>
              <a:t>Ik zit nog </a:t>
            </a:r>
            <a:r>
              <a:rPr lang="nl-NL" b="1" dirty="0">
                <a:solidFill>
                  <a:srgbClr val="FFC000"/>
                </a:solidFill>
              </a:rPr>
              <a:t>op</a:t>
            </a:r>
            <a:r>
              <a:rPr lang="nl-NL" dirty="0"/>
              <a:t> school</a:t>
            </a:r>
          </a:p>
          <a:p>
            <a:pPr lvl="1"/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b="1" dirty="0" err="1">
                <a:solidFill>
                  <a:srgbClr val="FF0000"/>
                </a:solidFill>
              </a:rPr>
              <a:t>on</a:t>
            </a:r>
            <a:r>
              <a:rPr lang="nl-NL" dirty="0"/>
              <a:t> school</a:t>
            </a:r>
          </a:p>
          <a:p>
            <a:pPr lvl="1"/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school OR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in</a:t>
            </a:r>
            <a:r>
              <a:rPr lang="nl-NL" dirty="0"/>
              <a:t> school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dirty="0"/>
              <a:t>Ik zat </a:t>
            </a:r>
            <a:r>
              <a:rPr lang="nl-NL" b="1" dirty="0">
                <a:solidFill>
                  <a:srgbClr val="FFC000"/>
                </a:solidFill>
              </a:rPr>
              <a:t>achter</a:t>
            </a:r>
            <a:r>
              <a:rPr lang="nl-NL" dirty="0"/>
              <a:t> de computer</a:t>
            </a:r>
          </a:p>
          <a:p>
            <a:pPr lvl="1"/>
            <a:r>
              <a:rPr lang="nl-NL" dirty="0"/>
              <a:t>I was </a:t>
            </a:r>
            <a:r>
              <a:rPr lang="nl-NL" dirty="0" err="1"/>
              <a:t>sitting</a:t>
            </a:r>
            <a:r>
              <a:rPr lang="nl-NL" dirty="0"/>
              <a:t> </a:t>
            </a:r>
            <a:r>
              <a:rPr lang="nl-NL" b="1" dirty="0" err="1">
                <a:solidFill>
                  <a:srgbClr val="FF0000"/>
                </a:solidFill>
              </a:rPr>
              <a:t>behind</a:t>
            </a:r>
            <a:r>
              <a:rPr lang="nl-NL" dirty="0"/>
              <a:t> the computer.</a:t>
            </a:r>
          </a:p>
          <a:p>
            <a:pPr lvl="1"/>
            <a:r>
              <a:rPr lang="nl-NL" dirty="0"/>
              <a:t>I was </a:t>
            </a:r>
            <a:r>
              <a:rPr lang="nl-NL" dirty="0" err="1"/>
              <a:t>sitting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the computer</a:t>
            </a:r>
          </a:p>
        </p:txBody>
      </p:sp>
    </p:spTree>
    <p:extLst>
      <p:ext uri="{BB962C8B-B14F-4D97-AF65-F5344CB8AC3E}">
        <p14:creationId xmlns:p14="http://schemas.microsoft.com/office/powerpoint/2010/main" val="215892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2"/>
          <p:cNvSpPr>
            <a:spLocks noGrp="1" noChangeArrowheads="1"/>
          </p:cNvSpPr>
          <p:nvPr>
            <p:ph type="title"/>
          </p:nvPr>
        </p:nvSpPr>
        <p:spPr>
          <a:xfrm>
            <a:off x="2133600" y="619200"/>
            <a:ext cx="9314722" cy="1477328"/>
          </a:xfrm>
        </p:spPr>
        <p:txBody>
          <a:bodyPr>
            <a:normAutofit/>
          </a:bodyPr>
          <a:lstStyle/>
          <a:p>
            <a:pPr eaLnBrk="1" hangingPunct="1"/>
            <a:r>
              <a:rPr lang="nl-NL" altLang="en-US" sz="3600" dirty="0"/>
              <a:t>Common mistakes </a:t>
            </a:r>
            <a:r>
              <a:rPr lang="nl-NL" altLang="en-US" sz="3600" dirty="0" err="1"/>
              <a:t>by</a:t>
            </a:r>
            <a:r>
              <a:rPr lang="nl-NL" altLang="en-US" sz="3600" dirty="0"/>
              <a:t> Dutch </a:t>
            </a:r>
            <a:r>
              <a:rPr lang="nl-NL" altLang="en-US" sz="3600" dirty="0" err="1"/>
              <a:t>people</a:t>
            </a:r>
            <a:r>
              <a:rPr lang="nl-NL" altLang="en-US" sz="3600" dirty="0"/>
              <a:t> - II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966452" y="1376516"/>
            <a:ext cx="9481873" cy="4392459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nl-NL" i="1" dirty="0"/>
              <a:t>Ik ga </a:t>
            </a:r>
            <a:r>
              <a:rPr lang="nl-NL" b="1" i="1" dirty="0">
                <a:solidFill>
                  <a:srgbClr val="FFC000">
                    <a:alpha val="58000"/>
                  </a:srgbClr>
                </a:solidFill>
              </a:rPr>
              <a:t>met</a:t>
            </a:r>
            <a:r>
              <a:rPr lang="nl-NL" i="1" dirty="0"/>
              <a:t> de trein naar school</a:t>
            </a:r>
          </a:p>
          <a:p>
            <a:pPr lvl="1" eaLnBrk="1" hangingPunct="1">
              <a:defRPr/>
            </a:pPr>
            <a:r>
              <a:rPr lang="nl-NL" dirty="0"/>
              <a:t>I go to school </a:t>
            </a:r>
            <a:r>
              <a:rPr lang="nl-NL" b="1" dirty="0" err="1">
                <a:solidFill>
                  <a:srgbClr val="FF0000">
                    <a:alpha val="58000"/>
                  </a:srgbClr>
                </a:solidFill>
              </a:rPr>
              <a:t>with</a:t>
            </a:r>
            <a:r>
              <a:rPr lang="nl-NL" dirty="0"/>
              <a:t> the train.</a:t>
            </a:r>
          </a:p>
          <a:p>
            <a:pPr lvl="1" eaLnBrk="1" hangingPunct="1">
              <a:defRPr/>
            </a:pPr>
            <a:r>
              <a:rPr lang="nl-NL" dirty="0"/>
              <a:t>I go to school </a:t>
            </a:r>
            <a:r>
              <a:rPr lang="nl-NL" b="1" dirty="0" err="1">
                <a:solidFill>
                  <a:srgbClr val="00B050"/>
                </a:solidFill>
              </a:rPr>
              <a:t>by</a:t>
            </a:r>
            <a:r>
              <a:rPr lang="nl-NL" dirty="0"/>
              <a:t> train.</a:t>
            </a:r>
          </a:p>
          <a:p>
            <a:pPr lvl="1" eaLnBrk="1" hangingPunct="1">
              <a:defRPr/>
            </a:pPr>
            <a:endParaRPr lang="nl-NL" dirty="0"/>
          </a:p>
          <a:p>
            <a:pPr eaLnBrk="1" hangingPunct="1">
              <a:lnSpc>
                <a:spcPct val="90000"/>
              </a:lnSpc>
              <a:defRPr/>
            </a:pPr>
            <a:r>
              <a:rPr lang="nl-NL" i="1" dirty="0"/>
              <a:t>Hij werkt hier </a:t>
            </a:r>
            <a:r>
              <a:rPr lang="nl-NL" b="1" i="1" dirty="0"/>
              <a:t>sinds</a:t>
            </a:r>
            <a:r>
              <a:rPr lang="nl-NL" i="1" dirty="0"/>
              <a:t> twee maanden.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nl-NL" dirty="0"/>
              <a:t>He has </a:t>
            </a:r>
            <a:r>
              <a:rPr lang="nl-NL" dirty="0" err="1"/>
              <a:t>worked</a:t>
            </a:r>
            <a:r>
              <a:rPr lang="nl-NL" dirty="0"/>
              <a:t> </a:t>
            </a:r>
            <a:r>
              <a:rPr lang="nl-NL" dirty="0" err="1"/>
              <a:t>here</a:t>
            </a:r>
            <a:r>
              <a:rPr lang="nl-NL" dirty="0"/>
              <a:t> </a:t>
            </a:r>
            <a:r>
              <a:rPr lang="nl-NL" b="1" dirty="0" err="1">
                <a:solidFill>
                  <a:srgbClr val="FF0000">
                    <a:alpha val="58000"/>
                  </a:srgbClr>
                </a:solidFill>
              </a:rPr>
              <a:t>since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months</a:t>
            </a:r>
            <a:endParaRPr lang="nl-NL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nl-NL" dirty="0"/>
              <a:t>He has </a:t>
            </a:r>
            <a:r>
              <a:rPr lang="nl-NL" dirty="0" err="1"/>
              <a:t>worked</a:t>
            </a:r>
            <a:r>
              <a:rPr lang="nl-NL" dirty="0"/>
              <a:t> here </a:t>
            </a:r>
            <a:r>
              <a:rPr lang="nl-NL" b="1" dirty="0" err="1">
                <a:solidFill>
                  <a:srgbClr val="00B050"/>
                </a:solidFill>
              </a:rPr>
              <a:t>for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months</a:t>
            </a:r>
            <a:endParaRPr lang="nl-NL" dirty="0"/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endParaRPr lang="nl-NL" dirty="0"/>
          </a:p>
          <a:p>
            <a:pPr eaLnBrk="1" hangingPunct="1">
              <a:defRPr/>
            </a:pPr>
            <a:r>
              <a:rPr lang="nl-NL" i="1" dirty="0"/>
              <a:t>Ik ben </a:t>
            </a:r>
            <a:r>
              <a:rPr lang="nl-NL" b="1" i="1" dirty="0"/>
              <a:t>bij</a:t>
            </a:r>
            <a:r>
              <a:rPr lang="nl-NL" i="1" dirty="0"/>
              <a:t> de bakker.</a:t>
            </a:r>
          </a:p>
          <a:p>
            <a:pPr lvl="1" eaLnBrk="1" hangingPunct="1">
              <a:defRPr/>
            </a:pPr>
            <a:r>
              <a:rPr lang="nl-NL" dirty="0"/>
              <a:t>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b="1" dirty="0" err="1">
                <a:solidFill>
                  <a:srgbClr val="FF0000">
                    <a:alpha val="58000"/>
                  </a:srgbClr>
                </a:solidFill>
              </a:rPr>
              <a:t>by</a:t>
            </a:r>
            <a:r>
              <a:rPr lang="nl-NL" dirty="0"/>
              <a:t> the </a:t>
            </a:r>
            <a:r>
              <a:rPr lang="nl-NL" dirty="0" err="1"/>
              <a:t>baker’s</a:t>
            </a:r>
            <a:r>
              <a:rPr lang="nl-NL" dirty="0"/>
              <a:t>.</a:t>
            </a:r>
          </a:p>
          <a:p>
            <a:pPr lvl="1" eaLnBrk="1" hangingPunct="1">
              <a:defRPr/>
            </a:pPr>
            <a:r>
              <a:rPr lang="nl-NL" dirty="0"/>
              <a:t>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at</a:t>
            </a:r>
            <a:r>
              <a:rPr lang="nl-NL" dirty="0"/>
              <a:t> the </a:t>
            </a:r>
            <a:r>
              <a:rPr lang="nl-NL" dirty="0" err="1"/>
              <a:t>baker’s</a:t>
            </a:r>
            <a:r>
              <a:rPr lang="nl-NL" dirty="0"/>
              <a:t>.</a:t>
            </a:r>
          </a:p>
          <a:p>
            <a:pPr eaLnBrk="1" hangingPunct="1">
              <a:defRPr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5625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981EE-3510-4BDA-8946-7C0E40FB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9" y="225910"/>
            <a:ext cx="10728322" cy="1477328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Exercise: </a:t>
            </a:r>
            <a:br>
              <a:rPr lang="en-US" dirty="0"/>
            </a:br>
            <a:r>
              <a:rPr lang="en-US" dirty="0"/>
              <a:t>Using the right preposition: identify if the prepositions are correct or wrong.</a:t>
            </a:r>
            <a:br>
              <a:rPr lang="en-US" dirty="0"/>
            </a:br>
            <a:r>
              <a:rPr lang="en-US" dirty="0"/>
              <a:t>If wrong, correct them.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EA04F9-A40A-4FAD-B9EC-492C5DBA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2084439"/>
            <a:ext cx="10728325" cy="4185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She is engaged with David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She entered into the room.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He is intelligent, but he lacks of experience.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Except coats or sweaters, you are not allowed to wear outer clothing.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On October, we went for a skiing vacation in Switzerland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Every summer I fly to Brazil and sit in the beach.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He decided to protest over the depiction of violence towards animals.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He told to me that he liked 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Jane was in the wedding. </a:t>
            </a:r>
            <a:endParaRPr lang="en-NL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437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981EE-3510-4BDA-8946-7C0E40FB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right preposition: the answers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EA04F9-A40A-4FAD-B9EC-492C5DBA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455174"/>
            <a:ext cx="10728325" cy="448094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/>
              <a:t>She is engaged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to</a:t>
            </a:r>
            <a:r>
              <a:rPr lang="en-US" sz="1800" dirty="0"/>
              <a:t> David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She </a:t>
            </a:r>
            <a:r>
              <a:rPr lang="en-US" sz="1800" u="sng" dirty="0"/>
              <a:t>entered</a:t>
            </a:r>
            <a:r>
              <a:rPr lang="en-US" sz="1800" dirty="0"/>
              <a:t> the room.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He is intelligent, but he </a:t>
            </a:r>
            <a:r>
              <a:rPr lang="en-US" sz="1800" u="sng" dirty="0"/>
              <a:t>lacks</a:t>
            </a:r>
            <a:r>
              <a:rPr lang="en-US" sz="1800" dirty="0"/>
              <a:t> experience.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Except</a:t>
            </a:r>
            <a:r>
              <a:rPr lang="en-US" sz="18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for </a:t>
            </a:r>
            <a:r>
              <a:rPr lang="en-US" sz="1800" dirty="0"/>
              <a:t>coats or sweaters, you are not allowed to wear outer clothing.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In</a:t>
            </a:r>
            <a:r>
              <a:rPr lang="en-US" sz="18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en-US" sz="1800" dirty="0"/>
              <a:t>October, we went for a skiing vacation in Switzerland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Every summer I fly to Brazil and sit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on/at</a:t>
            </a:r>
            <a:r>
              <a:rPr lang="en-US" sz="18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en-US" sz="1800" dirty="0"/>
              <a:t>the beach.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He decided to protest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against</a:t>
            </a:r>
            <a:r>
              <a:rPr lang="en-US" sz="1800" dirty="0"/>
              <a:t> the depiction of violence towards animals.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He </a:t>
            </a:r>
            <a:r>
              <a:rPr lang="en-US" sz="1800" u="sng" dirty="0"/>
              <a:t>told</a:t>
            </a:r>
            <a:r>
              <a:rPr lang="en-US" sz="1800" dirty="0"/>
              <a:t> me that he liked 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Jane was </a:t>
            </a:r>
            <a:r>
              <a:rPr lang="en-US" sz="1800" b="1" dirty="0">
                <a:solidFill>
                  <a:srgbClr val="FFC000">
                    <a:alpha val="58000"/>
                  </a:srgbClr>
                </a:solidFill>
              </a:rPr>
              <a:t>at</a:t>
            </a:r>
            <a:r>
              <a:rPr lang="en-US" sz="1800" dirty="0">
                <a:solidFill>
                  <a:srgbClr val="FFC000">
                    <a:alpha val="58000"/>
                  </a:srgbClr>
                </a:solidFill>
              </a:rPr>
              <a:t> </a:t>
            </a:r>
            <a:r>
              <a:rPr lang="en-US" sz="1800" dirty="0"/>
              <a:t>the wedding. </a:t>
            </a:r>
            <a:endParaRPr lang="en-NL" sz="1800" dirty="0"/>
          </a:p>
        </p:txBody>
      </p:sp>
    </p:spTree>
    <p:extLst>
      <p:ext uri="{BB962C8B-B14F-4D97-AF65-F5344CB8AC3E}">
        <p14:creationId xmlns:p14="http://schemas.microsoft.com/office/powerpoint/2010/main" val="36863937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935</Words>
  <Application>Microsoft Office PowerPoint</Application>
  <PresentationFormat>Widescreen</PresentationFormat>
  <Paragraphs>142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Nova</vt:lpstr>
      <vt:lpstr>Calibri</vt:lpstr>
      <vt:lpstr>Sagona Book</vt:lpstr>
      <vt:lpstr>The Hand Extrablack</vt:lpstr>
      <vt:lpstr>BlobVTI</vt:lpstr>
      <vt:lpstr>Grammar &amp; Basics</vt:lpstr>
      <vt:lpstr>PowerPoint Presentation</vt:lpstr>
      <vt:lpstr>Prepositions</vt:lpstr>
      <vt:lpstr>Prepositions</vt:lpstr>
      <vt:lpstr>Confusing cases – I</vt:lpstr>
      <vt:lpstr>Confusing cases - II</vt:lpstr>
      <vt:lpstr>Confusing cases - III</vt:lpstr>
      <vt:lpstr>Confusing cases - IV</vt:lpstr>
      <vt:lpstr>Confusing cases - V</vt:lpstr>
      <vt:lpstr>Confusing cases - VI</vt:lpstr>
      <vt:lpstr>Confusing cases - VII</vt:lpstr>
      <vt:lpstr>Confusing cases - VIII</vt:lpstr>
      <vt:lpstr>Common mistakes by Dutch people - I</vt:lpstr>
      <vt:lpstr>Common mistakes by Dutch people - II</vt:lpstr>
      <vt:lpstr>Exercise:  Using the right preposition: identify if the prepositions are correct or wrong. If wrong, correct them.</vt:lpstr>
      <vt:lpstr>Using the right preposition: the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 &amp; Basics</dc:title>
  <dc:creator>Fatima Kajouj</dc:creator>
  <cp:lastModifiedBy>Fatima Kajouj</cp:lastModifiedBy>
  <cp:revision>1</cp:revision>
  <dcterms:created xsi:type="dcterms:W3CDTF">2023-08-28T18:36:39Z</dcterms:created>
  <dcterms:modified xsi:type="dcterms:W3CDTF">2023-08-28T19:10:44Z</dcterms:modified>
</cp:coreProperties>
</file>
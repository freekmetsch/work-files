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18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19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20.xml" ContentType="application/vnd.openxmlformats-officedocument.themeOverride+xml"/>
  <Override PartName="/ppt/notesSlides/notesSlide18.xml" ContentType="application/vnd.openxmlformats-officedocument.presentationml.notesSlide+xml"/>
  <Override PartName="/ppt/theme/themeOverride21.xml" ContentType="application/vnd.openxmlformats-officedocument.themeOverride+xml"/>
  <Override PartName="/ppt/notesSlides/notesSlide19.xml" ContentType="application/vnd.openxmlformats-officedocument.presentationml.notesSlide+xml"/>
  <Override PartName="/ppt/theme/themeOverride22.xml" ContentType="application/vnd.openxmlformats-officedocument.themeOverride+xml"/>
  <Override PartName="/ppt/notesSlides/notesSlide20.xml" ContentType="application/vnd.openxmlformats-officedocument.presentationml.notesSlide+xml"/>
  <Override PartName="/ppt/theme/themeOverride23.xml" ContentType="application/vnd.openxmlformats-officedocument.themeOverride+xml"/>
  <Override PartName="/ppt/notesSlides/notesSlide21.xml" ContentType="application/vnd.openxmlformats-officedocument.presentationml.notesSlide+xml"/>
  <Override PartName="/ppt/theme/themeOverride24.xml" ContentType="application/vnd.openxmlformats-officedocument.themeOverride+xml"/>
  <Override PartName="/ppt/notesSlides/notesSlide22.xml" ContentType="application/vnd.openxmlformats-officedocument.presentationml.notesSlide+xml"/>
  <Override PartName="/ppt/theme/themeOverride25.xml" ContentType="application/vnd.openxmlformats-officedocument.themeOverride+xml"/>
  <Override PartName="/ppt/notesSlides/notesSlide23.xml" ContentType="application/vnd.openxmlformats-officedocument.presentationml.notesSl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notesSlides/notesSlide24.xml" ContentType="application/vnd.openxmlformats-officedocument.presentationml.notesSlide+xml"/>
  <Override PartName="/ppt/theme/themeOverride28.xml" ContentType="application/vnd.openxmlformats-officedocument.themeOverride+xml"/>
  <Override PartName="/ppt/notesSlides/notesSlide25.xml" ContentType="application/vnd.openxmlformats-officedocument.presentationml.notesSlide+xml"/>
  <Override PartName="/ppt/theme/themeOverride29.xml" ContentType="application/vnd.openxmlformats-officedocument.themeOverride+xml"/>
  <Override PartName="/ppt/theme/themeOverride30.xml" ContentType="application/vnd.openxmlformats-officedocument.themeOverride+xml"/>
  <Override PartName="/ppt/notesSlides/notesSlide26.xml" ContentType="application/vnd.openxmlformats-officedocument.presentationml.notesSlide+xml"/>
  <Override PartName="/ppt/theme/themeOverride31.xml" ContentType="application/vnd.openxmlformats-officedocument.themeOverride+xml"/>
  <Override PartName="/ppt/theme/themeOverride32.xml" ContentType="application/vnd.openxmlformats-officedocument.themeOverride+xml"/>
  <Override PartName="/ppt/theme/themeOverride33.xml" ContentType="application/vnd.openxmlformats-officedocument.themeOverride+xml"/>
  <Override PartName="/ppt/theme/themeOverride34.xml" ContentType="application/vnd.openxmlformats-officedocument.themeOverride+xml"/>
  <Override PartName="/ppt/theme/themeOverride35.xml" ContentType="application/vnd.openxmlformats-officedocument.themeOverride+xml"/>
  <Override PartName="/ppt/notesSlides/notesSlide27.xml" ContentType="application/vnd.openxmlformats-officedocument.presentationml.notesSlide+xml"/>
  <Override PartName="/ppt/theme/themeOverride36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1" r:id="rId4"/>
  </p:sldMasterIdLst>
  <p:notesMasterIdLst>
    <p:notesMasterId r:id="rId43"/>
  </p:notesMasterIdLst>
  <p:handoutMasterIdLst>
    <p:handoutMasterId r:id="rId44"/>
  </p:handoutMasterIdLst>
  <p:sldIdLst>
    <p:sldId id="256" r:id="rId5"/>
    <p:sldId id="359" r:id="rId6"/>
    <p:sldId id="412" r:id="rId7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9" r:id="rId15"/>
    <p:sldId id="372" r:id="rId16"/>
    <p:sldId id="373" r:id="rId17"/>
    <p:sldId id="374" r:id="rId18"/>
    <p:sldId id="413" r:id="rId19"/>
    <p:sldId id="377" r:id="rId20"/>
    <p:sldId id="378" r:id="rId21"/>
    <p:sldId id="384" r:id="rId22"/>
    <p:sldId id="385" r:id="rId23"/>
    <p:sldId id="394" r:id="rId24"/>
    <p:sldId id="395" r:id="rId25"/>
    <p:sldId id="396" r:id="rId26"/>
    <p:sldId id="397" r:id="rId27"/>
    <p:sldId id="398" r:id="rId28"/>
    <p:sldId id="399" r:id="rId29"/>
    <p:sldId id="400" r:id="rId30"/>
    <p:sldId id="401" r:id="rId31"/>
    <p:sldId id="402" r:id="rId32"/>
    <p:sldId id="403" r:id="rId33"/>
    <p:sldId id="404" r:id="rId34"/>
    <p:sldId id="405" r:id="rId35"/>
    <p:sldId id="406" r:id="rId36"/>
    <p:sldId id="407" r:id="rId37"/>
    <p:sldId id="408" r:id="rId38"/>
    <p:sldId id="409" r:id="rId39"/>
    <p:sldId id="410" r:id="rId40"/>
    <p:sldId id="411" r:id="rId41"/>
    <p:sldId id="414" r:id="rId42"/>
  </p:sldIdLst>
  <p:sldSz cx="9144000" cy="6858000" type="screen4x3"/>
  <p:notesSz cx="6805613" cy="9944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CC00CC"/>
    <a:srgbClr val="F95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4" autoAdjust="0"/>
    <p:restoredTop sz="87940" autoAdjust="0"/>
  </p:normalViewPr>
  <p:slideViewPr>
    <p:cSldViewPr>
      <p:cViewPr varScale="1">
        <p:scale>
          <a:sx n="93" d="100"/>
          <a:sy n="93" d="100"/>
        </p:scale>
        <p:origin x="204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58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ek Metsch" userId="021ef47b-1d71-428a-9075-16ffbc2c7c18" providerId="ADAL" clId="{48057A98-BC41-43E8-8890-908C05205D75}"/>
    <pc:docChg chg="custSel modSld">
      <pc:chgData name="Freek Metsch" userId="021ef47b-1d71-428a-9075-16ffbc2c7c18" providerId="ADAL" clId="{48057A98-BC41-43E8-8890-908C05205D75}" dt="2024-09-10T08:11:57.377" v="449" actId="20577"/>
      <pc:docMkLst>
        <pc:docMk/>
      </pc:docMkLst>
      <pc:sldChg chg="modSp mod">
        <pc:chgData name="Freek Metsch" userId="021ef47b-1d71-428a-9075-16ffbc2c7c18" providerId="ADAL" clId="{48057A98-BC41-43E8-8890-908C05205D75}" dt="2024-09-10T08:11:57.377" v="449" actId="20577"/>
        <pc:sldMkLst>
          <pc:docMk/>
          <pc:sldMk cId="3505707736" sldId="414"/>
        </pc:sldMkLst>
        <pc:spChg chg="mod">
          <ac:chgData name="Freek Metsch" userId="021ef47b-1d71-428a-9075-16ffbc2c7c18" providerId="ADAL" clId="{48057A98-BC41-43E8-8890-908C05205D75}" dt="2024-09-10T08:09:24.484" v="49" actId="20577"/>
          <ac:spMkLst>
            <pc:docMk/>
            <pc:sldMk cId="3505707736" sldId="414"/>
            <ac:spMk id="2" creationId="{30C7557E-96A8-DA53-481E-2646C85CE71C}"/>
          </ac:spMkLst>
        </pc:spChg>
        <pc:spChg chg="mod">
          <ac:chgData name="Freek Metsch" userId="021ef47b-1d71-428a-9075-16ffbc2c7c18" providerId="ADAL" clId="{48057A98-BC41-43E8-8890-908C05205D75}" dt="2024-09-10T08:11:57.377" v="449" actId="20577"/>
          <ac:spMkLst>
            <pc:docMk/>
            <pc:sldMk cId="3505707736" sldId="414"/>
            <ac:spMk id="3" creationId="{B3E93793-2604-01A7-321C-24F1ED2787E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F311EF-DB3C-4B9D-9476-5CFCE272EFF6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563ED6-C226-40AB-9EBE-DD5F989E8C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843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7EE0F70-0EA5-48EE-BF46-0E545C978FEA}" type="datetimeFigureOut">
              <a:rPr lang="en-US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6125"/>
            <a:ext cx="497205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3448"/>
            <a:ext cx="5444490" cy="4474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1C8008B-58CC-4600-BA0E-B8D67D4311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605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587CAC-01CF-4301-897E-1255C7E2ED9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3316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86306DA-EA16-47B8-A430-4556D6A7B84F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79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17412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A06D08-6CDD-4E7F-836A-336DAD71899E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878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9460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084266C-C657-44E0-AD9E-FC790B1626A1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262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1508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ACE6F2-7132-4731-8C40-2E2864427785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997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3556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BC8706-857B-4FC0-8171-15F76CBEF88B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9623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560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A371B4B-4662-407B-BC7A-59FF7685352C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654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33781F4-6094-4A38-824A-F4BACB8040B0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626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6088908-36CB-4879-BF26-6C7F9655BA14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072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F98AD29-0D87-4B50-8EB6-02A8EF34FB73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7440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1988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7351F3B-69BD-4CF2-B6A6-984A5FFEACFE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4583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44036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9EC2278-0FF2-4D4B-9912-75582AE3876E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6615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8132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DEC9E93-A11B-44A1-8425-EF6909C0EC55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4178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0180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03203A2-F005-45C5-99FE-723730364267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17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3381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2468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5403BD-E7A7-4255-AD35-E3A161A72C6D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18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0116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4516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39B0177-9FD6-4CE2-B685-09F8DECAB36B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19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8980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GB" altLang="en-US"/>
              <a:t>Far farther farthest </a:t>
            </a:r>
            <a:r>
              <a:rPr lang="en-GB" altLang="en-US">
                <a:sym typeface="Wingdings" panose="05000000000000000000" pitchFamily="2" charset="2"/>
              </a:rPr>
              <a:t> distance only</a:t>
            </a:r>
            <a:endParaRPr lang="en-GB" altLang="en-US"/>
          </a:p>
          <a:p>
            <a:pPr eaLnBrk="1" hangingPunct="1">
              <a:spcBef>
                <a:spcPct val="0"/>
              </a:spcBef>
            </a:pPr>
            <a:r>
              <a:rPr lang="en-GB" altLang="en-US"/>
              <a:t>Far further furthest </a:t>
            </a:r>
            <a:r>
              <a:rPr lang="en-GB" altLang="en-US">
                <a:sym typeface="Wingdings" panose="05000000000000000000" pitchFamily="2" charset="2"/>
              </a:rPr>
              <a:t> distance and addition</a:t>
            </a:r>
            <a:endParaRPr lang="en-GB" altLang="en-US"/>
          </a:p>
          <a:p>
            <a:pPr eaLnBrk="1" hangingPunct="1">
              <a:spcBef>
                <a:spcPct val="0"/>
              </a:spcBef>
            </a:pPr>
            <a:r>
              <a:rPr lang="en-GB" altLang="en-US"/>
              <a:t>Older elder eldest </a:t>
            </a:r>
            <a:r>
              <a:rPr lang="en-GB" altLang="en-US">
                <a:sym typeface="Wingdings" panose="05000000000000000000" pitchFamily="2" charset="2"/>
              </a:rPr>
              <a:t> only before these nouns: son, daughter, brother, sister, child</a:t>
            </a:r>
            <a:endParaRPr lang="en-GB" altLang="en-US"/>
          </a:p>
        </p:txBody>
      </p:sp>
      <p:sp>
        <p:nvSpPr>
          <p:cNvPr id="82948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A755A4C-4FFC-4205-8E6D-DEE55C8A5F7B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20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7776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84996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53D6882-6F37-447B-BF04-21E25417BA58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21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229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870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DE4CCE7-D018-4035-B695-592C9B2575DC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22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8139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89092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4EF8C71-F6E7-44F7-8C24-DAC68CCA75C4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23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6835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91140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0FBA522-A603-49E7-B2C5-567AED050872}" type="slidenum">
              <a:rPr lang="nl-NL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24</a:t>
            </a:fld>
            <a:endParaRPr lang="nl-NL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6225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81FD04E-0902-479D-8EFB-8E6ECBD8FF62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25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995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1DE0F67-566D-4266-8A8E-5DFA155CA33C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26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5849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98308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CD753A4-5B7D-481B-B366-616DD81CC13B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28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9673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00356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898018-65E7-4622-A8AA-E2C2FEE4F7D0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29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5500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03428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5F36F5B-0E03-48E6-9677-8BE0BD701E74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31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1187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1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09572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B4DEB21-8520-4FA3-AFC3-E8F8AF1CE9B0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36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515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DA1311-7605-49A3-B860-CE941D2BED5A}" type="datetimeFigureOut">
              <a:rPr lang="en-US" smtClean="0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F1C65A-79BB-4244-8241-8592F11DCBB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526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303776-B5F3-482D-B025-52E83D0420E7}" type="datetimeFigureOut">
              <a:rPr lang="en-US" smtClean="0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FFCAA-1B2C-49C6-8D88-2C923AD7249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047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897A7B8-FED8-408E-B814-1ABF4C99C9D0}" type="datetimeFigureOut">
              <a:rPr lang="en-US" smtClean="0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9952E0-E2C6-4F4D-8A98-5451079194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58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6AAD04-9D9E-4574-BD0D-743AA0BB7728}" type="datetimeFigureOut">
              <a:rPr lang="en-US" smtClean="0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04676-EB14-42BA-A29B-9287B732DAA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2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98629B-7BC8-41E9-9B55-8786EF6FFB3C}" type="datetimeFigureOut">
              <a:rPr lang="en-US" smtClean="0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C8F6E2-DD42-47DC-968D-4EC81CBFDBB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58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45A31A-FD4F-45A2-87E9-FB3FD838ABEB}" type="datetimeFigureOut">
              <a:rPr lang="en-US" smtClean="0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686892-9EF2-45EF-8283-4F910D9827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1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FE0BE7-EEF9-4A64-9E18-7C6DA39FEF20}" type="datetimeFigureOut">
              <a:rPr lang="en-US" smtClean="0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2958BB-47A1-448A-AC3D-6091AD439E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20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2D089757-46FF-40B8-9A09-CD68B5BE297B}" type="datetimeFigureOut">
              <a:rPr lang="en-US" smtClean="0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60A03DC-9471-4B9C-95DC-F76AA3AE1BA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14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BFFC220-0A9F-4946-B993-A94FC472B8E2}" type="datetimeFigureOut">
              <a:rPr lang="en-US" smtClean="0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E3C564-8CBD-4854-9267-67125E4E13C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052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11AF3D-D7D8-45A5-A6BA-29055ED4B657}" type="datetimeFigureOut">
              <a:rPr lang="en-US" smtClean="0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96F61A-A798-4E41-A0FB-5E675CD6551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45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668D86-11CC-4177-A43E-C46377717AAD}" type="datetimeFigureOut">
              <a:rPr lang="en-US" smtClean="0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530276-7CB2-4BC5-9738-0AD6568018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039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el en 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GB"/>
          </a:p>
        </p:txBody>
      </p:sp>
      <p:sp>
        <p:nvSpPr>
          <p:cNvPr id="3" name="Tijdelijke aanduiding voor tabel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A05263-5804-4928-AEA0-C1EE9AB43E02}" type="slidenum">
              <a:rPr lang="nl-NL" altLang="nl-NL"/>
              <a:pPr>
                <a:defRPr/>
              </a:pPr>
              <a:t>‹#›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167029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4AE5754-B91B-49D9-A99C-4EC3558F86BE}" type="datetimeFigureOut">
              <a:rPr lang="en-US" smtClean="0"/>
              <a:pPr>
                <a:defRPr/>
              </a:pPr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6006FF5-3448-4EA3-BBA1-3F9F60C6539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334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0.xml"/><Relationship Id="rId4" Type="http://schemas.openxmlformats.org/officeDocument/2006/relationships/image" Target="../media/image8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3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47500" y="639097"/>
            <a:ext cx="3609804" cy="3686015"/>
          </a:xfrm>
        </p:spPr>
        <p:txBody>
          <a:bodyPr>
            <a:normAutofit/>
          </a:bodyPr>
          <a:lstStyle/>
          <a:p>
            <a:r>
              <a:rPr lang="en-US" sz="6800"/>
              <a:t>Grammar &amp;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47499" y="4455621"/>
            <a:ext cx="3621826" cy="1238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Adverb vs Adjectives</a:t>
            </a:r>
          </a:p>
        </p:txBody>
      </p:sp>
      <p:pic>
        <p:nvPicPr>
          <p:cNvPr id="7" name="Picture 6" descr="Stack of books">
            <a:extLst>
              <a:ext uri="{FF2B5EF4-FFF2-40B4-BE49-F238E27FC236}">
                <a16:creationId xmlns:a16="http://schemas.microsoft.com/office/drawing/2014/main" id="{35F4B628-46DF-4869-8D93-EBA2C8B22DB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36" r="10364" b="-1"/>
          <a:stretch/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03789" y="4343400"/>
            <a:ext cx="329184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043" y="457200"/>
            <a:ext cx="8455914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2049" y="521208"/>
            <a:ext cx="835990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 descr="A cartoon of a duck&#10;&#10;Description automatically generated">
            <a:extLst>
              <a:ext uri="{FF2B5EF4-FFF2-40B4-BE49-F238E27FC236}">
                <a16:creationId xmlns:a16="http://schemas.microsoft.com/office/drawing/2014/main" id="{E92B5575-CC56-7D1B-469C-23D8E8E9AB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17" y="2249728"/>
            <a:ext cx="7752969" cy="235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077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DF452-FF12-544A-5020-86B79CDC6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cartoon of a person and a cat&#10;&#10;Description automatically generated">
            <a:extLst>
              <a:ext uri="{FF2B5EF4-FFF2-40B4-BE49-F238E27FC236}">
                <a16:creationId xmlns:a16="http://schemas.microsoft.com/office/drawing/2014/main" id="{1B0BF4A3-4A53-4B78-CE3A-3A0F30B277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25" y="2732342"/>
            <a:ext cx="7543800" cy="2250566"/>
          </a:xfrm>
        </p:spPr>
      </p:pic>
    </p:spTree>
    <p:extLst>
      <p:ext uri="{BB962C8B-B14F-4D97-AF65-F5344CB8AC3E}">
        <p14:creationId xmlns:p14="http://schemas.microsoft.com/office/powerpoint/2010/main" val="3679625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GB" altLang="en-US" dirty="0"/>
              <a:t> Adjectives vs. Adverbs</a:t>
            </a:r>
          </a:p>
        </p:txBody>
      </p:sp>
      <p:sp>
        <p:nvSpPr>
          <p:cNvPr id="6" name="Tijdelijke aanduiding voor tekst 5"/>
          <p:cNvSpPr>
            <a:spLocks noGrp="1"/>
          </p:cNvSpPr>
          <p:nvPr>
            <p:ph type="body" sz="quarter" idx="3"/>
          </p:nvPr>
        </p:nvSpPr>
        <p:spPr>
          <a:xfrm>
            <a:off x="4355976" y="1843799"/>
            <a:ext cx="3702050" cy="736600"/>
          </a:xfrm>
        </p:spPr>
        <p:txBody>
          <a:bodyPr>
            <a:normAutofit/>
          </a:bodyPr>
          <a:lstStyle/>
          <a:p>
            <a:r>
              <a:rPr lang="en-GB" b="1" dirty="0"/>
              <a:t>Adverbs</a:t>
            </a:r>
          </a:p>
        </p:txBody>
      </p:sp>
      <p:sp>
        <p:nvSpPr>
          <p:cNvPr id="16388" name="Tijdelijke aanduiding voor inhoud 3"/>
          <p:cNvSpPr>
            <a:spLocks noGrp="1"/>
          </p:cNvSpPr>
          <p:nvPr>
            <p:ph sz="quarter" idx="4"/>
          </p:nvPr>
        </p:nvSpPr>
        <p:spPr>
          <a:xfrm>
            <a:off x="4274820" y="2580399"/>
            <a:ext cx="4689668" cy="3286760"/>
          </a:xfrm>
        </p:spPr>
        <p:txBody>
          <a:bodyPr/>
          <a:lstStyle/>
          <a:p>
            <a:r>
              <a:rPr lang="en-GB" altLang="en-US" dirty="0"/>
              <a:t>Modify the rest (adjectives, adverbs, verbs)</a:t>
            </a:r>
          </a:p>
          <a:p>
            <a:endParaRPr lang="en-GB" altLang="en-US" dirty="0"/>
          </a:p>
          <a:p>
            <a:r>
              <a:rPr lang="en-GB" altLang="en-US" dirty="0"/>
              <a:t>e.g. practically, relatively, carefully, naturally, never </a:t>
            </a:r>
          </a:p>
        </p:txBody>
      </p:sp>
      <p:sp>
        <p:nvSpPr>
          <p:cNvPr id="16389" name="Tijdelijke aanduiding voor tekst 4"/>
          <p:cNvSpPr>
            <a:spLocks noGrp="1"/>
          </p:cNvSpPr>
          <p:nvPr>
            <p:ph type="body" idx="1"/>
          </p:nvPr>
        </p:nvSpPr>
        <p:spPr>
          <a:xfrm>
            <a:off x="539552" y="1850663"/>
            <a:ext cx="3703638" cy="736600"/>
          </a:xfrm>
        </p:spPr>
        <p:txBody>
          <a:bodyPr>
            <a:normAutofit/>
          </a:bodyPr>
          <a:lstStyle/>
          <a:p>
            <a:r>
              <a:rPr lang="en-GB" b="1" dirty="0"/>
              <a:t>Adjectives</a:t>
            </a:r>
          </a:p>
        </p:txBody>
      </p:sp>
      <p:sp>
        <p:nvSpPr>
          <p:cNvPr id="16387" name="Tijdelijke aanduiding voor inhoud 2"/>
          <p:cNvSpPr>
            <a:spLocks noGrp="1"/>
          </p:cNvSpPr>
          <p:nvPr>
            <p:ph sz="half" idx="2"/>
          </p:nvPr>
        </p:nvSpPr>
        <p:spPr>
          <a:xfrm>
            <a:off x="539552" y="2582334"/>
            <a:ext cx="3703320" cy="3286760"/>
          </a:xfrm>
        </p:spPr>
        <p:txBody>
          <a:bodyPr/>
          <a:lstStyle/>
          <a:p>
            <a:r>
              <a:rPr lang="en-GB" altLang="en-US" dirty="0"/>
              <a:t>Modify </a:t>
            </a:r>
            <a:r>
              <a:rPr lang="en-GB" altLang="en-US" u="sng" dirty="0"/>
              <a:t>nouns</a:t>
            </a:r>
            <a:r>
              <a:rPr lang="en-GB" altLang="en-US" dirty="0"/>
              <a:t> and </a:t>
            </a:r>
            <a:r>
              <a:rPr lang="en-GB" altLang="en-US" u="sng" dirty="0"/>
              <a:t>pronouns</a:t>
            </a:r>
          </a:p>
          <a:p>
            <a:r>
              <a:rPr lang="en-GB" altLang="en-US" dirty="0"/>
              <a:t>e.g. beautiful, cool, wonderful, smooth, expensive </a:t>
            </a:r>
          </a:p>
        </p:txBody>
      </p:sp>
    </p:spTree>
    <p:extLst>
      <p:ext uri="{BB962C8B-B14F-4D97-AF65-F5344CB8AC3E}">
        <p14:creationId xmlns:p14="http://schemas.microsoft.com/office/powerpoint/2010/main" val="37589783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35" name="Title 2"/>
          <p:cNvSpPr>
            <a:spLocks noGrp="1"/>
          </p:cNvSpPr>
          <p:nvPr>
            <p:ph type="title"/>
          </p:nvPr>
        </p:nvSpPr>
        <p:spPr>
          <a:xfrm>
            <a:off x="5047500" y="639097"/>
            <a:ext cx="3609804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US" sz="6200"/>
              <a:t>Adjectives</a:t>
            </a:r>
          </a:p>
        </p:txBody>
      </p:sp>
      <p:sp>
        <p:nvSpPr>
          <p:cNvPr id="18434" name="Text Placeholder 1"/>
          <p:cNvSpPr>
            <a:spLocks noGrp="1"/>
          </p:cNvSpPr>
          <p:nvPr>
            <p:ph type="body" idx="1"/>
          </p:nvPr>
        </p:nvSpPr>
        <p:spPr>
          <a:xfrm>
            <a:off x="5047499" y="4455621"/>
            <a:ext cx="3621826" cy="12386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pic>
        <p:nvPicPr>
          <p:cNvPr id="3" name="Picture 2" descr="Woman striking a pose">
            <a:extLst>
              <a:ext uri="{FF2B5EF4-FFF2-40B4-BE49-F238E27FC236}">
                <a16:creationId xmlns:a16="http://schemas.microsoft.com/office/drawing/2014/main" id="{A38247A3-5D76-43C7-BB7A-DE635EC30AA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76" r="27624" b="-1"/>
          <a:stretch/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03789" y="4343400"/>
            <a:ext cx="329184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339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el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GB" altLang="en-US"/>
              <a:t>Adjectives </a:t>
            </a:r>
          </a:p>
        </p:txBody>
      </p:sp>
      <p:sp>
        <p:nvSpPr>
          <p:cNvPr id="20483" name="Tijdelijke aanduiding voor inhoud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>
            <a:normAutofit/>
          </a:bodyPr>
          <a:lstStyle/>
          <a:p>
            <a:r>
              <a:rPr lang="en-GB" altLang="en-US" dirty="0"/>
              <a:t>Modify </a:t>
            </a:r>
            <a:r>
              <a:rPr lang="en-GB" altLang="en-US" u="sng" dirty="0"/>
              <a:t>nouns</a:t>
            </a:r>
            <a:r>
              <a:rPr lang="en-GB" altLang="en-US" dirty="0"/>
              <a:t> and </a:t>
            </a:r>
            <a:r>
              <a:rPr lang="en-GB" altLang="en-US" u="sng" dirty="0"/>
              <a:t>pronouns</a:t>
            </a:r>
            <a:r>
              <a:rPr lang="en-GB" altLang="en-US" dirty="0"/>
              <a:t> only</a:t>
            </a:r>
          </a:p>
          <a:p>
            <a:endParaRPr lang="en-GB" altLang="en-US" dirty="0"/>
          </a:p>
          <a:p>
            <a:r>
              <a:rPr lang="en-GB" altLang="en-US" dirty="0"/>
              <a:t>Can be used in two main ways</a:t>
            </a:r>
          </a:p>
          <a:p>
            <a:pPr lvl="1"/>
            <a:r>
              <a:rPr lang="en-GB" altLang="en-US" dirty="0">
                <a:sym typeface="Wingdings" panose="05000000000000000000" pitchFamily="2" charset="2"/>
              </a:rPr>
              <a:t>A </a:t>
            </a:r>
            <a:r>
              <a:rPr lang="en-GB" altLang="en-US" b="1" dirty="0">
                <a:sym typeface="Wingdings" panose="05000000000000000000" pitchFamily="2" charset="2"/>
              </a:rPr>
              <a:t>young</a:t>
            </a:r>
            <a:r>
              <a:rPr lang="en-GB" altLang="en-US" dirty="0">
                <a:sym typeface="Wingdings" panose="05000000000000000000" pitchFamily="2" charset="2"/>
              </a:rPr>
              <a:t> woman</a:t>
            </a:r>
          </a:p>
          <a:p>
            <a:pPr lvl="1"/>
            <a:r>
              <a:rPr lang="en-GB" altLang="en-US" dirty="0">
                <a:sym typeface="Wingdings" panose="05000000000000000000" pitchFamily="2" charset="2"/>
              </a:rPr>
              <a:t>The woman is </a:t>
            </a:r>
            <a:r>
              <a:rPr lang="en-GB" altLang="en-US" b="1" dirty="0">
                <a:sym typeface="Wingdings" panose="05000000000000000000" pitchFamily="2" charset="2"/>
              </a:rPr>
              <a:t>young</a:t>
            </a:r>
          </a:p>
          <a:p>
            <a:pPr marL="201168" lvl="1" indent="0">
              <a:buNone/>
            </a:pPr>
            <a:endParaRPr lang="en-GB" altLang="en-US" b="1" dirty="0">
              <a:sym typeface="Wingdings" panose="05000000000000000000" pitchFamily="2" charset="2"/>
            </a:endParaRPr>
          </a:p>
          <a:p>
            <a:r>
              <a:rPr lang="en-GB" altLang="en-US" dirty="0">
                <a:sym typeface="Wingdings" panose="05000000000000000000" pitchFamily="2" charset="2"/>
              </a:rPr>
              <a:t>Only the second one is possible with pronouns</a:t>
            </a:r>
          </a:p>
          <a:p>
            <a:pPr lvl="1"/>
            <a:r>
              <a:rPr lang="en-GB" altLang="en-US" u="sng" dirty="0">
                <a:sym typeface="Wingdings" panose="05000000000000000000" pitchFamily="2" charset="2"/>
              </a:rPr>
              <a:t>She</a:t>
            </a:r>
            <a:r>
              <a:rPr lang="en-GB" altLang="en-US" dirty="0">
                <a:sym typeface="Wingdings" panose="05000000000000000000" pitchFamily="2" charset="2"/>
              </a:rPr>
              <a:t> is young</a:t>
            </a:r>
            <a:br>
              <a:rPr lang="en-GB" altLang="en-US" dirty="0">
                <a:sym typeface="Wingdings" panose="05000000000000000000" pitchFamily="2" charset="2"/>
              </a:rPr>
            </a:br>
            <a:r>
              <a:rPr lang="en-GB" altLang="en-US" dirty="0">
                <a:sym typeface="Wingdings" panose="05000000000000000000" pitchFamily="2" charset="2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1425082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478293" y="476672"/>
            <a:ext cx="8229600" cy="1143000"/>
          </a:xfrm>
        </p:spPr>
        <p:txBody>
          <a:bodyPr/>
          <a:lstStyle/>
          <a:p>
            <a:r>
              <a:rPr lang="en-US" altLang="en-US" dirty="0"/>
              <a:t>Two Ways of Using Adjectives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006240945"/>
              </p:ext>
            </p:extLst>
          </p:nvPr>
        </p:nvGraphicFramePr>
        <p:xfrm>
          <a:off x="478293" y="2334142"/>
          <a:ext cx="6563072" cy="11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1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1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9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in front of noun</a:t>
                      </a:r>
                    </a:p>
                  </a:txBody>
                  <a:tcPr marL="72923" marR="72923" marT="36410" marB="36410"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after linking verb</a:t>
                      </a:r>
                    </a:p>
                  </a:txBody>
                  <a:tcPr marL="72923" marR="72923" marT="36410" marB="3641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974"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 marL="72923" marR="72923" marT="36410" marB="36410"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 marL="72923" marR="72923" marT="36410" marB="3641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0458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611560" y="476672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Two Ways of Using Adjectives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734414908"/>
              </p:ext>
            </p:extLst>
          </p:nvPr>
        </p:nvGraphicFramePr>
        <p:xfrm>
          <a:off x="611560" y="1988840"/>
          <a:ext cx="6131024" cy="1296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5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5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6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in front of noun</a:t>
                      </a:r>
                    </a:p>
                  </a:txBody>
                  <a:tcPr marT="45666" marB="45666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after linking verb</a:t>
                      </a:r>
                    </a:p>
                  </a:txBody>
                  <a:tcPr marT="45666" marB="4566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4479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T="45666" marB="45666"/>
                </a:tc>
                <a:tc>
                  <a:txBody>
                    <a:bodyPr/>
                    <a:lstStyle/>
                    <a:p>
                      <a:r>
                        <a:rPr lang="en-US" sz="2000" i="1" baseline="0" dirty="0"/>
                        <a:t>be, become, seem, feel, taste, etc. </a:t>
                      </a:r>
                      <a:endParaRPr lang="en-US" sz="2000" i="1" dirty="0"/>
                    </a:p>
                  </a:txBody>
                  <a:tcPr marT="45666" marB="4566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040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Two Ways of Using Adjectives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270516834"/>
              </p:ext>
            </p:extLst>
          </p:nvPr>
        </p:nvGraphicFramePr>
        <p:xfrm>
          <a:off x="611560" y="1988840"/>
          <a:ext cx="7560840" cy="21083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3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7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14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in front of noun</a:t>
                      </a:r>
                    </a:p>
                  </a:txBody>
                  <a:tcPr marL="91447" marR="91447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after linking verb</a:t>
                      </a:r>
                    </a:p>
                  </a:txBody>
                  <a:tcPr marL="91447" marR="9144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75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91447" marR="9144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baseline="0" dirty="0"/>
                        <a:t>be, become, seem, feel, taste, etc. </a:t>
                      </a:r>
                      <a:endParaRPr lang="en-US" sz="2000" i="1" dirty="0"/>
                    </a:p>
                  </a:txBody>
                  <a:tcPr marL="91447" marR="9144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93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 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great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show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 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persevering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student</a:t>
                      </a:r>
                    </a:p>
                  </a:txBody>
                  <a:tcPr marL="91447" marR="9144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91447" marR="9144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7292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457200" y="3032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Two Ways of Using Adjectives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899412064"/>
              </p:ext>
            </p:extLst>
          </p:nvPr>
        </p:nvGraphicFramePr>
        <p:xfrm>
          <a:off x="914400" y="2222380"/>
          <a:ext cx="7330008" cy="2611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1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22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/>
                        <a:t>in front of noun</a:t>
                      </a:r>
                    </a:p>
                  </a:txBody>
                  <a:tcPr marL="58672" marR="58672" marT="29334" marB="29334"/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after linking verb</a:t>
                      </a:r>
                    </a:p>
                  </a:txBody>
                  <a:tcPr marL="58672" marR="58672" marT="29334" marB="2933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844">
                <a:tc>
                  <a:txBody>
                    <a:bodyPr/>
                    <a:lstStyle/>
                    <a:p>
                      <a:endParaRPr lang="en-US" sz="2600" dirty="0"/>
                    </a:p>
                  </a:txBody>
                  <a:tcPr marL="58672" marR="58672" marT="29334" marB="2933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i="1" baseline="0" dirty="0"/>
                        <a:t>be, become, seem, feel, taste, etc. </a:t>
                      </a:r>
                      <a:endParaRPr lang="en-US" sz="2600" i="1" dirty="0"/>
                    </a:p>
                  </a:txBody>
                  <a:tcPr marL="58672" marR="58672" marT="29334" marB="2933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06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 </a:t>
                      </a:r>
                      <a:r>
                        <a:rPr kumimoji="0" lang="en-US" sz="23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great</a:t>
                      </a:r>
                      <a:r>
                        <a:rPr kumimoji="0" lang="en-US" sz="23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show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 </a:t>
                      </a:r>
                      <a:r>
                        <a:rPr kumimoji="0" lang="en-US" sz="23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persevering</a:t>
                      </a:r>
                      <a:r>
                        <a:rPr kumimoji="0" lang="en-US" sz="23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student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 </a:t>
                      </a:r>
                      <a:r>
                        <a:rPr kumimoji="0" lang="en-US" sz="23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unhappy</a:t>
                      </a:r>
                      <a:r>
                        <a:rPr kumimoji="0" lang="en-US" sz="23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marriage</a:t>
                      </a:r>
                    </a:p>
                  </a:txBody>
                  <a:tcPr marL="58672" marR="58672" marT="29334" marB="29334"/>
                </a:tc>
                <a:tc>
                  <a:txBody>
                    <a:bodyPr/>
                    <a:lstStyle/>
                    <a:p>
                      <a:endParaRPr lang="en-US" sz="2600" dirty="0"/>
                    </a:p>
                  </a:txBody>
                  <a:tcPr marL="58672" marR="58672" marT="29334" marB="2933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8349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755576" y="54868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Two Ways of Using Adjectives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4012683347"/>
              </p:ext>
            </p:extLst>
          </p:nvPr>
        </p:nvGraphicFramePr>
        <p:xfrm>
          <a:off x="611559" y="2287302"/>
          <a:ext cx="8075241" cy="2283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1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69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in front of noun</a:t>
                      </a:r>
                    </a:p>
                  </a:txBody>
                  <a:tcPr marL="91447" marR="91447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after linking verb</a:t>
                      </a:r>
                    </a:p>
                  </a:txBody>
                  <a:tcPr marL="91447" marR="9144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69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91447" marR="9144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baseline="0" dirty="0"/>
                        <a:t>be, become, seem, feel, taste, etc. </a:t>
                      </a:r>
                      <a:endParaRPr lang="en-US" sz="2000" i="1" dirty="0"/>
                    </a:p>
                  </a:txBody>
                  <a:tcPr marL="91447" marR="9144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0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 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great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show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 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persevering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student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 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unhappy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marriage</a:t>
                      </a:r>
                      <a:endParaRPr lang="en-US" sz="2000" dirty="0"/>
                    </a:p>
                  </a:txBody>
                  <a:tcPr marL="91447" marR="9144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the pizza tastes 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great </a:t>
                      </a:r>
                      <a:b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the student is 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persevering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He feels 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unhappy</a:t>
                      </a:r>
                      <a:endParaRPr kumimoji="0" lang="nl-NL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endParaRPr lang="en-US" sz="2000" dirty="0"/>
                    </a:p>
                  </a:txBody>
                  <a:tcPr marL="91447" marR="9144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087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nl-NL" altLang="nl-NL" dirty="0" err="1"/>
              <a:t>One</a:t>
            </a:r>
            <a:r>
              <a:rPr lang="nl-NL" altLang="nl-NL" dirty="0"/>
              <a:t> </a:t>
            </a:r>
            <a:r>
              <a:rPr lang="nl-NL" altLang="nl-NL" dirty="0" err="1"/>
              <a:t>position</a:t>
            </a:r>
            <a:endParaRPr lang="nl-NL" altLang="nl-NL" dirty="0"/>
          </a:p>
        </p:txBody>
      </p:sp>
      <p:sp>
        <p:nvSpPr>
          <p:cNvPr id="38915" name="Content Placeholder 3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/>
          <a:lstStyle/>
          <a:p>
            <a:r>
              <a:rPr lang="nl-NL" altLang="nl-NL" dirty="0" err="1"/>
              <a:t>Only</a:t>
            </a:r>
            <a:r>
              <a:rPr lang="nl-NL" altLang="nl-NL" dirty="0"/>
              <a:t> in </a:t>
            </a:r>
            <a:r>
              <a:rPr lang="nl-NL" altLang="nl-NL" u="sng" dirty="0"/>
              <a:t>front of a </a:t>
            </a:r>
            <a:r>
              <a:rPr lang="nl-NL" altLang="nl-NL" u="sng" dirty="0" err="1"/>
              <a:t>nou</a:t>
            </a:r>
            <a:r>
              <a:rPr lang="nl-NL" altLang="nl-NL" dirty="0" err="1"/>
              <a:t>n</a:t>
            </a:r>
            <a:endParaRPr lang="nl-NL" altLang="nl-NL" dirty="0"/>
          </a:p>
          <a:p>
            <a:pPr lvl="1"/>
            <a:r>
              <a:rPr lang="nl-NL" altLang="nl-NL" dirty="0"/>
              <a:t>The </a:t>
            </a:r>
            <a:r>
              <a:rPr lang="nl-NL" altLang="nl-NL" b="1" dirty="0" err="1"/>
              <a:t>only</a:t>
            </a:r>
            <a:r>
              <a:rPr lang="nl-NL" altLang="nl-NL" dirty="0"/>
              <a:t> </a:t>
            </a:r>
            <a:r>
              <a:rPr lang="nl-NL" altLang="nl-NL" dirty="0" err="1"/>
              <a:t>thing</a:t>
            </a:r>
            <a:r>
              <a:rPr lang="nl-NL" altLang="nl-NL" dirty="0"/>
              <a:t> we </a:t>
            </a:r>
            <a:r>
              <a:rPr lang="nl-NL" altLang="nl-NL" dirty="0" err="1"/>
              <a:t>can</a:t>
            </a:r>
            <a:r>
              <a:rPr lang="nl-NL" altLang="nl-NL" dirty="0"/>
              <a:t> do is </a:t>
            </a:r>
            <a:r>
              <a:rPr lang="nl-NL" altLang="nl-NL" dirty="0" err="1"/>
              <a:t>wait</a:t>
            </a:r>
            <a:r>
              <a:rPr lang="nl-NL" altLang="nl-NL" dirty="0"/>
              <a:t>.</a:t>
            </a:r>
          </a:p>
          <a:p>
            <a:pPr lvl="1"/>
            <a:r>
              <a:rPr lang="nl-NL" altLang="nl-NL" dirty="0"/>
              <a:t>The </a:t>
            </a:r>
            <a:r>
              <a:rPr lang="nl-NL" altLang="nl-NL" b="1" dirty="0" err="1"/>
              <a:t>former</a:t>
            </a:r>
            <a:r>
              <a:rPr lang="nl-NL" altLang="nl-NL" dirty="0"/>
              <a:t> prime minister is </a:t>
            </a:r>
            <a:r>
              <a:rPr lang="nl-NL" altLang="nl-NL" dirty="0" err="1"/>
              <a:t>giving</a:t>
            </a:r>
            <a:r>
              <a:rPr lang="nl-NL" altLang="nl-NL" dirty="0"/>
              <a:t> a </a:t>
            </a:r>
            <a:r>
              <a:rPr lang="nl-NL" altLang="nl-NL" dirty="0" err="1"/>
              <a:t>lecture</a:t>
            </a:r>
            <a:r>
              <a:rPr lang="nl-NL" altLang="nl-NL" dirty="0"/>
              <a:t>.</a:t>
            </a:r>
          </a:p>
          <a:p>
            <a:pPr lvl="1"/>
            <a:endParaRPr lang="nl-NL" altLang="nl-NL" dirty="0"/>
          </a:p>
          <a:p>
            <a:pPr marL="201168" lvl="1" indent="0">
              <a:buNone/>
            </a:pPr>
            <a:endParaRPr lang="nl-NL" altLang="nl-NL" dirty="0"/>
          </a:p>
          <a:p>
            <a:r>
              <a:rPr lang="nl-NL" altLang="nl-NL" dirty="0" err="1"/>
              <a:t>Only</a:t>
            </a:r>
            <a:r>
              <a:rPr lang="nl-NL" altLang="nl-NL" dirty="0"/>
              <a:t> </a:t>
            </a:r>
            <a:r>
              <a:rPr lang="nl-NL" altLang="nl-NL" dirty="0" err="1"/>
              <a:t>after</a:t>
            </a:r>
            <a:r>
              <a:rPr lang="nl-NL" altLang="nl-NL" dirty="0"/>
              <a:t> </a:t>
            </a:r>
            <a:r>
              <a:rPr lang="nl-NL" altLang="nl-NL" u="sng" dirty="0"/>
              <a:t>a </a:t>
            </a:r>
            <a:r>
              <a:rPr lang="nl-NL" altLang="nl-NL" u="sng" dirty="0" err="1"/>
              <a:t>linking</a:t>
            </a:r>
            <a:r>
              <a:rPr lang="nl-NL" altLang="nl-NL" u="sng" dirty="0"/>
              <a:t> </a:t>
            </a:r>
            <a:r>
              <a:rPr lang="nl-NL" altLang="nl-NL" u="sng" dirty="0" err="1"/>
              <a:t>verb</a:t>
            </a:r>
            <a:endParaRPr lang="nl-NL" altLang="nl-NL" u="sng" dirty="0"/>
          </a:p>
          <a:p>
            <a:pPr lvl="1"/>
            <a:r>
              <a:rPr lang="nl-NL" altLang="nl-NL" dirty="0" err="1"/>
              <a:t>Careful</a:t>
            </a:r>
            <a:r>
              <a:rPr lang="nl-NL" altLang="nl-NL" dirty="0"/>
              <a:t>, </a:t>
            </a:r>
            <a:r>
              <a:rPr lang="nl-NL" altLang="nl-NL" dirty="0" err="1"/>
              <a:t>the</a:t>
            </a:r>
            <a:r>
              <a:rPr lang="nl-NL" altLang="nl-NL" dirty="0"/>
              <a:t> dog is </a:t>
            </a:r>
            <a:r>
              <a:rPr lang="nl-NL" altLang="nl-NL" b="1" dirty="0" err="1"/>
              <a:t>asleep</a:t>
            </a:r>
            <a:r>
              <a:rPr lang="nl-NL" altLang="nl-NL" dirty="0"/>
              <a:t>.</a:t>
            </a:r>
          </a:p>
          <a:p>
            <a:pPr lvl="1"/>
            <a:r>
              <a:rPr lang="nl-NL" altLang="nl-NL" dirty="0"/>
              <a:t>Linda </a:t>
            </a:r>
            <a:r>
              <a:rPr lang="nl-NL" altLang="nl-NL" dirty="0" err="1"/>
              <a:t>felt</a:t>
            </a:r>
            <a:r>
              <a:rPr lang="nl-NL" altLang="nl-NL" dirty="0"/>
              <a:t> </a:t>
            </a:r>
            <a:r>
              <a:rPr lang="nl-NL" altLang="nl-NL" b="1" dirty="0" err="1"/>
              <a:t>ill</a:t>
            </a:r>
            <a:r>
              <a:rPr lang="nl-NL" altLang="nl-NL" dirty="0"/>
              <a:t> last week.</a:t>
            </a:r>
          </a:p>
        </p:txBody>
      </p:sp>
    </p:spTree>
    <p:extLst>
      <p:ext uri="{BB962C8B-B14F-4D97-AF65-F5344CB8AC3E}">
        <p14:creationId xmlns:p14="http://schemas.microsoft.com/office/powerpoint/2010/main" val="31804898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BB2B8762-61F0-4F1B-9364-D633EE9D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97675C8-1328-460C-9EBF-6B446B67E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14EE78B-AF71-4195-A01B-F1165D923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C6417104-D4C1-4710-9982-2154A7F48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39" name="Titel 3"/>
          <p:cNvSpPr>
            <a:spLocks noGrp="1"/>
          </p:cNvSpPr>
          <p:nvPr>
            <p:ph type="title"/>
          </p:nvPr>
        </p:nvSpPr>
        <p:spPr>
          <a:xfrm>
            <a:off x="475499" y="4550229"/>
            <a:ext cx="8181805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en-US" sz="5200" dirty="0"/>
              <a:t>Comparison</a:t>
            </a:r>
          </a:p>
        </p:txBody>
      </p:sp>
      <p:sp>
        <p:nvSpPr>
          <p:cNvPr id="39938" name="Tijdelijke aanduiding voor tekst 4"/>
          <p:cNvSpPr>
            <a:spLocks noGrp="1"/>
          </p:cNvSpPr>
          <p:nvPr>
            <p:ph type="body" idx="1"/>
          </p:nvPr>
        </p:nvSpPr>
        <p:spPr>
          <a:xfrm>
            <a:off x="475499" y="5727515"/>
            <a:ext cx="8193826" cy="51547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pic>
        <p:nvPicPr>
          <p:cNvPr id="39941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14274" y="640080"/>
            <a:ext cx="2711058" cy="360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626F1402-2DEC-4071-84AF-350C7BF0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7997" y="886968"/>
            <a:ext cx="48006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940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18668" y="640080"/>
            <a:ext cx="2521915" cy="360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4733B62-1719-4677-A612-CA0AC0AD7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814" y="5618770"/>
            <a:ext cx="78867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DA52A394-10F4-4AA5-90E4-634D1E919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7BDDC51-8BB2-42BE-8EA8-39B3E9AC1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233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altLang="en-US"/>
              <a:t>Comparison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>
            <a:normAutofit/>
          </a:bodyPr>
          <a:lstStyle/>
          <a:p>
            <a:r>
              <a:rPr lang="en-US" altLang="en-US" b="1" dirty="0"/>
              <a:t>Comparative</a:t>
            </a:r>
            <a:r>
              <a:rPr lang="en-US" altLang="en-US" dirty="0"/>
              <a:t>:</a:t>
            </a:r>
          </a:p>
          <a:p>
            <a:r>
              <a:rPr lang="en-US" altLang="en-US" dirty="0"/>
              <a:t>That tower </a:t>
            </a:r>
            <a:r>
              <a:rPr lang="en-US" altLang="en-US" b="1" i="1" dirty="0"/>
              <a:t>is taller </a:t>
            </a:r>
            <a:r>
              <a:rPr lang="en-US" altLang="en-US" u="sng" dirty="0"/>
              <a:t>than</a:t>
            </a:r>
            <a:r>
              <a:rPr lang="en-US" altLang="en-US" dirty="0"/>
              <a:t> most other towers.</a:t>
            </a:r>
          </a:p>
          <a:p>
            <a:endParaRPr lang="en-US" altLang="en-US" dirty="0"/>
          </a:p>
          <a:p>
            <a:r>
              <a:rPr lang="en-US" altLang="en-US" b="1" dirty="0"/>
              <a:t>Superlative</a:t>
            </a:r>
            <a:r>
              <a:rPr lang="en-US" altLang="en-US" dirty="0"/>
              <a:t>:</a:t>
            </a:r>
          </a:p>
          <a:p>
            <a:r>
              <a:rPr lang="en-US" altLang="en-US" dirty="0"/>
              <a:t>But this tower is </a:t>
            </a:r>
            <a:r>
              <a:rPr lang="en-US" altLang="en-US" b="1" i="1" dirty="0"/>
              <a:t>the</a:t>
            </a:r>
            <a:r>
              <a:rPr lang="en-US" altLang="en-US" dirty="0"/>
              <a:t> </a:t>
            </a:r>
            <a:r>
              <a:rPr lang="en-US" altLang="en-US" b="1" i="1" dirty="0"/>
              <a:t>tallest</a:t>
            </a:r>
            <a:r>
              <a:rPr lang="en-US" alt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689850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el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GB" altLang="en-US"/>
              <a:t>Comparison</a:t>
            </a:r>
          </a:p>
        </p:txBody>
      </p:sp>
      <p:sp>
        <p:nvSpPr>
          <p:cNvPr id="43011" name="Tijdelijke aanduiding voor inhoud 2"/>
          <p:cNvSpPr>
            <a:spLocks noGrp="1"/>
          </p:cNvSpPr>
          <p:nvPr>
            <p:ph idx="1"/>
          </p:nvPr>
        </p:nvSpPr>
        <p:spPr>
          <a:xfrm>
            <a:off x="822960" y="1916832"/>
            <a:ext cx="7543801" cy="4023360"/>
          </a:xfrm>
        </p:spPr>
        <p:txBody>
          <a:bodyPr>
            <a:normAutofit lnSpcReduction="10000"/>
          </a:bodyPr>
          <a:lstStyle/>
          <a:p>
            <a:r>
              <a:rPr lang="en-GB" altLang="en-US" b="1" dirty="0">
                <a:sym typeface="Wingdings" panose="05000000000000000000" pitchFamily="2" charset="2"/>
              </a:rPr>
              <a:t>Rules</a:t>
            </a:r>
          </a:p>
          <a:p>
            <a:pPr lvl="1"/>
            <a:r>
              <a:rPr lang="en-GB" altLang="en-US" dirty="0">
                <a:sym typeface="Wingdings" panose="05000000000000000000" pitchFamily="2" charset="2"/>
              </a:rPr>
              <a:t>1 syllable  		</a:t>
            </a:r>
            <a:r>
              <a:rPr lang="en-GB" altLang="en-US" dirty="0">
                <a:solidFill>
                  <a:schemeClr val="accent2"/>
                </a:solidFill>
                <a:sym typeface="Wingdings" panose="05000000000000000000" pitchFamily="2" charset="2"/>
              </a:rPr>
              <a:t>-er and –</a:t>
            </a:r>
            <a:r>
              <a:rPr lang="en-GB" altLang="en-US" dirty="0" err="1">
                <a:solidFill>
                  <a:schemeClr val="accent2"/>
                </a:solidFill>
                <a:sym typeface="Wingdings" panose="05000000000000000000" pitchFamily="2" charset="2"/>
              </a:rPr>
              <a:t>est</a:t>
            </a:r>
            <a:br>
              <a:rPr lang="en-GB" altLang="en-US" dirty="0">
                <a:sym typeface="Wingdings" panose="05000000000000000000" pitchFamily="2" charset="2"/>
              </a:rPr>
            </a:br>
            <a:r>
              <a:rPr lang="en-GB" altLang="en-US" dirty="0">
                <a:sym typeface="Wingdings" panose="05000000000000000000" pitchFamily="2" charset="2"/>
              </a:rPr>
              <a:t>	</a:t>
            </a:r>
            <a:r>
              <a:rPr lang="en-US" altLang="en-US" dirty="0"/>
              <a:t>She is </a:t>
            </a:r>
            <a:r>
              <a:rPr lang="en-US" altLang="en-US" b="1" i="1" dirty="0"/>
              <a:t>bigg</a:t>
            </a:r>
            <a:r>
              <a:rPr lang="en-US" altLang="en-US" b="1" i="1" dirty="0">
                <a:solidFill>
                  <a:schemeClr val="accent2"/>
                </a:solidFill>
              </a:rPr>
              <a:t>er</a:t>
            </a:r>
            <a:r>
              <a:rPr lang="en-US" altLang="en-US" dirty="0"/>
              <a:t> than her brother. </a:t>
            </a:r>
            <a:br>
              <a:rPr lang="en-US" altLang="en-US" dirty="0"/>
            </a:br>
            <a:r>
              <a:rPr lang="en-US" altLang="en-US" dirty="0"/>
              <a:t>	She is </a:t>
            </a:r>
            <a:r>
              <a:rPr lang="en-US" altLang="en-US" b="1" i="1" dirty="0"/>
              <a:t>the bigg</a:t>
            </a:r>
            <a:r>
              <a:rPr lang="en-US" altLang="en-US" b="1" i="1" dirty="0">
                <a:solidFill>
                  <a:schemeClr val="accent2"/>
                </a:solidFill>
              </a:rPr>
              <a:t>est</a:t>
            </a:r>
            <a:r>
              <a:rPr lang="en-US" altLang="en-US" b="1" i="1" dirty="0"/>
              <a:t>.</a:t>
            </a:r>
          </a:p>
          <a:p>
            <a:pPr marL="201168" lvl="1" indent="0">
              <a:buNone/>
            </a:pPr>
            <a:endParaRPr lang="en-GB" altLang="en-US" dirty="0">
              <a:sym typeface="Wingdings" panose="05000000000000000000" pitchFamily="2" charset="2"/>
            </a:endParaRPr>
          </a:p>
          <a:p>
            <a:pPr lvl="1"/>
            <a:r>
              <a:rPr lang="en-GB" altLang="en-US" dirty="0">
                <a:sym typeface="Wingdings" panose="05000000000000000000" pitchFamily="2" charset="2"/>
              </a:rPr>
              <a:t>2 syllables 	</a:t>
            </a:r>
            <a:r>
              <a:rPr lang="en-GB" altLang="en-US" dirty="0">
                <a:solidFill>
                  <a:schemeClr val="accent2"/>
                </a:solidFill>
                <a:sym typeface="Wingdings" panose="05000000000000000000" pitchFamily="2" charset="2"/>
              </a:rPr>
              <a:t>-er and -</a:t>
            </a:r>
            <a:r>
              <a:rPr lang="en-GB" altLang="en-US" dirty="0" err="1">
                <a:solidFill>
                  <a:schemeClr val="accent2"/>
                </a:solidFill>
                <a:sym typeface="Wingdings" panose="05000000000000000000" pitchFamily="2" charset="2"/>
              </a:rPr>
              <a:t>est</a:t>
            </a:r>
            <a:r>
              <a:rPr lang="en-GB" altLang="en-US" dirty="0">
                <a:solidFill>
                  <a:schemeClr val="accent2"/>
                </a:solidFill>
                <a:sym typeface="Wingdings" panose="05000000000000000000" pitchFamily="2" charset="2"/>
              </a:rPr>
              <a:t>  </a:t>
            </a:r>
            <a:r>
              <a:rPr lang="en-GB" altLang="en-US" dirty="0">
                <a:sym typeface="Wingdings" panose="05000000000000000000" pitchFamily="2" charset="2"/>
              </a:rPr>
              <a:t>or </a:t>
            </a:r>
            <a:r>
              <a:rPr lang="en-GB" altLang="en-US" dirty="0">
                <a:solidFill>
                  <a:schemeClr val="accent2"/>
                </a:solidFill>
                <a:sym typeface="Wingdings" panose="05000000000000000000" pitchFamily="2" charset="2"/>
              </a:rPr>
              <a:t>more/most</a:t>
            </a:r>
            <a:br>
              <a:rPr lang="en-GB" altLang="en-US" u="sng" dirty="0">
                <a:sym typeface="Wingdings" panose="05000000000000000000" pitchFamily="2" charset="2"/>
              </a:rPr>
            </a:br>
            <a:r>
              <a:rPr lang="en-GB" altLang="en-US" dirty="0">
                <a:sym typeface="Wingdings" panose="05000000000000000000" pitchFamily="2" charset="2"/>
              </a:rPr>
              <a:t>	He is </a:t>
            </a:r>
            <a:r>
              <a:rPr lang="en-GB" altLang="en-US" b="1" i="1" dirty="0">
                <a:sym typeface="Wingdings" panose="05000000000000000000" pitchFamily="2" charset="2"/>
              </a:rPr>
              <a:t>funni</a:t>
            </a:r>
            <a:r>
              <a:rPr lang="en-GB" altLang="en-US" b="1" i="1" dirty="0">
                <a:solidFill>
                  <a:schemeClr val="accent2"/>
                </a:solidFill>
                <a:sym typeface="Wingdings" panose="05000000000000000000" pitchFamily="2" charset="2"/>
              </a:rPr>
              <a:t>er</a:t>
            </a:r>
            <a:r>
              <a:rPr lang="en-GB" altLang="en-US" dirty="0">
                <a:sym typeface="Wingdings" panose="05000000000000000000" pitchFamily="2" charset="2"/>
              </a:rPr>
              <a:t> than his sister</a:t>
            </a:r>
            <a:br>
              <a:rPr lang="en-GB" altLang="en-US" dirty="0">
                <a:sym typeface="Wingdings" panose="05000000000000000000" pitchFamily="2" charset="2"/>
              </a:rPr>
            </a:br>
            <a:r>
              <a:rPr lang="en-GB" altLang="en-US" dirty="0">
                <a:sym typeface="Wingdings" panose="05000000000000000000" pitchFamily="2" charset="2"/>
              </a:rPr>
              <a:t>	His uncle is </a:t>
            </a:r>
            <a:r>
              <a:rPr lang="en-GB" altLang="en-US" b="1" i="1" dirty="0">
                <a:sym typeface="Wingdings" panose="05000000000000000000" pitchFamily="2" charset="2"/>
              </a:rPr>
              <a:t>the funni</a:t>
            </a:r>
            <a:r>
              <a:rPr lang="en-GB" altLang="en-US" b="1" i="1" dirty="0">
                <a:solidFill>
                  <a:schemeClr val="accent2"/>
                </a:solidFill>
                <a:sym typeface="Wingdings" panose="05000000000000000000" pitchFamily="2" charset="2"/>
              </a:rPr>
              <a:t>est</a:t>
            </a:r>
            <a:br>
              <a:rPr lang="en-GB" altLang="en-US" b="1" i="1" dirty="0">
                <a:sym typeface="Wingdings" panose="05000000000000000000" pitchFamily="2" charset="2"/>
              </a:rPr>
            </a:br>
            <a:br>
              <a:rPr lang="en-GB" altLang="en-US" b="1" i="1" dirty="0">
                <a:sym typeface="Wingdings" panose="05000000000000000000" pitchFamily="2" charset="2"/>
              </a:rPr>
            </a:br>
            <a:r>
              <a:rPr lang="en-GB" altLang="en-US" b="1" i="1" dirty="0">
                <a:sym typeface="Wingdings" panose="05000000000000000000" pitchFamily="2" charset="2"/>
              </a:rPr>
              <a:t>	</a:t>
            </a:r>
            <a:r>
              <a:rPr lang="en-GB" altLang="en-US" dirty="0">
                <a:sym typeface="Wingdings" panose="05000000000000000000" pitchFamily="2" charset="2"/>
              </a:rPr>
              <a:t>She is </a:t>
            </a:r>
            <a:r>
              <a:rPr lang="en-GB" altLang="en-US" b="1" i="1" dirty="0">
                <a:solidFill>
                  <a:schemeClr val="accent2"/>
                </a:solidFill>
                <a:sym typeface="Wingdings" panose="05000000000000000000" pitchFamily="2" charset="2"/>
              </a:rPr>
              <a:t>more</a:t>
            </a:r>
            <a:r>
              <a:rPr lang="en-GB" altLang="en-US" b="1" i="1" dirty="0">
                <a:sym typeface="Wingdings" panose="05000000000000000000" pitchFamily="2" charset="2"/>
              </a:rPr>
              <a:t> famous </a:t>
            </a:r>
            <a:r>
              <a:rPr lang="en-GB" altLang="en-US" dirty="0">
                <a:sym typeface="Wingdings" panose="05000000000000000000" pitchFamily="2" charset="2"/>
              </a:rPr>
              <a:t>than you</a:t>
            </a:r>
            <a:br>
              <a:rPr lang="en-GB" altLang="en-US" dirty="0">
                <a:sym typeface="Wingdings" panose="05000000000000000000" pitchFamily="2" charset="2"/>
              </a:rPr>
            </a:br>
            <a:r>
              <a:rPr lang="en-GB" altLang="en-US" dirty="0">
                <a:sym typeface="Wingdings" panose="05000000000000000000" pitchFamily="2" charset="2"/>
              </a:rPr>
              <a:t>	They are the </a:t>
            </a:r>
            <a:r>
              <a:rPr lang="en-GB" altLang="en-US" b="1" i="1" dirty="0">
                <a:solidFill>
                  <a:schemeClr val="accent2"/>
                </a:solidFill>
                <a:sym typeface="Wingdings" panose="05000000000000000000" pitchFamily="2" charset="2"/>
              </a:rPr>
              <a:t>most</a:t>
            </a:r>
            <a:r>
              <a:rPr lang="en-GB" altLang="en-US" b="1" i="1" dirty="0">
                <a:sym typeface="Wingdings" panose="05000000000000000000" pitchFamily="2" charset="2"/>
              </a:rPr>
              <a:t> famous</a:t>
            </a:r>
            <a:br>
              <a:rPr lang="en-GB" altLang="en-US" b="1" i="1" dirty="0">
                <a:sym typeface="Wingdings" panose="05000000000000000000" pitchFamily="2" charset="2"/>
              </a:rPr>
            </a:br>
            <a:endParaRPr lang="en-GB" altLang="en-US" b="1" i="1" u="sng" dirty="0">
              <a:sym typeface="Wingdings" panose="05000000000000000000" pitchFamily="2" charset="2"/>
            </a:endParaRPr>
          </a:p>
          <a:p>
            <a:pPr lvl="1"/>
            <a:r>
              <a:rPr lang="en-GB" altLang="en-US" dirty="0">
                <a:sym typeface="Wingdings" panose="05000000000000000000" pitchFamily="2" charset="2"/>
              </a:rPr>
              <a:t>3+ syllables 	</a:t>
            </a:r>
            <a:r>
              <a:rPr lang="en-GB" altLang="en-US" dirty="0">
                <a:solidFill>
                  <a:schemeClr val="accent2"/>
                </a:solidFill>
                <a:sym typeface="Wingdings" panose="05000000000000000000" pitchFamily="2" charset="2"/>
              </a:rPr>
              <a:t>more</a:t>
            </a:r>
            <a:r>
              <a:rPr lang="en-GB" altLang="en-US" dirty="0">
                <a:sym typeface="Wingdings" panose="05000000000000000000" pitchFamily="2" charset="2"/>
              </a:rPr>
              <a:t> and </a:t>
            </a:r>
            <a:r>
              <a:rPr lang="en-GB" altLang="en-US" dirty="0">
                <a:solidFill>
                  <a:schemeClr val="accent2"/>
                </a:solidFill>
                <a:sym typeface="Wingdings" panose="05000000000000000000" pitchFamily="2" charset="2"/>
              </a:rPr>
              <a:t>most</a:t>
            </a:r>
            <a:br>
              <a:rPr lang="en-GB" altLang="en-US" dirty="0">
                <a:sym typeface="Wingdings" panose="05000000000000000000" pitchFamily="2" charset="2"/>
              </a:rPr>
            </a:br>
            <a:r>
              <a:rPr lang="en-GB" altLang="en-US" dirty="0">
                <a:sym typeface="Wingdings" panose="05000000000000000000" pitchFamily="2" charset="2"/>
              </a:rPr>
              <a:t>	They are </a:t>
            </a:r>
            <a:r>
              <a:rPr lang="en-GB" altLang="en-US" b="1" i="1" dirty="0">
                <a:solidFill>
                  <a:schemeClr val="accent2"/>
                </a:solidFill>
                <a:sym typeface="Wingdings" panose="05000000000000000000" pitchFamily="2" charset="2"/>
              </a:rPr>
              <a:t>more</a:t>
            </a:r>
            <a:r>
              <a:rPr lang="en-GB" altLang="en-US" b="1" i="1" dirty="0">
                <a:sym typeface="Wingdings" panose="05000000000000000000" pitchFamily="2" charset="2"/>
              </a:rPr>
              <a:t> beautiful </a:t>
            </a:r>
            <a:r>
              <a:rPr lang="en-GB" altLang="en-US" dirty="0">
                <a:sym typeface="Wingdings" panose="05000000000000000000" pitchFamily="2" charset="2"/>
              </a:rPr>
              <a:t>than her</a:t>
            </a:r>
            <a:br>
              <a:rPr lang="en-GB" altLang="en-US" dirty="0">
                <a:sym typeface="Wingdings" panose="05000000000000000000" pitchFamily="2" charset="2"/>
              </a:rPr>
            </a:br>
            <a:r>
              <a:rPr lang="en-GB" altLang="en-US" dirty="0">
                <a:sym typeface="Wingdings" panose="05000000000000000000" pitchFamily="2" charset="2"/>
              </a:rPr>
              <a:t>	She is the </a:t>
            </a:r>
            <a:r>
              <a:rPr lang="en-GB" altLang="en-US" b="1" i="1" dirty="0">
                <a:solidFill>
                  <a:schemeClr val="accent2"/>
                </a:solidFill>
                <a:sym typeface="Wingdings" panose="05000000000000000000" pitchFamily="2" charset="2"/>
              </a:rPr>
              <a:t>most</a:t>
            </a:r>
            <a:r>
              <a:rPr lang="en-GB" altLang="en-US" b="1" i="1" dirty="0">
                <a:sym typeface="Wingdings" panose="05000000000000000000" pitchFamily="2" charset="2"/>
              </a:rPr>
              <a:t> beautiful</a:t>
            </a:r>
          </a:p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88246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en-US"/>
              <a:t>Some spelling rules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822960" y="1845734"/>
            <a:ext cx="7543800" cy="4175554"/>
          </a:xfrm>
        </p:spPr>
        <p:txBody>
          <a:bodyPr/>
          <a:lstStyle/>
          <a:p>
            <a:pPr>
              <a:defRPr/>
            </a:pPr>
            <a:r>
              <a:rPr lang="nl-NL" altLang="en-US" dirty="0" err="1"/>
              <a:t>Words</a:t>
            </a:r>
            <a:r>
              <a:rPr lang="nl-NL" altLang="en-US" dirty="0"/>
              <a:t> </a:t>
            </a:r>
            <a:r>
              <a:rPr lang="nl-NL" altLang="en-US" dirty="0" err="1"/>
              <a:t>that</a:t>
            </a:r>
            <a:r>
              <a:rPr lang="nl-NL" altLang="en-US" dirty="0"/>
              <a:t> end in -e </a:t>
            </a:r>
            <a:r>
              <a:rPr lang="nl-NL" altLang="en-US" dirty="0">
                <a:sym typeface="Wingdings" pitchFamily="2" charset="2"/>
              </a:rPr>
              <a:t>-r, -st</a:t>
            </a:r>
          </a:p>
          <a:p>
            <a:pPr lvl="1">
              <a:defRPr/>
            </a:pPr>
            <a:r>
              <a:rPr lang="nl-NL" altLang="en-US" dirty="0" err="1">
                <a:sym typeface="Wingdings" pitchFamily="2" charset="2"/>
              </a:rPr>
              <a:t>wider</a:t>
            </a:r>
            <a:r>
              <a:rPr lang="nl-NL" altLang="en-US" dirty="0">
                <a:sym typeface="Wingdings" pitchFamily="2" charset="2"/>
              </a:rPr>
              <a:t>, later, </a:t>
            </a:r>
            <a:r>
              <a:rPr lang="nl-NL" altLang="en-US" dirty="0" err="1">
                <a:sym typeface="Wingdings" pitchFamily="2" charset="2"/>
              </a:rPr>
              <a:t>larger</a:t>
            </a:r>
            <a:endParaRPr lang="nl-NL" altLang="en-US" dirty="0">
              <a:sym typeface="Wingdings" pitchFamily="2" charset="2"/>
            </a:endParaRPr>
          </a:p>
          <a:p>
            <a:pPr>
              <a:defRPr/>
            </a:pPr>
            <a:endParaRPr lang="nl-NL" altLang="en-US" dirty="0">
              <a:sym typeface="Wingdings" pitchFamily="2" charset="2"/>
            </a:endParaRPr>
          </a:p>
          <a:p>
            <a:pPr>
              <a:defRPr/>
            </a:pPr>
            <a:r>
              <a:rPr lang="nl-NL" altLang="en-US" dirty="0" err="1">
                <a:sym typeface="Wingdings" pitchFamily="2" charset="2"/>
              </a:rPr>
              <a:t>Words</a:t>
            </a:r>
            <a:r>
              <a:rPr lang="nl-NL" altLang="en-US" dirty="0">
                <a:sym typeface="Wingdings" pitchFamily="2" charset="2"/>
              </a:rPr>
              <a:t> </a:t>
            </a:r>
            <a:r>
              <a:rPr lang="nl-NL" altLang="en-US" dirty="0" err="1">
                <a:sym typeface="Wingdings" pitchFamily="2" charset="2"/>
              </a:rPr>
              <a:t>ending</a:t>
            </a:r>
            <a:r>
              <a:rPr lang="nl-NL" altLang="en-US" dirty="0">
                <a:sym typeface="Wingdings" pitchFamily="2" charset="2"/>
              </a:rPr>
              <a:t> in </a:t>
            </a:r>
            <a:r>
              <a:rPr lang="nl-NL" altLang="en-US" u="sng" dirty="0" err="1">
                <a:sym typeface="Wingdings" pitchFamily="2" charset="2"/>
              </a:rPr>
              <a:t>vowel</a:t>
            </a:r>
            <a:r>
              <a:rPr lang="nl-NL" altLang="en-US" dirty="0">
                <a:sym typeface="Wingdings" pitchFamily="2" charset="2"/>
              </a:rPr>
              <a:t> + </a:t>
            </a:r>
            <a:r>
              <a:rPr lang="nl-NL" altLang="en-US" u="sng" dirty="0">
                <a:sym typeface="Wingdings" pitchFamily="2" charset="2"/>
              </a:rPr>
              <a:t>consonant</a:t>
            </a:r>
            <a:r>
              <a:rPr lang="nl-NL" altLang="en-US" dirty="0">
                <a:sym typeface="Wingdings" pitchFamily="2" charset="2"/>
              </a:rPr>
              <a:t> (big, wet, </a:t>
            </a:r>
            <a:r>
              <a:rPr lang="nl-NL" altLang="en-US" dirty="0" err="1">
                <a:sym typeface="Wingdings" pitchFamily="2" charset="2"/>
              </a:rPr>
              <a:t>thin</a:t>
            </a:r>
            <a:r>
              <a:rPr lang="nl-NL" altLang="en-US" dirty="0">
                <a:sym typeface="Wingdings" pitchFamily="2" charset="2"/>
              </a:rPr>
              <a:t>) double the consonant </a:t>
            </a:r>
          </a:p>
          <a:p>
            <a:pPr lvl="1">
              <a:defRPr/>
            </a:pPr>
            <a:r>
              <a:rPr lang="nl-NL" altLang="en-US" dirty="0" err="1">
                <a:sym typeface="Wingdings" pitchFamily="2" charset="2"/>
              </a:rPr>
              <a:t>bigger</a:t>
            </a:r>
            <a:r>
              <a:rPr lang="nl-NL" altLang="en-US" dirty="0">
                <a:sym typeface="Wingdings" pitchFamily="2" charset="2"/>
              </a:rPr>
              <a:t>, </a:t>
            </a:r>
            <a:r>
              <a:rPr lang="nl-NL" altLang="en-US" dirty="0" err="1">
                <a:sym typeface="Wingdings" pitchFamily="2" charset="2"/>
              </a:rPr>
              <a:t>wetter</a:t>
            </a:r>
            <a:r>
              <a:rPr lang="nl-NL" altLang="en-US" dirty="0">
                <a:sym typeface="Wingdings" pitchFamily="2" charset="2"/>
              </a:rPr>
              <a:t>, thinner</a:t>
            </a:r>
          </a:p>
          <a:p>
            <a:pPr>
              <a:defRPr/>
            </a:pPr>
            <a:endParaRPr lang="nl-NL" altLang="en-US" dirty="0">
              <a:sym typeface="Wingdings" pitchFamily="2" charset="2"/>
            </a:endParaRPr>
          </a:p>
          <a:p>
            <a:pPr>
              <a:defRPr/>
            </a:pPr>
            <a:r>
              <a:rPr lang="nl-NL" altLang="en-US" dirty="0" err="1">
                <a:sym typeface="Wingdings" pitchFamily="2" charset="2"/>
              </a:rPr>
              <a:t>Words</a:t>
            </a:r>
            <a:r>
              <a:rPr lang="nl-NL" altLang="en-US" dirty="0">
                <a:sym typeface="Wingdings" pitchFamily="2" charset="2"/>
              </a:rPr>
              <a:t> </a:t>
            </a:r>
            <a:r>
              <a:rPr lang="nl-NL" altLang="en-US" dirty="0" err="1">
                <a:sym typeface="Wingdings" pitchFamily="2" charset="2"/>
              </a:rPr>
              <a:t>ending</a:t>
            </a:r>
            <a:r>
              <a:rPr lang="nl-NL" altLang="en-US" dirty="0">
                <a:sym typeface="Wingdings" pitchFamily="2" charset="2"/>
              </a:rPr>
              <a:t> in -y  -</a:t>
            </a:r>
            <a:r>
              <a:rPr lang="nl-NL" altLang="en-US" dirty="0" err="1">
                <a:sym typeface="Wingdings" pitchFamily="2" charset="2"/>
              </a:rPr>
              <a:t>ier</a:t>
            </a:r>
            <a:r>
              <a:rPr lang="nl-NL" altLang="en-US" dirty="0">
                <a:sym typeface="Wingdings" pitchFamily="2" charset="2"/>
              </a:rPr>
              <a:t>, </a:t>
            </a:r>
            <a:r>
              <a:rPr lang="nl-NL" altLang="en-US" dirty="0" err="1">
                <a:sym typeface="Wingdings" pitchFamily="2" charset="2"/>
              </a:rPr>
              <a:t>iest</a:t>
            </a:r>
            <a:endParaRPr lang="nl-NL" altLang="en-US" dirty="0">
              <a:sym typeface="Wingdings" pitchFamily="2" charset="2"/>
            </a:endParaRPr>
          </a:p>
          <a:p>
            <a:pPr lvl="1">
              <a:defRPr/>
            </a:pPr>
            <a:r>
              <a:rPr lang="nl-NL" altLang="en-US" dirty="0" err="1">
                <a:sym typeface="Wingdings" pitchFamily="2" charset="2"/>
              </a:rPr>
              <a:t>easier</a:t>
            </a:r>
            <a:r>
              <a:rPr lang="nl-NL" altLang="en-US" dirty="0">
                <a:sym typeface="Wingdings" pitchFamily="2" charset="2"/>
              </a:rPr>
              <a:t>, </a:t>
            </a:r>
            <a:r>
              <a:rPr lang="nl-NL" altLang="en-US" dirty="0" err="1">
                <a:sym typeface="Wingdings" pitchFamily="2" charset="2"/>
              </a:rPr>
              <a:t>heavier</a:t>
            </a:r>
            <a:r>
              <a:rPr lang="nl-NL" altLang="en-US" dirty="0">
                <a:sym typeface="Wingdings" pitchFamily="2" charset="2"/>
              </a:rPr>
              <a:t>, </a:t>
            </a:r>
            <a:r>
              <a:rPr lang="nl-NL" altLang="en-US" dirty="0" err="1">
                <a:sym typeface="Wingdings" pitchFamily="2" charset="2"/>
              </a:rPr>
              <a:t>luckier</a:t>
            </a:r>
            <a:endParaRPr lang="nl-NL" alt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br>
              <a:rPr lang="nl-NL" altLang="en-US" dirty="0">
                <a:sym typeface="Wingdings" pitchFamily="2" charset="2"/>
              </a:rPr>
            </a:br>
            <a:endParaRPr lang="nl-NL" altLang="en-US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44890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altLang="en-US" dirty="0"/>
              <a:t>Comparison – Two syllables 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>
            <a:normAutofit/>
          </a:bodyPr>
          <a:lstStyle/>
          <a:p>
            <a:r>
              <a:rPr lang="en-US" altLang="en-US" dirty="0"/>
              <a:t>- er and - </a:t>
            </a:r>
            <a:r>
              <a:rPr lang="en-US" altLang="en-US" dirty="0" err="1"/>
              <a:t>est</a:t>
            </a:r>
            <a:r>
              <a:rPr lang="en-US" altLang="en-US" dirty="0"/>
              <a:t> </a:t>
            </a:r>
          </a:p>
          <a:p>
            <a:r>
              <a:rPr lang="en-US" altLang="en-US" dirty="0"/>
              <a:t>She </a:t>
            </a:r>
            <a:r>
              <a:rPr lang="en-US" altLang="en-US" b="1" i="1" dirty="0"/>
              <a:t>is funnier </a:t>
            </a:r>
            <a:r>
              <a:rPr lang="en-US" altLang="en-US" dirty="0"/>
              <a:t>than her brother.</a:t>
            </a:r>
          </a:p>
          <a:p>
            <a:r>
              <a:rPr lang="en-US" altLang="en-US" dirty="0"/>
              <a:t>  </a:t>
            </a:r>
          </a:p>
          <a:p>
            <a:r>
              <a:rPr lang="en-US" altLang="en-US" dirty="0"/>
              <a:t>OR more and most </a:t>
            </a:r>
          </a:p>
          <a:p>
            <a:r>
              <a:rPr lang="en-US" altLang="en-US" dirty="0"/>
              <a:t>She is </a:t>
            </a:r>
            <a:r>
              <a:rPr lang="en-US" altLang="en-US" b="1" i="1" dirty="0"/>
              <a:t>more famous </a:t>
            </a:r>
            <a:r>
              <a:rPr lang="en-US" altLang="en-US" dirty="0"/>
              <a:t>than her brother. </a:t>
            </a:r>
          </a:p>
          <a:p>
            <a:r>
              <a:rPr lang="en-US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8786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Comparison – Two syllables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1891260"/>
              </p:ext>
            </p:extLst>
          </p:nvPr>
        </p:nvGraphicFramePr>
        <p:xfrm>
          <a:off x="822960" y="1988840"/>
          <a:ext cx="7637472" cy="2992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7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483"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en-US" sz="1900" b="0" baseline="0" dirty="0">
                          <a:solidFill>
                            <a:schemeClr val="tx1"/>
                          </a:solidFill>
                        </a:rPr>
                        <a:t>le</a:t>
                      </a:r>
                      <a:endParaRPr 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86147" marR="86147" marT="43074" marB="4307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0" dirty="0">
                          <a:solidFill>
                            <a:schemeClr val="tx1"/>
                          </a:solidFill>
                        </a:rPr>
                        <a:t>simple – simpler – simplest</a:t>
                      </a:r>
                      <a:r>
                        <a:rPr lang="en-US" sz="19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86147" marR="86147" marT="43074" marB="4307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483"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en-US" sz="1900" b="0" dirty="0" err="1">
                          <a:solidFill>
                            <a:schemeClr val="tx1"/>
                          </a:solidFill>
                        </a:rPr>
                        <a:t>er</a:t>
                      </a:r>
                      <a:endParaRPr 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86147" marR="86147" marT="43074" marB="43074"/>
                </a:tc>
                <a:tc>
                  <a:txBody>
                    <a:bodyPr/>
                    <a:lstStyle/>
                    <a:p>
                      <a:r>
                        <a:rPr lang="en-US" sz="1900" b="0" dirty="0">
                          <a:solidFill>
                            <a:schemeClr val="tx1"/>
                          </a:solidFill>
                        </a:rPr>
                        <a:t>clever – cleverer – cleverest</a:t>
                      </a:r>
                    </a:p>
                  </a:txBody>
                  <a:tcPr marL="86147" marR="86147" marT="43074" marB="4307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483"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en-US" sz="1900" b="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marL="86147" marR="86147" marT="43074" marB="43074"/>
                </a:tc>
                <a:tc>
                  <a:txBody>
                    <a:bodyPr/>
                    <a:lstStyle/>
                    <a:p>
                      <a:r>
                        <a:rPr lang="en-US" sz="1900" b="0" dirty="0">
                          <a:solidFill>
                            <a:schemeClr val="tx1"/>
                          </a:solidFill>
                        </a:rPr>
                        <a:t>happy – happier</a:t>
                      </a:r>
                      <a:r>
                        <a:rPr lang="en-US" sz="1900" b="0" baseline="0" dirty="0">
                          <a:solidFill>
                            <a:schemeClr val="tx1"/>
                          </a:solidFill>
                        </a:rPr>
                        <a:t> – happiest </a:t>
                      </a:r>
                      <a:endParaRPr 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86147" marR="86147" marT="43074" marB="4307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483"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en-US" sz="1900" b="0" dirty="0" err="1">
                          <a:solidFill>
                            <a:schemeClr val="tx1"/>
                          </a:solidFill>
                        </a:rPr>
                        <a:t>ow</a:t>
                      </a:r>
                      <a:endParaRPr 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86147" marR="86147" marT="43074" marB="43074"/>
                </a:tc>
                <a:tc>
                  <a:txBody>
                    <a:bodyPr/>
                    <a:lstStyle/>
                    <a:p>
                      <a:r>
                        <a:rPr lang="en-US" sz="1900" b="0" dirty="0">
                          <a:solidFill>
                            <a:schemeClr val="tx1"/>
                          </a:solidFill>
                        </a:rPr>
                        <a:t>yellow – yellower –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</a:rPr>
                        <a:t>yellowest</a:t>
                      </a:r>
                      <a:r>
                        <a:rPr lang="en-US" sz="19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86147" marR="86147" marT="43074" marB="4307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483">
                <a:tc>
                  <a:txBody>
                    <a:bodyPr/>
                    <a:lstStyle/>
                    <a:p>
                      <a:r>
                        <a:rPr lang="en-US" sz="1900" b="0" dirty="0">
                          <a:solidFill>
                            <a:schemeClr val="tx1"/>
                          </a:solidFill>
                        </a:rPr>
                        <a:t>-some</a:t>
                      </a:r>
                    </a:p>
                  </a:txBody>
                  <a:tcPr marL="86147" marR="86147" marT="43074" marB="43074"/>
                </a:tc>
                <a:tc>
                  <a:txBody>
                    <a:bodyPr/>
                    <a:lstStyle/>
                    <a:p>
                      <a:r>
                        <a:rPr lang="en-US" sz="1900" b="0" dirty="0">
                          <a:solidFill>
                            <a:schemeClr val="tx1"/>
                          </a:solidFill>
                        </a:rPr>
                        <a:t>handsome –</a:t>
                      </a:r>
                      <a:r>
                        <a:rPr lang="en-US" sz="1900" b="0" baseline="0" dirty="0">
                          <a:solidFill>
                            <a:schemeClr val="tx1"/>
                          </a:solidFill>
                        </a:rPr>
                        <a:t> handsomer - handsomest</a:t>
                      </a:r>
                      <a:endParaRPr 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86147" marR="86147" marT="43074" marB="4307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983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altLang="en-US" dirty="0"/>
              <a:t>Comparison – Three syllables </a:t>
            </a:r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/>
          <a:lstStyle/>
          <a:p>
            <a:r>
              <a:rPr lang="en-US" altLang="en-US" dirty="0"/>
              <a:t>more and most</a:t>
            </a:r>
          </a:p>
          <a:p>
            <a:r>
              <a:rPr lang="en-US" altLang="en-US" dirty="0"/>
              <a:t>She is </a:t>
            </a:r>
            <a:r>
              <a:rPr lang="en-US" altLang="en-US" b="1" i="1" dirty="0"/>
              <a:t>more intelligent </a:t>
            </a:r>
            <a:r>
              <a:rPr lang="en-US" altLang="en-US" dirty="0"/>
              <a:t>than her brother.</a:t>
            </a:r>
          </a:p>
          <a:p>
            <a:r>
              <a:rPr lang="en-US" altLang="en-US" dirty="0"/>
              <a:t>She is </a:t>
            </a:r>
            <a:r>
              <a:rPr lang="en-US" altLang="en-US" b="1" i="1" dirty="0"/>
              <a:t>the most intelligent</a:t>
            </a:r>
            <a:r>
              <a:rPr lang="en-US" altLang="en-US" i="1" dirty="0"/>
              <a:t>.</a:t>
            </a:r>
          </a:p>
          <a:p>
            <a:r>
              <a:rPr lang="en-US" altLang="en-US" dirty="0"/>
              <a:t>  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61675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Irregular Forms </a:t>
            </a:r>
            <a:endParaRPr lang="nl-NL" alt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Bad 	– 	worse 	– 	worst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Far 	– 	farther 	– 	</a:t>
            </a:r>
            <a:r>
              <a:rPr lang="en-US" altLang="en-US" i="1" dirty="0"/>
              <a:t>farthest</a:t>
            </a:r>
            <a:r>
              <a:rPr lang="en-US" altLang="en-US" dirty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Far 	– 	further 	– 	</a:t>
            </a:r>
            <a:r>
              <a:rPr lang="en-US" altLang="en-US" i="1" dirty="0"/>
              <a:t>furthest</a:t>
            </a:r>
            <a:r>
              <a:rPr lang="en-US" altLang="en-US" dirty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Good 	– 	better 	– 	best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Little 	– 	less 	– 	least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Many 	– 	more 	– 	most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Much 	– 	more 	– 	most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Old 	– 	older 	– 	oldest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Old 	– 	elder 	– 	</a:t>
            </a:r>
            <a:r>
              <a:rPr lang="en-US" altLang="en-US" i="1" dirty="0"/>
              <a:t>eldest</a:t>
            </a:r>
            <a:r>
              <a:rPr lang="en-US" altLang="en-US" dirty="0"/>
              <a:t> </a:t>
            </a:r>
          </a:p>
          <a:p>
            <a:pPr eaLnBrk="1" hangingPunct="1">
              <a:lnSpc>
                <a:spcPct val="90000"/>
              </a:lnSpc>
            </a:pPr>
            <a:endParaRPr lang="nl-NL" altLang="en-US" dirty="0"/>
          </a:p>
        </p:txBody>
      </p:sp>
    </p:spTree>
    <p:extLst>
      <p:ext uri="{BB962C8B-B14F-4D97-AF65-F5344CB8AC3E}">
        <p14:creationId xmlns:p14="http://schemas.microsoft.com/office/powerpoint/2010/main" val="1242844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35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2" name="Rectangle 141">
            <a:extLst>
              <a:ext uri="{FF2B5EF4-FFF2-40B4-BE49-F238E27FC236}">
                <a16:creationId xmlns:a16="http://schemas.microsoft.com/office/drawing/2014/main" id="{9971ECC5-51D9-4E70-89C1-3DCF3A372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971" name="Title 2"/>
          <p:cNvSpPr>
            <a:spLocks noGrp="1"/>
          </p:cNvSpPr>
          <p:nvPr>
            <p:ph type="title"/>
          </p:nvPr>
        </p:nvSpPr>
        <p:spPr>
          <a:xfrm>
            <a:off x="478817" y="3766457"/>
            <a:ext cx="8181805" cy="16546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en-US" sz="5200"/>
              <a:t>Adverbs </a:t>
            </a:r>
          </a:p>
        </p:txBody>
      </p:sp>
      <p:sp>
        <p:nvSpPr>
          <p:cNvPr id="83970" name="Text Placeholder 1"/>
          <p:cNvSpPr>
            <a:spLocks noGrp="1"/>
          </p:cNvSpPr>
          <p:nvPr>
            <p:ph type="body" idx="1"/>
          </p:nvPr>
        </p:nvSpPr>
        <p:spPr>
          <a:xfrm>
            <a:off x="961105" y="5496089"/>
            <a:ext cx="7217228" cy="77174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alt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pic>
        <p:nvPicPr>
          <p:cNvPr id="4" name="Picture 3" descr="A blue bug says &quot;you teach goog, lol&quot; the red bug is annoyed and says &quot;rrrgh! good is an adjective'">
            <a:extLst>
              <a:ext uri="{FF2B5EF4-FFF2-40B4-BE49-F238E27FC236}">
                <a16:creationId xmlns:a16="http://schemas.microsoft.com/office/drawing/2014/main" id="{6F544A74-79B1-44E1-B933-F4CC8D96E3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42" y="932016"/>
            <a:ext cx="4010417" cy="2506511"/>
          </a:xfrm>
          <a:prstGeom prst="rect">
            <a:avLst/>
          </a:prstGeom>
        </p:spPr>
      </p:pic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32529AB-8F99-47FB-91B5-93565E54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6369" y="5433708"/>
            <a:ext cx="78867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7E11F890-74C3-40C9-9A8B-A80E38704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7874070-078A-470B-9C8C-BD1BCB55A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186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el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GB" altLang="en-US"/>
              <a:t>Adverbs Modify...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0E3E891-A9C1-478D-8DE7-C36D9EDB1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399943"/>
              </p:ext>
            </p:extLst>
          </p:nvPr>
        </p:nvGraphicFramePr>
        <p:xfrm>
          <a:off x="822324" y="1856624"/>
          <a:ext cx="7543799" cy="40010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527">
                  <a:extLst>
                    <a:ext uri="{9D8B030D-6E8A-4147-A177-3AD203B41FA5}">
                      <a16:colId xmlns:a16="http://schemas.microsoft.com/office/drawing/2014/main" val="1308825806"/>
                    </a:ext>
                  </a:extLst>
                </a:gridCol>
                <a:gridCol w="5494272">
                  <a:extLst>
                    <a:ext uri="{9D8B030D-6E8A-4147-A177-3AD203B41FA5}">
                      <a16:colId xmlns:a16="http://schemas.microsoft.com/office/drawing/2014/main" val="2432068983"/>
                    </a:ext>
                  </a:extLst>
                </a:gridCol>
              </a:tblGrid>
              <a:tr h="458914">
                <a:tc>
                  <a:txBody>
                    <a:bodyPr/>
                    <a:lstStyle/>
                    <a:p>
                      <a:r>
                        <a:rPr lang="nl-NL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Example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15456"/>
                  </a:ext>
                </a:extLst>
              </a:tr>
              <a:tr h="458914">
                <a:tc>
                  <a:txBody>
                    <a:bodyPr/>
                    <a:lstStyle/>
                    <a:p>
                      <a:r>
                        <a:rPr lang="nl-NL" dirty="0" err="1"/>
                        <a:t>Verbs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b="1" dirty="0"/>
                        <a:t>hanging</a:t>
                      </a:r>
                      <a:r>
                        <a:rPr lang="en-GB" altLang="en-US" dirty="0"/>
                        <a:t> </a:t>
                      </a:r>
                      <a:r>
                        <a:rPr lang="en-GB" altLang="en-US" i="1" dirty="0"/>
                        <a:t>dangerously</a:t>
                      </a:r>
                      <a:r>
                        <a:rPr lang="en-GB" altLang="en-US" dirty="0"/>
                        <a:t> over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162923"/>
                  </a:ext>
                </a:extLst>
              </a:tr>
              <a:tr h="458914">
                <a:tc>
                  <a:txBody>
                    <a:bodyPr/>
                    <a:lstStyle/>
                    <a:p>
                      <a:r>
                        <a:rPr lang="nl-NL" dirty="0" err="1"/>
                        <a:t>Adjectives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i="1" dirty="0"/>
                        <a:t>very</a:t>
                      </a:r>
                      <a:r>
                        <a:rPr lang="en-GB" altLang="en-US" dirty="0"/>
                        <a:t> </a:t>
                      </a:r>
                      <a:r>
                        <a:rPr lang="en-GB" altLang="en-US" b="1" dirty="0"/>
                        <a:t>beautiful</a:t>
                      </a:r>
                      <a:r>
                        <a:rPr lang="en-GB" altLang="en-US" dirty="0"/>
                        <a:t> faces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736769"/>
                  </a:ext>
                </a:extLst>
              </a:tr>
              <a:tr h="458914">
                <a:tc>
                  <a:txBody>
                    <a:bodyPr/>
                    <a:lstStyle/>
                    <a:p>
                      <a:r>
                        <a:rPr lang="nl-NL" dirty="0" err="1"/>
                        <a:t>Other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adverbs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i="1" dirty="0"/>
                        <a:t>never</a:t>
                      </a:r>
                      <a:r>
                        <a:rPr lang="en-GB" altLang="en-US" dirty="0"/>
                        <a:t> </a:t>
                      </a:r>
                      <a:r>
                        <a:rPr lang="en-GB" altLang="en-US" i="1" dirty="0"/>
                        <a:t>carefully</a:t>
                      </a:r>
                      <a:r>
                        <a:rPr lang="en-GB" altLang="en-US" dirty="0"/>
                        <a:t> considers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660295"/>
                  </a:ext>
                </a:extLst>
              </a:tr>
              <a:tr h="261680">
                <a:tc>
                  <a:txBody>
                    <a:bodyPr/>
                    <a:lstStyle/>
                    <a:p>
                      <a:r>
                        <a:rPr lang="nl-NL" dirty="0" err="1"/>
                        <a:t>Phrases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i="1" dirty="0"/>
                        <a:t>nearly to the edge of the cliff</a:t>
                      </a:r>
                      <a:r>
                        <a:rPr lang="en-GB" altLang="en-US" dirty="0"/>
                        <a:t>, she was practically crying her eyes out</a:t>
                      </a:r>
                    </a:p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092662"/>
                  </a:ext>
                </a:extLst>
              </a:tr>
              <a:tr h="458914">
                <a:tc>
                  <a:txBody>
                    <a:bodyPr/>
                    <a:lstStyle/>
                    <a:p>
                      <a:r>
                        <a:rPr lang="nl-NL" dirty="0" err="1"/>
                        <a:t>Clauses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i="1" dirty="0"/>
                        <a:t>just</a:t>
                      </a:r>
                      <a:r>
                        <a:rPr lang="en-GB" altLang="en-US" dirty="0"/>
                        <a:t> when we arrived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604693"/>
                  </a:ext>
                </a:extLst>
              </a:tr>
              <a:tr h="792099">
                <a:tc>
                  <a:txBody>
                    <a:bodyPr/>
                    <a:lstStyle/>
                    <a:p>
                      <a:r>
                        <a:rPr lang="nl-NL" dirty="0" err="1"/>
                        <a:t>Sentences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i="1" dirty="0"/>
                        <a:t>fortunately</a:t>
                      </a:r>
                      <a:r>
                        <a:rPr lang="en-GB" altLang="en-US" dirty="0"/>
                        <a:t>, she is employed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75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60093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altLang="en-US"/>
              <a:t>Adverbs Form</a:t>
            </a:r>
            <a:endParaRPr lang="nl-NL" alt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adding –</a:t>
            </a:r>
            <a:r>
              <a:rPr lang="en-US" altLang="en-US" sz="2400" dirty="0" err="1"/>
              <a:t>ly</a:t>
            </a:r>
            <a:r>
              <a:rPr lang="en-US" altLang="en-US" sz="2400" dirty="0"/>
              <a:t> to base of adjective</a:t>
            </a:r>
          </a:p>
          <a:p>
            <a:endParaRPr lang="en-US" altLang="en-US" sz="2400" dirty="0"/>
          </a:p>
          <a:p>
            <a:r>
              <a:rPr lang="en-US" altLang="en-US" sz="2400" dirty="0"/>
              <a:t>He is a </a:t>
            </a:r>
            <a:r>
              <a:rPr lang="en-US" altLang="en-US" sz="2400" b="1" dirty="0"/>
              <a:t>careful</a:t>
            </a:r>
            <a:r>
              <a:rPr lang="en-US" altLang="en-US" sz="2400" dirty="0"/>
              <a:t> man. </a:t>
            </a:r>
          </a:p>
          <a:p>
            <a:r>
              <a:rPr lang="en-US" altLang="en-US" sz="2400" dirty="0"/>
              <a:t>He drove </a:t>
            </a:r>
            <a:r>
              <a:rPr lang="en-US" altLang="en-US" sz="2400" i="1" dirty="0"/>
              <a:t>carefully</a:t>
            </a:r>
            <a:r>
              <a:rPr lang="en-US" altLang="en-US" sz="2400" dirty="0"/>
              <a:t>.</a:t>
            </a:r>
          </a:p>
          <a:p>
            <a:endParaRPr lang="en-US" altLang="en-US" sz="2400" dirty="0"/>
          </a:p>
          <a:p>
            <a:r>
              <a:rPr lang="en-US" altLang="en-US" sz="2400" dirty="0"/>
              <a:t>Let’s have a </a:t>
            </a:r>
            <a:r>
              <a:rPr lang="en-US" altLang="en-US" sz="2400" b="1" dirty="0"/>
              <a:t>quick</a:t>
            </a:r>
            <a:r>
              <a:rPr lang="en-US" altLang="en-US" sz="2400" dirty="0"/>
              <a:t> look. </a:t>
            </a:r>
          </a:p>
          <a:p>
            <a:r>
              <a:rPr lang="en-US" altLang="en-US" sz="2400" dirty="0"/>
              <a:t>He left the room </a:t>
            </a:r>
            <a:r>
              <a:rPr lang="en-US" altLang="en-US" sz="2400" i="1" dirty="0"/>
              <a:t>quickly</a:t>
            </a:r>
            <a:r>
              <a:rPr lang="en-US" altLang="en-US" sz="2400" dirty="0"/>
              <a:t>. 	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nl-NL" altLang="en-US" dirty="0"/>
          </a:p>
        </p:txBody>
      </p:sp>
    </p:spTree>
    <p:extLst>
      <p:ext uri="{BB962C8B-B14F-4D97-AF65-F5344CB8AC3E}">
        <p14:creationId xmlns:p14="http://schemas.microsoft.com/office/powerpoint/2010/main" val="3826092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Some spelling rules</a:t>
            </a:r>
          </a:p>
        </p:txBody>
      </p:sp>
      <p:sp>
        <p:nvSpPr>
          <p:cNvPr id="901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nl-NL" altLang="en-US"/>
              <a:t>Words ending in -y </a:t>
            </a:r>
            <a:r>
              <a:rPr lang="nl-NL" altLang="en-US">
                <a:sym typeface="Wingdings" panose="05000000000000000000" pitchFamily="2" charset="2"/>
              </a:rPr>
              <a:t> -ily</a:t>
            </a:r>
          </a:p>
          <a:p>
            <a:pPr lvl="1" eaLnBrk="1" hangingPunct="1"/>
            <a:r>
              <a:rPr lang="nl-NL" altLang="en-US">
                <a:sym typeface="Wingdings" panose="05000000000000000000" pitchFamily="2" charset="2"/>
              </a:rPr>
              <a:t>Easily, heavily, temporarily</a:t>
            </a:r>
          </a:p>
          <a:p>
            <a:pPr eaLnBrk="1" hangingPunct="1"/>
            <a:r>
              <a:rPr lang="nl-NL" altLang="en-US">
                <a:sym typeface="Wingdings" panose="05000000000000000000" pitchFamily="2" charset="2"/>
              </a:rPr>
              <a:t>Words ending in -le: -le  -ly</a:t>
            </a:r>
          </a:p>
          <a:p>
            <a:pPr lvl="1" eaLnBrk="1" hangingPunct="1"/>
            <a:r>
              <a:rPr lang="nl-NL" altLang="en-US">
                <a:sym typeface="Wingdings" panose="05000000000000000000" pitchFamily="2" charset="2"/>
              </a:rPr>
              <a:t>Possibly, terribly, simply</a:t>
            </a:r>
          </a:p>
          <a:p>
            <a:pPr eaLnBrk="1" hangingPunct="1"/>
            <a:r>
              <a:rPr lang="nl-NL" altLang="en-US">
                <a:sym typeface="Wingdings" panose="05000000000000000000" pitchFamily="2" charset="2"/>
              </a:rPr>
              <a:t>Words ending in -ic  -ically</a:t>
            </a:r>
          </a:p>
          <a:p>
            <a:pPr lvl="1" eaLnBrk="1" hangingPunct="1"/>
            <a:r>
              <a:rPr lang="nl-NL" altLang="en-US">
                <a:sym typeface="Wingdings" panose="05000000000000000000" pitchFamily="2" charset="2"/>
              </a:rPr>
              <a:t>Technically, dramatically, comically</a:t>
            </a: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1918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altLang="en-US"/>
              <a:t>Adverbs Form </a:t>
            </a:r>
          </a:p>
        </p:txBody>
      </p:sp>
      <p:sp>
        <p:nvSpPr>
          <p:cNvPr id="9216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Some </a:t>
            </a:r>
            <a:r>
              <a:rPr lang="en-US" altLang="en-US" i="1" dirty="0"/>
              <a:t>adverbs</a:t>
            </a:r>
            <a:r>
              <a:rPr lang="en-US" altLang="en-US" dirty="0"/>
              <a:t> same as the </a:t>
            </a:r>
            <a:r>
              <a:rPr lang="en-US" altLang="en-US" b="1" dirty="0"/>
              <a:t>adjective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dirty="0"/>
              <a:t> early, late, straight, direct, hard, etc.</a:t>
            </a:r>
          </a:p>
          <a:p>
            <a:pPr marL="0" indent="0">
              <a:buNone/>
            </a:pPr>
            <a:endParaRPr lang="en-US" altLang="en-US" dirty="0"/>
          </a:p>
          <a:p>
            <a:pPr marL="457200" indent="-457200">
              <a:buFont typeface="+mj-lt"/>
              <a:buAutoNum type="arabicPeriod"/>
            </a:pPr>
            <a:r>
              <a:rPr lang="en-US" altLang="en-US" dirty="0"/>
              <a:t>I’m going to have an </a:t>
            </a:r>
            <a:r>
              <a:rPr lang="en-US" altLang="en-US" b="1" dirty="0"/>
              <a:t>early</a:t>
            </a:r>
            <a:r>
              <a:rPr lang="en-US" altLang="en-US" dirty="0"/>
              <a:t> night.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/>
              <a:t>He left </a:t>
            </a:r>
            <a:r>
              <a:rPr lang="en-US" altLang="en-US" i="1" dirty="0"/>
              <a:t>early</a:t>
            </a:r>
            <a:r>
              <a:rPr lang="en-US" altLang="en-US" dirty="0"/>
              <a:t> to get to class in time.</a:t>
            </a:r>
          </a:p>
          <a:p>
            <a:pPr marL="0" indent="0">
              <a:buNone/>
            </a:pPr>
            <a:endParaRPr lang="en-US" altLang="en-US" dirty="0"/>
          </a:p>
          <a:p>
            <a:pPr marL="457200" indent="-457200">
              <a:buFont typeface="+mj-lt"/>
              <a:buAutoNum type="arabicPeriod"/>
            </a:pPr>
            <a:r>
              <a:rPr lang="en-GB" altLang="en-US" dirty="0"/>
              <a:t>It’s hard to draw a </a:t>
            </a:r>
            <a:r>
              <a:rPr lang="en-GB" altLang="en-US" b="1" dirty="0"/>
              <a:t>straight</a:t>
            </a:r>
            <a:r>
              <a:rPr lang="en-GB" altLang="en-US" dirty="0"/>
              <a:t> line.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/>
              <a:t>We went </a:t>
            </a:r>
            <a:r>
              <a:rPr lang="en-US" altLang="en-US" i="1" dirty="0"/>
              <a:t>straight</a:t>
            </a:r>
            <a:r>
              <a:rPr lang="en-US" altLang="en-US" dirty="0"/>
              <a:t> home after the show.	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84648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altLang="en-US"/>
              <a:t>Adverbs Form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Some adverbs mean something else if you add -</a:t>
            </a:r>
            <a:r>
              <a:rPr lang="en-GB" dirty="0" err="1"/>
              <a:t>ly</a:t>
            </a:r>
            <a:endParaRPr lang="en-GB" dirty="0"/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She worked very </a:t>
            </a:r>
            <a:r>
              <a:rPr lang="en-US" b="1" dirty="0"/>
              <a:t>hard</a:t>
            </a:r>
            <a:r>
              <a:rPr lang="en-US" dirty="0"/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She </a:t>
            </a:r>
            <a:r>
              <a:rPr lang="en-US" b="1" dirty="0"/>
              <a:t>hardly</a:t>
            </a:r>
            <a:r>
              <a:rPr lang="en-US" dirty="0"/>
              <a:t> worked. 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He is working </a:t>
            </a:r>
            <a:r>
              <a:rPr lang="en-US" b="1" dirty="0"/>
              <a:t>late</a:t>
            </a:r>
            <a:r>
              <a:rPr lang="en-US" dirty="0"/>
              <a:t> tonight.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Have you seen him </a:t>
            </a:r>
            <a:r>
              <a:rPr lang="en-US" b="1" dirty="0"/>
              <a:t>lately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758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nl-NL" altLang="nl-NL"/>
              <a:t>Adverbs form</a:t>
            </a:r>
          </a:p>
        </p:txBody>
      </p:sp>
      <p:sp>
        <p:nvSpPr>
          <p:cNvPr id="96259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>
            <a:normAutofit/>
          </a:bodyPr>
          <a:lstStyle/>
          <a:p>
            <a:r>
              <a:rPr lang="nl-NL" altLang="nl-NL" sz="2400" dirty="0" err="1"/>
              <a:t>One</a:t>
            </a:r>
            <a:r>
              <a:rPr lang="nl-NL" altLang="nl-NL" sz="2400" dirty="0"/>
              <a:t> </a:t>
            </a:r>
            <a:r>
              <a:rPr lang="nl-NL" altLang="nl-NL" sz="2400" dirty="0" err="1"/>
              <a:t>adjective</a:t>
            </a:r>
            <a:r>
              <a:rPr lang="nl-NL" altLang="nl-NL" sz="2400" dirty="0"/>
              <a:t> has a </a:t>
            </a:r>
            <a:r>
              <a:rPr lang="nl-NL" altLang="nl-NL" sz="2400" dirty="0" err="1"/>
              <a:t>completely</a:t>
            </a:r>
            <a:r>
              <a:rPr lang="nl-NL" altLang="nl-NL" sz="2400" dirty="0"/>
              <a:t> different </a:t>
            </a:r>
            <a:r>
              <a:rPr lang="nl-NL" altLang="nl-NL" sz="2400" dirty="0" err="1"/>
              <a:t>from</a:t>
            </a:r>
            <a:r>
              <a:rPr lang="nl-NL" altLang="nl-NL" sz="2400" dirty="0"/>
              <a:t> as </a:t>
            </a:r>
            <a:r>
              <a:rPr lang="nl-NL" altLang="nl-NL" sz="2400" dirty="0" err="1"/>
              <a:t>its</a:t>
            </a:r>
            <a:r>
              <a:rPr lang="nl-NL" altLang="nl-NL" sz="2400" dirty="0"/>
              <a:t> </a:t>
            </a:r>
            <a:r>
              <a:rPr lang="nl-NL" altLang="nl-NL" sz="2400" dirty="0" err="1"/>
              <a:t>adverb</a:t>
            </a:r>
            <a:endParaRPr lang="nl-NL" altLang="nl-NL" sz="2400" dirty="0"/>
          </a:p>
          <a:p>
            <a:pPr lvl="1"/>
            <a:r>
              <a:rPr lang="nl-NL" altLang="nl-NL" sz="2000" dirty="0" err="1"/>
              <a:t>That</a:t>
            </a:r>
            <a:r>
              <a:rPr lang="nl-NL" altLang="nl-NL" sz="2000" dirty="0"/>
              <a:t> was a </a:t>
            </a:r>
            <a:r>
              <a:rPr lang="nl-NL" altLang="nl-NL" sz="2000" b="1" dirty="0" err="1"/>
              <a:t>good</a:t>
            </a:r>
            <a:r>
              <a:rPr lang="nl-NL" altLang="nl-NL" sz="2000" dirty="0"/>
              <a:t> show</a:t>
            </a:r>
          </a:p>
          <a:p>
            <a:pPr lvl="1"/>
            <a:r>
              <a:rPr lang="nl-NL" altLang="nl-NL" sz="2000" dirty="0" err="1"/>
              <a:t>They</a:t>
            </a:r>
            <a:r>
              <a:rPr lang="nl-NL" altLang="nl-NL" sz="2000" dirty="0"/>
              <a:t> </a:t>
            </a:r>
            <a:r>
              <a:rPr lang="nl-NL" altLang="nl-NL" sz="2000" dirty="0" err="1"/>
              <a:t>played</a:t>
            </a:r>
            <a:r>
              <a:rPr lang="nl-NL" altLang="nl-NL" sz="2000" dirty="0"/>
              <a:t> </a:t>
            </a:r>
            <a:r>
              <a:rPr lang="nl-NL" altLang="nl-NL" sz="2000" dirty="0" err="1"/>
              <a:t>very</a:t>
            </a:r>
            <a:r>
              <a:rPr lang="nl-NL" altLang="nl-NL" sz="2000" dirty="0"/>
              <a:t> </a:t>
            </a:r>
            <a:r>
              <a:rPr lang="nl-NL" altLang="nl-NL" sz="2000" b="1" dirty="0"/>
              <a:t>well</a:t>
            </a:r>
            <a:r>
              <a:rPr lang="nl-NL" altLang="nl-NL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26979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altLang="en-US"/>
              <a:t>Adverbs Form</a:t>
            </a:r>
            <a:endParaRPr lang="nl-NL" alt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Some forms are awkward</a:t>
            </a:r>
          </a:p>
          <a:p>
            <a:r>
              <a:rPr lang="en-US" altLang="en-US" sz="2400" dirty="0"/>
              <a:t>		*difficultly = with great difficulty</a:t>
            </a:r>
          </a:p>
          <a:p>
            <a:r>
              <a:rPr lang="en-US" altLang="en-US" sz="2400" dirty="0"/>
              <a:t>Some adjectives already end in –</a:t>
            </a:r>
            <a:r>
              <a:rPr lang="en-US" altLang="en-US" sz="2400" dirty="0" err="1"/>
              <a:t>ly</a:t>
            </a:r>
            <a:r>
              <a:rPr lang="en-US" altLang="en-US" sz="2400" dirty="0"/>
              <a:t> </a:t>
            </a:r>
          </a:p>
          <a:p>
            <a:r>
              <a:rPr lang="en-US" altLang="en-US" sz="2400" dirty="0"/>
              <a:t>		</a:t>
            </a:r>
            <a:r>
              <a:rPr lang="en-US" altLang="en-US" sz="2400" dirty="0">
                <a:sym typeface="Wingdings" panose="05000000000000000000" pitchFamily="2" charset="2"/>
              </a:rPr>
              <a:t>*</a:t>
            </a:r>
            <a:r>
              <a:rPr lang="en-US" altLang="en-US" sz="2400" dirty="0"/>
              <a:t>friendlily = in a friendly way</a:t>
            </a:r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04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altLang="en-US"/>
              <a:t>Adverbs Form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>
            <a:normAutofit/>
          </a:bodyPr>
          <a:lstStyle/>
          <a:p>
            <a:r>
              <a:rPr lang="en-US" dirty="0"/>
              <a:t>Many adverbs not based on adjectives</a:t>
            </a:r>
          </a:p>
          <a:p>
            <a:endParaRPr lang="en-US" i="1" dirty="0"/>
          </a:p>
          <a:p>
            <a:r>
              <a:rPr lang="en-US" i="1" dirty="0"/>
              <a:t>I’m leaving </a:t>
            </a:r>
            <a:r>
              <a:rPr lang="en-US" b="1" i="1" dirty="0"/>
              <a:t>soon</a:t>
            </a:r>
            <a:r>
              <a:rPr lang="en-US" i="1" dirty="0"/>
              <a:t>.</a:t>
            </a:r>
          </a:p>
          <a:p>
            <a:r>
              <a:rPr lang="en-US" i="1" dirty="0"/>
              <a:t>Theo </a:t>
            </a:r>
            <a:r>
              <a:rPr lang="en-US" b="1" i="1" dirty="0"/>
              <a:t>rather</a:t>
            </a:r>
            <a:r>
              <a:rPr lang="en-US" i="1" dirty="0"/>
              <a:t> likes brownies. </a:t>
            </a:r>
          </a:p>
          <a:p>
            <a:r>
              <a:rPr lang="en-US" i="1" dirty="0"/>
              <a:t>She is </a:t>
            </a:r>
            <a:r>
              <a:rPr lang="en-US" b="1" i="1" dirty="0"/>
              <a:t>very</a:t>
            </a:r>
            <a:r>
              <a:rPr lang="en-US" i="1" dirty="0"/>
              <a:t> pretty. </a:t>
            </a:r>
          </a:p>
          <a:p>
            <a:r>
              <a:rPr lang="en-US" i="1" dirty="0"/>
              <a:t>I don’t </a:t>
            </a:r>
            <a:r>
              <a:rPr lang="en-US" b="1" i="1" dirty="0"/>
              <a:t>quite</a:t>
            </a:r>
            <a:r>
              <a:rPr lang="en-US" i="1" dirty="0"/>
              <a:t> see your point.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352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en-US"/>
              <a:t>Comparing with adverbs</a:t>
            </a:r>
            <a:endParaRPr lang="en-US" altLang="en-US"/>
          </a:p>
        </p:txBody>
      </p:sp>
      <p:sp>
        <p:nvSpPr>
          <p:cNvPr id="101379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altLang="en-US" dirty="0" err="1"/>
              <a:t>Adverbs</a:t>
            </a:r>
            <a:r>
              <a:rPr lang="nl-NL" altLang="en-US" dirty="0"/>
              <a:t> </a:t>
            </a:r>
            <a:r>
              <a:rPr lang="nl-NL" altLang="en-US" dirty="0" err="1"/>
              <a:t>that</a:t>
            </a:r>
            <a:r>
              <a:rPr lang="nl-NL" altLang="en-US" dirty="0"/>
              <a:t> end in -</a:t>
            </a:r>
            <a:r>
              <a:rPr lang="nl-NL" altLang="en-US" dirty="0" err="1"/>
              <a:t>ly</a:t>
            </a:r>
            <a:r>
              <a:rPr lang="nl-NL" altLang="en-US" dirty="0"/>
              <a:t> </a:t>
            </a:r>
            <a:r>
              <a:rPr lang="nl-NL" altLang="en-US" dirty="0" err="1"/>
              <a:t>always</a:t>
            </a:r>
            <a:r>
              <a:rPr lang="nl-NL" altLang="en-US" dirty="0"/>
              <a:t> get </a:t>
            </a:r>
            <a:r>
              <a:rPr lang="nl-NL" altLang="en-US" u="sng" dirty="0"/>
              <a:t>more </a:t>
            </a:r>
            <a:r>
              <a:rPr lang="nl-NL" altLang="en-US" u="sng" dirty="0" err="1"/>
              <a:t>and</a:t>
            </a:r>
            <a:r>
              <a:rPr lang="nl-NL" altLang="en-US" u="sng" dirty="0"/>
              <a:t> most</a:t>
            </a:r>
          </a:p>
          <a:p>
            <a:pPr lvl="1"/>
            <a:r>
              <a:rPr lang="nl-NL" altLang="en-US" dirty="0"/>
              <a:t>The girl </a:t>
            </a:r>
            <a:r>
              <a:rPr lang="nl-NL" altLang="en-US" dirty="0" err="1"/>
              <a:t>danced</a:t>
            </a:r>
            <a:r>
              <a:rPr lang="nl-NL" altLang="en-US" dirty="0"/>
              <a:t> </a:t>
            </a:r>
            <a:r>
              <a:rPr lang="nl-NL" altLang="en-US" b="1" dirty="0"/>
              <a:t>more </a:t>
            </a:r>
            <a:r>
              <a:rPr lang="nl-NL" altLang="en-US" b="1" dirty="0" err="1"/>
              <a:t>beautifully</a:t>
            </a:r>
            <a:r>
              <a:rPr lang="nl-NL" altLang="en-US" b="1" dirty="0"/>
              <a:t> </a:t>
            </a:r>
            <a:r>
              <a:rPr lang="nl-NL" altLang="en-US" dirty="0" err="1"/>
              <a:t>than</a:t>
            </a:r>
            <a:r>
              <a:rPr lang="nl-NL" altLang="en-US" dirty="0"/>
              <a:t> </a:t>
            </a:r>
            <a:r>
              <a:rPr lang="nl-NL" altLang="en-US" dirty="0" err="1"/>
              <a:t>the</a:t>
            </a:r>
            <a:r>
              <a:rPr lang="nl-NL" altLang="en-US" dirty="0"/>
              <a:t> </a:t>
            </a:r>
            <a:r>
              <a:rPr lang="nl-NL" altLang="en-US" dirty="0" err="1"/>
              <a:t>others</a:t>
            </a:r>
            <a:endParaRPr lang="nl-NL" altLang="en-US" dirty="0"/>
          </a:p>
          <a:p>
            <a:pPr lvl="1"/>
            <a:r>
              <a:rPr lang="nl-NL" altLang="en-US" dirty="0" err="1"/>
              <a:t>This</a:t>
            </a:r>
            <a:r>
              <a:rPr lang="nl-NL" altLang="en-US" dirty="0"/>
              <a:t> fox moves </a:t>
            </a:r>
            <a:r>
              <a:rPr lang="nl-NL" altLang="en-US" b="1" dirty="0"/>
              <a:t>more </a:t>
            </a:r>
            <a:r>
              <a:rPr lang="nl-NL" altLang="en-US" b="1" dirty="0" err="1"/>
              <a:t>quickly</a:t>
            </a:r>
            <a:r>
              <a:rPr lang="nl-NL" altLang="en-US" dirty="0"/>
              <a:t> </a:t>
            </a:r>
            <a:r>
              <a:rPr lang="nl-NL" altLang="en-US" dirty="0" err="1"/>
              <a:t>than</a:t>
            </a:r>
            <a:r>
              <a:rPr lang="nl-NL" altLang="en-US" dirty="0"/>
              <a:t> </a:t>
            </a:r>
            <a:r>
              <a:rPr lang="nl-NL" altLang="en-US" dirty="0" err="1"/>
              <a:t>that</a:t>
            </a:r>
            <a:r>
              <a:rPr lang="nl-NL" altLang="en-US" dirty="0"/>
              <a:t> </a:t>
            </a:r>
            <a:r>
              <a:rPr lang="nl-NL" altLang="en-US" dirty="0" err="1"/>
              <a:t>one</a:t>
            </a:r>
            <a:endParaRPr lang="nl-NL" altLang="en-US" dirty="0"/>
          </a:p>
          <a:p>
            <a:r>
              <a:rPr lang="nl-NL" altLang="en-US" dirty="0" err="1"/>
              <a:t>Adverbs</a:t>
            </a:r>
            <a:r>
              <a:rPr lang="nl-NL" altLang="en-US" dirty="0"/>
              <a:t> </a:t>
            </a:r>
            <a:r>
              <a:rPr lang="nl-NL" altLang="en-US" dirty="0" err="1"/>
              <a:t>that</a:t>
            </a:r>
            <a:r>
              <a:rPr lang="nl-NL" altLang="en-US" dirty="0"/>
              <a:t> </a:t>
            </a:r>
            <a:r>
              <a:rPr lang="nl-NL" altLang="en-US" dirty="0" err="1"/>
              <a:t>don’t</a:t>
            </a:r>
            <a:r>
              <a:rPr lang="nl-NL" altLang="en-US" dirty="0"/>
              <a:t> end in -</a:t>
            </a:r>
            <a:r>
              <a:rPr lang="nl-NL" altLang="en-US" dirty="0" err="1"/>
              <a:t>ly</a:t>
            </a:r>
            <a:r>
              <a:rPr lang="nl-NL" altLang="en-US" dirty="0"/>
              <a:t> </a:t>
            </a:r>
            <a:r>
              <a:rPr lang="nl-NL" altLang="en-US" dirty="0" err="1"/>
              <a:t>work</a:t>
            </a:r>
            <a:r>
              <a:rPr lang="nl-NL" altLang="en-US" dirty="0"/>
              <a:t> like </a:t>
            </a:r>
            <a:r>
              <a:rPr lang="nl-NL" altLang="en-US" dirty="0" err="1"/>
              <a:t>adjectives</a:t>
            </a:r>
            <a:endParaRPr lang="nl-NL" altLang="en-US" dirty="0"/>
          </a:p>
          <a:p>
            <a:pPr lvl="1"/>
            <a:r>
              <a:rPr lang="nl-NL" altLang="en-US" dirty="0"/>
              <a:t>He </a:t>
            </a:r>
            <a:r>
              <a:rPr lang="nl-NL" altLang="en-US" dirty="0" err="1"/>
              <a:t>worked</a:t>
            </a:r>
            <a:r>
              <a:rPr lang="nl-NL" altLang="en-US" dirty="0"/>
              <a:t> </a:t>
            </a:r>
            <a:r>
              <a:rPr lang="nl-NL" altLang="en-US" b="1" dirty="0"/>
              <a:t>harder</a:t>
            </a:r>
            <a:r>
              <a:rPr lang="nl-NL" altLang="en-US" dirty="0"/>
              <a:t> </a:t>
            </a:r>
            <a:r>
              <a:rPr lang="nl-NL" altLang="en-US" dirty="0" err="1"/>
              <a:t>than</a:t>
            </a:r>
            <a:r>
              <a:rPr lang="nl-NL" altLang="en-US" dirty="0"/>
              <a:t> me</a:t>
            </a:r>
          </a:p>
          <a:p>
            <a:pPr lvl="1"/>
            <a:r>
              <a:rPr lang="nl-NL" altLang="en-US" dirty="0" err="1"/>
              <a:t>They</a:t>
            </a:r>
            <a:r>
              <a:rPr lang="nl-NL" altLang="en-US" dirty="0"/>
              <a:t> </a:t>
            </a:r>
            <a:r>
              <a:rPr lang="nl-NL" altLang="en-US" dirty="0" err="1"/>
              <a:t>just</a:t>
            </a:r>
            <a:r>
              <a:rPr lang="nl-NL" altLang="en-US" dirty="0"/>
              <a:t> </a:t>
            </a:r>
            <a:r>
              <a:rPr lang="nl-NL" altLang="en-US" dirty="0" err="1"/>
              <a:t>played</a:t>
            </a:r>
            <a:r>
              <a:rPr lang="nl-NL" altLang="en-US" dirty="0"/>
              <a:t> </a:t>
            </a:r>
            <a:r>
              <a:rPr lang="nl-NL" altLang="en-US" b="1" dirty="0" err="1"/>
              <a:t>better</a:t>
            </a:r>
            <a:r>
              <a:rPr lang="nl-NL" altLang="en-US" dirty="0"/>
              <a:t> </a:t>
            </a:r>
            <a:r>
              <a:rPr lang="nl-NL" altLang="en-US" dirty="0" err="1"/>
              <a:t>than</a:t>
            </a:r>
            <a:r>
              <a:rPr lang="nl-NL" altLang="en-US" dirty="0"/>
              <a:t> </a:t>
            </a:r>
            <a:r>
              <a:rPr lang="nl-NL" altLang="en-US" dirty="0" err="1"/>
              <a:t>us</a:t>
            </a:r>
            <a:endParaRPr lang="nl-NL" altLang="en-US" dirty="0"/>
          </a:p>
          <a:p>
            <a:pPr lvl="1"/>
            <a:r>
              <a:rPr lang="nl-NL" altLang="en-US" dirty="0" err="1"/>
              <a:t>So</a:t>
            </a:r>
            <a:r>
              <a:rPr lang="nl-NL" altLang="en-US" dirty="0"/>
              <a:t>: well - </a:t>
            </a:r>
            <a:r>
              <a:rPr lang="nl-NL" altLang="en-US" dirty="0" err="1"/>
              <a:t>better</a:t>
            </a:r>
            <a:r>
              <a:rPr lang="nl-NL" altLang="en-US" dirty="0"/>
              <a:t> - best</a:t>
            </a:r>
          </a:p>
          <a:p>
            <a:pPr lvl="1"/>
            <a:endParaRPr lang="nl-NL" altLang="en-US" dirty="0"/>
          </a:p>
          <a:p>
            <a:pPr lvl="1"/>
            <a:endParaRPr lang="nl-NL" altLang="en-US" dirty="0"/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810144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en-US"/>
              <a:t>Types of Adverbs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096476770"/>
              </p:ext>
            </p:extLst>
          </p:nvPr>
        </p:nvGraphicFramePr>
        <p:xfrm>
          <a:off x="750404" y="1988840"/>
          <a:ext cx="7643191" cy="35641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7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7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7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6259">
                <a:tc>
                  <a:txBody>
                    <a:bodyPr/>
                    <a:lstStyle/>
                    <a:p>
                      <a:r>
                        <a:rPr lang="en-US" sz="2000" dirty="0"/>
                        <a:t>adverb type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paraphrase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example</a:t>
                      </a:r>
                      <a:r>
                        <a:rPr lang="en-US" sz="2000" baseline="0" dirty="0"/>
                        <a:t> </a:t>
                      </a:r>
                      <a:endParaRPr lang="en-US" sz="2000" dirty="0"/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582">
                <a:tc>
                  <a:txBody>
                    <a:bodyPr/>
                    <a:lstStyle/>
                    <a:p>
                      <a:r>
                        <a:rPr lang="en-US" sz="2000" dirty="0"/>
                        <a:t>manner 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How</a:t>
                      </a:r>
                      <a:r>
                        <a:rPr lang="en-US" sz="2000" baseline="0" dirty="0"/>
                        <a:t> …</a:t>
                      </a:r>
                      <a:r>
                        <a:rPr lang="en-US" sz="2000" dirty="0"/>
                        <a:t>?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i="1" dirty="0"/>
                        <a:t>perfectly</a:t>
                      </a:r>
                      <a:r>
                        <a:rPr lang="en-US" sz="2000" i="1" baseline="0" dirty="0"/>
                        <a:t> </a:t>
                      </a:r>
                      <a:endParaRPr lang="en-US" sz="2000" i="1" dirty="0"/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582">
                <a:tc>
                  <a:txBody>
                    <a:bodyPr/>
                    <a:lstStyle/>
                    <a:p>
                      <a:r>
                        <a:rPr lang="en-US" sz="2000" dirty="0"/>
                        <a:t>place</a:t>
                      </a:r>
                      <a:r>
                        <a:rPr lang="en-US" sz="2000" baseline="0" dirty="0"/>
                        <a:t> </a:t>
                      </a:r>
                      <a:endParaRPr lang="en-US" sz="2000" dirty="0"/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Where …?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i="1" dirty="0"/>
                        <a:t>everywhere </a:t>
                      </a:r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1641951318"/>
                  </a:ext>
                </a:extLst>
              </a:tr>
              <a:tr h="553582">
                <a:tc>
                  <a:txBody>
                    <a:bodyPr/>
                    <a:lstStyle/>
                    <a:p>
                      <a:r>
                        <a:rPr lang="en-US" sz="2000" dirty="0"/>
                        <a:t>time 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When …?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i="1" dirty="0"/>
                        <a:t>yesterday </a:t>
                      </a:r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801272667"/>
                  </a:ext>
                </a:extLst>
              </a:tr>
              <a:tr h="553582">
                <a:tc>
                  <a:txBody>
                    <a:bodyPr/>
                    <a:lstStyle/>
                    <a:p>
                      <a:r>
                        <a:rPr lang="en-US" sz="2000" dirty="0"/>
                        <a:t>frequency</a:t>
                      </a:r>
                      <a:r>
                        <a:rPr lang="en-US" sz="2000" baseline="0" dirty="0"/>
                        <a:t> </a:t>
                      </a:r>
                      <a:endParaRPr lang="en-US" sz="2000" dirty="0"/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How often?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i="1" dirty="0"/>
                        <a:t>never </a:t>
                      </a:r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3582">
                <a:tc>
                  <a:txBody>
                    <a:bodyPr/>
                    <a:lstStyle/>
                    <a:p>
                      <a:r>
                        <a:rPr lang="en-US" sz="2000" dirty="0"/>
                        <a:t>sentence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[opinion]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i="1" dirty="0"/>
                        <a:t>clearly </a:t>
                      </a:r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28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nl-NL"/>
              <a:t>Position of Adverbs</a:t>
            </a:r>
          </a:p>
        </p:txBody>
      </p:sp>
      <p:sp>
        <p:nvSpPr>
          <p:cNvPr id="104451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altLang="nl-NL" dirty="0" err="1"/>
              <a:t>Adverbs</a:t>
            </a:r>
            <a:r>
              <a:rPr lang="nl-NL" altLang="nl-NL" dirty="0"/>
              <a:t> </a:t>
            </a:r>
            <a:r>
              <a:rPr lang="nl-NL" altLang="nl-NL" dirty="0" err="1"/>
              <a:t>can</a:t>
            </a:r>
            <a:r>
              <a:rPr lang="nl-NL" altLang="nl-NL" dirty="0"/>
              <a:t> go in front, </a:t>
            </a:r>
            <a:r>
              <a:rPr lang="nl-NL" altLang="nl-NL" dirty="0" err="1"/>
              <a:t>mid</a:t>
            </a:r>
            <a:r>
              <a:rPr lang="nl-NL" altLang="nl-NL" dirty="0"/>
              <a:t> or end </a:t>
            </a:r>
            <a:r>
              <a:rPr lang="nl-NL" altLang="nl-NL" dirty="0" err="1"/>
              <a:t>position</a:t>
            </a:r>
            <a:endParaRPr lang="nl-NL" altLang="nl-NL" dirty="0"/>
          </a:p>
          <a:p>
            <a:pPr lvl="1"/>
            <a:r>
              <a:rPr lang="nl-NL" altLang="nl-NL" sz="2000" dirty="0"/>
              <a:t>FRONT			MID			END</a:t>
            </a:r>
          </a:p>
          <a:p>
            <a:pPr lvl="1"/>
            <a:r>
              <a:rPr lang="nl-NL" altLang="nl-NL" sz="2000" b="1" dirty="0" err="1"/>
              <a:t>Now</a:t>
            </a:r>
            <a:r>
              <a:rPr lang="nl-NL" altLang="nl-NL" sz="2000" dirty="0"/>
              <a:t>	we </a:t>
            </a:r>
            <a:r>
              <a:rPr lang="nl-NL" altLang="nl-NL" sz="2000" dirty="0" err="1"/>
              <a:t>were</a:t>
            </a:r>
            <a:r>
              <a:rPr lang="nl-NL" altLang="nl-NL" sz="2000" dirty="0"/>
              <a:t>			</a:t>
            </a:r>
            <a:r>
              <a:rPr lang="nl-NL" altLang="nl-NL" sz="2000" b="1" dirty="0" err="1"/>
              <a:t>carefully</a:t>
            </a:r>
            <a:r>
              <a:rPr lang="nl-NL" altLang="nl-NL" sz="2000" dirty="0"/>
              <a:t>  </a:t>
            </a:r>
            <a:r>
              <a:rPr lang="nl-NL" altLang="nl-NL" sz="2000" dirty="0" err="1"/>
              <a:t>going</a:t>
            </a:r>
            <a:r>
              <a:rPr lang="nl-NL" altLang="nl-NL" sz="2000" dirty="0"/>
              <a:t>		</a:t>
            </a:r>
            <a:r>
              <a:rPr lang="nl-NL" altLang="nl-NL" sz="2000" b="1" dirty="0"/>
              <a:t>back</a:t>
            </a:r>
            <a:r>
              <a:rPr lang="nl-NL" altLang="nl-NL" sz="2000" dirty="0"/>
              <a:t>.</a:t>
            </a:r>
          </a:p>
          <a:p>
            <a:endParaRPr lang="nl-NL" altLang="nl-NL" dirty="0"/>
          </a:p>
          <a:p>
            <a:r>
              <a:rPr lang="nl-NL" altLang="nl-NL" dirty="0" err="1"/>
              <a:t>Many</a:t>
            </a:r>
            <a:r>
              <a:rPr lang="nl-NL" altLang="nl-NL" dirty="0"/>
              <a:t> </a:t>
            </a:r>
            <a:r>
              <a:rPr lang="nl-NL" altLang="nl-NL" dirty="0" err="1"/>
              <a:t>adverbs</a:t>
            </a:r>
            <a:r>
              <a:rPr lang="nl-NL" altLang="nl-NL" dirty="0"/>
              <a:t> </a:t>
            </a:r>
            <a:r>
              <a:rPr lang="nl-NL" altLang="nl-NL" dirty="0" err="1"/>
              <a:t>can</a:t>
            </a:r>
            <a:r>
              <a:rPr lang="nl-NL" altLang="nl-NL" dirty="0"/>
              <a:t> </a:t>
            </a:r>
            <a:r>
              <a:rPr lang="nl-NL" altLang="nl-NL" dirty="0" err="1"/>
              <a:t>be</a:t>
            </a:r>
            <a:r>
              <a:rPr lang="nl-NL" altLang="nl-NL" dirty="0"/>
              <a:t> </a:t>
            </a:r>
            <a:r>
              <a:rPr lang="nl-NL" altLang="nl-NL" dirty="0" err="1"/>
              <a:t>used</a:t>
            </a:r>
            <a:r>
              <a:rPr lang="nl-NL" altLang="nl-NL" dirty="0"/>
              <a:t> in different </a:t>
            </a:r>
            <a:r>
              <a:rPr lang="nl-NL" altLang="nl-NL" dirty="0" err="1"/>
              <a:t>positions</a:t>
            </a:r>
            <a:r>
              <a:rPr lang="nl-NL" altLang="nl-NL" dirty="0"/>
              <a:t>, but </a:t>
            </a:r>
            <a:r>
              <a:rPr lang="nl-NL" altLang="nl-NL" dirty="0" err="1"/>
              <a:t>each</a:t>
            </a:r>
            <a:r>
              <a:rPr lang="nl-NL" altLang="nl-NL" dirty="0"/>
              <a:t> type of </a:t>
            </a:r>
            <a:r>
              <a:rPr lang="nl-NL" altLang="nl-NL" dirty="0" err="1"/>
              <a:t>adverb</a:t>
            </a:r>
            <a:r>
              <a:rPr lang="nl-NL" altLang="nl-NL" dirty="0"/>
              <a:t> has a </a:t>
            </a:r>
            <a:r>
              <a:rPr lang="nl-NL" altLang="nl-NL" dirty="0" err="1"/>
              <a:t>position</a:t>
            </a:r>
            <a:r>
              <a:rPr lang="nl-NL" altLang="nl-NL" dirty="0"/>
              <a:t> </a:t>
            </a:r>
            <a:r>
              <a:rPr lang="nl-NL" altLang="nl-NL" dirty="0" err="1"/>
              <a:t>it</a:t>
            </a:r>
            <a:r>
              <a:rPr lang="nl-NL" altLang="nl-NL" dirty="0"/>
              <a:t> </a:t>
            </a:r>
            <a:r>
              <a:rPr lang="nl-NL" altLang="nl-NL" dirty="0" err="1"/>
              <a:t>usually</a:t>
            </a:r>
            <a:r>
              <a:rPr lang="nl-NL" altLang="nl-NL" dirty="0"/>
              <a:t> </a:t>
            </a:r>
            <a:r>
              <a:rPr lang="nl-NL" altLang="nl-NL" dirty="0" err="1"/>
              <a:t>goes</a:t>
            </a:r>
            <a:r>
              <a:rPr lang="nl-NL" altLang="nl-NL" dirty="0"/>
              <a:t> in</a:t>
            </a:r>
          </a:p>
        </p:txBody>
      </p:sp>
    </p:spTree>
    <p:extLst>
      <p:ext uri="{BB962C8B-B14F-4D97-AF65-F5344CB8AC3E}">
        <p14:creationId xmlns:p14="http://schemas.microsoft.com/office/powerpoint/2010/main" val="32630767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nl-NL"/>
              <a:t>Adverbs in front position</a:t>
            </a:r>
          </a:p>
        </p:txBody>
      </p:sp>
      <p:sp>
        <p:nvSpPr>
          <p:cNvPr id="10547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altLang="nl-NL" dirty="0" err="1"/>
              <a:t>Sentence</a:t>
            </a:r>
            <a:r>
              <a:rPr lang="nl-NL" altLang="nl-NL" dirty="0"/>
              <a:t> </a:t>
            </a:r>
            <a:r>
              <a:rPr lang="nl-NL" altLang="nl-NL" dirty="0" err="1"/>
              <a:t>adverbs</a:t>
            </a:r>
            <a:r>
              <a:rPr lang="nl-NL" altLang="nl-NL" dirty="0"/>
              <a:t> </a:t>
            </a:r>
            <a:r>
              <a:rPr lang="nl-NL" altLang="nl-NL" dirty="0" err="1"/>
              <a:t>often</a:t>
            </a:r>
            <a:r>
              <a:rPr lang="nl-NL" altLang="nl-NL" dirty="0"/>
              <a:t> go in front </a:t>
            </a:r>
            <a:r>
              <a:rPr lang="nl-NL" altLang="nl-NL" dirty="0" err="1"/>
              <a:t>position</a:t>
            </a:r>
            <a:endParaRPr lang="nl-NL" altLang="nl-NL" dirty="0"/>
          </a:p>
          <a:p>
            <a:pPr lvl="1"/>
            <a:r>
              <a:rPr lang="nl-NL" altLang="nl-NL" sz="2000" b="1" dirty="0" err="1"/>
              <a:t>Fortunately</a:t>
            </a:r>
            <a:r>
              <a:rPr lang="nl-NL" altLang="nl-NL" sz="2000" b="1" dirty="0"/>
              <a:t>, </a:t>
            </a:r>
            <a:r>
              <a:rPr lang="nl-NL" altLang="nl-NL" sz="2000" dirty="0"/>
              <a:t>no </a:t>
            </a:r>
            <a:r>
              <a:rPr lang="nl-NL" altLang="nl-NL" sz="2000" dirty="0" err="1"/>
              <a:t>one</a:t>
            </a:r>
            <a:r>
              <a:rPr lang="nl-NL" altLang="nl-NL" sz="2000" dirty="0"/>
              <a:t> was </a:t>
            </a:r>
            <a:r>
              <a:rPr lang="nl-NL" altLang="nl-NL" sz="2000" dirty="0" err="1"/>
              <a:t>hurt</a:t>
            </a:r>
            <a:r>
              <a:rPr lang="nl-NL" altLang="nl-NL" sz="2000" dirty="0"/>
              <a:t>.</a:t>
            </a:r>
          </a:p>
          <a:p>
            <a:endParaRPr lang="nl-NL" altLang="nl-NL" dirty="0"/>
          </a:p>
          <a:p>
            <a:r>
              <a:rPr lang="nl-NL" altLang="nl-NL" dirty="0" err="1"/>
              <a:t>They</a:t>
            </a:r>
            <a:r>
              <a:rPr lang="nl-NL" altLang="nl-NL" dirty="0"/>
              <a:t> </a:t>
            </a:r>
            <a:r>
              <a:rPr lang="nl-NL" altLang="nl-NL" dirty="0" err="1"/>
              <a:t>can</a:t>
            </a:r>
            <a:r>
              <a:rPr lang="nl-NL" altLang="nl-NL" dirty="0"/>
              <a:t> </a:t>
            </a:r>
            <a:r>
              <a:rPr lang="nl-NL" altLang="nl-NL" dirty="0" err="1"/>
              <a:t>be</a:t>
            </a:r>
            <a:r>
              <a:rPr lang="nl-NL" altLang="nl-NL" dirty="0"/>
              <a:t> </a:t>
            </a:r>
            <a:r>
              <a:rPr lang="nl-NL" altLang="nl-NL" dirty="0" err="1"/>
              <a:t>used</a:t>
            </a:r>
            <a:r>
              <a:rPr lang="nl-NL" altLang="nl-NL" dirty="0"/>
              <a:t> in </a:t>
            </a:r>
            <a:r>
              <a:rPr lang="nl-NL" altLang="nl-NL" dirty="0" err="1"/>
              <a:t>other</a:t>
            </a:r>
            <a:r>
              <a:rPr lang="nl-NL" altLang="nl-NL" dirty="0"/>
              <a:t> </a:t>
            </a:r>
            <a:r>
              <a:rPr lang="nl-NL" altLang="nl-NL" dirty="0" err="1"/>
              <a:t>positions</a:t>
            </a:r>
            <a:r>
              <a:rPr lang="nl-NL" altLang="nl-NL" dirty="0"/>
              <a:t> as well</a:t>
            </a:r>
          </a:p>
          <a:p>
            <a:pPr lvl="1"/>
            <a:r>
              <a:rPr lang="nl-NL" altLang="nl-NL" sz="2000" dirty="0" err="1"/>
              <a:t>They</a:t>
            </a:r>
            <a:r>
              <a:rPr lang="nl-NL" altLang="nl-NL" sz="2000" dirty="0"/>
              <a:t> </a:t>
            </a:r>
            <a:r>
              <a:rPr lang="nl-NL" altLang="nl-NL" sz="2000" dirty="0" err="1"/>
              <a:t>won’t</a:t>
            </a:r>
            <a:r>
              <a:rPr lang="nl-NL" altLang="nl-NL" sz="2000" dirty="0"/>
              <a:t> </a:t>
            </a:r>
            <a:r>
              <a:rPr lang="nl-NL" altLang="nl-NL" sz="2000" dirty="0" err="1"/>
              <a:t>be</a:t>
            </a:r>
            <a:r>
              <a:rPr lang="nl-NL" altLang="nl-NL" sz="2000" dirty="0"/>
              <a:t> </a:t>
            </a:r>
            <a:r>
              <a:rPr lang="nl-NL" altLang="nl-NL" sz="2000" dirty="0" err="1"/>
              <a:t>coming</a:t>
            </a:r>
            <a:r>
              <a:rPr lang="nl-NL" altLang="nl-NL" sz="2000" dirty="0"/>
              <a:t>, </a:t>
            </a:r>
            <a:r>
              <a:rPr lang="nl-NL" altLang="nl-NL" sz="2000" b="1" dirty="0"/>
              <a:t>of course.</a:t>
            </a:r>
            <a:endParaRPr lang="nl-NL" altLang="nl-NL" sz="2000" dirty="0"/>
          </a:p>
        </p:txBody>
      </p:sp>
    </p:spTree>
    <p:extLst>
      <p:ext uri="{BB962C8B-B14F-4D97-AF65-F5344CB8AC3E}">
        <p14:creationId xmlns:p14="http://schemas.microsoft.com/office/powerpoint/2010/main" val="3560873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nl-NL"/>
              <a:t>Adverbs in mid position</a:t>
            </a:r>
          </a:p>
        </p:txBody>
      </p:sp>
      <p:sp>
        <p:nvSpPr>
          <p:cNvPr id="106499" name="Content Placeholder 2"/>
          <p:cNvSpPr>
            <a:spLocks noGrp="1"/>
          </p:cNvSpPr>
          <p:nvPr>
            <p:ph idx="1"/>
          </p:nvPr>
        </p:nvSpPr>
        <p:spPr>
          <a:xfrm>
            <a:off x="880374" y="1844824"/>
            <a:ext cx="7543801" cy="4023360"/>
          </a:xfrm>
        </p:spPr>
        <p:txBody>
          <a:bodyPr>
            <a:normAutofit/>
          </a:bodyPr>
          <a:lstStyle/>
          <a:p>
            <a:r>
              <a:rPr lang="nl-NL" altLang="nl-NL" dirty="0" err="1"/>
              <a:t>Adverbs</a:t>
            </a:r>
            <a:r>
              <a:rPr lang="nl-NL" altLang="nl-NL" dirty="0"/>
              <a:t> of </a:t>
            </a:r>
            <a:r>
              <a:rPr lang="nl-NL" altLang="nl-NL" dirty="0" err="1"/>
              <a:t>frequency</a:t>
            </a:r>
            <a:r>
              <a:rPr lang="nl-NL" altLang="nl-NL" dirty="0"/>
              <a:t> </a:t>
            </a:r>
            <a:r>
              <a:rPr lang="nl-NL" altLang="nl-NL" dirty="0" err="1"/>
              <a:t>usually</a:t>
            </a:r>
            <a:r>
              <a:rPr lang="nl-NL" altLang="nl-NL" dirty="0"/>
              <a:t> go in </a:t>
            </a:r>
            <a:r>
              <a:rPr lang="nl-NL" altLang="nl-NL" dirty="0" err="1"/>
              <a:t>mid</a:t>
            </a:r>
            <a:r>
              <a:rPr lang="nl-NL" altLang="nl-NL" dirty="0"/>
              <a:t> </a:t>
            </a:r>
            <a:r>
              <a:rPr lang="nl-NL" altLang="nl-NL" dirty="0" err="1"/>
              <a:t>position</a:t>
            </a:r>
            <a:endParaRPr lang="nl-NL" altLang="nl-NL" dirty="0"/>
          </a:p>
          <a:p>
            <a:endParaRPr lang="nl-NL" altLang="nl-NL" dirty="0"/>
          </a:p>
          <a:p>
            <a:r>
              <a:rPr lang="nl-NL" altLang="nl-NL" dirty="0" err="1"/>
              <a:t>That</a:t>
            </a:r>
            <a:r>
              <a:rPr lang="nl-NL" altLang="nl-NL" dirty="0"/>
              <a:t> is </a:t>
            </a:r>
            <a:r>
              <a:rPr lang="nl-NL" altLang="nl-NL" dirty="0" err="1"/>
              <a:t>after</a:t>
            </a:r>
            <a:r>
              <a:rPr lang="nl-NL" altLang="nl-NL" dirty="0"/>
              <a:t> </a:t>
            </a:r>
            <a:r>
              <a:rPr lang="nl-NL" altLang="nl-NL" dirty="0" err="1"/>
              <a:t>the</a:t>
            </a:r>
            <a:r>
              <a:rPr lang="nl-NL" altLang="nl-NL" dirty="0"/>
              <a:t> first </a:t>
            </a:r>
            <a:r>
              <a:rPr lang="nl-NL" altLang="nl-NL" u="sng" dirty="0" err="1"/>
              <a:t>auxiliary</a:t>
            </a:r>
            <a:r>
              <a:rPr lang="nl-NL" altLang="nl-NL" dirty="0"/>
              <a:t> </a:t>
            </a:r>
            <a:r>
              <a:rPr lang="nl-NL" altLang="nl-NL" u="sng" dirty="0" err="1"/>
              <a:t>verb</a:t>
            </a:r>
            <a:r>
              <a:rPr lang="nl-NL" altLang="nl-NL" dirty="0"/>
              <a:t> </a:t>
            </a:r>
            <a:r>
              <a:rPr lang="nl-NL" altLang="nl-NL" dirty="0" err="1"/>
              <a:t>and</a:t>
            </a:r>
            <a:r>
              <a:rPr lang="nl-NL" altLang="nl-NL" dirty="0"/>
              <a:t>/or </a:t>
            </a:r>
            <a:r>
              <a:rPr lang="nl-NL" altLang="nl-NL" dirty="0" err="1"/>
              <a:t>before</a:t>
            </a:r>
            <a:r>
              <a:rPr lang="nl-NL" altLang="nl-NL" dirty="0"/>
              <a:t> </a:t>
            </a:r>
            <a:r>
              <a:rPr lang="nl-NL" altLang="nl-NL" dirty="0" err="1"/>
              <a:t>the</a:t>
            </a:r>
            <a:r>
              <a:rPr lang="nl-NL" altLang="nl-NL" u="sng" dirty="0"/>
              <a:t> </a:t>
            </a:r>
            <a:r>
              <a:rPr lang="nl-NL" altLang="nl-NL" u="sng" dirty="0" err="1"/>
              <a:t>main</a:t>
            </a:r>
            <a:r>
              <a:rPr lang="nl-NL" altLang="nl-NL" u="sng" dirty="0"/>
              <a:t> </a:t>
            </a:r>
            <a:r>
              <a:rPr lang="nl-NL" altLang="nl-NL" u="sng" dirty="0" err="1"/>
              <a:t>verb</a:t>
            </a:r>
            <a:endParaRPr lang="nl-NL" altLang="nl-NL" u="sng" dirty="0"/>
          </a:p>
          <a:p>
            <a:pPr lvl="1"/>
            <a:r>
              <a:rPr lang="nl-NL" altLang="nl-NL" sz="2000" dirty="0"/>
              <a:t>I have </a:t>
            </a:r>
            <a:r>
              <a:rPr lang="nl-NL" altLang="nl-NL" sz="2000" b="1" dirty="0" err="1"/>
              <a:t>often</a:t>
            </a:r>
            <a:r>
              <a:rPr lang="nl-NL" altLang="nl-NL" sz="2000" dirty="0"/>
              <a:t> </a:t>
            </a:r>
            <a:r>
              <a:rPr lang="nl-NL" altLang="nl-NL" sz="2000" dirty="0" err="1"/>
              <a:t>wondered</a:t>
            </a:r>
            <a:r>
              <a:rPr lang="nl-NL" altLang="nl-NL" sz="2000" dirty="0"/>
              <a:t> </a:t>
            </a:r>
            <a:r>
              <a:rPr lang="nl-NL" altLang="nl-NL" sz="2000" dirty="0" err="1"/>
              <a:t>about</a:t>
            </a:r>
            <a:r>
              <a:rPr lang="nl-NL" altLang="nl-NL" sz="2000" dirty="0"/>
              <a:t> </a:t>
            </a:r>
            <a:r>
              <a:rPr lang="nl-NL" altLang="nl-NL" sz="2000" dirty="0" err="1"/>
              <a:t>that</a:t>
            </a:r>
            <a:r>
              <a:rPr lang="nl-NL" altLang="nl-NL" sz="2000" dirty="0"/>
              <a:t>.</a:t>
            </a:r>
          </a:p>
          <a:p>
            <a:pPr lvl="1"/>
            <a:r>
              <a:rPr lang="nl-NL" altLang="nl-NL" sz="2000" dirty="0" err="1"/>
              <a:t>She</a:t>
            </a:r>
            <a:r>
              <a:rPr lang="nl-NL" altLang="nl-NL" sz="2000" dirty="0"/>
              <a:t> </a:t>
            </a:r>
            <a:r>
              <a:rPr lang="nl-NL" altLang="nl-NL" sz="2000" b="1" dirty="0" err="1"/>
              <a:t>always</a:t>
            </a:r>
            <a:r>
              <a:rPr lang="nl-NL" altLang="nl-NL" sz="2000" dirty="0"/>
              <a:t> </a:t>
            </a:r>
            <a:r>
              <a:rPr lang="nl-NL" altLang="nl-NL" sz="2000" dirty="0" err="1"/>
              <a:t>tries</a:t>
            </a:r>
            <a:r>
              <a:rPr lang="nl-NL" altLang="nl-NL" sz="2000" dirty="0"/>
              <a:t> </a:t>
            </a:r>
            <a:r>
              <a:rPr lang="nl-NL" altLang="nl-NL" sz="2000" dirty="0" err="1"/>
              <a:t>to</a:t>
            </a:r>
            <a:r>
              <a:rPr lang="nl-NL" altLang="nl-NL" sz="2000" dirty="0"/>
              <a:t> </a:t>
            </a:r>
            <a:r>
              <a:rPr lang="nl-NL" altLang="nl-NL" sz="2000" dirty="0" err="1"/>
              <a:t>outsmart</a:t>
            </a:r>
            <a:r>
              <a:rPr lang="nl-NL" altLang="nl-NL" sz="2000" dirty="0"/>
              <a:t> me.</a:t>
            </a:r>
          </a:p>
          <a:p>
            <a:r>
              <a:rPr lang="nl-NL" altLang="nl-NL" dirty="0" err="1"/>
              <a:t>If</a:t>
            </a:r>
            <a:r>
              <a:rPr lang="nl-NL" altLang="nl-NL" dirty="0"/>
              <a:t> </a:t>
            </a:r>
            <a:r>
              <a:rPr lang="nl-NL" altLang="nl-NL" dirty="0" err="1"/>
              <a:t>the</a:t>
            </a:r>
            <a:r>
              <a:rPr lang="nl-NL" altLang="nl-NL" dirty="0"/>
              <a:t> </a:t>
            </a:r>
            <a:r>
              <a:rPr lang="nl-NL" altLang="nl-NL" dirty="0" err="1"/>
              <a:t>main</a:t>
            </a:r>
            <a:r>
              <a:rPr lang="nl-NL" altLang="nl-NL" dirty="0"/>
              <a:t> </a:t>
            </a:r>
            <a:r>
              <a:rPr lang="nl-NL" altLang="nl-NL" dirty="0" err="1"/>
              <a:t>verb</a:t>
            </a:r>
            <a:r>
              <a:rPr lang="nl-NL" altLang="nl-NL" dirty="0"/>
              <a:t> is a form of BE </a:t>
            </a:r>
            <a:r>
              <a:rPr lang="nl-NL" altLang="nl-NL" dirty="0" err="1"/>
              <a:t>the</a:t>
            </a:r>
            <a:r>
              <a:rPr lang="nl-NL" altLang="nl-NL" dirty="0"/>
              <a:t> </a:t>
            </a:r>
            <a:r>
              <a:rPr lang="nl-NL" altLang="nl-NL" dirty="0" err="1"/>
              <a:t>adverb</a:t>
            </a:r>
            <a:r>
              <a:rPr lang="nl-NL" altLang="nl-NL" dirty="0"/>
              <a:t> of </a:t>
            </a:r>
            <a:r>
              <a:rPr lang="nl-NL" altLang="nl-NL" dirty="0" err="1"/>
              <a:t>frequency</a:t>
            </a:r>
            <a:r>
              <a:rPr lang="nl-NL" altLang="nl-NL" dirty="0"/>
              <a:t> </a:t>
            </a:r>
            <a:r>
              <a:rPr lang="nl-NL" altLang="nl-NL" dirty="0" err="1"/>
              <a:t>follows</a:t>
            </a:r>
            <a:r>
              <a:rPr lang="nl-NL" altLang="nl-NL" dirty="0"/>
              <a:t> </a:t>
            </a:r>
            <a:r>
              <a:rPr lang="nl-NL" altLang="nl-NL" dirty="0" err="1"/>
              <a:t>it</a:t>
            </a:r>
            <a:endParaRPr lang="nl-NL" altLang="nl-NL" dirty="0"/>
          </a:p>
          <a:p>
            <a:pPr lvl="1"/>
            <a:r>
              <a:rPr lang="nl-NL" altLang="nl-NL" sz="2000" dirty="0" err="1"/>
              <a:t>They</a:t>
            </a:r>
            <a:r>
              <a:rPr lang="nl-NL" altLang="nl-NL" sz="2000" dirty="0"/>
              <a:t> are </a:t>
            </a:r>
            <a:r>
              <a:rPr lang="nl-NL" altLang="nl-NL" sz="2000" b="1" dirty="0"/>
              <a:t>never </a:t>
            </a:r>
            <a:r>
              <a:rPr lang="nl-NL" altLang="nl-NL" sz="2000" dirty="0"/>
              <a:t>late.</a:t>
            </a:r>
          </a:p>
          <a:p>
            <a:r>
              <a:rPr lang="nl-NL" altLang="nl-NL" dirty="0" err="1"/>
              <a:t>Some</a:t>
            </a:r>
            <a:r>
              <a:rPr lang="nl-NL" altLang="nl-NL" dirty="0"/>
              <a:t> </a:t>
            </a:r>
            <a:r>
              <a:rPr lang="nl-NL" altLang="nl-NL" dirty="0" err="1"/>
              <a:t>adverbs</a:t>
            </a:r>
            <a:r>
              <a:rPr lang="nl-NL" altLang="nl-NL" dirty="0"/>
              <a:t> of </a:t>
            </a:r>
            <a:r>
              <a:rPr lang="nl-NL" altLang="nl-NL" dirty="0" err="1"/>
              <a:t>frequency</a:t>
            </a:r>
            <a:r>
              <a:rPr lang="nl-NL" altLang="nl-NL" dirty="0"/>
              <a:t> </a:t>
            </a:r>
            <a:r>
              <a:rPr lang="nl-NL" altLang="nl-NL" dirty="0" err="1"/>
              <a:t>can</a:t>
            </a:r>
            <a:r>
              <a:rPr lang="nl-NL" altLang="nl-NL" dirty="0"/>
              <a:t> go in front or end </a:t>
            </a:r>
            <a:r>
              <a:rPr lang="nl-NL" altLang="nl-NL" dirty="0" err="1"/>
              <a:t>position</a:t>
            </a:r>
            <a:endParaRPr lang="nl-NL" altLang="nl-NL" dirty="0"/>
          </a:p>
          <a:p>
            <a:pPr lvl="1"/>
            <a:r>
              <a:rPr lang="nl-NL" altLang="nl-NL" sz="2000" dirty="0"/>
              <a:t>I have </a:t>
            </a:r>
            <a:r>
              <a:rPr lang="nl-NL" altLang="nl-NL" sz="2000" dirty="0" err="1"/>
              <a:t>problems</a:t>
            </a:r>
            <a:r>
              <a:rPr lang="nl-NL" altLang="nl-NL" sz="2000" dirty="0"/>
              <a:t> </a:t>
            </a:r>
            <a:r>
              <a:rPr lang="nl-NL" altLang="nl-NL" sz="2000" b="1" dirty="0" err="1"/>
              <a:t>sometimes</a:t>
            </a:r>
            <a:r>
              <a:rPr lang="nl-NL" altLang="nl-NL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7858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nl-NL"/>
              <a:t>Adverbs in end position</a:t>
            </a:r>
          </a:p>
        </p:txBody>
      </p:sp>
      <p:sp>
        <p:nvSpPr>
          <p:cNvPr id="1075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altLang="nl-NL" dirty="0" err="1"/>
              <a:t>Adverbs</a:t>
            </a:r>
            <a:r>
              <a:rPr lang="nl-NL" altLang="nl-NL" dirty="0"/>
              <a:t> of </a:t>
            </a:r>
            <a:r>
              <a:rPr lang="nl-NL" altLang="nl-NL" u="sng" dirty="0" err="1"/>
              <a:t>manner</a:t>
            </a:r>
            <a:r>
              <a:rPr lang="nl-NL" altLang="nl-NL" u="sng" dirty="0"/>
              <a:t>, </a:t>
            </a:r>
            <a:r>
              <a:rPr lang="nl-NL" altLang="nl-NL" u="sng" dirty="0" err="1"/>
              <a:t>place</a:t>
            </a:r>
            <a:r>
              <a:rPr lang="nl-NL" altLang="nl-NL" u="sng" dirty="0"/>
              <a:t>, </a:t>
            </a:r>
            <a:r>
              <a:rPr lang="nl-NL" altLang="nl-NL" u="sng" dirty="0" err="1"/>
              <a:t>and</a:t>
            </a:r>
            <a:r>
              <a:rPr lang="nl-NL" altLang="nl-NL" u="sng" dirty="0"/>
              <a:t> time </a:t>
            </a:r>
            <a:r>
              <a:rPr lang="nl-NL" altLang="nl-NL" dirty="0" err="1"/>
              <a:t>usually</a:t>
            </a:r>
            <a:r>
              <a:rPr lang="nl-NL" altLang="nl-NL" dirty="0"/>
              <a:t> go in end </a:t>
            </a:r>
            <a:r>
              <a:rPr lang="nl-NL" altLang="nl-NL" dirty="0" err="1"/>
              <a:t>position</a:t>
            </a:r>
            <a:r>
              <a:rPr lang="nl-NL" altLang="nl-NL" dirty="0"/>
              <a:t>.</a:t>
            </a:r>
          </a:p>
          <a:p>
            <a:pPr lvl="1"/>
            <a:r>
              <a:rPr lang="nl-NL" altLang="nl-NL" dirty="0"/>
              <a:t>He </a:t>
            </a:r>
            <a:r>
              <a:rPr lang="nl-NL" altLang="nl-NL" dirty="0" err="1"/>
              <a:t>finished</a:t>
            </a:r>
            <a:r>
              <a:rPr lang="nl-NL" altLang="nl-NL" dirty="0"/>
              <a:t> his </a:t>
            </a:r>
            <a:r>
              <a:rPr lang="nl-NL" altLang="nl-NL" dirty="0" err="1"/>
              <a:t>chores</a:t>
            </a:r>
            <a:r>
              <a:rPr lang="nl-NL" altLang="nl-NL" dirty="0"/>
              <a:t> </a:t>
            </a:r>
            <a:r>
              <a:rPr lang="nl-NL" altLang="nl-NL" b="1" dirty="0" err="1"/>
              <a:t>quickly</a:t>
            </a:r>
            <a:r>
              <a:rPr lang="nl-NL" altLang="nl-NL" b="1" dirty="0"/>
              <a:t>.</a:t>
            </a:r>
          </a:p>
          <a:p>
            <a:pPr lvl="1"/>
            <a:r>
              <a:rPr lang="nl-NL" altLang="nl-NL" dirty="0" err="1"/>
              <a:t>We’ll</a:t>
            </a:r>
            <a:r>
              <a:rPr lang="nl-NL" altLang="nl-NL" dirty="0"/>
              <a:t> meet </a:t>
            </a:r>
            <a:r>
              <a:rPr lang="nl-NL" altLang="nl-NL" dirty="0" err="1"/>
              <a:t>you</a:t>
            </a:r>
            <a:r>
              <a:rPr lang="nl-NL" altLang="nl-NL" dirty="0"/>
              <a:t> </a:t>
            </a:r>
            <a:r>
              <a:rPr lang="nl-NL" altLang="nl-NL" b="1" dirty="0" err="1"/>
              <a:t>there</a:t>
            </a:r>
            <a:r>
              <a:rPr lang="nl-NL" altLang="nl-NL" b="1" dirty="0"/>
              <a:t>.</a:t>
            </a:r>
            <a:endParaRPr lang="nl-NL" altLang="nl-NL" dirty="0"/>
          </a:p>
          <a:p>
            <a:pPr lvl="1"/>
            <a:r>
              <a:rPr lang="nl-NL" altLang="nl-NL" dirty="0" err="1"/>
              <a:t>I’ll</a:t>
            </a:r>
            <a:r>
              <a:rPr lang="nl-NL" altLang="nl-NL" dirty="0"/>
              <a:t> </a:t>
            </a:r>
            <a:r>
              <a:rPr lang="nl-NL" altLang="nl-NL" dirty="0" err="1"/>
              <a:t>see</a:t>
            </a:r>
            <a:r>
              <a:rPr lang="nl-NL" altLang="nl-NL" dirty="0"/>
              <a:t> </a:t>
            </a:r>
            <a:r>
              <a:rPr lang="nl-NL" altLang="nl-NL" dirty="0" err="1"/>
              <a:t>you</a:t>
            </a:r>
            <a:r>
              <a:rPr lang="nl-NL" altLang="nl-NL" dirty="0"/>
              <a:t> </a:t>
            </a:r>
            <a:r>
              <a:rPr lang="nl-NL" altLang="nl-NL" b="1" dirty="0" err="1"/>
              <a:t>tomorrow</a:t>
            </a:r>
            <a:r>
              <a:rPr lang="nl-NL" altLang="nl-NL" b="1" dirty="0"/>
              <a:t>.</a:t>
            </a:r>
          </a:p>
          <a:p>
            <a:endParaRPr lang="nl-NL" altLang="nl-NL" dirty="0"/>
          </a:p>
          <a:p>
            <a:r>
              <a:rPr lang="nl-NL" altLang="nl-NL" dirty="0" err="1"/>
              <a:t>If</a:t>
            </a:r>
            <a:r>
              <a:rPr lang="nl-NL" altLang="nl-NL" dirty="0"/>
              <a:t> more </a:t>
            </a:r>
            <a:r>
              <a:rPr lang="nl-NL" altLang="nl-NL" dirty="0" err="1"/>
              <a:t>than</a:t>
            </a:r>
            <a:r>
              <a:rPr lang="nl-NL" altLang="nl-NL" dirty="0"/>
              <a:t> </a:t>
            </a:r>
            <a:r>
              <a:rPr lang="nl-NL" altLang="nl-NL" dirty="0" err="1"/>
              <a:t>one</a:t>
            </a:r>
            <a:r>
              <a:rPr lang="nl-NL" altLang="nl-NL" dirty="0"/>
              <a:t> is </a:t>
            </a:r>
            <a:r>
              <a:rPr lang="nl-NL" altLang="nl-NL" dirty="0" err="1"/>
              <a:t>used</a:t>
            </a:r>
            <a:r>
              <a:rPr lang="nl-NL" altLang="nl-NL" dirty="0"/>
              <a:t>, </a:t>
            </a:r>
            <a:r>
              <a:rPr lang="nl-NL" altLang="nl-NL" dirty="0" err="1"/>
              <a:t>the</a:t>
            </a:r>
            <a:r>
              <a:rPr lang="nl-NL" altLang="nl-NL" dirty="0"/>
              <a:t> most common order is </a:t>
            </a:r>
            <a:r>
              <a:rPr lang="nl-NL" altLang="nl-NL" b="1" dirty="0" err="1">
                <a:solidFill>
                  <a:srgbClr val="FF9900"/>
                </a:solidFill>
              </a:rPr>
              <a:t>manner</a:t>
            </a:r>
            <a:r>
              <a:rPr lang="nl-NL" altLang="nl-NL" dirty="0"/>
              <a:t>, </a:t>
            </a:r>
            <a:r>
              <a:rPr lang="nl-NL" altLang="nl-NL" dirty="0" err="1"/>
              <a:t>then</a:t>
            </a:r>
            <a:r>
              <a:rPr lang="nl-NL" altLang="nl-NL" dirty="0"/>
              <a:t> </a:t>
            </a:r>
            <a:r>
              <a:rPr lang="nl-NL" altLang="nl-NL" dirty="0" err="1">
                <a:solidFill>
                  <a:srgbClr val="00B050"/>
                </a:solidFill>
              </a:rPr>
              <a:t>place</a:t>
            </a:r>
            <a:r>
              <a:rPr lang="nl-NL" altLang="nl-NL" dirty="0"/>
              <a:t>, </a:t>
            </a:r>
            <a:r>
              <a:rPr lang="nl-NL" altLang="nl-NL" dirty="0" err="1"/>
              <a:t>then</a:t>
            </a:r>
            <a:r>
              <a:rPr lang="nl-NL" altLang="nl-NL" dirty="0"/>
              <a:t> time</a:t>
            </a:r>
          </a:p>
          <a:p>
            <a:pPr lvl="1"/>
            <a:r>
              <a:rPr lang="nl-NL" altLang="nl-NL" dirty="0"/>
              <a:t>We </a:t>
            </a:r>
            <a:r>
              <a:rPr lang="nl-NL" altLang="nl-NL" dirty="0" err="1"/>
              <a:t>cleaned</a:t>
            </a:r>
            <a:r>
              <a:rPr lang="nl-NL" altLang="nl-NL" dirty="0"/>
              <a:t> </a:t>
            </a:r>
            <a:r>
              <a:rPr lang="nl-NL" altLang="nl-NL" b="1" dirty="0" err="1">
                <a:solidFill>
                  <a:srgbClr val="FF9900"/>
                </a:solidFill>
              </a:rPr>
              <a:t>thoroughly</a:t>
            </a:r>
            <a:r>
              <a:rPr lang="nl-NL" altLang="nl-NL" b="1" dirty="0"/>
              <a:t> </a:t>
            </a:r>
            <a:r>
              <a:rPr lang="nl-NL" altLang="nl-NL" b="1" dirty="0">
                <a:solidFill>
                  <a:srgbClr val="00B050"/>
                </a:solidFill>
              </a:rPr>
              <a:t>here</a:t>
            </a:r>
            <a:r>
              <a:rPr lang="nl-NL" altLang="nl-NL" b="1" dirty="0"/>
              <a:t> </a:t>
            </a:r>
            <a:r>
              <a:rPr lang="nl-NL" altLang="nl-NL" b="1" dirty="0" err="1">
                <a:solidFill>
                  <a:srgbClr val="0070C0"/>
                </a:solidFill>
              </a:rPr>
              <a:t>yesterday</a:t>
            </a:r>
            <a:r>
              <a:rPr lang="nl-NL" altLang="nl-NL" b="1" dirty="0"/>
              <a:t>.</a:t>
            </a:r>
          </a:p>
          <a:p>
            <a:r>
              <a:rPr lang="nl-NL" altLang="nl-NL" dirty="0" err="1"/>
              <a:t>All</a:t>
            </a:r>
            <a:r>
              <a:rPr lang="nl-NL" altLang="nl-NL" dirty="0"/>
              <a:t> </a:t>
            </a:r>
            <a:r>
              <a:rPr lang="nl-NL" altLang="nl-NL" dirty="0" err="1"/>
              <a:t>three</a:t>
            </a:r>
            <a:r>
              <a:rPr lang="nl-NL" altLang="nl-NL" dirty="0"/>
              <a:t> </a:t>
            </a:r>
            <a:r>
              <a:rPr lang="nl-NL" altLang="nl-NL" dirty="0" err="1"/>
              <a:t>can</a:t>
            </a:r>
            <a:r>
              <a:rPr lang="nl-NL" altLang="nl-NL" dirty="0"/>
              <a:t> </a:t>
            </a:r>
            <a:r>
              <a:rPr lang="nl-NL" altLang="nl-NL" dirty="0" err="1"/>
              <a:t>be</a:t>
            </a:r>
            <a:r>
              <a:rPr lang="nl-NL" altLang="nl-NL" dirty="0"/>
              <a:t> </a:t>
            </a:r>
            <a:r>
              <a:rPr lang="nl-NL" altLang="nl-NL" dirty="0" err="1"/>
              <a:t>used</a:t>
            </a:r>
            <a:r>
              <a:rPr lang="nl-NL" altLang="nl-NL" dirty="0"/>
              <a:t> in front </a:t>
            </a:r>
            <a:r>
              <a:rPr lang="nl-NL" altLang="nl-NL" dirty="0" err="1"/>
              <a:t>position</a:t>
            </a:r>
            <a:r>
              <a:rPr lang="nl-NL" altLang="nl-NL" dirty="0"/>
              <a:t> </a:t>
            </a:r>
            <a:r>
              <a:rPr lang="nl-NL" altLang="nl-NL" u="sng" dirty="0"/>
              <a:t>(</a:t>
            </a:r>
            <a:r>
              <a:rPr lang="nl-NL" altLang="nl-NL" u="sng" dirty="0" err="1"/>
              <a:t>with</a:t>
            </a:r>
            <a:r>
              <a:rPr lang="nl-NL" altLang="nl-NL" u="sng" dirty="0"/>
              <a:t> extra </a:t>
            </a:r>
            <a:r>
              <a:rPr lang="nl-NL" altLang="nl-NL" u="sng" dirty="0" err="1"/>
              <a:t>emphasis</a:t>
            </a:r>
            <a:r>
              <a:rPr lang="nl-NL" altLang="nl-NL" dirty="0"/>
              <a:t>) </a:t>
            </a:r>
            <a:r>
              <a:rPr lang="nl-NL" altLang="nl-NL" dirty="0" err="1"/>
              <a:t>and</a:t>
            </a:r>
            <a:r>
              <a:rPr lang="nl-NL" altLang="nl-NL" dirty="0"/>
              <a:t> </a:t>
            </a:r>
            <a:r>
              <a:rPr lang="nl-NL" altLang="nl-NL" dirty="0" err="1"/>
              <a:t>adverbs</a:t>
            </a:r>
            <a:r>
              <a:rPr lang="nl-NL" altLang="nl-NL" dirty="0"/>
              <a:t> of </a:t>
            </a:r>
            <a:r>
              <a:rPr lang="nl-NL" altLang="nl-NL" dirty="0" err="1"/>
              <a:t>manner</a:t>
            </a:r>
            <a:r>
              <a:rPr lang="nl-NL" altLang="nl-NL" dirty="0"/>
              <a:t> </a:t>
            </a:r>
            <a:r>
              <a:rPr lang="nl-NL" altLang="nl-NL" dirty="0" err="1"/>
              <a:t>can</a:t>
            </a:r>
            <a:r>
              <a:rPr lang="nl-NL" altLang="nl-NL" dirty="0"/>
              <a:t> go in </a:t>
            </a:r>
            <a:r>
              <a:rPr lang="nl-NL" altLang="nl-NL" dirty="0" err="1"/>
              <a:t>mid</a:t>
            </a:r>
            <a:r>
              <a:rPr lang="nl-NL" altLang="nl-NL" dirty="0"/>
              <a:t> </a:t>
            </a:r>
            <a:r>
              <a:rPr lang="nl-NL" altLang="nl-NL" dirty="0" err="1"/>
              <a:t>position</a:t>
            </a:r>
            <a:endParaRPr lang="nl-NL" altLang="nl-NL" dirty="0"/>
          </a:p>
          <a:p>
            <a:pPr lvl="1"/>
            <a:endParaRPr lang="nl-NL" altLang="nl-NL" b="1" dirty="0"/>
          </a:p>
          <a:p>
            <a:pPr lvl="1"/>
            <a:endParaRPr lang="nl-NL" altLang="nl-NL" b="1" dirty="0"/>
          </a:p>
          <a:p>
            <a:pPr lvl="1"/>
            <a:endParaRPr lang="nl-NL" altLang="nl-NL" dirty="0"/>
          </a:p>
        </p:txBody>
      </p:sp>
    </p:spTree>
    <p:extLst>
      <p:ext uri="{BB962C8B-B14F-4D97-AF65-F5344CB8AC3E}">
        <p14:creationId xmlns:p14="http://schemas.microsoft.com/office/powerpoint/2010/main" val="1493497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Dutch vs. English </a:t>
            </a:r>
          </a:p>
        </p:txBody>
      </p:sp>
      <p:sp>
        <p:nvSpPr>
          <p:cNvPr id="108547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Unlike Dutch an adverb cannot go between the verb and the direct object</a:t>
            </a:r>
          </a:p>
          <a:p>
            <a:pPr lvl="1"/>
            <a:r>
              <a:rPr lang="en-US" altLang="en-US"/>
              <a:t>Hij verliet boos de kamer. </a:t>
            </a:r>
          </a:p>
          <a:p>
            <a:pPr lvl="1"/>
            <a:r>
              <a:rPr lang="en-US" altLang="en-US" i="1"/>
              <a:t>*He left angrily the room. </a:t>
            </a:r>
          </a:p>
          <a:p>
            <a:pPr lvl="1"/>
            <a:endParaRPr lang="en-US" altLang="en-US" i="1"/>
          </a:p>
          <a:p>
            <a:pPr lvl="1"/>
            <a:r>
              <a:rPr lang="en-US" altLang="en-US" i="1"/>
              <a:t>He angrily left the room. </a:t>
            </a:r>
            <a:endParaRPr lang="en-US" altLang="en-US"/>
          </a:p>
          <a:p>
            <a:pPr lvl="1"/>
            <a:r>
              <a:rPr lang="en-US" altLang="en-US"/>
              <a:t>*Hij boos verliet de kamer. </a:t>
            </a:r>
          </a:p>
        </p:txBody>
      </p:sp>
    </p:spTree>
    <p:extLst>
      <p:ext uri="{BB962C8B-B14F-4D97-AF65-F5344CB8AC3E}">
        <p14:creationId xmlns:p14="http://schemas.microsoft.com/office/powerpoint/2010/main" val="1915126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nl-NL"/>
              <a:t>Final note</a:t>
            </a:r>
          </a:p>
        </p:txBody>
      </p:sp>
      <p:sp>
        <p:nvSpPr>
          <p:cNvPr id="1105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altLang="nl-NL" dirty="0" err="1"/>
              <a:t>All</a:t>
            </a:r>
            <a:r>
              <a:rPr lang="nl-NL" altLang="nl-NL" dirty="0"/>
              <a:t> of </a:t>
            </a:r>
            <a:r>
              <a:rPr lang="nl-NL" altLang="nl-NL" dirty="0" err="1"/>
              <a:t>the</a:t>
            </a:r>
            <a:r>
              <a:rPr lang="nl-NL" altLang="nl-NL" dirty="0"/>
              <a:t> information </a:t>
            </a:r>
            <a:r>
              <a:rPr lang="nl-NL" altLang="nl-NL" dirty="0" err="1"/>
              <a:t>about</a:t>
            </a:r>
            <a:r>
              <a:rPr lang="nl-NL" altLang="nl-NL" dirty="0"/>
              <a:t> </a:t>
            </a:r>
            <a:r>
              <a:rPr lang="nl-NL" altLang="nl-NL" dirty="0" err="1"/>
              <a:t>the</a:t>
            </a:r>
            <a:r>
              <a:rPr lang="nl-NL" altLang="nl-NL" dirty="0"/>
              <a:t> order of </a:t>
            </a:r>
            <a:r>
              <a:rPr lang="nl-NL" altLang="nl-NL" dirty="0" err="1"/>
              <a:t>adverbs</a:t>
            </a:r>
            <a:r>
              <a:rPr lang="nl-NL" altLang="nl-NL" dirty="0"/>
              <a:t> </a:t>
            </a:r>
            <a:r>
              <a:rPr lang="nl-NL" altLang="nl-NL" dirty="0" err="1"/>
              <a:t>also</a:t>
            </a:r>
            <a:r>
              <a:rPr lang="nl-NL" altLang="nl-NL" dirty="0"/>
              <a:t> </a:t>
            </a:r>
            <a:r>
              <a:rPr lang="nl-NL" altLang="nl-NL" dirty="0" err="1"/>
              <a:t>applies</a:t>
            </a:r>
            <a:r>
              <a:rPr lang="nl-NL" altLang="nl-NL" dirty="0"/>
              <a:t> </a:t>
            </a:r>
            <a:r>
              <a:rPr lang="nl-NL" altLang="nl-NL" dirty="0" err="1"/>
              <a:t>to</a:t>
            </a:r>
            <a:r>
              <a:rPr lang="nl-NL" altLang="nl-NL" dirty="0"/>
              <a:t> </a:t>
            </a:r>
            <a:r>
              <a:rPr lang="nl-NL" altLang="nl-NL" dirty="0" err="1"/>
              <a:t>adverbials</a:t>
            </a:r>
            <a:endParaRPr lang="nl-NL" altLang="nl-NL" dirty="0"/>
          </a:p>
          <a:p>
            <a:pPr lvl="1"/>
            <a:r>
              <a:rPr lang="nl-NL" altLang="nl-NL" dirty="0" err="1"/>
              <a:t>They</a:t>
            </a:r>
            <a:r>
              <a:rPr lang="nl-NL" altLang="nl-NL" dirty="0"/>
              <a:t> </a:t>
            </a:r>
            <a:r>
              <a:rPr lang="nl-NL" altLang="nl-NL" dirty="0" err="1"/>
              <a:t>arrived</a:t>
            </a:r>
            <a:r>
              <a:rPr lang="nl-NL" altLang="nl-NL" dirty="0"/>
              <a:t> </a:t>
            </a:r>
            <a:r>
              <a:rPr lang="nl-NL" altLang="nl-NL" b="1" dirty="0"/>
              <a:t>in a </a:t>
            </a:r>
            <a:r>
              <a:rPr lang="nl-NL" altLang="nl-NL" b="1" dirty="0" err="1"/>
              <a:t>hurry</a:t>
            </a:r>
            <a:r>
              <a:rPr lang="nl-NL" altLang="nl-NL" b="1" dirty="0"/>
              <a:t> at </a:t>
            </a:r>
            <a:r>
              <a:rPr lang="nl-NL" altLang="nl-NL" b="1" dirty="0" err="1"/>
              <a:t>the</a:t>
            </a:r>
            <a:r>
              <a:rPr lang="nl-NL" altLang="nl-NL" b="1" dirty="0"/>
              <a:t> airport </a:t>
            </a:r>
            <a:r>
              <a:rPr lang="nl-NL" altLang="nl-NL" b="1" dirty="0" err="1"/>
              <a:t>this</a:t>
            </a:r>
            <a:r>
              <a:rPr lang="nl-NL" altLang="nl-NL" b="1" dirty="0"/>
              <a:t> </a:t>
            </a:r>
            <a:r>
              <a:rPr lang="nl-NL" altLang="nl-NL" b="1" dirty="0" err="1"/>
              <a:t>morning</a:t>
            </a:r>
            <a:r>
              <a:rPr lang="nl-NL" altLang="nl-NL" b="1" dirty="0"/>
              <a:t>.</a:t>
            </a:r>
          </a:p>
          <a:p>
            <a:pPr lvl="1"/>
            <a:r>
              <a:rPr lang="nl-NL" altLang="nl-NL" b="1" dirty="0"/>
              <a:t>in a </a:t>
            </a:r>
            <a:r>
              <a:rPr lang="nl-NL" altLang="nl-NL" b="1" dirty="0" err="1"/>
              <a:t>hurry</a:t>
            </a:r>
            <a:r>
              <a:rPr lang="nl-NL" altLang="nl-NL" b="1" dirty="0"/>
              <a:t> </a:t>
            </a:r>
            <a:r>
              <a:rPr lang="nl-NL" altLang="nl-NL" dirty="0"/>
              <a:t>= </a:t>
            </a:r>
            <a:r>
              <a:rPr lang="nl-NL" altLang="nl-NL" dirty="0" err="1"/>
              <a:t>adverbial</a:t>
            </a:r>
            <a:r>
              <a:rPr lang="nl-NL" altLang="nl-NL" dirty="0"/>
              <a:t> of </a:t>
            </a:r>
            <a:r>
              <a:rPr lang="nl-NL" altLang="nl-NL" dirty="0" err="1"/>
              <a:t>manner</a:t>
            </a:r>
            <a:endParaRPr lang="nl-NL" altLang="nl-NL" dirty="0"/>
          </a:p>
          <a:p>
            <a:pPr lvl="1"/>
            <a:r>
              <a:rPr lang="nl-NL" altLang="nl-NL" b="1" dirty="0"/>
              <a:t>at </a:t>
            </a:r>
            <a:r>
              <a:rPr lang="nl-NL" altLang="nl-NL" b="1" dirty="0" err="1"/>
              <a:t>the</a:t>
            </a:r>
            <a:r>
              <a:rPr lang="nl-NL" altLang="nl-NL" b="1" dirty="0"/>
              <a:t> airport </a:t>
            </a:r>
            <a:r>
              <a:rPr lang="nl-NL" altLang="nl-NL" dirty="0"/>
              <a:t>= </a:t>
            </a:r>
            <a:r>
              <a:rPr lang="nl-NL" altLang="nl-NL" dirty="0" err="1"/>
              <a:t>adverbial</a:t>
            </a:r>
            <a:r>
              <a:rPr lang="nl-NL" altLang="nl-NL" dirty="0"/>
              <a:t> of </a:t>
            </a:r>
            <a:r>
              <a:rPr lang="nl-NL" altLang="nl-NL" dirty="0" err="1"/>
              <a:t>place</a:t>
            </a:r>
            <a:endParaRPr lang="nl-NL" altLang="nl-NL" dirty="0"/>
          </a:p>
          <a:p>
            <a:pPr lvl="1"/>
            <a:r>
              <a:rPr lang="nl-NL" altLang="nl-NL" b="1" dirty="0" err="1"/>
              <a:t>this</a:t>
            </a:r>
            <a:r>
              <a:rPr lang="nl-NL" altLang="nl-NL" b="1" dirty="0"/>
              <a:t> </a:t>
            </a:r>
            <a:r>
              <a:rPr lang="nl-NL" altLang="nl-NL" b="1" dirty="0" err="1"/>
              <a:t>morning</a:t>
            </a:r>
            <a:r>
              <a:rPr lang="nl-NL" altLang="nl-NL" b="1" dirty="0"/>
              <a:t> </a:t>
            </a:r>
            <a:r>
              <a:rPr lang="nl-NL" altLang="nl-NL" dirty="0"/>
              <a:t>= </a:t>
            </a:r>
            <a:r>
              <a:rPr lang="nl-NL" altLang="nl-NL" dirty="0" err="1"/>
              <a:t>adverbial</a:t>
            </a:r>
            <a:r>
              <a:rPr lang="nl-NL" altLang="nl-NL" dirty="0"/>
              <a:t> of time</a:t>
            </a:r>
            <a:endParaRPr lang="nl-NL" altLang="nl-NL" b="1" dirty="0"/>
          </a:p>
        </p:txBody>
      </p:sp>
    </p:spTree>
    <p:extLst>
      <p:ext uri="{BB962C8B-B14F-4D97-AF65-F5344CB8AC3E}">
        <p14:creationId xmlns:p14="http://schemas.microsoft.com/office/powerpoint/2010/main" val="3423397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557E-96A8-DA53-481E-2646C85CE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Preparation for the Workshop/</a:t>
            </a:r>
            <a:r>
              <a:rPr lang="en-GB" dirty="0" err="1"/>
              <a:t>Leerplein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93793-2604-01A7-321C-24F1ED278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Go to the Formative Test answers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Check if you understand what went wrong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Identify any answers that you have further questions about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Then practice today’s or last week’s topic and see if you have any follow up questions.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Note</a:t>
            </a:r>
            <a:r>
              <a:rPr lang="en-GB" dirty="0"/>
              <a:t>: You don’t have to stay for the whole </a:t>
            </a:r>
            <a:r>
              <a:rPr lang="en-GB" dirty="0" err="1"/>
              <a:t>Leerplein</a:t>
            </a:r>
            <a:r>
              <a:rPr lang="en-GB" dirty="0"/>
              <a:t> if that doesn’t work for you.</a:t>
            </a:r>
          </a:p>
        </p:txBody>
      </p:sp>
    </p:spTree>
    <p:extLst>
      <p:ext uri="{BB962C8B-B14F-4D97-AF65-F5344CB8AC3E}">
        <p14:creationId xmlns:p14="http://schemas.microsoft.com/office/powerpoint/2010/main" val="350570773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2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3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4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5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6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7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8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9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10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11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12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13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14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15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16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17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18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19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20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21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22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23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24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25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26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27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28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29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30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31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32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33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34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35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36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7C217F3DDE15439660C8A0FD095BFF" ma:contentTypeVersion="0" ma:contentTypeDescription="Create a new document." ma:contentTypeScope="" ma:versionID="178f27c8fb24e2f942a45cfe98f3550d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4BD2CB-0752-4899-AB4C-957BE9E895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158F8C35-1BF6-48A4-9AD1-A2125A793F0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39EE48E-5F96-4513-B66C-76E5825B69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1545</TotalTime>
  <Words>1463</Words>
  <Application>Microsoft Office PowerPoint</Application>
  <PresentationFormat>On-screen Show (4:3)</PresentationFormat>
  <Paragraphs>294</Paragraphs>
  <Slides>38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Courier New</vt:lpstr>
      <vt:lpstr>Wingdings</vt:lpstr>
      <vt:lpstr>Retrospect</vt:lpstr>
      <vt:lpstr>Grammar &amp; Basics</vt:lpstr>
      <vt:lpstr>PowerPoint Presentation</vt:lpstr>
      <vt:lpstr>PowerPoint Presentation</vt:lpstr>
      <vt:lpstr> Adjectives vs. Adverbs</vt:lpstr>
      <vt:lpstr>Adjectives</vt:lpstr>
      <vt:lpstr>Adjectives </vt:lpstr>
      <vt:lpstr>Two Ways of Using Adjectives</vt:lpstr>
      <vt:lpstr>Two Ways of Using Adjectives</vt:lpstr>
      <vt:lpstr>Two Ways of Using Adjectives</vt:lpstr>
      <vt:lpstr>Two Ways of Using Adjectives</vt:lpstr>
      <vt:lpstr>Two Ways of Using Adjectives</vt:lpstr>
      <vt:lpstr>One position</vt:lpstr>
      <vt:lpstr>Comparison</vt:lpstr>
      <vt:lpstr>Comparison</vt:lpstr>
      <vt:lpstr>Comparison</vt:lpstr>
      <vt:lpstr>Some spelling rules</vt:lpstr>
      <vt:lpstr>Comparison – Two syllables </vt:lpstr>
      <vt:lpstr>Comparison – Two syllables </vt:lpstr>
      <vt:lpstr>Comparison – Three syllables </vt:lpstr>
      <vt:lpstr>Irregular Forms </vt:lpstr>
      <vt:lpstr>Adverbs </vt:lpstr>
      <vt:lpstr>Adverbs Modify...</vt:lpstr>
      <vt:lpstr>Adverbs Form</vt:lpstr>
      <vt:lpstr>Some spelling rules</vt:lpstr>
      <vt:lpstr>Adverbs Form </vt:lpstr>
      <vt:lpstr>Adverbs Form </vt:lpstr>
      <vt:lpstr>Adverbs form</vt:lpstr>
      <vt:lpstr>Adverbs Form</vt:lpstr>
      <vt:lpstr>Adverbs Form </vt:lpstr>
      <vt:lpstr>Comparing with adverbs</vt:lpstr>
      <vt:lpstr>Types of Adverbs</vt:lpstr>
      <vt:lpstr>Position of Adverbs</vt:lpstr>
      <vt:lpstr>Adverbs in front position</vt:lpstr>
      <vt:lpstr>Adverbs in mid position</vt:lpstr>
      <vt:lpstr>Adverbs in end position</vt:lpstr>
      <vt:lpstr>Dutch vs. English </vt:lpstr>
      <vt:lpstr>Final note</vt:lpstr>
      <vt:lpstr>Preparation for the Workshop/Leerplein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Grammar</dc:title>
  <dc:creator>marlies.devos</dc:creator>
  <cp:lastModifiedBy>Freek Metsch</cp:lastModifiedBy>
  <cp:revision>80</cp:revision>
  <cp:lastPrinted>2015-10-12T09:09:43Z</cp:lastPrinted>
  <dcterms:created xsi:type="dcterms:W3CDTF">2017-08-26T16:20:07Z</dcterms:created>
  <dcterms:modified xsi:type="dcterms:W3CDTF">2024-09-10T08:12:07Z</dcterms:modified>
</cp:coreProperties>
</file>
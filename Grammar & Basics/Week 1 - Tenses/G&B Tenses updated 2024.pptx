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55"/>
  </p:notesMasterIdLst>
  <p:sldIdLst>
    <p:sldId id="256" r:id="rId5"/>
    <p:sldId id="308" r:id="rId6"/>
    <p:sldId id="369" r:id="rId7"/>
    <p:sldId id="309" r:id="rId8"/>
    <p:sldId id="355" r:id="rId9"/>
    <p:sldId id="314" r:id="rId10"/>
    <p:sldId id="296" r:id="rId11"/>
    <p:sldId id="295" r:id="rId12"/>
    <p:sldId id="301" r:id="rId13"/>
    <p:sldId id="297" r:id="rId14"/>
    <p:sldId id="359" r:id="rId15"/>
    <p:sldId id="302" r:id="rId16"/>
    <p:sldId id="306" r:id="rId17"/>
    <p:sldId id="315" r:id="rId18"/>
    <p:sldId id="363" r:id="rId19"/>
    <p:sldId id="356" r:id="rId20"/>
    <p:sldId id="317" r:id="rId21"/>
    <p:sldId id="360" r:id="rId22"/>
    <p:sldId id="361" r:id="rId23"/>
    <p:sldId id="326" r:id="rId24"/>
    <p:sldId id="319" r:id="rId25"/>
    <p:sldId id="320" r:id="rId26"/>
    <p:sldId id="321" r:id="rId27"/>
    <p:sldId id="322" r:id="rId28"/>
    <p:sldId id="324" r:id="rId29"/>
    <p:sldId id="323" r:id="rId30"/>
    <p:sldId id="325" r:id="rId31"/>
    <p:sldId id="328" r:id="rId32"/>
    <p:sldId id="347" r:id="rId33"/>
    <p:sldId id="318" r:id="rId34"/>
    <p:sldId id="367" r:id="rId35"/>
    <p:sldId id="329" r:id="rId36"/>
    <p:sldId id="330" r:id="rId37"/>
    <p:sldId id="331" r:id="rId38"/>
    <p:sldId id="332" r:id="rId39"/>
    <p:sldId id="333" r:id="rId40"/>
    <p:sldId id="334" r:id="rId41"/>
    <p:sldId id="327" r:id="rId42"/>
    <p:sldId id="357" r:id="rId43"/>
    <p:sldId id="335" r:id="rId44"/>
    <p:sldId id="348" r:id="rId45"/>
    <p:sldId id="349" r:id="rId46"/>
    <p:sldId id="336" r:id="rId47"/>
    <p:sldId id="340" r:id="rId48"/>
    <p:sldId id="337" r:id="rId49"/>
    <p:sldId id="338" r:id="rId50"/>
    <p:sldId id="339" r:id="rId51"/>
    <p:sldId id="341" r:id="rId52"/>
    <p:sldId id="342" r:id="rId53"/>
    <p:sldId id="358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82EF0B-F554-4071-8123-3F51057F967F}">
          <p14:sldIdLst>
            <p14:sldId id="256"/>
            <p14:sldId id="308"/>
            <p14:sldId id="369"/>
            <p14:sldId id="309"/>
          </p14:sldIdLst>
        </p14:section>
        <p14:section name="Present &amp; Past Tenses" id="{C764609F-7FDF-44AA-A860-D700C268E046}">
          <p14:sldIdLst>
            <p14:sldId id="355"/>
            <p14:sldId id="314"/>
            <p14:sldId id="296"/>
            <p14:sldId id="295"/>
            <p14:sldId id="301"/>
            <p14:sldId id="297"/>
            <p14:sldId id="359"/>
            <p14:sldId id="302"/>
            <p14:sldId id="306"/>
            <p14:sldId id="315"/>
            <p14:sldId id="363"/>
            <p14:sldId id="356"/>
            <p14:sldId id="317"/>
            <p14:sldId id="360"/>
            <p14:sldId id="361"/>
            <p14:sldId id="326"/>
            <p14:sldId id="319"/>
            <p14:sldId id="320"/>
            <p14:sldId id="321"/>
            <p14:sldId id="322"/>
            <p14:sldId id="324"/>
            <p14:sldId id="323"/>
            <p14:sldId id="325"/>
            <p14:sldId id="328"/>
            <p14:sldId id="347"/>
            <p14:sldId id="318"/>
            <p14:sldId id="367"/>
            <p14:sldId id="329"/>
            <p14:sldId id="330"/>
            <p14:sldId id="331"/>
            <p14:sldId id="332"/>
            <p14:sldId id="333"/>
            <p14:sldId id="334"/>
            <p14:sldId id="327"/>
          </p14:sldIdLst>
        </p14:section>
        <p14:section name="Future Tenses" id="{537613B4-D6A5-4C97-9ABB-16DA3822FD4D}">
          <p14:sldIdLst>
            <p14:sldId id="357"/>
            <p14:sldId id="335"/>
            <p14:sldId id="348"/>
            <p14:sldId id="349"/>
            <p14:sldId id="336"/>
            <p14:sldId id="340"/>
            <p14:sldId id="337"/>
            <p14:sldId id="338"/>
            <p14:sldId id="339"/>
            <p14:sldId id="341"/>
            <p14:sldId id="342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2FBF0-D7B7-4A9D-8523-5153ED588F8D}" v="76" dt="2025-01-30T15:44:29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32" autoAdjust="0"/>
  </p:normalViewPr>
  <p:slideViewPr>
    <p:cSldViewPr>
      <p:cViewPr varScale="1">
        <p:scale>
          <a:sx n="98" d="100"/>
          <a:sy n="98" d="100"/>
        </p:scale>
        <p:origin x="19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1" d="100"/>
        <a:sy n="131" d="100"/>
      </p:scale>
      <p:origin x="0" y="-104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A69EBA8B-248C-4C0C-A689-578F891B77CC}"/>
    <pc:docChg chg="undo custSel addSld modSld modSection">
      <pc:chgData name="Freek Metsch" userId="021ef47b-1d71-428a-9075-16ffbc2c7c18" providerId="ADAL" clId="{A69EBA8B-248C-4C0C-A689-578F891B77CC}" dt="2024-09-10T07:01:08.830" v="545" actId="20577"/>
      <pc:docMkLst>
        <pc:docMk/>
      </pc:docMkLst>
      <pc:sldChg chg="addSp delSp modSp new mod modClrScheme chgLayout">
        <pc:chgData name="Freek Metsch" userId="021ef47b-1d71-428a-9075-16ffbc2c7c18" providerId="ADAL" clId="{A69EBA8B-248C-4C0C-A689-578F891B77CC}" dt="2024-09-10T06:57:32.628" v="143" actId="20577"/>
        <pc:sldMkLst>
          <pc:docMk/>
          <pc:sldMk cId="2007421320" sldId="367"/>
        </pc:sldMkLst>
      </pc:sldChg>
      <pc:sldChg chg="addSp delSp modSp new mod modClrScheme chgLayout">
        <pc:chgData name="Freek Metsch" userId="021ef47b-1d71-428a-9075-16ffbc2c7c18" providerId="ADAL" clId="{A69EBA8B-248C-4C0C-A689-578F891B77CC}" dt="2024-09-10T07:01:08.830" v="545" actId="20577"/>
        <pc:sldMkLst>
          <pc:docMk/>
          <pc:sldMk cId="1153215809" sldId="368"/>
        </pc:sldMkLst>
      </pc:sldChg>
    </pc:docChg>
  </pc:docChgLst>
  <pc:docChgLst>
    <pc:chgData name="Freek Metsch" userId="021ef47b-1d71-428a-9075-16ffbc2c7c18" providerId="ADAL" clId="{5C52FBF0-D7B7-4A9D-8523-5153ED588F8D}"/>
    <pc:docChg chg="undo custSel addSld delSld modSld modSection">
      <pc:chgData name="Freek Metsch" userId="021ef47b-1d71-428a-9075-16ffbc2c7c18" providerId="ADAL" clId="{5C52FBF0-D7B7-4A9D-8523-5153ED588F8D}" dt="2025-02-04T09:51:07.484" v="1209" actId="113"/>
      <pc:docMkLst>
        <pc:docMk/>
      </pc:docMkLst>
      <pc:sldChg chg="modSp">
        <pc:chgData name="Freek Metsch" userId="021ef47b-1d71-428a-9075-16ffbc2c7c18" providerId="ADAL" clId="{5C52FBF0-D7B7-4A9D-8523-5153ED588F8D}" dt="2025-01-30T15:34:15.036" v="75" actId="20577"/>
        <pc:sldMkLst>
          <pc:docMk/>
          <pc:sldMk cId="3682992781" sldId="308"/>
        </pc:sldMkLst>
        <pc:graphicFrameChg chg="mod">
          <ac:chgData name="Freek Metsch" userId="021ef47b-1d71-428a-9075-16ffbc2c7c18" providerId="ADAL" clId="{5C52FBF0-D7B7-4A9D-8523-5153ED588F8D}" dt="2025-01-30T15:34:15.036" v="75" actId="20577"/>
          <ac:graphicFrameMkLst>
            <pc:docMk/>
            <pc:sldMk cId="3682992781" sldId="308"/>
            <ac:graphicFrameMk id="9" creationId="{2FDD50DF-2D91-4224-A0D3-62A7FEBEF843}"/>
          </ac:graphicFrameMkLst>
        </pc:graphicFrameChg>
      </pc:sldChg>
      <pc:sldChg chg="modSp mod">
        <pc:chgData name="Freek Metsch" userId="021ef47b-1d71-428a-9075-16ffbc2c7c18" providerId="ADAL" clId="{5C52FBF0-D7B7-4A9D-8523-5153ED588F8D}" dt="2025-01-30T15:34:32.917" v="102" actId="20577"/>
        <pc:sldMkLst>
          <pc:docMk/>
          <pc:sldMk cId="4087256311" sldId="309"/>
        </pc:sldMkLst>
        <pc:spChg chg="mod">
          <ac:chgData name="Freek Metsch" userId="021ef47b-1d71-428a-9075-16ffbc2c7c18" providerId="ADAL" clId="{5C52FBF0-D7B7-4A9D-8523-5153ED588F8D}" dt="2025-01-30T15:34:32.917" v="102" actId="20577"/>
          <ac:spMkLst>
            <pc:docMk/>
            <pc:sldMk cId="4087256311" sldId="309"/>
            <ac:spMk id="2" creationId="{00000000-0000-0000-0000-000000000000}"/>
          </ac:spMkLst>
        </pc:spChg>
        <pc:graphicFrameChg chg="mod">
          <ac:chgData name="Freek Metsch" userId="021ef47b-1d71-428a-9075-16ffbc2c7c18" providerId="ADAL" clId="{5C52FBF0-D7B7-4A9D-8523-5153ED588F8D}" dt="2025-01-30T15:31:44.351" v="25"/>
          <ac:graphicFrameMkLst>
            <pc:docMk/>
            <pc:sldMk cId="4087256311" sldId="309"/>
            <ac:graphicFrameMk id="5" creationId="{892BB523-39C6-4C4E-A0AD-734BBED110F2}"/>
          </ac:graphicFrameMkLst>
        </pc:graphicFrameChg>
        <pc:picChg chg="mod">
          <ac:chgData name="Freek Metsch" userId="021ef47b-1d71-428a-9075-16ffbc2c7c18" providerId="ADAL" clId="{5C52FBF0-D7B7-4A9D-8523-5153ED588F8D}" dt="2025-01-30T15:31:40.689" v="23" actId="1076"/>
          <ac:picMkLst>
            <pc:docMk/>
            <pc:sldMk cId="4087256311" sldId="309"/>
            <ac:picMk id="4" creationId="{7F650CF2-4FD6-F810-D3AC-721D469FD0ED}"/>
          </ac:picMkLst>
        </pc:picChg>
      </pc:sldChg>
      <pc:sldChg chg="modSp mod">
        <pc:chgData name="Freek Metsch" userId="021ef47b-1d71-428a-9075-16ffbc2c7c18" providerId="ADAL" clId="{5C52FBF0-D7B7-4A9D-8523-5153ED588F8D}" dt="2025-02-04T09:01:29.357" v="1207" actId="11"/>
        <pc:sldMkLst>
          <pc:docMk/>
          <pc:sldMk cId="3011545247" sldId="314"/>
        </pc:sldMkLst>
        <pc:spChg chg="mod">
          <ac:chgData name="Freek Metsch" userId="021ef47b-1d71-428a-9075-16ffbc2c7c18" providerId="ADAL" clId="{5C52FBF0-D7B7-4A9D-8523-5153ED588F8D}" dt="2025-02-04T09:01:21.858" v="1206" actId="11"/>
          <ac:spMkLst>
            <pc:docMk/>
            <pc:sldMk cId="3011545247" sldId="314"/>
            <ac:spMk id="6" creationId="{00000000-0000-0000-0000-000000000000}"/>
          </ac:spMkLst>
        </pc:spChg>
        <pc:spChg chg="mod">
          <ac:chgData name="Freek Metsch" userId="021ef47b-1d71-428a-9075-16ffbc2c7c18" providerId="ADAL" clId="{5C52FBF0-D7B7-4A9D-8523-5153ED588F8D}" dt="2025-02-04T09:01:29.357" v="1207" actId="11"/>
          <ac:spMkLst>
            <pc:docMk/>
            <pc:sldMk cId="3011545247" sldId="314"/>
            <ac:spMk id="8" creationId="{00000000-0000-0000-0000-000000000000}"/>
          </ac:spMkLst>
        </pc:spChg>
      </pc:sldChg>
      <pc:sldChg chg="add del">
        <pc:chgData name="Freek Metsch" userId="021ef47b-1d71-428a-9075-16ffbc2c7c18" providerId="ADAL" clId="{5C52FBF0-D7B7-4A9D-8523-5153ED588F8D}" dt="2025-01-30T15:47:47.321" v="1202" actId="47"/>
        <pc:sldMkLst>
          <pc:docMk/>
          <pc:sldMk cId="3724162430" sldId="323"/>
        </pc:sldMkLst>
      </pc:sldChg>
      <pc:sldChg chg="del">
        <pc:chgData name="Freek Metsch" userId="021ef47b-1d71-428a-9075-16ffbc2c7c18" providerId="ADAL" clId="{5C52FBF0-D7B7-4A9D-8523-5153ED588F8D}" dt="2025-01-30T15:49:18.580" v="1204" actId="47"/>
        <pc:sldMkLst>
          <pc:docMk/>
          <pc:sldMk cId="3815635365" sldId="362"/>
        </pc:sldMkLst>
      </pc:sldChg>
      <pc:sldChg chg="del">
        <pc:chgData name="Freek Metsch" userId="021ef47b-1d71-428a-9075-16ffbc2c7c18" providerId="ADAL" clId="{5C52FBF0-D7B7-4A9D-8523-5153ED588F8D}" dt="2025-01-30T15:33:20.896" v="26" actId="47"/>
        <pc:sldMkLst>
          <pc:docMk/>
          <pc:sldMk cId="149325972" sldId="364"/>
        </pc:sldMkLst>
      </pc:sldChg>
      <pc:sldChg chg="del">
        <pc:chgData name="Freek Metsch" userId="021ef47b-1d71-428a-9075-16ffbc2c7c18" providerId="ADAL" clId="{5C52FBF0-D7B7-4A9D-8523-5153ED588F8D}" dt="2025-01-30T15:29:08.960" v="0" actId="2696"/>
        <pc:sldMkLst>
          <pc:docMk/>
          <pc:sldMk cId="3041969576" sldId="365"/>
        </pc:sldMkLst>
      </pc:sldChg>
      <pc:sldChg chg="del">
        <pc:chgData name="Freek Metsch" userId="021ef47b-1d71-428a-9075-16ffbc2c7c18" providerId="ADAL" clId="{5C52FBF0-D7B7-4A9D-8523-5153ED588F8D}" dt="2025-01-30T15:49:04.278" v="1203" actId="47"/>
        <pc:sldMkLst>
          <pc:docMk/>
          <pc:sldMk cId="3582901768" sldId="366"/>
        </pc:sldMkLst>
      </pc:sldChg>
      <pc:sldChg chg="modSp mod">
        <pc:chgData name="Freek Metsch" userId="021ef47b-1d71-428a-9075-16ffbc2c7c18" providerId="ADAL" clId="{5C52FBF0-D7B7-4A9D-8523-5153ED588F8D}" dt="2025-02-04T09:51:07.484" v="1209" actId="113"/>
        <pc:sldMkLst>
          <pc:docMk/>
          <pc:sldMk cId="2007421320" sldId="367"/>
        </pc:sldMkLst>
        <pc:spChg chg="mod">
          <ac:chgData name="Freek Metsch" userId="021ef47b-1d71-428a-9075-16ffbc2c7c18" providerId="ADAL" clId="{5C52FBF0-D7B7-4A9D-8523-5153ED588F8D}" dt="2025-02-04T09:51:07.484" v="1209" actId="113"/>
          <ac:spMkLst>
            <pc:docMk/>
            <pc:sldMk cId="2007421320" sldId="367"/>
            <ac:spMk id="8" creationId="{1075865D-CFB6-369F-7229-C45382105DA4}"/>
          </ac:spMkLst>
        </pc:spChg>
      </pc:sldChg>
      <pc:sldChg chg="del">
        <pc:chgData name="Freek Metsch" userId="021ef47b-1d71-428a-9075-16ffbc2c7c18" providerId="ADAL" clId="{5C52FBF0-D7B7-4A9D-8523-5153ED588F8D}" dt="2025-01-30T15:49:48.942" v="1205" actId="47"/>
        <pc:sldMkLst>
          <pc:docMk/>
          <pc:sldMk cId="1153215809" sldId="368"/>
        </pc:sldMkLst>
      </pc:sldChg>
      <pc:sldChg chg="addSp modSp new mod">
        <pc:chgData name="Freek Metsch" userId="021ef47b-1d71-428a-9075-16ffbc2c7c18" providerId="ADAL" clId="{5C52FBF0-D7B7-4A9D-8523-5153ED588F8D}" dt="2025-01-30T15:47:27.844" v="1200" actId="20577"/>
        <pc:sldMkLst>
          <pc:docMk/>
          <pc:sldMk cId="3490735154" sldId="369"/>
        </pc:sldMkLst>
        <pc:spChg chg="mod">
          <ac:chgData name="Freek Metsch" userId="021ef47b-1d71-428a-9075-16ffbc2c7c18" providerId="ADAL" clId="{5C52FBF0-D7B7-4A9D-8523-5153ED588F8D}" dt="2025-01-30T15:34:40.077" v="124" actId="20577"/>
          <ac:spMkLst>
            <pc:docMk/>
            <pc:sldMk cId="3490735154" sldId="369"/>
            <ac:spMk id="2" creationId="{2C5FE4EA-5D8A-98A5-0C30-7EF03FDBD0D9}"/>
          </ac:spMkLst>
        </pc:spChg>
        <pc:spChg chg="mod">
          <ac:chgData name="Freek Metsch" userId="021ef47b-1d71-428a-9075-16ffbc2c7c18" providerId="ADAL" clId="{5C52FBF0-D7B7-4A9D-8523-5153ED588F8D}" dt="2025-01-30T15:47:27.844" v="1200" actId="20577"/>
          <ac:spMkLst>
            <pc:docMk/>
            <pc:sldMk cId="3490735154" sldId="369"/>
            <ac:spMk id="3" creationId="{0D09ACF9-DB75-B42F-E9AA-9872CCE32E05}"/>
          </ac:spMkLst>
        </pc:spChg>
        <pc:spChg chg="add mod">
          <ac:chgData name="Freek Metsch" userId="021ef47b-1d71-428a-9075-16ffbc2c7c18" providerId="ADAL" clId="{5C52FBF0-D7B7-4A9D-8523-5153ED588F8D}" dt="2025-01-30T15:44:11.430" v="726" actId="113"/>
          <ac:spMkLst>
            <pc:docMk/>
            <pc:sldMk cId="3490735154" sldId="369"/>
            <ac:spMk id="5" creationId="{FC18ACEB-9696-644E-24D8-F3AA6B0E0CFA}"/>
          </ac:spMkLst>
        </pc:spChg>
        <pc:spChg chg="add mod">
          <ac:chgData name="Freek Metsch" userId="021ef47b-1d71-428a-9075-16ffbc2c7c18" providerId="ADAL" clId="{5C52FBF0-D7B7-4A9D-8523-5153ED588F8D}" dt="2025-01-30T15:47:20.311" v="1195" actId="1076"/>
          <ac:spMkLst>
            <pc:docMk/>
            <pc:sldMk cId="3490735154" sldId="369"/>
            <ac:spMk id="6" creationId="{98874BE9-AFA5-3AB1-9881-B9A23E5696B2}"/>
          </ac:spMkLst>
        </pc:spChg>
      </pc:sldChg>
    </pc:docChg>
  </pc:docChgLst>
  <pc:docChgLst>
    <pc:chgData name="Freek Metsch" userId="021ef47b-1d71-428a-9075-16ffbc2c7c18" providerId="ADAL" clId="{4F52A298-FF00-45D4-A378-A0E3EF8D6205}"/>
    <pc:docChg chg="custSel addSld modSld modSection">
      <pc:chgData name="Freek Metsch" userId="021ef47b-1d71-428a-9075-16ffbc2c7c18" providerId="ADAL" clId="{4F52A298-FF00-45D4-A378-A0E3EF8D6205}" dt="2024-09-03T06:51:37.091" v="66"/>
      <pc:docMkLst>
        <pc:docMk/>
      </pc:docMkLst>
      <pc:sldChg chg="addSp delSp modSp new mod chgLayout">
        <pc:chgData name="Freek Metsch" userId="021ef47b-1d71-428a-9075-16ffbc2c7c18" providerId="ADAL" clId="{4F52A298-FF00-45D4-A378-A0E3EF8D6205}" dt="2024-09-03T06:51:21.727" v="65" actId="20577"/>
        <pc:sldMkLst>
          <pc:docMk/>
          <pc:sldMk cId="3041969576" sldId="365"/>
        </pc:sldMkLst>
      </pc:sldChg>
      <pc:sldChg chg="add">
        <pc:chgData name="Freek Metsch" userId="021ef47b-1d71-428a-9075-16ffbc2c7c18" providerId="ADAL" clId="{4F52A298-FF00-45D4-A378-A0E3EF8D6205}" dt="2024-09-03T06:51:37.091" v="66"/>
        <pc:sldMkLst>
          <pc:docMk/>
          <pc:sldMk cId="3582901768" sldId="36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0A1FE6-745F-4BD5-ADF0-F36442A1E48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497279A8-3FE2-4666-A7AF-EA8671117A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 dirty="0" err="1">
              <a:latin typeface="Sans sarif"/>
            </a:rPr>
            <a:t>Two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sessions</a:t>
          </a:r>
          <a:r>
            <a:rPr lang="nl-NL" dirty="0">
              <a:latin typeface="Sans sarif"/>
            </a:rPr>
            <a:t> per week </a:t>
          </a:r>
          <a:endParaRPr lang="en-US" dirty="0">
            <a:latin typeface="Sans sarif"/>
          </a:endParaRPr>
        </a:p>
      </dgm:t>
    </dgm:pt>
    <dgm:pt modelId="{DF9B6C12-8637-4129-B352-0B285F56DC96}" type="parTrans" cxnId="{DA36476D-A6C1-4908-87E0-F7D35B4D9CB1}">
      <dgm:prSet/>
      <dgm:spPr/>
      <dgm:t>
        <a:bodyPr/>
        <a:lstStyle/>
        <a:p>
          <a:endParaRPr lang="en-US"/>
        </a:p>
      </dgm:t>
    </dgm:pt>
    <dgm:pt modelId="{C38F0878-F001-43F0-859B-901733011369}" type="sibTrans" cxnId="{DA36476D-A6C1-4908-87E0-F7D35B4D9CB1}">
      <dgm:prSet/>
      <dgm:spPr/>
      <dgm:t>
        <a:bodyPr/>
        <a:lstStyle/>
        <a:p>
          <a:endParaRPr lang="en-US"/>
        </a:p>
      </dgm:t>
    </dgm:pt>
    <dgm:pt modelId="{BF797F6D-779B-4368-B70D-81E2EB39668A}">
      <dgm:prSet/>
      <dgm:spPr/>
      <dgm:t>
        <a:bodyPr/>
        <a:lstStyle/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noProof="0" dirty="0">
              <a:latin typeface="Sans sarif"/>
            </a:rPr>
            <a:t>1) Group Workshop 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noProof="0" dirty="0">
              <a:latin typeface="Sans sarif"/>
            </a:rPr>
            <a:t>Explanation, discussion and practice of a grammatical topic</a:t>
          </a: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noProof="0" dirty="0">
            <a:latin typeface="Sans sarif"/>
          </a:endParaRP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noProof="0" dirty="0">
              <a:latin typeface="Sans sarif"/>
            </a:rPr>
            <a:t>2) Work sessions (</a:t>
          </a:r>
          <a:r>
            <a:rPr lang="en-US" noProof="0" dirty="0" err="1">
              <a:latin typeface="Sans sarif"/>
            </a:rPr>
            <a:t>leerplein</a:t>
          </a:r>
          <a:r>
            <a:rPr lang="en-US" noProof="0" dirty="0">
              <a:latin typeface="Sans sarif"/>
            </a:rPr>
            <a:t>).</a:t>
          </a: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noProof="0" dirty="0">
              <a:latin typeface="Sans sarif"/>
            </a:rPr>
            <a:t>Open ended sessions with all groups: </a:t>
          </a: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noProof="0" dirty="0">
              <a:latin typeface="Sans sarif"/>
            </a:rPr>
            <a:t>- </a:t>
          </a:r>
          <a:r>
            <a:rPr lang="en-US" b="1" noProof="0" dirty="0">
              <a:latin typeface="Sans sarif"/>
            </a:rPr>
            <a:t>Work</a:t>
          </a:r>
          <a:r>
            <a:rPr lang="en-US" noProof="0" dirty="0">
              <a:latin typeface="Sans sarif"/>
            </a:rPr>
            <a:t> on self-study topics, </a:t>
          </a: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noProof="0" dirty="0">
              <a:latin typeface="Sans sarif"/>
            </a:rPr>
            <a:t>- </a:t>
          </a:r>
          <a:r>
            <a:rPr lang="en-US" b="1" noProof="0" dirty="0">
              <a:latin typeface="Sans sarif"/>
            </a:rPr>
            <a:t>Ask</a:t>
          </a:r>
          <a:r>
            <a:rPr lang="en-US" noProof="0" dirty="0">
              <a:latin typeface="Sans sarif"/>
            </a:rPr>
            <a:t> teachers questions about that week’s topics, </a:t>
          </a: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noProof="0" dirty="0">
              <a:latin typeface="Sans sarif"/>
            </a:rPr>
            <a:t>- </a:t>
          </a:r>
          <a:r>
            <a:rPr lang="en-US" b="1" noProof="0" dirty="0">
              <a:latin typeface="Sans sarif"/>
            </a:rPr>
            <a:t>Work</a:t>
          </a:r>
          <a:r>
            <a:rPr lang="en-US" noProof="0" dirty="0">
              <a:latin typeface="Sans sarif"/>
            </a:rPr>
            <a:t> on speaking (get feedback) or </a:t>
          </a:r>
        </a:p>
        <a:p>
          <a:pPr marL="0" lvl="0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noProof="0" dirty="0">
              <a:latin typeface="Sans sarif"/>
            </a:rPr>
            <a:t>- </a:t>
          </a:r>
          <a:r>
            <a:rPr lang="en-US" b="1" noProof="0" dirty="0">
              <a:latin typeface="Sans sarif"/>
            </a:rPr>
            <a:t>Work</a:t>
          </a:r>
          <a:r>
            <a:rPr lang="en-US" noProof="0" dirty="0">
              <a:latin typeface="Sans sarif"/>
            </a:rPr>
            <a:t> on writing/culture assignments.  </a:t>
          </a:r>
        </a:p>
      </dgm:t>
    </dgm:pt>
    <dgm:pt modelId="{DF25B5CA-8B78-4A8D-8528-272635B4C385}" type="parTrans" cxnId="{7331750E-5855-414B-9703-77F06E59AB9B}">
      <dgm:prSet/>
      <dgm:spPr/>
      <dgm:t>
        <a:bodyPr/>
        <a:lstStyle/>
        <a:p>
          <a:endParaRPr lang="en-US"/>
        </a:p>
      </dgm:t>
    </dgm:pt>
    <dgm:pt modelId="{A6506689-BCEF-48CC-A1D9-4D4D9DC3ED0B}" type="sibTrans" cxnId="{7331750E-5855-414B-9703-77F06E59AB9B}">
      <dgm:prSet/>
      <dgm:spPr/>
      <dgm:t>
        <a:bodyPr/>
        <a:lstStyle/>
        <a:p>
          <a:endParaRPr lang="en-US"/>
        </a:p>
      </dgm:t>
    </dgm:pt>
    <dgm:pt modelId="{2716B196-E400-4BED-82DC-9DA9D4F231FD}" type="pres">
      <dgm:prSet presAssocID="{5F0A1FE6-745F-4BD5-ADF0-F36442A1E48B}" presName="root" presStyleCnt="0">
        <dgm:presLayoutVars>
          <dgm:dir/>
          <dgm:resizeHandles val="exact"/>
        </dgm:presLayoutVars>
      </dgm:prSet>
      <dgm:spPr/>
    </dgm:pt>
    <dgm:pt modelId="{929EF5D4-5EA5-40DA-8AC0-74026E2524D6}" type="pres">
      <dgm:prSet presAssocID="{497279A8-3FE2-4666-A7AF-EA8671117AC6}" presName="compNode" presStyleCnt="0"/>
      <dgm:spPr/>
    </dgm:pt>
    <dgm:pt modelId="{9ACE2914-B370-4C41-AA2C-EC3544D66E31}" type="pres">
      <dgm:prSet presAssocID="{497279A8-3FE2-4666-A7AF-EA8671117AC6}" presName="iconRect" presStyleLbl="node1" presStyleIdx="0" presStyleCnt="1" custScaleX="60316" custScaleY="57982" custLinFactX="-100000" custLinFactNeighborX="-106857" custLinFactNeighborY="-2300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188856D3-78F2-4DCE-A441-39EE2CD01433}" type="pres">
      <dgm:prSet presAssocID="{497279A8-3FE2-4666-A7AF-EA8671117AC6}" presName="iconSpace" presStyleCnt="0"/>
      <dgm:spPr/>
    </dgm:pt>
    <dgm:pt modelId="{46EC0338-62E4-4CE2-8573-10D837332EE6}" type="pres">
      <dgm:prSet presAssocID="{497279A8-3FE2-4666-A7AF-EA8671117AC6}" presName="parTx" presStyleLbl="revTx" presStyleIdx="0" presStyleCnt="2" custLinFactY="-100000" custLinFactNeighborX="-37726" custLinFactNeighborY="-195070">
        <dgm:presLayoutVars>
          <dgm:chMax val="0"/>
          <dgm:chPref val="0"/>
        </dgm:presLayoutVars>
      </dgm:prSet>
      <dgm:spPr/>
    </dgm:pt>
    <dgm:pt modelId="{451D3191-9DAF-444F-BFFE-F72B98D89B1C}" type="pres">
      <dgm:prSet presAssocID="{497279A8-3FE2-4666-A7AF-EA8671117AC6}" presName="txSpace" presStyleCnt="0"/>
      <dgm:spPr/>
    </dgm:pt>
    <dgm:pt modelId="{AE562873-E1B6-4412-9ED9-48332924E263}" type="pres">
      <dgm:prSet presAssocID="{497279A8-3FE2-4666-A7AF-EA8671117AC6}" presName="desTx" presStyleLbl="revTx" presStyleIdx="1" presStyleCnt="2" custScaleX="142391" custScaleY="19756" custLinFactY="-222600000" custLinFactNeighborX="344" custLinFactNeighborY="-222656779">
        <dgm:presLayoutVars/>
      </dgm:prSet>
      <dgm:spPr/>
    </dgm:pt>
  </dgm:ptLst>
  <dgm:cxnLst>
    <dgm:cxn modelId="{7331750E-5855-414B-9703-77F06E59AB9B}" srcId="{497279A8-3FE2-4666-A7AF-EA8671117AC6}" destId="{BF797F6D-779B-4368-B70D-81E2EB39668A}" srcOrd="0" destOrd="0" parTransId="{DF25B5CA-8B78-4A8D-8528-272635B4C385}" sibTransId="{A6506689-BCEF-48CC-A1D9-4D4D9DC3ED0B}"/>
    <dgm:cxn modelId="{A1D2F74B-854E-48B7-9B86-8AE6DEEF6542}" type="presOf" srcId="{BF797F6D-779B-4368-B70D-81E2EB39668A}" destId="{AE562873-E1B6-4412-9ED9-48332924E263}" srcOrd="0" destOrd="0" presId="urn:microsoft.com/office/officeart/2018/2/layout/IconLabelDescriptionList"/>
    <dgm:cxn modelId="{DA36476D-A6C1-4908-87E0-F7D35B4D9CB1}" srcId="{5F0A1FE6-745F-4BD5-ADF0-F36442A1E48B}" destId="{497279A8-3FE2-4666-A7AF-EA8671117AC6}" srcOrd="0" destOrd="0" parTransId="{DF9B6C12-8637-4129-B352-0B285F56DC96}" sibTransId="{C38F0878-F001-43F0-859B-901733011369}"/>
    <dgm:cxn modelId="{AA16D8AC-3CBB-4778-B75C-9DAEA8D6EDEA}" type="presOf" srcId="{5F0A1FE6-745F-4BD5-ADF0-F36442A1E48B}" destId="{2716B196-E400-4BED-82DC-9DA9D4F231FD}" srcOrd="0" destOrd="0" presId="urn:microsoft.com/office/officeart/2018/2/layout/IconLabelDescriptionList"/>
    <dgm:cxn modelId="{D3D3EDB4-95E3-4E8E-ACEE-3D90CA748773}" type="presOf" srcId="{497279A8-3FE2-4666-A7AF-EA8671117AC6}" destId="{46EC0338-62E4-4CE2-8573-10D837332EE6}" srcOrd="0" destOrd="0" presId="urn:microsoft.com/office/officeart/2018/2/layout/IconLabelDescriptionList"/>
    <dgm:cxn modelId="{D297908F-138A-4358-97BA-02A23A32472A}" type="presParOf" srcId="{2716B196-E400-4BED-82DC-9DA9D4F231FD}" destId="{929EF5D4-5EA5-40DA-8AC0-74026E2524D6}" srcOrd="0" destOrd="0" presId="urn:microsoft.com/office/officeart/2018/2/layout/IconLabelDescriptionList"/>
    <dgm:cxn modelId="{EF1F8272-FABF-4C36-BB65-C46F06301A8C}" type="presParOf" srcId="{929EF5D4-5EA5-40DA-8AC0-74026E2524D6}" destId="{9ACE2914-B370-4C41-AA2C-EC3544D66E31}" srcOrd="0" destOrd="0" presId="urn:microsoft.com/office/officeart/2018/2/layout/IconLabelDescriptionList"/>
    <dgm:cxn modelId="{342A08F4-D028-40FB-B4C3-2A5DC2C25EC1}" type="presParOf" srcId="{929EF5D4-5EA5-40DA-8AC0-74026E2524D6}" destId="{188856D3-78F2-4DCE-A441-39EE2CD01433}" srcOrd="1" destOrd="0" presId="urn:microsoft.com/office/officeart/2018/2/layout/IconLabelDescriptionList"/>
    <dgm:cxn modelId="{54743CBC-8A3F-42F2-AEC2-6446D261844E}" type="presParOf" srcId="{929EF5D4-5EA5-40DA-8AC0-74026E2524D6}" destId="{46EC0338-62E4-4CE2-8573-10D837332EE6}" srcOrd="2" destOrd="0" presId="urn:microsoft.com/office/officeart/2018/2/layout/IconLabelDescriptionList"/>
    <dgm:cxn modelId="{A702E45C-003A-4D1A-87B8-5837D5700DD0}" type="presParOf" srcId="{929EF5D4-5EA5-40DA-8AC0-74026E2524D6}" destId="{451D3191-9DAF-444F-BFFE-F72B98D89B1C}" srcOrd="3" destOrd="0" presId="urn:microsoft.com/office/officeart/2018/2/layout/IconLabelDescriptionList"/>
    <dgm:cxn modelId="{073B4781-883F-4C80-9264-BAE19C09B1EA}" type="presParOf" srcId="{929EF5D4-5EA5-40DA-8AC0-74026E2524D6}" destId="{AE562873-E1B6-4412-9ED9-48332924E26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B3E9EF-83CB-4781-AB51-854227B887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718764-22B0-4BB3-8C21-79A8C6459E8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dirty="0">
              <a:latin typeface="Sans sarif"/>
            </a:rPr>
            <a:t>We </a:t>
          </a:r>
          <a:r>
            <a:rPr lang="nl-NL" dirty="0" err="1">
              <a:latin typeface="Sans sarif"/>
            </a:rPr>
            <a:t>use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grammatical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tenses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to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describe</a:t>
          </a:r>
          <a:r>
            <a:rPr lang="nl-NL" dirty="0">
              <a:latin typeface="Sans sarif"/>
            </a:rPr>
            <a:t> </a:t>
          </a:r>
          <a:r>
            <a:rPr lang="nl-NL" b="1" dirty="0" err="1">
              <a:latin typeface="Sans sarif"/>
            </a:rPr>
            <a:t>when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an</a:t>
          </a:r>
          <a:r>
            <a:rPr lang="nl-NL" dirty="0">
              <a:latin typeface="Sans sarif"/>
            </a:rPr>
            <a:t> ACTION </a:t>
          </a:r>
          <a:r>
            <a:rPr lang="nl-NL" dirty="0" err="1">
              <a:latin typeface="Sans sarif"/>
            </a:rPr>
            <a:t>happened</a:t>
          </a:r>
          <a:r>
            <a:rPr lang="nl-NL" dirty="0">
              <a:latin typeface="Sans sarif"/>
            </a:rPr>
            <a:t>. </a:t>
          </a:r>
          <a:endParaRPr lang="en-US" dirty="0">
            <a:latin typeface="Sans sarif"/>
          </a:endParaRPr>
        </a:p>
      </dgm:t>
    </dgm:pt>
    <dgm:pt modelId="{8EFD5F5E-F7E2-4216-9633-A164AFE78ACE}" type="parTrans" cxnId="{D3F3EA7D-AB03-4659-A6A4-E8CEB56A8DB6}">
      <dgm:prSet/>
      <dgm:spPr/>
      <dgm:t>
        <a:bodyPr/>
        <a:lstStyle/>
        <a:p>
          <a:endParaRPr lang="en-US"/>
        </a:p>
      </dgm:t>
    </dgm:pt>
    <dgm:pt modelId="{98023D89-B27D-475F-9560-4FC6D0D0EEF1}" type="sibTrans" cxnId="{D3F3EA7D-AB03-4659-A6A4-E8CEB56A8DB6}">
      <dgm:prSet/>
      <dgm:spPr/>
      <dgm:t>
        <a:bodyPr/>
        <a:lstStyle/>
        <a:p>
          <a:endParaRPr lang="en-US"/>
        </a:p>
      </dgm:t>
    </dgm:pt>
    <dgm:pt modelId="{CABA6653-6AC7-41FB-BE75-C0E4A43158EA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dirty="0">
              <a:latin typeface="Sans sarif"/>
            </a:rPr>
            <a:t>Three </a:t>
          </a:r>
          <a:r>
            <a:rPr lang="nl-NL" dirty="0" err="1">
              <a:latin typeface="Sans sarif"/>
            </a:rPr>
            <a:t>main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tenses</a:t>
          </a:r>
          <a:r>
            <a:rPr lang="nl-NL" dirty="0">
              <a:latin typeface="Sans sarif"/>
            </a:rPr>
            <a:t>: </a:t>
          </a:r>
        </a:p>
        <a:p>
          <a:pPr>
            <a:lnSpc>
              <a:spcPct val="100000"/>
            </a:lnSpc>
          </a:pPr>
          <a:r>
            <a:rPr lang="nl-NL" dirty="0">
              <a:latin typeface="Sans sarif"/>
            </a:rPr>
            <a:t>Past, Present, </a:t>
          </a:r>
          <a:r>
            <a:rPr lang="nl-NL" dirty="0" err="1">
              <a:latin typeface="Sans sarif"/>
            </a:rPr>
            <a:t>Future</a:t>
          </a:r>
          <a:endParaRPr lang="en-US" dirty="0">
            <a:latin typeface="Sans sarif"/>
          </a:endParaRPr>
        </a:p>
      </dgm:t>
    </dgm:pt>
    <dgm:pt modelId="{20602BA7-862E-47C3-BA6E-895E568A36DA}" type="parTrans" cxnId="{1B920973-D32A-4E83-839F-FB64A46CF8C5}">
      <dgm:prSet/>
      <dgm:spPr/>
      <dgm:t>
        <a:bodyPr/>
        <a:lstStyle/>
        <a:p>
          <a:endParaRPr lang="en-US"/>
        </a:p>
      </dgm:t>
    </dgm:pt>
    <dgm:pt modelId="{ABBC18A6-882F-4E28-90A9-DC76961F6DCB}" type="sibTrans" cxnId="{1B920973-D32A-4E83-839F-FB64A46CF8C5}">
      <dgm:prSet/>
      <dgm:spPr/>
      <dgm:t>
        <a:bodyPr/>
        <a:lstStyle/>
        <a:p>
          <a:endParaRPr lang="en-US"/>
        </a:p>
      </dgm:t>
    </dgm:pt>
    <dgm:pt modelId="{4FAF3355-EEDD-4B80-B90D-6685B106C7B1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nl-NL" dirty="0">
              <a:latin typeface="Sans sarif"/>
            </a:rPr>
            <a:t>Rest of </a:t>
          </a:r>
          <a:r>
            <a:rPr lang="nl-NL" dirty="0" err="1">
              <a:latin typeface="Sans sarif"/>
            </a:rPr>
            <a:t>the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grammatical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tenses</a:t>
          </a:r>
          <a:r>
            <a:rPr lang="nl-NL" dirty="0">
              <a:latin typeface="Sans sarif"/>
            </a:rPr>
            <a:t> are </a:t>
          </a:r>
          <a:r>
            <a:rPr lang="nl-NL" dirty="0" err="1">
              <a:latin typeface="Sans sarif"/>
            </a:rPr>
            <a:t>aspects</a:t>
          </a:r>
          <a:r>
            <a:rPr lang="nl-NL" dirty="0">
              <a:latin typeface="Sans sarif"/>
            </a:rPr>
            <a:t> of these </a:t>
          </a:r>
          <a:r>
            <a:rPr lang="nl-NL" dirty="0" err="1">
              <a:latin typeface="Sans sarif"/>
            </a:rPr>
            <a:t>three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main</a:t>
          </a:r>
          <a:r>
            <a:rPr lang="nl-NL" dirty="0">
              <a:latin typeface="Sans sarif"/>
            </a:rPr>
            <a:t> </a:t>
          </a:r>
          <a:r>
            <a:rPr lang="nl-NL" dirty="0" err="1">
              <a:latin typeface="Sans sarif"/>
            </a:rPr>
            <a:t>tenses</a:t>
          </a:r>
          <a:endParaRPr lang="en-US" dirty="0">
            <a:latin typeface="Sans sarif"/>
          </a:endParaRPr>
        </a:p>
      </dgm:t>
    </dgm:pt>
    <dgm:pt modelId="{F4DF3FB5-59F0-4325-B0AD-58861F956C39}" type="parTrans" cxnId="{EBB20B99-6D83-4533-87CB-6AA6E95711C2}">
      <dgm:prSet/>
      <dgm:spPr/>
      <dgm:t>
        <a:bodyPr/>
        <a:lstStyle/>
        <a:p>
          <a:endParaRPr lang="en-US"/>
        </a:p>
      </dgm:t>
    </dgm:pt>
    <dgm:pt modelId="{FADCCF1D-7FB6-4660-8E5C-40BEC68D872F}" type="sibTrans" cxnId="{EBB20B99-6D83-4533-87CB-6AA6E95711C2}">
      <dgm:prSet/>
      <dgm:spPr/>
      <dgm:t>
        <a:bodyPr/>
        <a:lstStyle/>
        <a:p>
          <a:endParaRPr lang="en-US"/>
        </a:p>
      </dgm:t>
    </dgm:pt>
    <dgm:pt modelId="{E0731DE8-F93E-45C1-8979-888FC0BAD619}" type="pres">
      <dgm:prSet presAssocID="{C1B3E9EF-83CB-4781-AB51-854227B88749}" presName="root" presStyleCnt="0">
        <dgm:presLayoutVars>
          <dgm:dir/>
          <dgm:resizeHandles val="exact"/>
        </dgm:presLayoutVars>
      </dgm:prSet>
      <dgm:spPr/>
    </dgm:pt>
    <dgm:pt modelId="{739661B1-FCFE-4DFB-AE44-6F6F0A858A3F}" type="pres">
      <dgm:prSet presAssocID="{53718764-22B0-4BB3-8C21-79A8C6459E80}" presName="compNode" presStyleCnt="0"/>
      <dgm:spPr/>
    </dgm:pt>
    <dgm:pt modelId="{B686A8D8-3DD0-4C7A-9BB2-8F3A26C209A3}" type="pres">
      <dgm:prSet presAssocID="{53718764-22B0-4BB3-8C21-79A8C6459E80}" presName="bgRect" presStyleLbl="bgShp" presStyleIdx="0" presStyleCnt="2"/>
      <dgm:spPr/>
    </dgm:pt>
    <dgm:pt modelId="{F751E028-44E6-452D-8908-2C93A1A283EB}" type="pres">
      <dgm:prSet presAssocID="{53718764-22B0-4BB3-8C21-79A8C6459E8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E08CE6FF-BFA0-4F92-A1B9-323E50DE0964}" type="pres">
      <dgm:prSet presAssocID="{53718764-22B0-4BB3-8C21-79A8C6459E80}" presName="spaceRect" presStyleCnt="0"/>
      <dgm:spPr/>
    </dgm:pt>
    <dgm:pt modelId="{D8C1FD80-3441-428A-B7F6-CBC17FFD55C5}" type="pres">
      <dgm:prSet presAssocID="{53718764-22B0-4BB3-8C21-79A8C6459E80}" presName="parTx" presStyleLbl="revTx" presStyleIdx="0" presStyleCnt="3">
        <dgm:presLayoutVars>
          <dgm:chMax val="0"/>
          <dgm:chPref val="0"/>
        </dgm:presLayoutVars>
      </dgm:prSet>
      <dgm:spPr/>
    </dgm:pt>
    <dgm:pt modelId="{722B9AA0-6C5F-4D70-B4EE-346E3CBD1B55}" type="pres">
      <dgm:prSet presAssocID="{98023D89-B27D-475F-9560-4FC6D0D0EEF1}" presName="sibTrans" presStyleCnt="0"/>
      <dgm:spPr/>
    </dgm:pt>
    <dgm:pt modelId="{E79C0815-BA13-4A89-95AE-041BB37ED02B}" type="pres">
      <dgm:prSet presAssocID="{CABA6653-6AC7-41FB-BE75-C0E4A43158EA}" presName="compNode" presStyleCnt="0"/>
      <dgm:spPr/>
    </dgm:pt>
    <dgm:pt modelId="{321AB329-C94D-4BB0-BE1E-57BFF188B61D}" type="pres">
      <dgm:prSet presAssocID="{CABA6653-6AC7-41FB-BE75-C0E4A43158EA}" presName="bgRect" presStyleLbl="bgShp" presStyleIdx="1" presStyleCnt="2" custLinFactNeighborY="4477"/>
      <dgm:spPr/>
    </dgm:pt>
    <dgm:pt modelId="{1CCE889C-0A14-47FD-A0EF-E800C340C99A}" type="pres">
      <dgm:prSet presAssocID="{CABA6653-6AC7-41FB-BE75-C0E4A43158E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D4B1C245-7BBD-4548-A4FF-1ED037F369D8}" type="pres">
      <dgm:prSet presAssocID="{CABA6653-6AC7-41FB-BE75-C0E4A43158EA}" presName="spaceRect" presStyleCnt="0"/>
      <dgm:spPr/>
    </dgm:pt>
    <dgm:pt modelId="{45BF4CB8-42D7-45D9-A753-132D05E95C19}" type="pres">
      <dgm:prSet presAssocID="{CABA6653-6AC7-41FB-BE75-C0E4A43158EA}" presName="parTx" presStyleLbl="revTx" presStyleIdx="1" presStyleCnt="3">
        <dgm:presLayoutVars>
          <dgm:chMax val="0"/>
          <dgm:chPref val="0"/>
        </dgm:presLayoutVars>
      </dgm:prSet>
      <dgm:spPr/>
    </dgm:pt>
    <dgm:pt modelId="{975C9FC0-BAC7-4621-967E-4FF8A0E420A0}" type="pres">
      <dgm:prSet presAssocID="{CABA6653-6AC7-41FB-BE75-C0E4A43158EA}" presName="desTx" presStyleLbl="revTx" presStyleIdx="2" presStyleCnt="3" custLinFactNeighborX="0" custLinFactNeighborY="8122">
        <dgm:presLayoutVars/>
      </dgm:prSet>
      <dgm:spPr/>
    </dgm:pt>
  </dgm:ptLst>
  <dgm:cxnLst>
    <dgm:cxn modelId="{F05B6A1D-6C4D-4E59-BC8C-766365C04FDA}" type="presOf" srcId="{C1B3E9EF-83CB-4781-AB51-854227B88749}" destId="{E0731DE8-F93E-45C1-8979-888FC0BAD619}" srcOrd="0" destOrd="0" presId="urn:microsoft.com/office/officeart/2018/2/layout/IconVerticalSolidList"/>
    <dgm:cxn modelId="{E898C239-6B59-4AA9-A66C-A178305BB89C}" type="presOf" srcId="{CABA6653-6AC7-41FB-BE75-C0E4A43158EA}" destId="{45BF4CB8-42D7-45D9-A753-132D05E95C19}" srcOrd="0" destOrd="0" presId="urn:microsoft.com/office/officeart/2018/2/layout/IconVerticalSolidList"/>
    <dgm:cxn modelId="{4596345E-D2DE-482E-89DE-F73DF0827EB2}" type="presOf" srcId="{4FAF3355-EEDD-4B80-B90D-6685B106C7B1}" destId="{975C9FC0-BAC7-4621-967E-4FF8A0E420A0}" srcOrd="0" destOrd="0" presId="urn:microsoft.com/office/officeart/2018/2/layout/IconVerticalSolidList"/>
    <dgm:cxn modelId="{1B920973-D32A-4E83-839F-FB64A46CF8C5}" srcId="{C1B3E9EF-83CB-4781-AB51-854227B88749}" destId="{CABA6653-6AC7-41FB-BE75-C0E4A43158EA}" srcOrd="1" destOrd="0" parTransId="{20602BA7-862E-47C3-BA6E-895E568A36DA}" sibTransId="{ABBC18A6-882F-4E28-90A9-DC76961F6DCB}"/>
    <dgm:cxn modelId="{D3F3EA7D-AB03-4659-A6A4-E8CEB56A8DB6}" srcId="{C1B3E9EF-83CB-4781-AB51-854227B88749}" destId="{53718764-22B0-4BB3-8C21-79A8C6459E80}" srcOrd="0" destOrd="0" parTransId="{8EFD5F5E-F7E2-4216-9633-A164AFE78ACE}" sibTransId="{98023D89-B27D-475F-9560-4FC6D0D0EEF1}"/>
    <dgm:cxn modelId="{EBB20B99-6D83-4533-87CB-6AA6E95711C2}" srcId="{CABA6653-6AC7-41FB-BE75-C0E4A43158EA}" destId="{4FAF3355-EEDD-4B80-B90D-6685B106C7B1}" srcOrd="0" destOrd="0" parTransId="{F4DF3FB5-59F0-4325-B0AD-58861F956C39}" sibTransId="{FADCCF1D-7FB6-4660-8E5C-40BEC68D872F}"/>
    <dgm:cxn modelId="{7BAFB2F0-7020-4E21-A201-F708D8AF03A3}" type="presOf" srcId="{53718764-22B0-4BB3-8C21-79A8C6459E80}" destId="{D8C1FD80-3441-428A-B7F6-CBC17FFD55C5}" srcOrd="0" destOrd="0" presId="urn:microsoft.com/office/officeart/2018/2/layout/IconVerticalSolidList"/>
    <dgm:cxn modelId="{E087FBCD-3645-4D62-9BAE-AB172A4945A7}" type="presParOf" srcId="{E0731DE8-F93E-45C1-8979-888FC0BAD619}" destId="{739661B1-FCFE-4DFB-AE44-6F6F0A858A3F}" srcOrd="0" destOrd="0" presId="urn:microsoft.com/office/officeart/2018/2/layout/IconVerticalSolidList"/>
    <dgm:cxn modelId="{EB7E4C39-FD07-44A6-A38D-5F98D84426A8}" type="presParOf" srcId="{739661B1-FCFE-4DFB-AE44-6F6F0A858A3F}" destId="{B686A8D8-3DD0-4C7A-9BB2-8F3A26C209A3}" srcOrd="0" destOrd="0" presId="urn:microsoft.com/office/officeart/2018/2/layout/IconVerticalSolidList"/>
    <dgm:cxn modelId="{45F11B3B-F272-40E3-9ED4-77CAA9C694EB}" type="presParOf" srcId="{739661B1-FCFE-4DFB-AE44-6F6F0A858A3F}" destId="{F751E028-44E6-452D-8908-2C93A1A283EB}" srcOrd="1" destOrd="0" presId="urn:microsoft.com/office/officeart/2018/2/layout/IconVerticalSolidList"/>
    <dgm:cxn modelId="{24BDCAA1-E1CA-4CBF-BF3F-28B89DBCC091}" type="presParOf" srcId="{739661B1-FCFE-4DFB-AE44-6F6F0A858A3F}" destId="{E08CE6FF-BFA0-4F92-A1B9-323E50DE0964}" srcOrd="2" destOrd="0" presId="urn:microsoft.com/office/officeart/2018/2/layout/IconVerticalSolidList"/>
    <dgm:cxn modelId="{9EC00284-F83E-4969-B459-ED5832D7B3C7}" type="presParOf" srcId="{739661B1-FCFE-4DFB-AE44-6F6F0A858A3F}" destId="{D8C1FD80-3441-428A-B7F6-CBC17FFD55C5}" srcOrd="3" destOrd="0" presId="urn:microsoft.com/office/officeart/2018/2/layout/IconVerticalSolidList"/>
    <dgm:cxn modelId="{34983551-714E-4A7A-ABA8-7E6CA4269DEC}" type="presParOf" srcId="{E0731DE8-F93E-45C1-8979-888FC0BAD619}" destId="{722B9AA0-6C5F-4D70-B4EE-346E3CBD1B55}" srcOrd="1" destOrd="0" presId="urn:microsoft.com/office/officeart/2018/2/layout/IconVerticalSolidList"/>
    <dgm:cxn modelId="{35BCF1F4-DD3E-4755-AC1D-5DDD4181DC82}" type="presParOf" srcId="{E0731DE8-F93E-45C1-8979-888FC0BAD619}" destId="{E79C0815-BA13-4A89-95AE-041BB37ED02B}" srcOrd="2" destOrd="0" presId="urn:microsoft.com/office/officeart/2018/2/layout/IconVerticalSolidList"/>
    <dgm:cxn modelId="{8D5A7134-7017-499C-9345-8ABEC0EEF708}" type="presParOf" srcId="{E79C0815-BA13-4A89-95AE-041BB37ED02B}" destId="{321AB329-C94D-4BB0-BE1E-57BFF188B61D}" srcOrd="0" destOrd="0" presId="urn:microsoft.com/office/officeart/2018/2/layout/IconVerticalSolidList"/>
    <dgm:cxn modelId="{34C03A6E-D62C-465C-B37C-7401FA83DB7A}" type="presParOf" srcId="{E79C0815-BA13-4A89-95AE-041BB37ED02B}" destId="{1CCE889C-0A14-47FD-A0EF-E800C340C99A}" srcOrd="1" destOrd="0" presId="urn:microsoft.com/office/officeart/2018/2/layout/IconVerticalSolidList"/>
    <dgm:cxn modelId="{AA3468ED-2747-4FE9-BFE3-8FEBF79D919F}" type="presParOf" srcId="{E79C0815-BA13-4A89-95AE-041BB37ED02B}" destId="{D4B1C245-7BBD-4548-A4FF-1ED037F369D8}" srcOrd="2" destOrd="0" presId="urn:microsoft.com/office/officeart/2018/2/layout/IconVerticalSolidList"/>
    <dgm:cxn modelId="{68212050-CCF3-4E54-A1FC-8A2F923C938E}" type="presParOf" srcId="{E79C0815-BA13-4A89-95AE-041BB37ED02B}" destId="{45BF4CB8-42D7-45D9-A753-132D05E95C19}" srcOrd="3" destOrd="0" presId="urn:microsoft.com/office/officeart/2018/2/layout/IconVerticalSolidList"/>
    <dgm:cxn modelId="{4CB3D033-E109-4E0F-9A29-2B2A5A7D7C2A}" type="presParOf" srcId="{E79C0815-BA13-4A89-95AE-041BB37ED02B}" destId="{975C9FC0-BAC7-4621-967E-4FF8A0E420A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E2914-B370-4C41-AA2C-EC3544D66E31}">
      <dsp:nvSpPr>
        <dsp:cNvPr id="0" name=""/>
        <dsp:cNvSpPr/>
      </dsp:nvSpPr>
      <dsp:spPr>
        <a:xfrm>
          <a:off x="211164" y="1303259"/>
          <a:ext cx="550068" cy="508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C0338-62E4-4CE2-8573-10D837332EE6}">
      <dsp:nvSpPr>
        <dsp:cNvPr id="0" name=""/>
        <dsp:cNvSpPr/>
      </dsp:nvSpPr>
      <dsp:spPr>
        <a:xfrm>
          <a:off x="286936" y="3844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l-NL" sz="3500" kern="1200" dirty="0" err="1">
              <a:latin typeface="Sans sarif"/>
            </a:rPr>
            <a:t>Two</a:t>
          </a:r>
          <a:r>
            <a:rPr lang="nl-NL" sz="3500" kern="1200" dirty="0">
              <a:latin typeface="Sans sarif"/>
            </a:rPr>
            <a:t> </a:t>
          </a:r>
          <a:r>
            <a:rPr lang="nl-NL" sz="3500" kern="1200" dirty="0" err="1">
              <a:latin typeface="Sans sarif"/>
            </a:rPr>
            <a:t>sessions</a:t>
          </a:r>
          <a:r>
            <a:rPr lang="nl-NL" sz="3500" kern="1200" dirty="0">
              <a:latin typeface="Sans sarif"/>
            </a:rPr>
            <a:t> per week </a:t>
          </a:r>
          <a:endParaRPr lang="en-US" sz="3500" kern="1200" dirty="0">
            <a:latin typeface="Sans sarif"/>
          </a:endParaRPr>
        </a:p>
      </dsp:txBody>
      <dsp:txXfrm>
        <a:off x="286936" y="384499"/>
        <a:ext cx="4320000" cy="648000"/>
      </dsp:txXfrm>
    </dsp:sp>
    <dsp:sp modelId="{AE562873-E1B6-4412-9ED9-48332924E263}">
      <dsp:nvSpPr>
        <dsp:cNvPr id="0" name=""/>
        <dsp:cNvSpPr/>
      </dsp:nvSpPr>
      <dsp:spPr>
        <a:xfrm>
          <a:off x="1015915" y="1302409"/>
          <a:ext cx="6151291" cy="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>
              <a:latin typeface="Sans sarif"/>
            </a:rPr>
            <a:t>1) Group Workshop </a:t>
          </a: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700" kern="1200" noProof="0" dirty="0">
              <a:latin typeface="Sans sarif"/>
            </a:rPr>
            <a:t>Explanation, discussion and practice of a grammatical topic</a:t>
          </a: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noProof="0" dirty="0">
            <a:latin typeface="Sans sarif"/>
          </a:endParaRP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>
              <a:latin typeface="Sans sarif"/>
            </a:rPr>
            <a:t>2) Work sessions (</a:t>
          </a:r>
          <a:r>
            <a:rPr lang="en-US" sz="1700" kern="1200" noProof="0" dirty="0" err="1">
              <a:latin typeface="Sans sarif"/>
            </a:rPr>
            <a:t>leerplein</a:t>
          </a:r>
          <a:r>
            <a:rPr lang="en-US" sz="1700" kern="1200" noProof="0" dirty="0">
              <a:latin typeface="Sans sarif"/>
            </a:rPr>
            <a:t>).</a:t>
          </a: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>
              <a:latin typeface="Sans sarif"/>
            </a:rPr>
            <a:t>Open ended sessions with all groups: </a:t>
          </a: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noProof="0" dirty="0">
              <a:latin typeface="Sans sarif"/>
            </a:rPr>
            <a:t>- </a:t>
          </a:r>
          <a:r>
            <a:rPr lang="en-US" sz="1700" b="1" kern="1200" noProof="0" dirty="0">
              <a:latin typeface="Sans sarif"/>
            </a:rPr>
            <a:t>Work</a:t>
          </a:r>
          <a:r>
            <a:rPr lang="en-US" sz="1700" kern="1200" noProof="0" dirty="0">
              <a:latin typeface="Sans sarif"/>
            </a:rPr>
            <a:t> on self-study topics, </a:t>
          </a: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noProof="0" dirty="0">
              <a:latin typeface="Sans sarif"/>
            </a:rPr>
            <a:t>- </a:t>
          </a:r>
          <a:r>
            <a:rPr lang="en-US" sz="1700" b="1" kern="1200" noProof="0" dirty="0">
              <a:latin typeface="Sans sarif"/>
            </a:rPr>
            <a:t>Ask</a:t>
          </a:r>
          <a:r>
            <a:rPr lang="en-US" sz="1700" kern="1200" noProof="0" dirty="0">
              <a:latin typeface="Sans sarif"/>
            </a:rPr>
            <a:t> teachers questions about that week’s topics, </a:t>
          </a: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noProof="0" dirty="0">
              <a:latin typeface="Sans sarif"/>
            </a:rPr>
            <a:t>- </a:t>
          </a:r>
          <a:r>
            <a:rPr lang="en-US" sz="1700" b="1" kern="1200" noProof="0" dirty="0">
              <a:latin typeface="Sans sarif"/>
            </a:rPr>
            <a:t>Work</a:t>
          </a:r>
          <a:r>
            <a:rPr lang="en-US" sz="1700" kern="1200" noProof="0" dirty="0">
              <a:latin typeface="Sans sarif"/>
            </a:rPr>
            <a:t> on speaking (get feedback) or </a:t>
          </a:r>
        </a:p>
        <a:p>
          <a:pPr marL="0"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noProof="0" dirty="0">
              <a:latin typeface="Sans sarif"/>
            </a:rPr>
            <a:t>- </a:t>
          </a:r>
          <a:r>
            <a:rPr lang="en-US" sz="1700" b="1" kern="1200" noProof="0" dirty="0">
              <a:latin typeface="Sans sarif"/>
            </a:rPr>
            <a:t>Work</a:t>
          </a:r>
          <a:r>
            <a:rPr lang="en-US" sz="1700" kern="1200" noProof="0" dirty="0">
              <a:latin typeface="Sans sarif"/>
            </a:rPr>
            <a:t> on writing/culture assignments.  </a:t>
          </a:r>
        </a:p>
      </dsp:txBody>
      <dsp:txXfrm>
        <a:off x="1015915" y="1302409"/>
        <a:ext cx="6151291" cy="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6A8D8-3DD0-4C7A-9BB2-8F3A26C209A3}">
      <dsp:nvSpPr>
        <dsp:cNvPr id="0" name=""/>
        <dsp:cNvSpPr/>
      </dsp:nvSpPr>
      <dsp:spPr>
        <a:xfrm>
          <a:off x="0" y="730567"/>
          <a:ext cx="8153400" cy="13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1E028-44E6-452D-8908-2C93A1A283EB}">
      <dsp:nvSpPr>
        <dsp:cNvPr id="0" name=""/>
        <dsp:cNvSpPr/>
      </dsp:nvSpPr>
      <dsp:spPr>
        <a:xfrm>
          <a:off x="407993" y="1034033"/>
          <a:ext cx="741807" cy="741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1FD80-3441-428A-B7F6-CBC17FFD55C5}">
      <dsp:nvSpPr>
        <dsp:cNvPr id="0" name=""/>
        <dsp:cNvSpPr/>
      </dsp:nvSpPr>
      <dsp:spPr>
        <a:xfrm>
          <a:off x="1557794" y="730567"/>
          <a:ext cx="6595605" cy="13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742" tIns="142742" rIns="142742" bIns="142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dirty="0">
              <a:latin typeface="Sans sarif"/>
            </a:rPr>
            <a:t>We </a:t>
          </a:r>
          <a:r>
            <a:rPr lang="nl-NL" sz="2500" kern="1200" dirty="0" err="1">
              <a:latin typeface="Sans sarif"/>
            </a:rPr>
            <a:t>use</a:t>
          </a:r>
          <a:r>
            <a:rPr lang="nl-NL" sz="2500" kern="1200" dirty="0">
              <a:latin typeface="Sans sarif"/>
            </a:rPr>
            <a:t> </a:t>
          </a:r>
          <a:r>
            <a:rPr lang="nl-NL" sz="2500" kern="1200" dirty="0" err="1">
              <a:latin typeface="Sans sarif"/>
            </a:rPr>
            <a:t>grammatical</a:t>
          </a:r>
          <a:r>
            <a:rPr lang="nl-NL" sz="2500" kern="1200" dirty="0">
              <a:latin typeface="Sans sarif"/>
            </a:rPr>
            <a:t> </a:t>
          </a:r>
          <a:r>
            <a:rPr lang="nl-NL" sz="2500" kern="1200" dirty="0" err="1">
              <a:latin typeface="Sans sarif"/>
            </a:rPr>
            <a:t>tenses</a:t>
          </a:r>
          <a:r>
            <a:rPr lang="nl-NL" sz="2500" kern="1200" dirty="0">
              <a:latin typeface="Sans sarif"/>
            </a:rPr>
            <a:t> </a:t>
          </a:r>
          <a:r>
            <a:rPr lang="nl-NL" sz="2500" kern="1200" dirty="0" err="1">
              <a:latin typeface="Sans sarif"/>
            </a:rPr>
            <a:t>to</a:t>
          </a:r>
          <a:r>
            <a:rPr lang="nl-NL" sz="2500" kern="1200" dirty="0">
              <a:latin typeface="Sans sarif"/>
            </a:rPr>
            <a:t> </a:t>
          </a:r>
          <a:r>
            <a:rPr lang="nl-NL" sz="2500" kern="1200" dirty="0" err="1">
              <a:latin typeface="Sans sarif"/>
            </a:rPr>
            <a:t>describe</a:t>
          </a:r>
          <a:r>
            <a:rPr lang="nl-NL" sz="2500" kern="1200" dirty="0">
              <a:latin typeface="Sans sarif"/>
            </a:rPr>
            <a:t> </a:t>
          </a:r>
          <a:r>
            <a:rPr lang="nl-NL" sz="2500" b="1" kern="1200" dirty="0" err="1">
              <a:latin typeface="Sans sarif"/>
            </a:rPr>
            <a:t>when</a:t>
          </a:r>
          <a:r>
            <a:rPr lang="nl-NL" sz="2500" kern="1200" dirty="0">
              <a:latin typeface="Sans sarif"/>
            </a:rPr>
            <a:t> </a:t>
          </a:r>
          <a:r>
            <a:rPr lang="nl-NL" sz="2500" kern="1200" dirty="0" err="1">
              <a:latin typeface="Sans sarif"/>
            </a:rPr>
            <a:t>an</a:t>
          </a:r>
          <a:r>
            <a:rPr lang="nl-NL" sz="2500" kern="1200" dirty="0">
              <a:latin typeface="Sans sarif"/>
            </a:rPr>
            <a:t> ACTION </a:t>
          </a:r>
          <a:r>
            <a:rPr lang="nl-NL" sz="2500" kern="1200" dirty="0" err="1">
              <a:latin typeface="Sans sarif"/>
            </a:rPr>
            <a:t>happened</a:t>
          </a:r>
          <a:r>
            <a:rPr lang="nl-NL" sz="2500" kern="1200" dirty="0">
              <a:latin typeface="Sans sarif"/>
            </a:rPr>
            <a:t>. </a:t>
          </a:r>
          <a:endParaRPr lang="en-US" sz="2500" kern="1200" dirty="0">
            <a:latin typeface="Sans sarif"/>
          </a:endParaRPr>
        </a:p>
      </dsp:txBody>
      <dsp:txXfrm>
        <a:off x="1557794" y="730567"/>
        <a:ext cx="6595605" cy="1348740"/>
      </dsp:txXfrm>
    </dsp:sp>
    <dsp:sp modelId="{321AB329-C94D-4BB0-BE1E-57BFF188B61D}">
      <dsp:nvSpPr>
        <dsp:cNvPr id="0" name=""/>
        <dsp:cNvSpPr/>
      </dsp:nvSpPr>
      <dsp:spPr>
        <a:xfrm>
          <a:off x="0" y="2476875"/>
          <a:ext cx="8153400" cy="13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E889C-0A14-47FD-A0EF-E800C340C99A}">
      <dsp:nvSpPr>
        <dsp:cNvPr id="0" name=""/>
        <dsp:cNvSpPr/>
      </dsp:nvSpPr>
      <dsp:spPr>
        <a:xfrm>
          <a:off x="407993" y="2719959"/>
          <a:ext cx="741807" cy="741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F4CB8-42D7-45D9-A753-132D05E95C19}">
      <dsp:nvSpPr>
        <dsp:cNvPr id="0" name=""/>
        <dsp:cNvSpPr/>
      </dsp:nvSpPr>
      <dsp:spPr>
        <a:xfrm>
          <a:off x="1557794" y="2416492"/>
          <a:ext cx="3669030" cy="13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742" tIns="142742" rIns="142742" bIns="142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dirty="0">
              <a:latin typeface="Sans sarif"/>
            </a:rPr>
            <a:t>Three </a:t>
          </a:r>
          <a:r>
            <a:rPr lang="nl-NL" sz="2500" kern="1200" dirty="0" err="1">
              <a:latin typeface="Sans sarif"/>
            </a:rPr>
            <a:t>main</a:t>
          </a:r>
          <a:r>
            <a:rPr lang="nl-NL" sz="2500" kern="1200" dirty="0">
              <a:latin typeface="Sans sarif"/>
            </a:rPr>
            <a:t> </a:t>
          </a:r>
          <a:r>
            <a:rPr lang="nl-NL" sz="2500" kern="1200" dirty="0" err="1">
              <a:latin typeface="Sans sarif"/>
            </a:rPr>
            <a:t>tenses</a:t>
          </a:r>
          <a:r>
            <a:rPr lang="nl-NL" sz="2500" kern="1200" dirty="0">
              <a:latin typeface="Sans sarif"/>
            </a:rPr>
            <a:t>: </a:t>
          </a:r>
        </a:p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dirty="0">
              <a:latin typeface="Sans sarif"/>
            </a:rPr>
            <a:t>Past, Present, </a:t>
          </a:r>
          <a:r>
            <a:rPr lang="nl-NL" sz="2500" kern="1200" dirty="0" err="1">
              <a:latin typeface="Sans sarif"/>
            </a:rPr>
            <a:t>Future</a:t>
          </a:r>
          <a:endParaRPr lang="en-US" sz="2500" kern="1200" dirty="0">
            <a:latin typeface="Sans sarif"/>
          </a:endParaRPr>
        </a:p>
      </dsp:txBody>
      <dsp:txXfrm>
        <a:off x="1557794" y="2416492"/>
        <a:ext cx="3669030" cy="1348740"/>
      </dsp:txXfrm>
    </dsp:sp>
    <dsp:sp modelId="{975C9FC0-BAC7-4621-967E-4FF8A0E420A0}">
      <dsp:nvSpPr>
        <dsp:cNvPr id="0" name=""/>
        <dsp:cNvSpPr/>
      </dsp:nvSpPr>
      <dsp:spPr>
        <a:xfrm>
          <a:off x="5226824" y="2526037"/>
          <a:ext cx="2926575" cy="13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742" tIns="142742" rIns="142742" bIns="142742" numCol="1" spcCol="1270" anchor="ctr" anchorCtr="0">
          <a:noAutofit/>
        </a:bodyPr>
        <a:lstStyle/>
        <a:p>
          <a:pPr marL="0" lvl="0" indent="0" algn="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800" kern="1200" dirty="0">
              <a:latin typeface="Sans sarif"/>
            </a:rPr>
            <a:t>Rest of </a:t>
          </a:r>
          <a:r>
            <a:rPr lang="nl-NL" sz="1800" kern="1200" dirty="0" err="1">
              <a:latin typeface="Sans sarif"/>
            </a:rPr>
            <a:t>the</a:t>
          </a:r>
          <a:r>
            <a:rPr lang="nl-NL" sz="1800" kern="1200" dirty="0">
              <a:latin typeface="Sans sarif"/>
            </a:rPr>
            <a:t> </a:t>
          </a:r>
          <a:r>
            <a:rPr lang="nl-NL" sz="1800" kern="1200" dirty="0" err="1">
              <a:latin typeface="Sans sarif"/>
            </a:rPr>
            <a:t>grammatical</a:t>
          </a:r>
          <a:r>
            <a:rPr lang="nl-NL" sz="1800" kern="1200" dirty="0">
              <a:latin typeface="Sans sarif"/>
            </a:rPr>
            <a:t> </a:t>
          </a:r>
          <a:r>
            <a:rPr lang="nl-NL" sz="1800" kern="1200" dirty="0" err="1">
              <a:latin typeface="Sans sarif"/>
            </a:rPr>
            <a:t>tenses</a:t>
          </a:r>
          <a:r>
            <a:rPr lang="nl-NL" sz="1800" kern="1200" dirty="0">
              <a:latin typeface="Sans sarif"/>
            </a:rPr>
            <a:t> are </a:t>
          </a:r>
          <a:r>
            <a:rPr lang="nl-NL" sz="1800" kern="1200" dirty="0" err="1">
              <a:latin typeface="Sans sarif"/>
            </a:rPr>
            <a:t>aspects</a:t>
          </a:r>
          <a:r>
            <a:rPr lang="nl-NL" sz="1800" kern="1200" dirty="0">
              <a:latin typeface="Sans sarif"/>
            </a:rPr>
            <a:t> of these </a:t>
          </a:r>
          <a:r>
            <a:rPr lang="nl-NL" sz="1800" kern="1200" dirty="0" err="1">
              <a:latin typeface="Sans sarif"/>
            </a:rPr>
            <a:t>three</a:t>
          </a:r>
          <a:r>
            <a:rPr lang="nl-NL" sz="1800" kern="1200" dirty="0">
              <a:latin typeface="Sans sarif"/>
            </a:rPr>
            <a:t> </a:t>
          </a:r>
          <a:r>
            <a:rPr lang="nl-NL" sz="1800" kern="1200" dirty="0" err="1">
              <a:latin typeface="Sans sarif"/>
            </a:rPr>
            <a:t>main</a:t>
          </a:r>
          <a:r>
            <a:rPr lang="nl-NL" sz="1800" kern="1200" dirty="0">
              <a:latin typeface="Sans sarif"/>
            </a:rPr>
            <a:t> </a:t>
          </a:r>
          <a:r>
            <a:rPr lang="nl-NL" sz="1800" kern="1200" dirty="0" err="1">
              <a:latin typeface="Sans sarif"/>
            </a:rPr>
            <a:t>tenses</a:t>
          </a:r>
          <a:endParaRPr lang="en-US" sz="1800" kern="1200" dirty="0">
            <a:latin typeface="Sans sarif"/>
          </a:endParaRPr>
        </a:p>
      </dsp:txBody>
      <dsp:txXfrm>
        <a:off x="5226824" y="2526037"/>
        <a:ext cx="2926575" cy="1348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374873D-57D9-4A5B-A4DD-585D798AE78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6E48E25-63CB-4ED7-A555-A29ADE2CE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63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42B7D-9F1C-4D3D-BE18-0842AA8076D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3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4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265B7E-0028-46C5-9409-A50A2386E86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29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29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26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52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14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FontTx/>
              <a:buAutoNum type="arabicPeriod"/>
            </a:pP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true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it’s</a:t>
            </a:r>
            <a:r>
              <a:rPr lang="nl-NL" dirty="0"/>
              <a:t> finished5</a:t>
            </a:r>
          </a:p>
          <a:p>
            <a:pPr marL="228600" indent="-228600">
              <a:buFontTx/>
              <a:buAutoNum type="arabicPeriod"/>
            </a:pPr>
            <a:r>
              <a:rPr lang="nl-NL" dirty="0"/>
              <a:t>It’s a </a:t>
            </a:r>
            <a:r>
              <a:rPr lang="nl-NL" dirty="0" err="1"/>
              <a:t>temporary</a:t>
            </a:r>
            <a:r>
              <a:rPr lang="nl-NL" dirty="0"/>
              <a:t> job</a:t>
            </a:r>
          </a:p>
          <a:p>
            <a:pPr marL="228600" indent="-228600">
              <a:buFontTx/>
              <a:buAutoNum type="arabicPeriod"/>
            </a:pP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necessarily</a:t>
            </a:r>
            <a:r>
              <a:rPr lang="nl-NL" dirty="0"/>
              <a:t> at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moment,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it’s</a:t>
            </a:r>
            <a:r>
              <a:rPr lang="nl-NL" dirty="0"/>
              <a:t> a </a:t>
            </a:r>
            <a:r>
              <a:rPr lang="nl-NL" dirty="0" err="1"/>
              <a:t>process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started</a:t>
            </a:r>
            <a:r>
              <a:rPr lang="nl-NL" dirty="0"/>
              <a:t> and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finished</a:t>
            </a:r>
            <a:r>
              <a:rPr lang="nl-NL" dirty="0"/>
              <a:t>. It’s </a:t>
            </a:r>
            <a:r>
              <a:rPr lang="nl-NL" dirty="0" err="1"/>
              <a:t>also</a:t>
            </a:r>
            <a:r>
              <a:rPr lang="nl-NL" dirty="0"/>
              <a:t> of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duration</a:t>
            </a:r>
            <a:r>
              <a:rPr lang="nl-NL" dirty="0"/>
              <a:t> (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it’s</a:t>
            </a:r>
            <a:r>
              <a:rPr lang="nl-NL" dirty="0"/>
              <a:t> </a:t>
            </a:r>
            <a:r>
              <a:rPr lang="nl-NL" dirty="0" err="1"/>
              <a:t>going</a:t>
            </a:r>
            <a:r>
              <a:rPr lang="nl-NL" dirty="0"/>
              <a:t> to end)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5C7E37-CEE4-41AB-8EED-F1A4A0D8D14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26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32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70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48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02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99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80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94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22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72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8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5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19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17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45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3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62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77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B861120-EFDB-4533-B87C-A1278EBF80C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D6670F-63CF-4079-A794-786884DE2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47EC1-ABE0-4B1E-BF24-47ED740CC1D4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1F90C-6C71-47B8-9FCC-79D272E82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FB728-CF93-4632-8F9C-E98FD478B402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F88FB71-350B-4322-BA0D-67C80B780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06C057-8976-4D02-9983-C10B5586AE87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ABA2D2-3FFE-48B9-A4B4-C7D439DF4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ABE3E2A-F99E-4BCC-A3D5-0439FB0740D0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5C33B46-E39D-4B46-855B-B2267F8475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A3AF-0E69-4F2D-82BA-173BD96689D8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B2942-9AF6-40A0-821E-30F877125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556E5-8ADF-45D8-8531-838E30F7077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02D403-2A6F-40B1-9F25-E15B71F26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9B093-E738-4BB2-973B-EF156D1F443B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F4BC5-822E-462D-87DC-F5E84862D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81EA648-ADAF-4466-98E9-9D38B0D713C3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3673656E-B7DE-478A-9391-C8E1CC551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1440-7457-414E-A0B4-FE059C00692B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0FBEB-C9BA-450B-A377-FC3BC75FF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25612-1A87-40E2-8D19-00DEE8E7A58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D7120-127F-4927-851E-7F4A29C2A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5613" y="273050"/>
            <a:ext cx="8226425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idx="1"/>
          </p:nvPr>
        </p:nvSpPr>
        <p:spPr>
          <a:xfrm>
            <a:off x="455613" y="1598613"/>
            <a:ext cx="8226425" cy="449738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55613" y="624205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124200" y="6242050"/>
            <a:ext cx="2895600" cy="474663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6553200" y="624205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fld id="{DF4996A3-E743-4CC6-AF03-18741D42FF9E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056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E075E96C-375F-4DE3-B7D3-7945EE79ED46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F62A9F82-0ADA-474F-891D-EEBBE786E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5" r:id="rId2"/>
    <p:sldLayoutId id="2147483870" r:id="rId3"/>
    <p:sldLayoutId id="2147483871" r:id="rId4"/>
    <p:sldLayoutId id="2147483872" r:id="rId5"/>
    <p:sldLayoutId id="2147483866" r:id="rId6"/>
    <p:sldLayoutId id="2147483873" r:id="rId7"/>
    <p:sldLayoutId id="2147483867" r:id="rId8"/>
    <p:sldLayoutId id="2147483874" r:id="rId9"/>
    <p:sldLayoutId id="2147483868" r:id="rId10"/>
    <p:sldLayoutId id="2147483875" r:id="rId11"/>
    <p:sldLayoutId id="214748387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loating chemistry structure">
            <a:extLst>
              <a:ext uri="{FF2B5EF4-FFF2-40B4-BE49-F238E27FC236}">
                <a16:creationId xmlns:a16="http://schemas.microsoft.com/office/drawing/2014/main" id="{2C03A0D7-7180-A0F7-41E8-57745E74A6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799" y="-12529"/>
            <a:ext cx="9269088" cy="63607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648" y="3152854"/>
            <a:ext cx="6477000" cy="182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Sans sarif"/>
              </a:rPr>
              <a:t>Grammar &amp; </a:t>
            </a:r>
            <a:r>
              <a:rPr lang="en-US" sz="6000" dirty="0" err="1">
                <a:solidFill>
                  <a:schemeClr val="accent1">
                    <a:lumMod val="75000"/>
                  </a:schemeClr>
                </a:solidFill>
                <a:latin typeface="Sans sarif"/>
              </a:rPr>
              <a:t>BAsics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Sans sarif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752" y="6237312"/>
            <a:ext cx="6705600" cy="685800"/>
          </a:xfrm>
        </p:spPr>
        <p:txBody>
          <a:bodyPr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>
                <a:latin typeface="Sans sarif"/>
              </a:rPr>
              <a:t>Tenses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055FE-568E-E006-8514-FB1735657D83}"/>
              </a:ext>
            </a:extLst>
          </p:cNvPr>
          <p:cNvSpPr txBox="1"/>
          <p:nvPr/>
        </p:nvSpPr>
        <p:spPr>
          <a:xfrm>
            <a:off x="98648" y="6381328"/>
            <a:ext cx="1953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ans sarif"/>
              </a:rPr>
              <a:t>Session 1 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Course Set-up</a:t>
            </a:r>
          </a:p>
        </p:txBody>
      </p:sp>
      <p:graphicFrame>
        <p:nvGraphicFramePr>
          <p:cNvPr id="9" name="Tijdelijke aanduiding voor inhoud 2">
            <a:extLst>
              <a:ext uri="{FF2B5EF4-FFF2-40B4-BE49-F238E27FC236}">
                <a16:creationId xmlns:a16="http://schemas.microsoft.com/office/drawing/2014/main" id="{2FDD50DF-2D91-4224-A0D3-62A7FEBEF84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81846086"/>
              </p:ext>
            </p:extLst>
          </p:nvPr>
        </p:nvGraphicFramePr>
        <p:xfrm>
          <a:off x="285118" y="1622534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Group brainstorm with solid fill">
            <a:extLst>
              <a:ext uri="{FF2B5EF4-FFF2-40B4-BE49-F238E27FC236}">
                <a16:creationId xmlns:a16="http://schemas.microsoft.com/office/drawing/2014/main" id="{EE273BA8-5BC6-0743-A665-45098430C0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076" y="4077072"/>
            <a:ext cx="702812" cy="70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9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E4EA-5D8A-98A5-0C30-7EF03FDBD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Todays Topic: Verbs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9ACF9-DB75-B42F-E9AA-9872CCE32E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dirty="0"/>
              <a:t>Warm-up</a:t>
            </a:r>
            <a:r>
              <a:rPr lang="en-GB" dirty="0"/>
              <a:t>: Introduce yourself to your neighbour, using as many different tenses (types of verbs) as possible.</a:t>
            </a:r>
          </a:p>
          <a:p>
            <a:r>
              <a:rPr lang="en-GB" dirty="0"/>
              <a:t>See how many different tenses you can work into your introduction.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8ACEB-9696-644E-24D8-F3AA6B0E0CFA}"/>
              </a:ext>
            </a:extLst>
          </p:cNvPr>
          <p:cNvSpPr txBox="1"/>
          <p:nvPr/>
        </p:nvSpPr>
        <p:spPr>
          <a:xfrm>
            <a:off x="5634208" y="4598075"/>
            <a:ext cx="3131840" cy="20313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Not sure what to say?  Talk about these topics!</a:t>
            </a:r>
          </a:p>
          <a:p>
            <a:pPr algn="r"/>
            <a:br>
              <a:rPr lang="en-GB" dirty="0"/>
            </a:br>
            <a:r>
              <a:rPr lang="en-GB" dirty="0"/>
              <a:t>favourite things / hobbies / ambitions / family / dislikes / what you’re reading / your morning / etc.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74BE9-AFA5-3AB1-9881-B9A23E5696B2}"/>
              </a:ext>
            </a:extLst>
          </p:cNvPr>
          <p:cNvSpPr txBox="1"/>
          <p:nvPr/>
        </p:nvSpPr>
        <p:spPr>
          <a:xfrm>
            <a:off x="636344" y="4321076"/>
            <a:ext cx="3131840" cy="23083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Tenses?</a:t>
            </a:r>
          </a:p>
          <a:p>
            <a:endParaRPr lang="en-GB" b="1" dirty="0"/>
          </a:p>
          <a:p>
            <a:r>
              <a:rPr lang="en-GB" dirty="0"/>
              <a:t>One example of a tense is the present simple:</a:t>
            </a:r>
          </a:p>
          <a:p>
            <a:pPr marL="285750" indent="-285750">
              <a:buFontTx/>
              <a:buChar char="-"/>
            </a:pPr>
            <a:r>
              <a:rPr lang="en-GB" dirty="0"/>
              <a:t>I </a:t>
            </a:r>
            <a:r>
              <a:rPr lang="en-GB" b="1" u="sng" dirty="0"/>
              <a:t>love</a:t>
            </a:r>
            <a:r>
              <a:rPr lang="en-GB" dirty="0"/>
              <a:t> the latest season of that TV show!</a:t>
            </a:r>
          </a:p>
          <a:p>
            <a:pPr marL="285750" indent="-285750">
              <a:buFontTx/>
              <a:buChar char="-"/>
            </a:pPr>
            <a:r>
              <a:rPr lang="en-GB" dirty="0"/>
              <a:t>These days, he </a:t>
            </a:r>
            <a:r>
              <a:rPr lang="en-GB" b="1" u="sng" dirty="0"/>
              <a:t>cleans</a:t>
            </a:r>
            <a:r>
              <a:rPr lang="en-GB" dirty="0"/>
              <a:t> the house more often.</a:t>
            </a:r>
          </a:p>
        </p:txBody>
      </p:sp>
    </p:spTree>
    <p:extLst>
      <p:ext uri="{BB962C8B-B14F-4D97-AF65-F5344CB8AC3E}">
        <p14:creationId xmlns:p14="http://schemas.microsoft.com/office/powerpoint/2010/main" val="349073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Grammatical Tenses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892BB523-39C6-4C4E-A0AD-734BBED110F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54211307"/>
              </p:ext>
            </p:extLst>
          </p:nvPr>
        </p:nvGraphicFramePr>
        <p:xfrm>
          <a:off x="612648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Left Brain outline">
            <a:extLst>
              <a:ext uri="{FF2B5EF4-FFF2-40B4-BE49-F238E27FC236}">
                <a16:creationId xmlns:a16="http://schemas.microsoft.com/office/drawing/2014/main" id="{7F650CF2-4FD6-F810-D3AC-721D469FD0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2080" y="4343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5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3DAF7-92AF-008B-3E82-AB1BBF86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403" y="2852936"/>
            <a:ext cx="8243193" cy="1673225"/>
          </a:xfrm>
        </p:spPr>
        <p:txBody>
          <a:bodyPr/>
          <a:lstStyle/>
          <a:p>
            <a:pPr algn="ctr"/>
            <a:r>
              <a:rPr lang="nl-NL" sz="6000" dirty="0">
                <a:solidFill>
                  <a:schemeClr val="accent2"/>
                </a:solidFill>
              </a:rPr>
              <a:t>The Present &amp; The Past</a:t>
            </a:r>
            <a:endParaRPr lang="en-GB" sz="6000" dirty="0">
              <a:solidFill>
                <a:schemeClr val="accent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53ACD0-11AE-E346-8AA2-1F5B4FE8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Today</a:t>
            </a:r>
            <a:r>
              <a:rPr lang="nl-NL" dirty="0"/>
              <a:t> we focus on: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02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95300" y="260648"/>
            <a:ext cx="8153400" cy="869950"/>
          </a:xfrm>
        </p:spPr>
        <p:txBody>
          <a:bodyPr/>
          <a:lstStyle/>
          <a:p>
            <a:r>
              <a:rPr lang="nl-NL" sz="3200" dirty="0">
                <a:latin typeface="Sans sarif"/>
              </a:rPr>
              <a:t>Present </a:t>
            </a:r>
            <a:r>
              <a:rPr lang="nl-NL" sz="3200" dirty="0" err="1">
                <a:latin typeface="Sans sarif"/>
              </a:rPr>
              <a:t>Tenses</a:t>
            </a:r>
            <a:r>
              <a:rPr lang="nl-NL" sz="3200" dirty="0">
                <a:latin typeface="Sans sarif"/>
              </a:rPr>
              <a:t> </a:t>
            </a:r>
            <a:r>
              <a:rPr lang="nl-NL" sz="3200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2"/>
          </p:nvPr>
        </p:nvSpPr>
        <p:spPr>
          <a:xfrm>
            <a:off x="325760" y="2438400"/>
            <a:ext cx="3886200" cy="3581400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It </a:t>
            </a:r>
            <a:r>
              <a:rPr lang="nl-NL" sz="2400" b="1" dirty="0" err="1">
                <a:latin typeface="Sans sarif"/>
              </a:rPr>
              <a:t>rains</a:t>
            </a:r>
            <a:r>
              <a:rPr lang="nl-NL" sz="2400" dirty="0">
                <a:latin typeface="Sans sarif"/>
              </a:rPr>
              <a:t> a lot in </a:t>
            </a:r>
            <a:r>
              <a:rPr lang="nl-NL" sz="2400" dirty="0" err="1">
                <a:latin typeface="Sans sarif"/>
              </a:rPr>
              <a:t>the</a:t>
            </a:r>
            <a:r>
              <a:rPr lang="nl-NL" sz="2400" dirty="0">
                <a:latin typeface="Sans sarif"/>
              </a:rPr>
              <a:t> Netherlands.</a:t>
            </a:r>
          </a:p>
          <a:p>
            <a:pPr marL="457200" indent="-457200">
              <a:buFont typeface="+mj-lt"/>
              <a:buAutoNum type="alphaUcPeriod"/>
            </a:pPr>
            <a:r>
              <a:rPr lang="en-GB" sz="2400" dirty="0">
                <a:latin typeface="Sans sarif"/>
              </a:rPr>
              <a:t>The train </a:t>
            </a:r>
            <a:r>
              <a:rPr lang="en-GB" sz="2400" b="1" dirty="0">
                <a:latin typeface="Sans sarif"/>
              </a:rPr>
              <a:t>leaves</a:t>
            </a:r>
            <a:r>
              <a:rPr lang="en-GB" sz="2400" dirty="0">
                <a:latin typeface="Sans sarif"/>
              </a:rPr>
              <a:t> tonight at 10 PM.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He </a:t>
            </a:r>
            <a:r>
              <a:rPr lang="nl-NL" sz="2400" b="1" dirty="0" err="1">
                <a:latin typeface="Sans sarif"/>
              </a:rPr>
              <a:t>works</a:t>
            </a:r>
            <a:r>
              <a:rPr lang="nl-NL" sz="2400" dirty="0">
                <a:latin typeface="Sans sarif"/>
              </a:rPr>
              <a:t> hard most of </a:t>
            </a:r>
            <a:r>
              <a:rPr lang="nl-NL" sz="2400" dirty="0" err="1">
                <a:latin typeface="Sans sarif"/>
              </a:rPr>
              <a:t>the</a:t>
            </a:r>
            <a:r>
              <a:rPr lang="nl-NL" sz="2400" dirty="0">
                <a:latin typeface="Sans sarif"/>
              </a:rPr>
              <a:t> time.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 err="1">
                <a:latin typeface="Sans sarif"/>
              </a:rPr>
              <a:t>They</a:t>
            </a:r>
            <a:r>
              <a:rPr lang="nl-NL" sz="2400" dirty="0">
                <a:latin typeface="Sans sarif"/>
              </a:rPr>
              <a:t> </a:t>
            </a:r>
            <a:r>
              <a:rPr lang="nl-NL" sz="2400" b="1" dirty="0" err="1">
                <a:latin typeface="Sans sarif"/>
              </a:rPr>
              <a:t>play</a:t>
            </a:r>
            <a:r>
              <a:rPr lang="nl-NL" sz="2400" dirty="0">
                <a:latin typeface="Sans sarif"/>
              </a:rPr>
              <a:t> tennis.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Water </a:t>
            </a:r>
            <a:r>
              <a:rPr lang="nl-NL" sz="2400" b="1" dirty="0" err="1">
                <a:latin typeface="Sans sarif"/>
              </a:rPr>
              <a:t>freezes</a:t>
            </a:r>
            <a:r>
              <a:rPr lang="nl-NL" sz="2400" dirty="0">
                <a:latin typeface="Sans sarif"/>
              </a:rPr>
              <a:t> at 0 </a:t>
            </a:r>
            <a:r>
              <a:rPr lang="nl-NL" sz="2400" dirty="0" err="1">
                <a:latin typeface="Sans sarif"/>
              </a:rPr>
              <a:t>degrees</a:t>
            </a:r>
            <a:r>
              <a:rPr lang="nl-NL" sz="2400" dirty="0">
                <a:latin typeface="Sans sarif"/>
              </a:rPr>
              <a:t> Celsius.</a:t>
            </a:r>
          </a:p>
          <a:p>
            <a:pPr marL="514350" indent="-514350">
              <a:buFont typeface="+mj-lt"/>
              <a:buAutoNum type="alphaUcPeriod"/>
            </a:pPr>
            <a:endParaRPr lang="nl-NL" sz="2800" dirty="0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4"/>
          </p:nvPr>
        </p:nvSpPr>
        <p:spPr>
          <a:xfrm>
            <a:off x="4211960" y="2438400"/>
            <a:ext cx="4932040" cy="3581400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Close </a:t>
            </a:r>
            <a:r>
              <a:rPr lang="nl-NL" sz="2400" dirty="0" err="1">
                <a:latin typeface="Sans sarif"/>
              </a:rPr>
              <a:t>the</a:t>
            </a:r>
            <a:r>
              <a:rPr lang="nl-NL" sz="2400" dirty="0">
                <a:latin typeface="Sans sarif"/>
              </a:rPr>
              <a:t> door! It </a:t>
            </a:r>
            <a:r>
              <a:rPr lang="nl-NL" sz="2400" b="1" dirty="0">
                <a:latin typeface="Sans sarif"/>
              </a:rPr>
              <a:t>is </a:t>
            </a:r>
            <a:r>
              <a:rPr lang="nl-NL" sz="2400" b="1" dirty="0" err="1">
                <a:latin typeface="Sans sarif"/>
              </a:rPr>
              <a:t>freezing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outside</a:t>
            </a:r>
            <a:r>
              <a:rPr lang="nl-NL" sz="2400" dirty="0">
                <a:latin typeface="Sans sarif"/>
              </a:rPr>
              <a:t>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</a:t>
            </a:r>
            <a:r>
              <a:rPr lang="nl-NL" sz="2400" b="1" dirty="0" err="1">
                <a:latin typeface="Sans sarif"/>
              </a:rPr>
              <a:t>staying</a:t>
            </a:r>
            <a:r>
              <a:rPr lang="nl-NL" sz="2400" dirty="0">
                <a:latin typeface="Sans sarif"/>
              </a:rPr>
              <a:t> with </a:t>
            </a:r>
            <a:r>
              <a:rPr lang="nl-NL" sz="2400" dirty="0" err="1">
                <a:latin typeface="Sans sarif"/>
              </a:rPr>
              <a:t>some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friends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until</a:t>
            </a:r>
            <a:r>
              <a:rPr lang="nl-NL" sz="2400" dirty="0">
                <a:latin typeface="Sans sarif"/>
              </a:rPr>
              <a:t> I </a:t>
            </a:r>
            <a:r>
              <a:rPr lang="nl-NL" sz="2400" dirty="0" err="1">
                <a:latin typeface="Sans sarif"/>
              </a:rPr>
              <a:t>find</a:t>
            </a:r>
            <a:r>
              <a:rPr lang="nl-NL" sz="2400" dirty="0">
                <a:latin typeface="Sans sarif"/>
              </a:rPr>
              <a:t> a flat.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 err="1">
                <a:latin typeface="Sans sarif"/>
              </a:rPr>
              <a:t>Shh</a:t>
            </a:r>
            <a:r>
              <a:rPr lang="nl-NL" sz="2400" dirty="0">
                <a:latin typeface="Sans sarif"/>
              </a:rPr>
              <a:t>! 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reading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my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book</a:t>
            </a:r>
            <a:r>
              <a:rPr lang="nl-NL" sz="2400" dirty="0">
                <a:latin typeface="Sans sarif"/>
              </a:rPr>
              <a:t>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reading</a:t>
            </a:r>
            <a:r>
              <a:rPr lang="nl-NL" sz="2400" dirty="0">
                <a:latin typeface="Sans sarif"/>
              </a:rPr>
              <a:t> The Lord of </a:t>
            </a:r>
            <a:r>
              <a:rPr lang="nl-NL" sz="2400" dirty="0" err="1">
                <a:latin typeface="Sans sarif"/>
              </a:rPr>
              <a:t>the</a:t>
            </a:r>
            <a:r>
              <a:rPr lang="nl-NL" sz="2400" dirty="0">
                <a:latin typeface="Sans sarif"/>
              </a:rPr>
              <a:t> Rings </a:t>
            </a:r>
            <a:r>
              <a:rPr lang="nl-NL" sz="2400" dirty="0" err="1">
                <a:latin typeface="Sans sarif"/>
              </a:rPr>
              <a:t>for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the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third</a:t>
            </a:r>
            <a:r>
              <a:rPr lang="nl-NL" sz="2400" dirty="0">
                <a:latin typeface="Sans sarif"/>
              </a:rPr>
              <a:t> time.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>
                <a:latin typeface="Sans sarif"/>
              </a:rPr>
              <a:t>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meeting </a:t>
            </a:r>
            <a:r>
              <a:rPr lang="nl-NL" sz="2400" dirty="0" err="1">
                <a:latin typeface="Sans sarif"/>
              </a:rPr>
              <a:t>some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friends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after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work</a:t>
            </a:r>
            <a:r>
              <a:rPr lang="nl-NL" sz="2400" dirty="0">
                <a:latin typeface="Sans sarif"/>
              </a:rPr>
              <a:t>.</a:t>
            </a:r>
          </a:p>
          <a:p>
            <a:pPr marL="457200" indent="-457200">
              <a:buFont typeface="+mj-lt"/>
              <a:buAutoNum type="alphaUcPeriod"/>
            </a:pPr>
            <a:r>
              <a:rPr lang="nl-NL" sz="2400" dirty="0" err="1">
                <a:latin typeface="Sans sarif"/>
              </a:rPr>
              <a:t>She</a:t>
            </a:r>
            <a:r>
              <a:rPr lang="nl-NL" sz="2400" dirty="0">
                <a:latin typeface="Sans sarif"/>
              </a:rPr>
              <a:t> </a:t>
            </a:r>
            <a:r>
              <a:rPr lang="nl-NL" sz="2400" b="1" dirty="0">
                <a:latin typeface="Sans sarif"/>
              </a:rPr>
              <a:t>is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always</a:t>
            </a:r>
            <a:r>
              <a:rPr lang="nl-NL" sz="2400" dirty="0">
                <a:latin typeface="Sans sarif"/>
              </a:rPr>
              <a:t> </a:t>
            </a:r>
            <a:r>
              <a:rPr lang="nl-NL" sz="2400" b="1" dirty="0" err="1">
                <a:latin typeface="Sans sarif"/>
              </a:rPr>
              <a:t>yelling</a:t>
            </a:r>
            <a:r>
              <a:rPr lang="nl-NL" sz="2400" dirty="0">
                <a:latin typeface="Sans sarif"/>
              </a:rPr>
              <a:t> in class.</a:t>
            </a:r>
          </a:p>
          <a:p>
            <a:pPr marL="514350" indent="-514350">
              <a:buFont typeface="+mj-lt"/>
              <a:buAutoNum type="alphaUcPeriod"/>
            </a:pPr>
            <a:endParaRPr lang="nl-NL" sz="2800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>
          <a:xfrm>
            <a:off x="457200" y="1752600"/>
            <a:ext cx="3886200" cy="640080"/>
          </a:xfrm>
        </p:spPr>
        <p:txBody>
          <a:bodyPr/>
          <a:lstStyle/>
          <a:p>
            <a:r>
              <a:rPr lang="nl-NL" sz="2400" dirty="0">
                <a:latin typeface="Sans sarif"/>
              </a:rPr>
              <a:t>Present Simple (3 types)</a:t>
            </a:r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3"/>
          </p:nvPr>
        </p:nvSpPr>
        <p:spPr>
          <a:xfrm>
            <a:off x="4572000" y="1752600"/>
            <a:ext cx="4114800" cy="640080"/>
          </a:xfrm>
        </p:spPr>
        <p:txBody>
          <a:bodyPr/>
          <a:lstStyle/>
          <a:p>
            <a:r>
              <a:rPr lang="nl-NL" sz="2400" dirty="0">
                <a:latin typeface="Sans sarif"/>
              </a:rPr>
              <a:t>Present </a:t>
            </a:r>
            <a:r>
              <a:rPr lang="nl-NL" sz="2400" dirty="0" err="1">
                <a:latin typeface="Sans sarif"/>
              </a:rPr>
              <a:t>Continuous</a:t>
            </a:r>
            <a:r>
              <a:rPr lang="nl-NL" sz="2400" dirty="0">
                <a:latin typeface="Sans sarif"/>
              </a:rPr>
              <a:t> (4 types)</a:t>
            </a:r>
          </a:p>
        </p:txBody>
      </p:sp>
    </p:spTree>
    <p:extLst>
      <p:ext uri="{BB962C8B-B14F-4D97-AF65-F5344CB8AC3E}">
        <p14:creationId xmlns:p14="http://schemas.microsoft.com/office/powerpoint/2010/main" val="301154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</a:t>
            </a:r>
            <a:r>
              <a:rPr lang="nl-NL" dirty="0" err="1">
                <a:latin typeface="Sans sarif"/>
              </a:rPr>
              <a:t>simple</a:t>
            </a:r>
            <a:r>
              <a:rPr lang="nl-NL" dirty="0">
                <a:latin typeface="Sans sarif"/>
              </a:rPr>
              <a:t> – </a:t>
            </a:r>
            <a:r>
              <a:rPr lang="nl-NL" dirty="0" err="1">
                <a:latin typeface="Sans sarif"/>
              </a:rPr>
              <a:t>Usage</a:t>
            </a:r>
            <a:r>
              <a:rPr lang="nl-NL" dirty="0">
                <a:latin typeface="Sans sarif"/>
              </a:rPr>
              <a:t> I</a:t>
            </a:r>
            <a:endParaRPr lang="en-US" dirty="0">
              <a:latin typeface="Sans sarif"/>
            </a:endParaRPr>
          </a:p>
        </p:txBody>
      </p:sp>
      <p:sp>
        <p:nvSpPr>
          <p:cNvPr id="1331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Repeated</a:t>
            </a:r>
            <a:r>
              <a:rPr lang="nl-NL" dirty="0">
                <a:latin typeface="Sans sarif"/>
              </a:rPr>
              <a:t> actions</a:t>
            </a:r>
          </a:p>
          <a:p>
            <a:pPr lvl="1"/>
            <a:r>
              <a:rPr lang="en-GB" dirty="0"/>
              <a:t>The train </a:t>
            </a:r>
            <a:r>
              <a:rPr lang="en-GB" b="1" dirty="0"/>
              <a:t>leaves</a:t>
            </a:r>
            <a:r>
              <a:rPr lang="en-GB" dirty="0"/>
              <a:t> every morning at 8 AM.</a:t>
            </a:r>
          </a:p>
          <a:p>
            <a:pPr lvl="1"/>
            <a:r>
              <a:rPr lang="nl-NL" dirty="0">
                <a:latin typeface="Sans sarif"/>
              </a:rPr>
              <a:t>I </a:t>
            </a:r>
            <a:r>
              <a:rPr lang="nl-NL" b="1" dirty="0">
                <a:latin typeface="Sans sarif"/>
              </a:rPr>
              <a:t>go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climbing</a:t>
            </a:r>
            <a:r>
              <a:rPr lang="nl-NL" dirty="0">
                <a:latin typeface="Sans sarif"/>
              </a:rPr>
              <a:t> gym </a:t>
            </a:r>
            <a:r>
              <a:rPr lang="nl-NL" dirty="0" err="1">
                <a:latin typeface="Sans sarif"/>
              </a:rPr>
              <a:t>every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Sunday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 err="1">
                <a:latin typeface="Sans sarif"/>
              </a:rPr>
              <a:t>Facts</a:t>
            </a:r>
            <a:r>
              <a:rPr lang="nl-NL" dirty="0">
                <a:latin typeface="Sans sarif"/>
              </a:rPr>
              <a:t> or </a:t>
            </a:r>
            <a:r>
              <a:rPr lang="nl-NL" dirty="0" err="1">
                <a:latin typeface="Sans sarif"/>
              </a:rPr>
              <a:t>Generalizations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Water </a:t>
            </a:r>
            <a:r>
              <a:rPr lang="nl-NL" b="1" dirty="0" err="1">
                <a:latin typeface="Sans sarif"/>
              </a:rPr>
              <a:t>boils</a:t>
            </a:r>
            <a:r>
              <a:rPr lang="nl-NL" dirty="0">
                <a:latin typeface="Sans sarif"/>
              </a:rPr>
              <a:t> at 100 </a:t>
            </a:r>
            <a:r>
              <a:rPr lang="nl-NL" dirty="0" err="1">
                <a:latin typeface="Sans sarif"/>
              </a:rPr>
              <a:t>degrees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celsius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 err="1">
                <a:latin typeface="Sans sarif"/>
              </a:rPr>
              <a:t>Dogs</a:t>
            </a:r>
            <a:r>
              <a:rPr lang="nl-NL" dirty="0">
                <a:latin typeface="Sans sarif"/>
              </a:rPr>
              <a:t> </a:t>
            </a:r>
            <a:r>
              <a:rPr lang="nl-NL" b="1" dirty="0">
                <a:latin typeface="Sans sarif"/>
              </a:rPr>
              <a:t>like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playing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fetch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 err="1">
                <a:latin typeface="Sans sarif"/>
              </a:rPr>
              <a:t>Scheduled</a:t>
            </a:r>
            <a:r>
              <a:rPr lang="nl-NL" dirty="0">
                <a:latin typeface="Sans sarif"/>
              </a:rPr>
              <a:t> events int he </a:t>
            </a:r>
            <a:r>
              <a:rPr lang="nl-NL" dirty="0" err="1">
                <a:latin typeface="Sans sarif"/>
              </a:rPr>
              <a:t>near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future</a:t>
            </a:r>
            <a:endParaRPr lang="nl-NL" dirty="0">
              <a:latin typeface="Sans sarif"/>
            </a:endParaRPr>
          </a:p>
          <a:p>
            <a:pPr lvl="1"/>
            <a:r>
              <a:rPr lang="en-GB" dirty="0"/>
              <a:t>When </a:t>
            </a:r>
            <a:r>
              <a:rPr lang="en-GB" b="1" dirty="0"/>
              <a:t>does</a:t>
            </a:r>
            <a:r>
              <a:rPr lang="en-GB" dirty="0"/>
              <a:t> class </a:t>
            </a:r>
            <a:r>
              <a:rPr lang="en-GB" b="1" dirty="0"/>
              <a:t>begin</a:t>
            </a:r>
            <a:r>
              <a:rPr lang="en-GB" dirty="0"/>
              <a:t> tomorrow?</a:t>
            </a:r>
          </a:p>
          <a:p>
            <a:pPr lvl="1"/>
            <a:r>
              <a:rPr lang="en-GB" dirty="0"/>
              <a:t>The party </a:t>
            </a:r>
            <a:r>
              <a:rPr lang="en-GB" b="1" dirty="0"/>
              <a:t>starts</a:t>
            </a:r>
            <a:r>
              <a:rPr lang="en-GB" dirty="0"/>
              <a:t> at 8 o'clock.</a:t>
            </a:r>
            <a:endParaRPr lang="nl-NL" dirty="0">
              <a:latin typeface="Sans sarif"/>
            </a:endParaRPr>
          </a:p>
          <a:p>
            <a:pPr marL="0" indent="0">
              <a:buNone/>
            </a:pPr>
            <a:endParaRPr lang="nl-NL" dirty="0">
              <a:latin typeface="Sans sa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simple</a:t>
            </a:r>
            <a:r>
              <a:rPr lang="nl-NL" sz="4000" dirty="0">
                <a:latin typeface="Sans sarif"/>
              </a:rPr>
              <a:t> – </a:t>
            </a:r>
            <a:r>
              <a:rPr lang="nl-NL" sz="4000" dirty="0" err="1">
                <a:latin typeface="Sans sarif"/>
              </a:rPr>
              <a:t>Usage</a:t>
            </a:r>
            <a:r>
              <a:rPr lang="nl-NL" sz="4000" dirty="0">
                <a:latin typeface="Sans sarif"/>
              </a:rPr>
              <a:t> II</a:t>
            </a:r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>
                <a:latin typeface="Sans sarif"/>
              </a:rPr>
              <a:t>I </a:t>
            </a:r>
            <a:r>
              <a:rPr lang="nl-NL" b="1" dirty="0">
                <a:latin typeface="Sans sarif"/>
              </a:rPr>
              <a:t>go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 school </a:t>
            </a:r>
            <a:r>
              <a:rPr lang="nl-NL" u="sng" dirty="0" err="1">
                <a:latin typeface="Sans sarif"/>
              </a:rPr>
              <a:t>every</a:t>
            </a:r>
            <a:r>
              <a:rPr lang="nl-NL" u="sng" dirty="0">
                <a:latin typeface="Sans sarif"/>
              </a:rPr>
              <a:t> </a:t>
            </a:r>
            <a:r>
              <a:rPr lang="nl-NL" u="sng" dirty="0" err="1">
                <a:latin typeface="Sans sarif"/>
              </a:rPr>
              <a:t>day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 err="1">
                <a:latin typeface="Sans sarif"/>
              </a:rPr>
              <a:t>She</a:t>
            </a:r>
            <a:r>
              <a:rPr lang="nl-NL" dirty="0">
                <a:latin typeface="Sans sarif"/>
              </a:rPr>
              <a:t> </a:t>
            </a:r>
            <a:r>
              <a:rPr lang="nl-NL" u="sng" dirty="0" err="1">
                <a:latin typeface="Sans sarif"/>
              </a:rPr>
              <a:t>usually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reads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book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after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dinner</a:t>
            </a:r>
            <a:r>
              <a:rPr lang="nl-NL" dirty="0">
                <a:latin typeface="Sans sarif"/>
              </a:rPr>
              <a:t>.</a:t>
            </a:r>
          </a:p>
          <a:p>
            <a:pPr marL="0" indent="0">
              <a:buNone/>
            </a:pPr>
            <a:endParaRPr lang="nl-NL" dirty="0">
              <a:latin typeface="Sans sarif"/>
            </a:endParaRPr>
          </a:p>
          <a:p>
            <a:pPr marL="0" indent="0">
              <a:buNone/>
            </a:pPr>
            <a:r>
              <a:rPr lang="nl-NL" b="1" dirty="0" err="1">
                <a:latin typeface="Sans sarif"/>
              </a:rPr>
              <a:t>Signal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words</a:t>
            </a:r>
            <a:r>
              <a:rPr lang="nl-NL" dirty="0">
                <a:latin typeface="Sans sarif"/>
              </a:rPr>
              <a:t>: </a:t>
            </a:r>
            <a:r>
              <a:rPr lang="nl-NL" dirty="0" err="1">
                <a:latin typeface="Sans sarif"/>
              </a:rPr>
              <a:t>every</a:t>
            </a:r>
            <a:r>
              <a:rPr lang="nl-NL" dirty="0">
                <a:latin typeface="Sans sarif"/>
              </a:rPr>
              <a:t>.., </a:t>
            </a:r>
            <a:r>
              <a:rPr lang="nl-NL" dirty="0" err="1">
                <a:latin typeface="Sans sarif"/>
              </a:rPr>
              <a:t>each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usually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every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day</a:t>
            </a:r>
            <a:r>
              <a:rPr lang="nl-NL" dirty="0">
                <a:latin typeface="Sans sarif"/>
              </a:rPr>
              <a:t>, </a:t>
            </a:r>
          </a:p>
          <a:p>
            <a:pPr marL="0" indent="0">
              <a:buNone/>
            </a:pPr>
            <a:endParaRPr lang="nl-NL" dirty="0"/>
          </a:p>
          <a:p>
            <a:pPr>
              <a:buFont typeface="Wingdings" pitchFamily="2" charset="2"/>
              <a:buNone/>
            </a:pPr>
            <a:r>
              <a:rPr lang="nl-NL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567308" y="18864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Simple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567308" y="1556792"/>
            <a:ext cx="8253164" cy="4824536"/>
          </a:xfrm>
        </p:spPr>
        <p:txBody>
          <a:bodyPr numCol="2"/>
          <a:lstStyle/>
          <a:p>
            <a:pPr>
              <a:buNone/>
            </a:pPr>
            <a:r>
              <a:rPr lang="nl-NL" sz="2000" b="1" dirty="0">
                <a:latin typeface="Sans sarif"/>
              </a:rPr>
              <a:t>Form</a:t>
            </a:r>
            <a:r>
              <a:rPr lang="nl-NL" sz="2000" dirty="0">
                <a:latin typeface="Sans sarif"/>
              </a:rPr>
              <a:t>:</a:t>
            </a:r>
          </a:p>
          <a:p>
            <a:pPr marL="0" indent="0">
              <a:buNone/>
            </a:pPr>
            <a:r>
              <a:rPr lang="nl-NL" sz="2000" dirty="0">
                <a:latin typeface="Sans sarif"/>
              </a:rPr>
              <a:t>I, </a:t>
            </a:r>
            <a:r>
              <a:rPr lang="nl-NL" sz="2000" dirty="0" err="1">
                <a:latin typeface="Sans sarif"/>
              </a:rPr>
              <a:t>you</a:t>
            </a:r>
            <a:r>
              <a:rPr lang="nl-NL" sz="2000" dirty="0">
                <a:latin typeface="Sans sarif"/>
              </a:rPr>
              <a:t>, we, </a:t>
            </a:r>
            <a:r>
              <a:rPr lang="nl-NL" sz="2000" dirty="0" err="1">
                <a:latin typeface="Sans sarif"/>
              </a:rPr>
              <a:t>they</a:t>
            </a:r>
            <a:r>
              <a:rPr lang="nl-NL" sz="2000" dirty="0">
                <a:latin typeface="Sans sarif"/>
              </a:rPr>
              <a:t> + </a:t>
            </a:r>
            <a:r>
              <a:rPr lang="nl-NL" sz="2000" dirty="0" err="1">
                <a:latin typeface="Sans sarif"/>
              </a:rPr>
              <a:t>verb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>
                <a:latin typeface="Sans sarif"/>
                <a:sym typeface="Wingdings" pitchFamily="2" charset="2"/>
              </a:rPr>
              <a:t> I </a:t>
            </a:r>
            <a:r>
              <a:rPr lang="nl-NL" sz="2000" dirty="0" err="1">
                <a:latin typeface="Sans sarif"/>
                <a:sym typeface="Wingdings" pitchFamily="2" charset="2"/>
              </a:rPr>
              <a:t>work</a:t>
            </a:r>
            <a:endParaRPr lang="nl-NL" sz="2000" dirty="0">
              <a:latin typeface="Sans sarif"/>
              <a:sym typeface="Wingdings" pitchFamily="2" charset="2"/>
            </a:endParaRPr>
          </a:p>
          <a:p>
            <a:pPr marL="0" indent="0">
              <a:buNone/>
            </a:pPr>
            <a:r>
              <a:rPr lang="nl-NL" sz="2000" dirty="0">
                <a:latin typeface="Sans sarif"/>
                <a:sym typeface="Wingdings" pitchFamily="2" charset="2"/>
              </a:rPr>
              <a:t>he, </a:t>
            </a:r>
            <a:r>
              <a:rPr lang="nl-NL" sz="2000" dirty="0" err="1">
                <a:latin typeface="Sans sarif"/>
                <a:sym typeface="Wingdings" pitchFamily="2" charset="2"/>
              </a:rPr>
              <a:t>she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it</a:t>
            </a:r>
            <a:r>
              <a:rPr lang="nl-NL" sz="2000" dirty="0">
                <a:latin typeface="Sans sarif"/>
                <a:sym typeface="Wingdings" pitchFamily="2" charset="2"/>
              </a:rPr>
              <a:t> + </a:t>
            </a:r>
            <a:r>
              <a:rPr lang="nl-NL" sz="2000" dirty="0" err="1">
                <a:latin typeface="Sans sarif"/>
                <a:sym typeface="Wingdings" pitchFamily="2" charset="2"/>
              </a:rPr>
              <a:t>verb</a:t>
            </a:r>
            <a:r>
              <a:rPr lang="nl-NL" sz="2000" dirty="0">
                <a:latin typeface="Sans sarif"/>
                <a:sym typeface="Wingdings" pitchFamily="2" charset="2"/>
              </a:rPr>
              <a:t> + -s  he </a:t>
            </a:r>
            <a:r>
              <a:rPr lang="nl-NL" sz="2000" dirty="0" err="1">
                <a:latin typeface="Sans sarif"/>
                <a:sym typeface="Wingdings" pitchFamily="2" charset="2"/>
              </a:rPr>
              <a:t>work</a:t>
            </a:r>
            <a:r>
              <a:rPr lang="nl-NL" sz="2000" b="1" dirty="0" err="1">
                <a:latin typeface="Sans sarif"/>
                <a:sym typeface="Wingdings" pitchFamily="2" charset="2"/>
              </a:rPr>
              <a:t>s</a:t>
            </a:r>
            <a:endParaRPr lang="nl-NL" sz="2000" b="1" dirty="0">
              <a:latin typeface="Sans sarif"/>
              <a:sym typeface="Wingdings" pitchFamily="2" charset="2"/>
            </a:endParaRPr>
          </a:p>
          <a:p>
            <a:pPr marL="0" indent="0">
              <a:buNone/>
            </a:pPr>
            <a:endParaRPr lang="nl-NL" sz="2000" dirty="0">
              <a:latin typeface="Sans sarif"/>
            </a:endParaRPr>
          </a:p>
          <a:p>
            <a:pPr marL="0" indent="0">
              <a:buNone/>
            </a:pPr>
            <a:r>
              <a:rPr lang="nl-NL" sz="2000" b="1" dirty="0" err="1">
                <a:latin typeface="Sans sarif"/>
              </a:rPr>
              <a:t>Exceptions</a:t>
            </a:r>
            <a:endParaRPr lang="nl-NL" sz="2000" b="1" dirty="0">
              <a:latin typeface="Sans sarif"/>
            </a:endParaRPr>
          </a:p>
          <a:p>
            <a:r>
              <a:rPr lang="nl-NL" sz="2000" dirty="0">
                <a:latin typeface="Sans sarif"/>
              </a:rPr>
              <a:t>do and go: </a:t>
            </a:r>
            <a:r>
              <a:rPr lang="nl-NL" sz="2000" dirty="0" err="1">
                <a:latin typeface="Sans sarif"/>
              </a:rPr>
              <a:t>verb</a:t>
            </a:r>
            <a:r>
              <a:rPr lang="nl-NL" sz="2000" dirty="0">
                <a:latin typeface="Sans sarif"/>
              </a:rPr>
              <a:t> + -es </a:t>
            </a:r>
            <a:r>
              <a:rPr lang="nl-NL" sz="2000" dirty="0">
                <a:latin typeface="Sans sarif"/>
                <a:sym typeface="Wingdings" pitchFamily="2" charset="2"/>
              </a:rPr>
              <a:t> </a:t>
            </a:r>
          </a:p>
          <a:p>
            <a:pPr>
              <a:buFont typeface="Wingdings" pitchFamily="2" charset="2"/>
              <a:buNone/>
            </a:pPr>
            <a:r>
              <a:rPr lang="nl-NL" sz="2000" dirty="0">
                <a:latin typeface="Sans sarif"/>
                <a:sym typeface="Wingdings" pitchFamily="2" charset="2"/>
              </a:rPr>
              <a:t>	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>
                <a:latin typeface="Sans sarif"/>
                <a:sym typeface="Wingdings" pitchFamily="2" charset="2"/>
              </a:rPr>
              <a:t>does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goes</a:t>
            </a:r>
            <a:endParaRPr lang="nl-NL" sz="2000" b="1" dirty="0">
              <a:latin typeface="Sans sarif"/>
              <a:sym typeface="Wingdings" pitchFamily="2" charset="2"/>
            </a:endParaRPr>
          </a:p>
          <a:p>
            <a:r>
              <a:rPr lang="nl-NL" sz="2000" dirty="0" err="1">
                <a:latin typeface="Sans sarif"/>
                <a:sym typeface="Wingdings" pitchFamily="2" charset="2"/>
              </a:rPr>
              <a:t>verbs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dirty="0" err="1">
                <a:latin typeface="Sans sarif"/>
                <a:sym typeface="Wingdings" pitchFamily="2" charset="2"/>
              </a:rPr>
              <a:t>ending</a:t>
            </a:r>
            <a:r>
              <a:rPr lang="nl-NL" sz="2000" dirty="0">
                <a:latin typeface="Sans sarif"/>
                <a:sym typeface="Wingdings" pitchFamily="2" charset="2"/>
              </a:rPr>
              <a:t> in -s/-</a:t>
            </a:r>
            <a:r>
              <a:rPr lang="nl-NL" sz="2000" dirty="0" err="1">
                <a:latin typeface="Sans sarif"/>
                <a:sym typeface="Wingdings" pitchFamily="2" charset="2"/>
              </a:rPr>
              <a:t>ss</a:t>
            </a:r>
            <a:r>
              <a:rPr lang="nl-NL" sz="2000" dirty="0">
                <a:latin typeface="Sans sarif"/>
                <a:sym typeface="Wingdings" pitchFamily="2" charset="2"/>
              </a:rPr>
              <a:t>/-</a:t>
            </a:r>
            <a:r>
              <a:rPr lang="nl-NL" sz="2000" dirty="0" err="1">
                <a:latin typeface="Sans sarif"/>
                <a:sym typeface="Wingdings" pitchFamily="2" charset="2"/>
              </a:rPr>
              <a:t>sh</a:t>
            </a:r>
            <a:r>
              <a:rPr lang="nl-NL" sz="2000" dirty="0">
                <a:latin typeface="Sans sarif"/>
                <a:sym typeface="Wingdings" pitchFamily="2" charset="2"/>
              </a:rPr>
              <a:t>/-</a:t>
            </a:r>
            <a:r>
              <a:rPr lang="nl-NL" sz="2000" dirty="0" err="1">
                <a:latin typeface="Sans sarif"/>
                <a:sym typeface="Wingdings" pitchFamily="2" charset="2"/>
              </a:rPr>
              <a:t>ch</a:t>
            </a:r>
            <a:r>
              <a:rPr lang="nl-NL" sz="2000" dirty="0">
                <a:latin typeface="Sans sarif"/>
                <a:sym typeface="Wingdings" pitchFamily="2" charset="2"/>
              </a:rPr>
              <a:t>/</a:t>
            </a:r>
            <a:r>
              <a:rPr lang="nl-NL" sz="2000" dirty="0" err="1">
                <a:latin typeface="Sans sarif"/>
                <a:sym typeface="Wingdings" pitchFamily="2" charset="2"/>
              </a:rPr>
              <a:t>x</a:t>
            </a:r>
            <a:r>
              <a:rPr lang="nl-NL" sz="2000" dirty="0">
                <a:latin typeface="Sans sarif"/>
                <a:sym typeface="Wingdings" pitchFamily="2" charset="2"/>
              </a:rPr>
              <a:t>: </a:t>
            </a:r>
            <a:r>
              <a:rPr lang="nl-NL" sz="2000" dirty="0" err="1">
                <a:latin typeface="Sans sarif"/>
                <a:sym typeface="Wingdings" pitchFamily="2" charset="2"/>
              </a:rPr>
              <a:t>verb</a:t>
            </a:r>
            <a:r>
              <a:rPr lang="nl-NL" sz="2000" dirty="0">
                <a:latin typeface="Sans sarif"/>
                <a:sym typeface="Wingdings" pitchFamily="2" charset="2"/>
              </a:rPr>
              <a:t> + -es </a:t>
            </a:r>
          </a:p>
          <a:p>
            <a:pPr>
              <a:buFont typeface="Wingdings" pitchFamily="2" charset="2"/>
              <a:buNone/>
            </a:pPr>
            <a:r>
              <a:rPr lang="nl-NL" sz="2000" dirty="0">
                <a:latin typeface="Sans sarif"/>
                <a:sym typeface="Wingdings" pitchFamily="2" charset="2"/>
              </a:rPr>
              <a:t>	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kisses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>
                <a:latin typeface="Sans sarif"/>
                <a:sym typeface="Wingdings" pitchFamily="2" charset="2"/>
              </a:rPr>
              <a:t>washes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boxes</a:t>
            </a:r>
            <a:endParaRPr lang="nl-NL" sz="2000" b="1" dirty="0">
              <a:latin typeface="Sans sarif"/>
              <a:sym typeface="Wingdings" pitchFamily="2" charset="2"/>
            </a:endParaRPr>
          </a:p>
          <a:p>
            <a:r>
              <a:rPr lang="nl-NL" sz="2000" dirty="0" err="1">
                <a:latin typeface="Sans sarif"/>
                <a:sym typeface="Wingdings" pitchFamily="2" charset="2"/>
              </a:rPr>
              <a:t>verbs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dirty="0" err="1">
                <a:latin typeface="Sans sarif"/>
                <a:sym typeface="Wingdings" pitchFamily="2" charset="2"/>
              </a:rPr>
              <a:t>ending</a:t>
            </a:r>
            <a:r>
              <a:rPr lang="nl-NL" sz="2000" dirty="0">
                <a:latin typeface="Sans sarif"/>
                <a:sym typeface="Wingdings" pitchFamily="2" charset="2"/>
              </a:rPr>
              <a:t> in -</a:t>
            </a:r>
            <a:r>
              <a:rPr lang="nl-NL" sz="2000" dirty="0" err="1">
                <a:latin typeface="Sans sarif"/>
                <a:sym typeface="Wingdings" pitchFamily="2" charset="2"/>
              </a:rPr>
              <a:t>y</a:t>
            </a:r>
            <a:r>
              <a:rPr lang="nl-NL" sz="2000" dirty="0">
                <a:latin typeface="Sans sarif"/>
                <a:sym typeface="Wingdings" pitchFamily="2" charset="2"/>
              </a:rPr>
              <a:t>: -</a:t>
            </a:r>
            <a:r>
              <a:rPr lang="nl-NL" sz="2000" dirty="0" err="1">
                <a:latin typeface="Sans sarif"/>
                <a:sym typeface="Wingdings" pitchFamily="2" charset="2"/>
              </a:rPr>
              <a:t>y</a:t>
            </a:r>
            <a:r>
              <a:rPr lang="nl-NL" sz="2000" dirty="0">
                <a:latin typeface="Sans sarif"/>
                <a:sym typeface="Wingdings" pitchFamily="2" charset="2"/>
              </a:rPr>
              <a:t>  -</a:t>
            </a:r>
            <a:r>
              <a:rPr lang="nl-NL" sz="2000" dirty="0" err="1">
                <a:latin typeface="Sans sarif"/>
                <a:sym typeface="Wingdings" pitchFamily="2" charset="2"/>
              </a:rPr>
              <a:t>ies</a:t>
            </a:r>
            <a:r>
              <a:rPr lang="nl-NL" sz="2000" dirty="0">
                <a:latin typeface="Sans sarif"/>
                <a:sym typeface="Wingdings" pitchFamily="2" charset="2"/>
              </a:rPr>
              <a:t> </a:t>
            </a:r>
          </a:p>
          <a:p>
            <a:pPr>
              <a:buFont typeface="Wingdings" pitchFamily="2" charset="2"/>
              <a:buNone/>
            </a:pPr>
            <a:r>
              <a:rPr lang="nl-NL" sz="2000" dirty="0">
                <a:latin typeface="Sans sarif"/>
                <a:sym typeface="Wingdings" pitchFamily="2" charset="2"/>
              </a:rPr>
              <a:t>	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hurries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>
                <a:latin typeface="Sans sarif"/>
                <a:sym typeface="Wingdings" pitchFamily="2" charset="2"/>
              </a:rPr>
              <a:t>studies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tries</a:t>
            </a:r>
            <a:endParaRPr lang="nl-NL" sz="2000" b="1" dirty="0">
              <a:latin typeface="Sans sarif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endParaRPr lang="nl-NL" sz="2000" dirty="0">
              <a:latin typeface="Sans sarif"/>
              <a:sym typeface="Wingdings" pitchFamily="2" charset="2"/>
            </a:endParaRPr>
          </a:p>
          <a:p>
            <a:r>
              <a:rPr lang="nl-NL" sz="2000" dirty="0" err="1">
                <a:latin typeface="Sans sarif"/>
                <a:sym typeface="Wingdings" pitchFamily="2" charset="2"/>
              </a:rPr>
              <a:t>But</a:t>
            </a:r>
            <a:r>
              <a:rPr lang="nl-NL" sz="2000" dirty="0">
                <a:latin typeface="Sans sarif"/>
                <a:sym typeface="Wingdings" pitchFamily="2" charset="2"/>
              </a:rPr>
              <a:t> -</a:t>
            </a:r>
            <a:r>
              <a:rPr lang="nl-NL" sz="2000" dirty="0" err="1">
                <a:latin typeface="Sans sarif"/>
                <a:sym typeface="Wingdings" pitchFamily="2" charset="2"/>
              </a:rPr>
              <a:t>ay</a:t>
            </a:r>
            <a:r>
              <a:rPr lang="nl-NL" sz="2000" dirty="0">
                <a:latin typeface="Sans sarif"/>
                <a:sym typeface="Wingdings" pitchFamily="2" charset="2"/>
              </a:rPr>
              <a:t>/-</a:t>
            </a:r>
            <a:r>
              <a:rPr lang="nl-NL" sz="2000" dirty="0" err="1">
                <a:latin typeface="Sans sarif"/>
                <a:sym typeface="Wingdings" pitchFamily="2" charset="2"/>
              </a:rPr>
              <a:t>ey</a:t>
            </a:r>
            <a:r>
              <a:rPr lang="nl-NL" sz="2000" dirty="0">
                <a:latin typeface="Sans sarif"/>
                <a:sym typeface="Wingdings" pitchFamily="2" charset="2"/>
              </a:rPr>
              <a:t>/-</a:t>
            </a:r>
            <a:r>
              <a:rPr lang="nl-NL" sz="2000" dirty="0" err="1">
                <a:latin typeface="Sans sarif"/>
                <a:sym typeface="Wingdings" pitchFamily="2" charset="2"/>
              </a:rPr>
              <a:t>oy</a:t>
            </a:r>
            <a:r>
              <a:rPr lang="nl-NL" sz="2000" dirty="0">
                <a:latin typeface="Sans sarif"/>
                <a:sym typeface="Wingdings" pitchFamily="2" charset="2"/>
              </a:rPr>
              <a:t>/-</a:t>
            </a:r>
            <a:r>
              <a:rPr lang="nl-NL" sz="2000" dirty="0" err="1">
                <a:latin typeface="Sans sarif"/>
                <a:sym typeface="Wingdings" pitchFamily="2" charset="2"/>
              </a:rPr>
              <a:t>uy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dirty="0" err="1">
                <a:latin typeface="Sans sarif"/>
                <a:sym typeface="Wingdings" pitchFamily="2" charset="2"/>
              </a:rPr>
              <a:t>just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dirty="0" err="1">
                <a:latin typeface="Sans sarif"/>
                <a:sym typeface="Wingdings" pitchFamily="2" charset="2"/>
              </a:rPr>
              <a:t>get</a:t>
            </a:r>
            <a:r>
              <a:rPr lang="nl-NL" sz="2000" dirty="0">
                <a:latin typeface="Sans sarif"/>
                <a:sym typeface="Wingdings" pitchFamily="2" charset="2"/>
              </a:rPr>
              <a:t> -s </a:t>
            </a:r>
          </a:p>
          <a:p>
            <a:pPr>
              <a:buFont typeface="Wingdings" pitchFamily="2" charset="2"/>
              <a:buNone/>
            </a:pPr>
            <a:r>
              <a:rPr lang="nl-NL" sz="2000" dirty="0">
                <a:latin typeface="Sans sarif"/>
                <a:sym typeface="Wingdings" pitchFamily="2" charset="2"/>
              </a:rPr>
              <a:t>	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plays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enjoys</a:t>
            </a:r>
            <a:r>
              <a:rPr lang="nl-NL" sz="2000" dirty="0">
                <a:latin typeface="Sans sarif"/>
                <a:sym typeface="Wingdings" pitchFamily="2" charset="2"/>
              </a:rPr>
              <a:t>, </a:t>
            </a:r>
            <a:r>
              <a:rPr lang="nl-NL" sz="2000" dirty="0" err="1">
                <a:latin typeface="Sans sarif"/>
                <a:sym typeface="Wingdings" pitchFamily="2" charset="2"/>
              </a:rPr>
              <a:t>he</a:t>
            </a:r>
            <a:r>
              <a:rPr lang="nl-NL" sz="2000" dirty="0">
                <a:latin typeface="Sans sarif"/>
                <a:sym typeface="Wingdings" pitchFamily="2" charset="2"/>
              </a:rPr>
              <a:t> </a:t>
            </a:r>
            <a:r>
              <a:rPr lang="nl-NL" sz="2000" b="1" dirty="0" err="1">
                <a:latin typeface="Sans sarif"/>
                <a:sym typeface="Wingdings" pitchFamily="2" charset="2"/>
              </a:rPr>
              <a:t>buys</a:t>
            </a:r>
            <a:endParaRPr lang="nl-NL" sz="2000" b="1" dirty="0">
              <a:latin typeface="Sans sarif"/>
              <a:sym typeface="Wingdings" pitchFamily="2" charset="2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</a:t>
            </a:r>
            <a:r>
              <a:rPr lang="nl-NL" dirty="0" err="1">
                <a:latin typeface="Sans sarif"/>
              </a:rPr>
              <a:t>continuous</a:t>
            </a:r>
            <a:r>
              <a:rPr lang="nl-NL" dirty="0">
                <a:latin typeface="Sans sarif"/>
              </a:rPr>
              <a:t> – </a:t>
            </a:r>
            <a:r>
              <a:rPr lang="nl-NL" dirty="0" err="1">
                <a:latin typeface="Sans sarif"/>
              </a:rPr>
              <a:t>Usage</a:t>
            </a:r>
            <a:endParaRPr lang="en-US" dirty="0">
              <a:latin typeface="Sans sarif"/>
            </a:endParaRPr>
          </a:p>
        </p:txBody>
      </p:sp>
      <p:sp>
        <p:nvSpPr>
          <p:cNvPr id="1536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sz="2400" dirty="0" err="1">
                <a:latin typeface="Sans sarif"/>
              </a:rPr>
              <a:t>Now</a:t>
            </a:r>
            <a:endParaRPr lang="nl-NL" sz="2400" dirty="0">
              <a:latin typeface="Sans sarif"/>
            </a:endParaRPr>
          </a:p>
          <a:p>
            <a:pPr lvl="1"/>
            <a:r>
              <a:rPr lang="nl-NL" sz="2100" dirty="0" err="1">
                <a:latin typeface="Sans sarif"/>
              </a:rPr>
              <a:t>You</a:t>
            </a:r>
            <a:r>
              <a:rPr lang="nl-NL" sz="2100" dirty="0">
                <a:latin typeface="Sans sarif"/>
              </a:rPr>
              <a:t> are </a:t>
            </a:r>
            <a:r>
              <a:rPr lang="nl-NL" sz="2100" dirty="0" err="1">
                <a:latin typeface="Sans sarif"/>
              </a:rPr>
              <a:t>learning</a:t>
            </a:r>
            <a:r>
              <a:rPr lang="nl-NL" sz="2100" dirty="0">
                <a:latin typeface="Sans sarif"/>
              </a:rPr>
              <a:t> English </a:t>
            </a:r>
            <a:r>
              <a:rPr lang="nl-NL" sz="2100" dirty="0" err="1">
                <a:latin typeface="Sans sarif"/>
              </a:rPr>
              <a:t>now</a:t>
            </a:r>
            <a:r>
              <a:rPr lang="nl-NL" sz="2100" dirty="0">
                <a:latin typeface="Sans sarif"/>
              </a:rPr>
              <a:t>.</a:t>
            </a:r>
          </a:p>
          <a:p>
            <a:pPr lvl="1"/>
            <a:r>
              <a:rPr lang="nl-NL" sz="2100" dirty="0">
                <a:latin typeface="Sans sarif"/>
              </a:rPr>
              <a:t>He is running </a:t>
            </a:r>
            <a:r>
              <a:rPr lang="nl-NL" sz="2100" dirty="0" err="1">
                <a:latin typeface="Sans sarif"/>
              </a:rPr>
              <a:t>now</a:t>
            </a:r>
            <a:r>
              <a:rPr lang="nl-NL" sz="2100" dirty="0">
                <a:latin typeface="Sans sarif"/>
              </a:rPr>
              <a:t>.</a:t>
            </a:r>
          </a:p>
          <a:p>
            <a:r>
              <a:rPr lang="nl-NL" sz="2400" dirty="0" err="1">
                <a:latin typeface="Sans sarif"/>
              </a:rPr>
              <a:t>Longer</a:t>
            </a:r>
            <a:r>
              <a:rPr lang="nl-NL" sz="2400" dirty="0">
                <a:latin typeface="Sans sarif"/>
              </a:rPr>
              <a:t> actions in </a:t>
            </a:r>
            <a:r>
              <a:rPr lang="nl-NL" sz="2400" dirty="0" err="1">
                <a:latin typeface="Sans sarif"/>
              </a:rPr>
              <a:t>progress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now</a:t>
            </a:r>
            <a:endParaRPr lang="nl-NL" sz="2400" dirty="0">
              <a:latin typeface="Sans sarif"/>
            </a:endParaRPr>
          </a:p>
          <a:p>
            <a:pPr lvl="1"/>
            <a:r>
              <a:rPr lang="nl-NL" sz="2100" dirty="0" err="1">
                <a:latin typeface="Sans sarif"/>
              </a:rPr>
              <a:t>Trump</a:t>
            </a:r>
            <a:r>
              <a:rPr lang="nl-NL" sz="2100" dirty="0">
                <a:latin typeface="Sans sarif"/>
              </a:rPr>
              <a:t> is running </a:t>
            </a:r>
            <a:r>
              <a:rPr lang="nl-NL" sz="2100" dirty="0" err="1">
                <a:latin typeface="Sans sarif"/>
              </a:rPr>
              <a:t>for</a:t>
            </a:r>
            <a:r>
              <a:rPr lang="nl-NL" sz="2100" dirty="0">
                <a:latin typeface="Sans sarif"/>
              </a:rPr>
              <a:t> president.</a:t>
            </a:r>
          </a:p>
          <a:p>
            <a:pPr lvl="1"/>
            <a:r>
              <a:rPr lang="nl-NL" sz="2100" dirty="0">
                <a:latin typeface="Sans sarif"/>
              </a:rPr>
              <a:t>I </a:t>
            </a:r>
            <a:r>
              <a:rPr lang="nl-NL" sz="2100" dirty="0" err="1">
                <a:latin typeface="Sans sarif"/>
              </a:rPr>
              <a:t>am</a:t>
            </a:r>
            <a:r>
              <a:rPr lang="nl-NL" sz="2100" dirty="0">
                <a:latin typeface="Sans sarif"/>
              </a:rPr>
              <a:t> reading </a:t>
            </a:r>
            <a:r>
              <a:rPr lang="nl-NL" sz="2100" dirty="0" err="1">
                <a:latin typeface="Sans sarif"/>
              </a:rPr>
              <a:t>Dune</a:t>
            </a:r>
            <a:r>
              <a:rPr lang="nl-NL" sz="2100" dirty="0">
                <a:latin typeface="Sans sarif"/>
              </a:rPr>
              <a:t>.</a:t>
            </a:r>
          </a:p>
          <a:p>
            <a:r>
              <a:rPr lang="nl-NL" sz="2400" dirty="0" err="1">
                <a:latin typeface="Sans sarif"/>
              </a:rPr>
              <a:t>Near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Future</a:t>
            </a:r>
            <a:endParaRPr lang="nl-NL" sz="2400" dirty="0">
              <a:latin typeface="Sans sarif"/>
            </a:endParaRPr>
          </a:p>
          <a:p>
            <a:pPr lvl="1"/>
            <a:r>
              <a:rPr lang="nl-NL" sz="2100" dirty="0">
                <a:latin typeface="Sans sarif"/>
              </a:rPr>
              <a:t>I </a:t>
            </a:r>
            <a:r>
              <a:rPr lang="nl-NL" sz="2100" dirty="0" err="1">
                <a:latin typeface="Sans sarif"/>
              </a:rPr>
              <a:t>am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cycling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to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work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tomorrow</a:t>
            </a:r>
            <a:r>
              <a:rPr lang="nl-NL" sz="2100" dirty="0">
                <a:latin typeface="Sans sarif"/>
              </a:rPr>
              <a:t>.</a:t>
            </a:r>
          </a:p>
          <a:p>
            <a:pPr lvl="1"/>
            <a:r>
              <a:rPr lang="nl-NL" sz="2100" dirty="0" err="1">
                <a:latin typeface="Sans sarif"/>
              </a:rPr>
              <a:t>They</a:t>
            </a:r>
            <a:r>
              <a:rPr lang="nl-NL" sz="2100" dirty="0">
                <a:latin typeface="Sans sarif"/>
              </a:rPr>
              <a:t> are </a:t>
            </a:r>
            <a:r>
              <a:rPr lang="nl-NL" sz="2100" dirty="0" err="1">
                <a:latin typeface="Sans sarif"/>
              </a:rPr>
              <a:t>looking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after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the</a:t>
            </a:r>
            <a:r>
              <a:rPr lang="nl-NL" sz="2100" dirty="0">
                <a:latin typeface="Sans sarif"/>
              </a:rPr>
              <a:t> baby next weekend.</a:t>
            </a:r>
          </a:p>
          <a:p>
            <a:r>
              <a:rPr lang="nl-NL" sz="2400" dirty="0" err="1">
                <a:latin typeface="Sans sarif"/>
              </a:rPr>
              <a:t>Repetition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and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irritation</a:t>
            </a:r>
            <a:r>
              <a:rPr lang="nl-NL" sz="2400" dirty="0">
                <a:latin typeface="Sans sarif"/>
              </a:rPr>
              <a:t> with </a:t>
            </a:r>
            <a:r>
              <a:rPr lang="nl-NL" sz="2400" i="1" dirty="0" err="1">
                <a:latin typeface="Sans sarif"/>
              </a:rPr>
              <a:t>always</a:t>
            </a:r>
            <a:endParaRPr lang="nl-NL" sz="2400" i="1" dirty="0">
              <a:latin typeface="Sans sarif"/>
            </a:endParaRPr>
          </a:p>
          <a:p>
            <a:pPr lvl="1"/>
            <a:r>
              <a:rPr lang="nl-NL" sz="2100" dirty="0">
                <a:latin typeface="Sans sarif"/>
              </a:rPr>
              <a:t>He is </a:t>
            </a:r>
            <a:r>
              <a:rPr lang="nl-NL" sz="2100" dirty="0" err="1">
                <a:latin typeface="Sans sarif"/>
              </a:rPr>
              <a:t>always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stomping</a:t>
            </a:r>
            <a:r>
              <a:rPr lang="nl-NL" sz="2100" dirty="0">
                <a:latin typeface="Sans sarif"/>
              </a:rPr>
              <a:t> down </a:t>
            </a:r>
            <a:r>
              <a:rPr lang="nl-NL" sz="2100" dirty="0" err="1">
                <a:latin typeface="Sans sarif"/>
              </a:rPr>
              <a:t>the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stairs</a:t>
            </a:r>
            <a:r>
              <a:rPr lang="nl-NL" sz="2100" dirty="0">
                <a:latin typeface="Sans sarif"/>
              </a:rPr>
              <a:t>.</a:t>
            </a:r>
          </a:p>
          <a:p>
            <a:pPr lvl="1"/>
            <a:r>
              <a:rPr lang="nl-NL" sz="2100" dirty="0" err="1">
                <a:latin typeface="Sans sarif"/>
              </a:rPr>
              <a:t>She</a:t>
            </a:r>
            <a:r>
              <a:rPr lang="nl-NL" sz="2100" dirty="0">
                <a:latin typeface="Sans sarif"/>
              </a:rPr>
              <a:t> is </a:t>
            </a:r>
            <a:r>
              <a:rPr lang="nl-NL" sz="2100" dirty="0" err="1">
                <a:latin typeface="Sans sarif"/>
              </a:rPr>
              <a:t>always</a:t>
            </a:r>
            <a:r>
              <a:rPr lang="nl-NL" sz="2100" dirty="0">
                <a:latin typeface="Sans sarif"/>
              </a:rPr>
              <a:t> </a:t>
            </a:r>
            <a:r>
              <a:rPr lang="nl-NL" sz="2100" dirty="0" err="1">
                <a:latin typeface="Sans sarif"/>
              </a:rPr>
              <a:t>eating</a:t>
            </a:r>
            <a:r>
              <a:rPr lang="nl-NL" sz="2100" dirty="0">
                <a:latin typeface="Sans sarif"/>
              </a:rPr>
              <a:t> with her </a:t>
            </a:r>
            <a:r>
              <a:rPr lang="nl-NL" sz="2100" dirty="0" err="1">
                <a:latin typeface="Sans sarif"/>
              </a:rPr>
              <a:t>mouth</a:t>
            </a:r>
            <a:r>
              <a:rPr lang="nl-NL" sz="2100" dirty="0">
                <a:latin typeface="Sans sarif"/>
              </a:rPr>
              <a:t> open.</a:t>
            </a:r>
            <a:endParaRPr lang="nl-NL" sz="2400" b="1" dirty="0">
              <a:latin typeface="Sans sarif"/>
              <a:sym typeface="Wingdings" pitchFamily="2" charset="2"/>
            </a:endParaRPr>
          </a:p>
          <a:p>
            <a:endParaRPr lang="nl-NL" dirty="0">
              <a:latin typeface="Sans sarif"/>
            </a:endParaRPr>
          </a:p>
          <a:p>
            <a:endParaRPr lang="en-US" dirty="0">
              <a:latin typeface="Sans sa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3554-2A49-6879-F0CC-5394F80E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 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A42BB-502E-A00F-F378-BD76143C01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nl-NL" sz="3200" b="1" dirty="0">
                <a:latin typeface="Sans sarif"/>
              </a:rPr>
              <a:t>Form</a:t>
            </a:r>
            <a:r>
              <a:rPr lang="nl-NL" sz="3200" dirty="0">
                <a:latin typeface="Sans sarif"/>
              </a:rPr>
              <a:t>:</a:t>
            </a:r>
          </a:p>
          <a:p>
            <a:r>
              <a:rPr lang="nl-NL" sz="3200" dirty="0">
                <a:latin typeface="Sans sarif"/>
              </a:rPr>
              <a:t>I + </a:t>
            </a:r>
            <a:r>
              <a:rPr lang="nl-NL" sz="3200" u="sng" dirty="0" err="1">
                <a:latin typeface="Sans sarif"/>
              </a:rPr>
              <a:t>am</a:t>
            </a:r>
            <a:r>
              <a:rPr lang="nl-NL" sz="3200" dirty="0">
                <a:latin typeface="Sans sarif"/>
              </a:rPr>
              <a:t> + </a:t>
            </a:r>
            <a:r>
              <a:rPr lang="nl-NL" sz="3200" dirty="0" err="1">
                <a:latin typeface="Sans sarif"/>
              </a:rPr>
              <a:t>verb</a:t>
            </a:r>
            <a:r>
              <a:rPr lang="nl-NL" sz="3200" dirty="0">
                <a:latin typeface="Sans sarif"/>
              </a:rPr>
              <a:t> + -</a:t>
            </a:r>
            <a:r>
              <a:rPr lang="nl-NL" sz="3200" dirty="0" err="1">
                <a:latin typeface="Sans sarif"/>
              </a:rPr>
              <a:t>ing</a:t>
            </a:r>
            <a:r>
              <a:rPr lang="nl-NL" sz="3200" dirty="0">
                <a:latin typeface="Sans sarif"/>
              </a:rPr>
              <a:t> </a:t>
            </a:r>
            <a:r>
              <a:rPr lang="nl-NL" sz="3200" dirty="0">
                <a:latin typeface="Sans sarif"/>
                <a:sym typeface="Wingdings" pitchFamily="2" charset="2"/>
              </a:rPr>
              <a:t> I </a:t>
            </a:r>
            <a:r>
              <a:rPr lang="nl-NL" sz="3200" b="1" dirty="0" err="1">
                <a:latin typeface="Sans sarif"/>
                <a:sym typeface="Wingdings" pitchFamily="2" charset="2"/>
              </a:rPr>
              <a:t>am</a:t>
            </a:r>
            <a:r>
              <a:rPr lang="nl-NL" sz="3200" b="1" dirty="0">
                <a:latin typeface="Sans sarif"/>
                <a:sym typeface="Wingdings" pitchFamily="2" charset="2"/>
              </a:rPr>
              <a:t> </a:t>
            </a:r>
            <a:r>
              <a:rPr lang="nl-NL" sz="3200" b="1" dirty="0" err="1">
                <a:latin typeface="Sans sarif"/>
                <a:sym typeface="Wingdings" pitchFamily="2" charset="2"/>
              </a:rPr>
              <a:t>working</a:t>
            </a:r>
            <a:endParaRPr lang="nl-NL" sz="3200" b="1" dirty="0">
              <a:latin typeface="Sans sarif"/>
              <a:sym typeface="Wingdings" pitchFamily="2" charset="2"/>
            </a:endParaRPr>
          </a:p>
          <a:p>
            <a:r>
              <a:rPr lang="nl-NL" sz="3200" dirty="0">
                <a:latin typeface="Sans sarif"/>
                <a:sym typeface="Wingdings" pitchFamily="2" charset="2"/>
              </a:rPr>
              <a:t>he, </a:t>
            </a:r>
            <a:r>
              <a:rPr lang="nl-NL" sz="3200" dirty="0" err="1">
                <a:latin typeface="Sans sarif"/>
                <a:sym typeface="Wingdings" pitchFamily="2" charset="2"/>
              </a:rPr>
              <a:t>she</a:t>
            </a:r>
            <a:r>
              <a:rPr lang="nl-NL" sz="3200" dirty="0">
                <a:latin typeface="Sans sarif"/>
                <a:sym typeface="Wingdings" pitchFamily="2" charset="2"/>
              </a:rPr>
              <a:t>, </a:t>
            </a:r>
            <a:r>
              <a:rPr lang="nl-NL" sz="3200" dirty="0" err="1">
                <a:latin typeface="Sans sarif"/>
                <a:sym typeface="Wingdings" pitchFamily="2" charset="2"/>
              </a:rPr>
              <a:t>it</a:t>
            </a:r>
            <a:r>
              <a:rPr lang="nl-NL" sz="3200" dirty="0">
                <a:latin typeface="Sans sarif"/>
                <a:sym typeface="Wingdings" pitchFamily="2" charset="2"/>
              </a:rPr>
              <a:t> + </a:t>
            </a:r>
            <a:r>
              <a:rPr lang="nl-NL" sz="3200" u="sng" dirty="0">
                <a:latin typeface="Sans sarif"/>
                <a:sym typeface="Wingdings" pitchFamily="2" charset="2"/>
              </a:rPr>
              <a:t>is</a:t>
            </a:r>
            <a:r>
              <a:rPr lang="nl-NL" sz="3200" dirty="0">
                <a:latin typeface="Sans sarif"/>
                <a:sym typeface="Wingdings" pitchFamily="2" charset="2"/>
              </a:rPr>
              <a:t> + </a:t>
            </a:r>
            <a:r>
              <a:rPr lang="nl-NL" sz="3200" dirty="0" err="1">
                <a:latin typeface="Sans sarif"/>
                <a:sym typeface="Wingdings" pitchFamily="2" charset="2"/>
              </a:rPr>
              <a:t>verb</a:t>
            </a:r>
            <a:r>
              <a:rPr lang="nl-NL" sz="3200" dirty="0">
                <a:latin typeface="Sans sarif"/>
                <a:sym typeface="Wingdings" pitchFamily="2" charset="2"/>
              </a:rPr>
              <a:t> + -</a:t>
            </a:r>
            <a:r>
              <a:rPr lang="nl-NL" sz="3200" dirty="0" err="1">
                <a:latin typeface="Sans sarif"/>
                <a:sym typeface="Wingdings" pitchFamily="2" charset="2"/>
              </a:rPr>
              <a:t>ing</a:t>
            </a:r>
            <a:r>
              <a:rPr lang="nl-NL" sz="3200" dirty="0">
                <a:latin typeface="Sans sarif"/>
                <a:sym typeface="Wingdings" pitchFamily="2" charset="2"/>
              </a:rPr>
              <a:t>  he </a:t>
            </a:r>
            <a:r>
              <a:rPr lang="nl-NL" sz="3200" b="1" dirty="0">
                <a:latin typeface="Sans sarif"/>
                <a:sym typeface="Wingdings" pitchFamily="2" charset="2"/>
              </a:rPr>
              <a:t>is </a:t>
            </a:r>
            <a:r>
              <a:rPr lang="nl-NL" sz="3200" b="1" dirty="0" err="1">
                <a:latin typeface="Sans sarif"/>
                <a:sym typeface="Wingdings" pitchFamily="2" charset="2"/>
              </a:rPr>
              <a:t>working</a:t>
            </a:r>
            <a:endParaRPr lang="nl-NL" sz="3200" b="1" dirty="0">
              <a:latin typeface="Sans sarif"/>
              <a:sym typeface="Wingdings" pitchFamily="2" charset="2"/>
            </a:endParaRPr>
          </a:p>
          <a:p>
            <a:r>
              <a:rPr lang="nl-NL" sz="3200" dirty="0" err="1">
                <a:latin typeface="Sans sarif"/>
              </a:rPr>
              <a:t>you</a:t>
            </a:r>
            <a:r>
              <a:rPr lang="nl-NL" sz="3200" dirty="0">
                <a:latin typeface="Sans sarif"/>
              </a:rPr>
              <a:t>, we, </a:t>
            </a:r>
            <a:r>
              <a:rPr lang="nl-NL" sz="3200" dirty="0" err="1">
                <a:latin typeface="Sans sarif"/>
              </a:rPr>
              <a:t>they</a:t>
            </a:r>
            <a:r>
              <a:rPr lang="nl-NL" sz="3200" dirty="0">
                <a:latin typeface="Sans sarif"/>
              </a:rPr>
              <a:t> + </a:t>
            </a:r>
            <a:r>
              <a:rPr lang="nl-NL" sz="3200" u="sng" dirty="0">
                <a:latin typeface="Sans sarif"/>
              </a:rPr>
              <a:t>are</a:t>
            </a:r>
            <a:r>
              <a:rPr lang="nl-NL" sz="3200" dirty="0">
                <a:latin typeface="Sans sarif"/>
              </a:rPr>
              <a:t> + </a:t>
            </a:r>
            <a:r>
              <a:rPr lang="nl-NL" sz="3200" dirty="0" err="1">
                <a:latin typeface="Sans sarif"/>
              </a:rPr>
              <a:t>verb</a:t>
            </a:r>
            <a:r>
              <a:rPr lang="nl-NL" sz="3200" dirty="0">
                <a:latin typeface="Sans sarif"/>
              </a:rPr>
              <a:t> + -</a:t>
            </a:r>
            <a:r>
              <a:rPr lang="nl-NL" sz="3200" dirty="0" err="1">
                <a:latin typeface="Sans sarif"/>
              </a:rPr>
              <a:t>ing</a:t>
            </a:r>
            <a:r>
              <a:rPr lang="nl-NL" sz="3200" dirty="0">
                <a:latin typeface="Sans sarif"/>
              </a:rPr>
              <a:t> </a:t>
            </a:r>
            <a:r>
              <a:rPr lang="nl-NL" sz="3200" dirty="0">
                <a:latin typeface="Sans sarif"/>
                <a:sym typeface="Wingdings" pitchFamily="2" charset="2"/>
              </a:rPr>
              <a:t> </a:t>
            </a:r>
            <a:r>
              <a:rPr lang="nl-NL" sz="3200" dirty="0" err="1">
                <a:latin typeface="Sans sarif"/>
                <a:sym typeface="Wingdings" pitchFamily="2" charset="2"/>
              </a:rPr>
              <a:t>you</a:t>
            </a:r>
            <a:r>
              <a:rPr lang="nl-NL" sz="3200" dirty="0">
                <a:latin typeface="Sans sarif"/>
                <a:sym typeface="Wingdings" pitchFamily="2" charset="2"/>
              </a:rPr>
              <a:t> </a:t>
            </a:r>
            <a:r>
              <a:rPr lang="nl-NL" sz="3200" b="1" dirty="0">
                <a:latin typeface="Sans sarif"/>
                <a:sym typeface="Wingdings" pitchFamily="2" charset="2"/>
              </a:rPr>
              <a:t>are </a:t>
            </a:r>
            <a:r>
              <a:rPr lang="nl-NL" sz="3200" b="1" dirty="0" err="1">
                <a:latin typeface="Sans sarif"/>
                <a:sym typeface="Wingdings" pitchFamily="2" charset="2"/>
              </a:rPr>
              <a:t>working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51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</a:t>
            </a:r>
            <a:r>
              <a:rPr lang="nl-NL" dirty="0" err="1">
                <a:latin typeface="Sans sarif"/>
              </a:rPr>
              <a:t>Continuous</a:t>
            </a:r>
            <a:r>
              <a:rPr lang="nl-NL" dirty="0">
                <a:latin typeface="Sans sarif"/>
              </a:rPr>
              <a:t> - Spelling</a:t>
            </a:r>
            <a:endParaRPr lang="en-US" dirty="0">
              <a:latin typeface="Sans sarif"/>
            </a:endParaRPr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844824"/>
            <a:ext cx="8153400" cy="4495800"/>
          </a:xfrm>
        </p:spPr>
        <p:txBody>
          <a:bodyPr/>
          <a:lstStyle/>
          <a:p>
            <a:r>
              <a:rPr lang="nl-NL" sz="2800" dirty="0" err="1">
                <a:latin typeface="Sans sarif"/>
              </a:rPr>
              <a:t>Verbs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ending</a:t>
            </a:r>
            <a:r>
              <a:rPr lang="nl-NL" sz="2800" dirty="0">
                <a:latin typeface="Sans sarif"/>
              </a:rPr>
              <a:t> in -ie (die, </a:t>
            </a:r>
            <a:r>
              <a:rPr lang="nl-NL" sz="2800" dirty="0" err="1">
                <a:latin typeface="Sans sarif"/>
              </a:rPr>
              <a:t>lie</a:t>
            </a:r>
            <a:r>
              <a:rPr lang="nl-NL" sz="2800" dirty="0">
                <a:latin typeface="Sans sarif"/>
              </a:rPr>
              <a:t>, tie): -ie </a:t>
            </a:r>
            <a:r>
              <a:rPr lang="nl-NL" sz="2800" dirty="0">
                <a:latin typeface="Sans sarif"/>
                <a:sym typeface="Wingdings" pitchFamily="2" charset="2"/>
              </a:rPr>
              <a:t> y </a:t>
            </a:r>
          </a:p>
          <a:p>
            <a:pPr>
              <a:buFont typeface="Wingdings" pitchFamily="2" charset="2"/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	I </a:t>
            </a:r>
            <a:r>
              <a:rPr lang="nl-NL" sz="2800" b="1" dirty="0" err="1">
                <a:latin typeface="Sans sarif"/>
                <a:sym typeface="Wingdings" pitchFamily="2" charset="2"/>
              </a:rPr>
              <a:t>am</a:t>
            </a:r>
            <a:r>
              <a:rPr lang="nl-NL" sz="2800" b="1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dying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you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>
                <a:latin typeface="Sans sarif"/>
                <a:sym typeface="Wingdings" pitchFamily="2" charset="2"/>
              </a:rPr>
              <a:t>are </a:t>
            </a:r>
            <a:r>
              <a:rPr lang="nl-NL" sz="2800" b="1" dirty="0" err="1">
                <a:latin typeface="Sans sarif"/>
                <a:sym typeface="Wingdings" pitchFamily="2" charset="2"/>
              </a:rPr>
              <a:t>lying</a:t>
            </a:r>
            <a:r>
              <a:rPr lang="nl-NL" sz="2800" dirty="0">
                <a:latin typeface="Sans sarif"/>
                <a:sym typeface="Wingdings" pitchFamily="2" charset="2"/>
              </a:rPr>
              <a:t>, he </a:t>
            </a:r>
            <a:r>
              <a:rPr lang="nl-NL" sz="2800" b="1" dirty="0">
                <a:latin typeface="Sans sarif"/>
                <a:sym typeface="Wingdings" pitchFamily="2" charset="2"/>
              </a:rPr>
              <a:t>is </a:t>
            </a:r>
            <a:r>
              <a:rPr lang="nl-NL" sz="2800" b="1" dirty="0" err="1">
                <a:latin typeface="Sans sarif"/>
                <a:sym typeface="Wingdings" pitchFamily="2" charset="2"/>
              </a:rPr>
              <a:t>tying</a:t>
            </a:r>
            <a:endParaRPr lang="nl-NL" sz="2800" b="1" dirty="0">
              <a:latin typeface="Sans sarif"/>
              <a:sym typeface="Wingdings" pitchFamily="2" charset="2"/>
            </a:endParaRPr>
          </a:p>
          <a:p>
            <a:r>
              <a:rPr lang="nl-NL" sz="2800" dirty="0" err="1">
                <a:latin typeface="Sans sarif"/>
                <a:sym typeface="Wingdings" pitchFamily="2" charset="2"/>
              </a:rPr>
              <a:t>Verbs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ending</a:t>
            </a:r>
            <a:r>
              <a:rPr lang="nl-NL" sz="2800" dirty="0">
                <a:latin typeface="Sans sarif"/>
                <a:sym typeface="Wingdings" pitchFamily="2" charset="2"/>
              </a:rPr>
              <a:t> in </a:t>
            </a:r>
            <a:r>
              <a:rPr lang="nl-NL" sz="2800" dirty="0" err="1">
                <a:latin typeface="Sans sarif"/>
                <a:sym typeface="Wingdings" pitchFamily="2" charset="2"/>
              </a:rPr>
              <a:t>vowel</a:t>
            </a:r>
            <a:r>
              <a:rPr lang="nl-NL" sz="2800" dirty="0">
                <a:latin typeface="Sans sarif"/>
                <a:sym typeface="Wingdings" pitchFamily="2" charset="2"/>
              </a:rPr>
              <a:t> + consonant (stop, plan, </a:t>
            </a:r>
            <a:r>
              <a:rPr lang="nl-NL" sz="2800" dirty="0" err="1">
                <a:latin typeface="Sans sarif"/>
                <a:sym typeface="Wingdings" pitchFamily="2" charset="2"/>
              </a:rPr>
              <a:t>rub</a:t>
            </a:r>
            <a:r>
              <a:rPr lang="nl-NL" sz="2800" dirty="0">
                <a:latin typeface="Sans sarif"/>
                <a:sym typeface="Wingdings" pitchFamily="2" charset="2"/>
              </a:rPr>
              <a:t>) double </a:t>
            </a:r>
            <a:r>
              <a:rPr lang="nl-NL" sz="2800" dirty="0" err="1">
                <a:latin typeface="Sans sarif"/>
                <a:sym typeface="Wingdings" pitchFamily="2" charset="2"/>
              </a:rPr>
              <a:t>the</a:t>
            </a:r>
            <a:r>
              <a:rPr lang="nl-NL" sz="2800" dirty="0">
                <a:latin typeface="Sans sarif"/>
                <a:sym typeface="Wingdings" pitchFamily="2" charset="2"/>
              </a:rPr>
              <a:t> consonant </a:t>
            </a:r>
          </a:p>
          <a:p>
            <a:pPr>
              <a:buFont typeface="Wingdings" pitchFamily="2" charset="2"/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	I </a:t>
            </a:r>
            <a:r>
              <a:rPr lang="nl-NL" sz="2800" b="1" dirty="0" err="1">
                <a:latin typeface="Sans sarif"/>
                <a:sym typeface="Wingdings" pitchFamily="2" charset="2"/>
              </a:rPr>
              <a:t>am</a:t>
            </a:r>
            <a:r>
              <a:rPr lang="nl-NL" sz="2800" b="1" dirty="0">
                <a:latin typeface="Sans sarif"/>
                <a:sym typeface="Wingdings" pitchFamily="2" charset="2"/>
              </a:rPr>
              <a:t> stopping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you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>
                <a:latin typeface="Sans sarif"/>
                <a:sym typeface="Wingdings" pitchFamily="2" charset="2"/>
              </a:rPr>
              <a:t>are planning</a:t>
            </a:r>
            <a:r>
              <a:rPr lang="nl-NL" sz="2800" dirty="0">
                <a:latin typeface="Sans sarif"/>
                <a:sym typeface="Wingdings" pitchFamily="2" charset="2"/>
              </a:rPr>
              <a:t>, he </a:t>
            </a:r>
            <a:r>
              <a:rPr lang="nl-NL" sz="2800" b="1" dirty="0">
                <a:latin typeface="Sans sarif"/>
                <a:sym typeface="Wingdings" pitchFamily="2" charset="2"/>
              </a:rPr>
              <a:t>is </a:t>
            </a:r>
            <a:r>
              <a:rPr lang="nl-NL" sz="2800" b="1" dirty="0" err="1">
                <a:latin typeface="Sans sarif"/>
                <a:sym typeface="Wingdings" pitchFamily="2" charset="2"/>
              </a:rPr>
              <a:t>rubbing</a:t>
            </a:r>
            <a:endParaRPr lang="nl-NL" sz="2800" b="1" dirty="0">
              <a:latin typeface="Sans sarif"/>
              <a:sym typeface="Wingdings" pitchFamily="2" charset="2"/>
            </a:endParaRPr>
          </a:p>
          <a:p>
            <a:r>
              <a:rPr lang="nl-NL" sz="2800" dirty="0" err="1">
                <a:latin typeface="Sans sarif"/>
                <a:sym typeface="Wingdings" pitchFamily="2" charset="2"/>
              </a:rPr>
              <a:t>verbs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ending</a:t>
            </a:r>
            <a:r>
              <a:rPr lang="nl-NL" sz="2800" dirty="0">
                <a:latin typeface="Sans sarif"/>
                <a:sym typeface="Wingdings" pitchFamily="2" charset="2"/>
              </a:rPr>
              <a:t> in -e (hope, dance, </a:t>
            </a:r>
            <a:r>
              <a:rPr lang="nl-NL" sz="2800" dirty="0" err="1">
                <a:latin typeface="Sans sarif"/>
                <a:sym typeface="Wingdings" pitchFamily="2" charset="2"/>
              </a:rPr>
              <a:t>smile</a:t>
            </a:r>
            <a:r>
              <a:rPr lang="nl-NL" sz="2800" dirty="0">
                <a:latin typeface="Sans sarif"/>
                <a:sym typeface="Wingdings" pitchFamily="2" charset="2"/>
              </a:rPr>
              <a:t>): </a:t>
            </a:r>
            <a:r>
              <a:rPr lang="nl-NL" sz="2800" dirty="0" err="1">
                <a:latin typeface="Sans sarif"/>
                <a:sym typeface="Wingdings" pitchFamily="2" charset="2"/>
              </a:rPr>
              <a:t>leave</a:t>
            </a:r>
            <a:r>
              <a:rPr lang="nl-NL" sz="2800" dirty="0">
                <a:latin typeface="Sans sarif"/>
                <a:sym typeface="Wingdings" pitchFamily="2" charset="2"/>
              </a:rPr>
              <a:t> out -e</a:t>
            </a:r>
          </a:p>
          <a:p>
            <a:pPr>
              <a:buFont typeface="Wingdings" pitchFamily="2" charset="2"/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	I </a:t>
            </a:r>
            <a:r>
              <a:rPr lang="nl-NL" sz="2800" b="1" dirty="0" err="1">
                <a:latin typeface="Sans sarif"/>
                <a:sym typeface="Wingdings" pitchFamily="2" charset="2"/>
              </a:rPr>
              <a:t>am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hoping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you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>
                <a:latin typeface="Sans sarif"/>
                <a:sym typeface="Wingdings" pitchFamily="2" charset="2"/>
              </a:rPr>
              <a:t>are dancing</a:t>
            </a:r>
            <a:r>
              <a:rPr lang="nl-NL" sz="2800" dirty="0">
                <a:latin typeface="Sans sarif"/>
                <a:sym typeface="Wingdings" pitchFamily="2" charset="2"/>
              </a:rPr>
              <a:t>, he </a:t>
            </a:r>
            <a:r>
              <a:rPr lang="nl-NL" sz="2800" b="1" dirty="0">
                <a:latin typeface="Sans sarif"/>
                <a:sym typeface="Wingdings" pitchFamily="2" charset="2"/>
              </a:rPr>
              <a:t>is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smiling</a:t>
            </a:r>
            <a:endParaRPr lang="nl-NL" sz="2800" b="1" dirty="0">
              <a:latin typeface="Sans sarif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endParaRPr lang="en-US" b="1" dirty="0">
              <a:latin typeface="Sans sa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</a:t>
            </a:r>
            <a:r>
              <a:rPr lang="nl-NL" dirty="0" err="1">
                <a:latin typeface="Sans sarif"/>
              </a:rPr>
              <a:t>continuous</a:t>
            </a:r>
            <a:r>
              <a:rPr lang="nl-NL" dirty="0">
                <a:latin typeface="Sans sarif"/>
              </a:rPr>
              <a:t> – </a:t>
            </a:r>
            <a:r>
              <a:rPr lang="nl-NL" dirty="0" err="1">
                <a:latin typeface="Sans sarif"/>
              </a:rPr>
              <a:t>signal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words</a:t>
            </a:r>
            <a:endParaRPr lang="en-US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Words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indicating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current</a:t>
            </a:r>
            <a:r>
              <a:rPr lang="nl-NL" dirty="0">
                <a:latin typeface="Sans sarif"/>
              </a:rPr>
              <a:t> action:</a:t>
            </a:r>
          </a:p>
          <a:p>
            <a:pPr lvl="1"/>
            <a:r>
              <a:rPr lang="nl-NL" dirty="0">
                <a:latin typeface="Sans sarif"/>
              </a:rPr>
              <a:t>(right) </a:t>
            </a:r>
            <a:r>
              <a:rPr lang="nl-NL" dirty="0" err="1">
                <a:latin typeface="Sans sarif"/>
              </a:rPr>
              <a:t>now</a:t>
            </a:r>
            <a:r>
              <a:rPr lang="nl-NL" dirty="0">
                <a:latin typeface="Sans sarif"/>
              </a:rPr>
              <a:t>, at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moment, look!, listen!</a:t>
            </a:r>
          </a:p>
          <a:p>
            <a:pPr marL="366713" lvl="1" indent="0">
              <a:buNone/>
            </a:pP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Words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indicating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period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around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now</a:t>
            </a:r>
            <a:r>
              <a:rPr lang="nl-NL" dirty="0">
                <a:latin typeface="Sans sarif"/>
              </a:rPr>
              <a:t>:</a:t>
            </a:r>
          </a:p>
          <a:p>
            <a:pPr lvl="1"/>
            <a:r>
              <a:rPr lang="nl-NL" dirty="0" err="1">
                <a:latin typeface="Sans sarif"/>
              </a:rPr>
              <a:t>today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week,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year</a:t>
            </a:r>
            <a:endParaRPr lang="en-US" dirty="0">
              <a:latin typeface="Sans sa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Present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endParaRPr lang="nl-NL" dirty="0">
              <a:latin typeface="Sans sarif"/>
            </a:endParaRP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sz="2800" dirty="0" err="1">
                <a:latin typeface="Sans sarif"/>
              </a:rPr>
              <a:t>Facts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and</a:t>
            </a:r>
            <a:r>
              <a:rPr lang="nl-NL" sz="2800" dirty="0">
                <a:latin typeface="Sans sarif"/>
              </a:rPr>
              <a:t> routines</a:t>
            </a:r>
          </a:p>
          <a:p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Verb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Verb+S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Verb+ES</a:t>
            </a:r>
            <a:endParaRPr lang="nl-NL" sz="2800" dirty="0">
              <a:latin typeface="Sans sarif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Action at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moment, in </a:t>
            </a:r>
            <a:r>
              <a:rPr lang="nl-NL" dirty="0" err="1">
                <a:latin typeface="Sans sarif"/>
              </a:rPr>
              <a:t>progress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unfinished</a:t>
            </a:r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  <a:p>
            <a:r>
              <a:rPr lang="nl-NL" dirty="0">
                <a:latin typeface="Sans sarif"/>
              </a:rPr>
              <a:t>Am, is, are + </a:t>
            </a:r>
            <a:r>
              <a:rPr lang="nl-NL" dirty="0" err="1">
                <a:latin typeface="Sans sarif"/>
              </a:rPr>
              <a:t>Verb+ING</a:t>
            </a:r>
            <a:endParaRPr lang="nl-NL" dirty="0">
              <a:latin typeface="Sans sarif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Present Simple </a:t>
            </a:r>
            <a:r>
              <a:rPr lang="nl-NL" sz="2400" dirty="0" err="1">
                <a:latin typeface="Sans sarif"/>
              </a:rPr>
              <a:t>Rule</a:t>
            </a:r>
            <a:endParaRPr lang="nl-NL" sz="2400" dirty="0">
              <a:latin typeface="Sans sarif"/>
            </a:endParaRPr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Present </a:t>
            </a:r>
            <a:r>
              <a:rPr lang="nl-NL" sz="2400" dirty="0" err="1">
                <a:latin typeface="Sans sarif"/>
              </a:rPr>
              <a:t>Continuous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Rule</a:t>
            </a:r>
            <a:endParaRPr lang="nl-NL" sz="24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52406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B45F-356C-EFE4-F428-1F3C252B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Practice! -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478B-C4CE-6D2D-0DBA-ABB994FEA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dirty="0"/>
              <a:t>Describe</a:t>
            </a:r>
            <a:r>
              <a:rPr lang="en-GB" dirty="0"/>
              <a:t> an average day in your life Using the PRESENT SIMPLE only</a:t>
            </a:r>
          </a:p>
          <a:p>
            <a:pPr marL="0" indent="0">
              <a:buNone/>
            </a:pPr>
            <a:r>
              <a:rPr lang="en-GB" dirty="0"/>
              <a:t>Signal words:</a:t>
            </a:r>
          </a:p>
          <a:p>
            <a:pPr lvl="1"/>
            <a:r>
              <a:rPr lang="en-GB" dirty="0"/>
              <a:t>Always</a:t>
            </a:r>
          </a:p>
          <a:p>
            <a:pPr lvl="1"/>
            <a:r>
              <a:rPr lang="en-GB" dirty="0"/>
              <a:t>Every...</a:t>
            </a:r>
          </a:p>
          <a:p>
            <a:pPr lvl="1"/>
            <a:r>
              <a:rPr lang="en-GB" dirty="0"/>
              <a:t>Normally</a:t>
            </a:r>
          </a:p>
          <a:p>
            <a:pPr lvl="1"/>
            <a:r>
              <a:rPr lang="en-GB" dirty="0"/>
              <a:t>Sometimes</a:t>
            </a:r>
          </a:p>
          <a:p>
            <a:pPr lvl="1"/>
            <a:r>
              <a:rPr lang="en-GB" dirty="0"/>
              <a:t>Regularly</a:t>
            </a:r>
          </a:p>
          <a:p>
            <a:pPr lvl="1"/>
            <a:r>
              <a:rPr lang="en-GB" dirty="0"/>
              <a:t>Never</a:t>
            </a:r>
          </a:p>
          <a:p>
            <a:pPr lvl="1"/>
            <a:r>
              <a:rPr lang="en-GB" dirty="0"/>
              <a:t>Often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8297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738668B-CD95-1322-5624-6D80866D3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Break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3FE7E5F-54AE-EC90-7409-3838E392D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71195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95300" y="260648"/>
            <a:ext cx="8153400" cy="869950"/>
          </a:xfrm>
        </p:spPr>
        <p:txBody>
          <a:bodyPr/>
          <a:lstStyle/>
          <a:p>
            <a:r>
              <a:rPr lang="nl-NL" sz="3600" dirty="0">
                <a:latin typeface="Sans sarif"/>
              </a:rPr>
              <a:t>Present/Past </a:t>
            </a:r>
            <a:r>
              <a:rPr lang="nl-NL" sz="3600" dirty="0" err="1">
                <a:latin typeface="Sans sarif"/>
              </a:rPr>
              <a:t>Tenses</a:t>
            </a:r>
            <a:r>
              <a:rPr lang="nl-NL" sz="3600" dirty="0">
                <a:latin typeface="Sans sarif"/>
              </a:rPr>
              <a:t> </a:t>
            </a:r>
            <a:r>
              <a:rPr lang="nl-NL" sz="3600" dirty="0" err="1">
                <a:latin typeface="Sans sarif"/>
              </a:rPr>
              <a:t>Compared</a:t>
            </a:r>
            <a:br>
              <a:rPr lang="nl-NL" sz="3600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sz="3600" dirty="0">
              <a:latin typeface="Sans sarif"/>
            </a:endParaRP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sz="2000" dirty="0">
                <a:latin typeface="Sans sarif"/>
              </a:rPr>
              <a:t>I </a:t>
            </a:r>
            <a:r>
              <a:rPr lang="nl-NL" sz="2000" b="1" dirty="0" err="1">
                <a:latin typeface="Sans sarif"/>
              </a:rPr>
              <a:t>lived</a:t>
            </a:r>
            <a:r>
              <a:rPr lang="nl-NL" sz="2000" dirty="0">
                <a:latin typeface="Sans sarif"/>
              </a:rPr>
              <a:t> in Groningen </a:t>
            </a:r>
            <a:r>
              <a:rPr lang="nl-NL" sz="2000" dirty="0" err="1">
                <a:latin typeface="Sans sarif"/>
              </a:rPr>
              <a:t>for</a:t>
            </a:r>
            <a:r>
              <a:rPr lang="nl-NL" sz="2000" dirty="0">
                <a:latin typeface="Sans sarif"/>
              </a:rPr>
              <a:t> 8 </a:t>
            </a:r>
            <a:r>
              <a:rPr lang="nl-NL" sz="2000" dirty="0" err="1">
                <a:latin typeface="Sans sarif"/>
              </a:rPr>
              <a:t>years</a:t>
            </a:r>
            <a:r>
              <a:rPr lang="nl-NL" sz="2000" dirty="0">
                <a:latin typeface="Sans sarif"/>
              </a:rPr>
              <a:t>.</a:t>
            </a:r>
          </a:p>
          <a:p>
            <a:r>
              <a:rPr lang="nl-NL" sz="2000" dirty="0" err="1">
                <a:latin typeface="Sans sarif"/>
              </a:rPr>
              <a:t>They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 err="1">
                <a:latin typeface="Sans sarif"/>
              </a:rPr>
              <a:t>played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violin</a:t>
            </a:r>
            <a:r>
              <a:rPr lang="nl-NL" sz="2000" dirty="0">
                <a:latin typeface="Sans sarif"/>
              </a:rPr>
              <a:t> as a </a:t>
            </a:r>
            <a:r>
              <a:rPr lang="nl-NL" sz="2000" dirty="0" err="1">
                <a:latin typeface="Sans sarif"/>
              </a:rPr>
              <a:t>child</a:t>
            </a:r>
            <a:r>
              <a:rPr lang="nl-NL" sz="2000" dirty="0">
                <a:latin typeface="Sans sarif"/>
              </a:rPr>
              <a:t>.</a:t>
            </a:r>
          </a:p>
          <a:p>
            <a:r>
              <a:rPr lang="nl-NL" sz="2000" dirty="0">
                <a:latin typeface="Sans sarif"/>
              </a:rPr>
              <a:t>It </a:t>
            </a:r>
            <a:r>
              <a:rPr lang="nl-NL" sz="2000" b="1" dirty="0">
                <a:latin typeface="Sans sarif"/>
              </a:rPr>
              <a:t>was</a:t>
            </a:r>
            <a:r>
              <a:rPr lang="nl-NL" sz="2000" dirty="0">
                <a:latin typeface="Sans sarif"/>
              </a:rPr>
              <a:t> at school last week.</a:t>
            </a:r>
          </a:p>
          <a:p>
            <a:r>
              <a:rPr lang="nl-NL" sz="2000" dirty="0">
                <a:latin typeface="Sans sarif"/>
              </a:rPr>
              <a:t>He </a:t>
            </a:r>
            <a:r>
              <a:rPr lang="nl-NL" sz="2000" b="1" dirty="0" err="1">
                <a:latin typeface="Sans sarif"/>
              </a:rPr>
              <a:t>painted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the</a:t>
            </a:r>
            <a:r>
              <a:rPr lang="nl-NL" sz="2000" dirty="0">
                <a:latin typeface="Sans sarif"/>
              </a:rPr>
              <a:t> door last week.</a:t>
            </a:r>
          </a:p>
          <a:p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 err="1">
                <a:latin typeface="Sans sarif"/>
              </a:rPr>
              <a:t>broke</a:t>
            </a:r>
            <a:r>
              <a:rPr lang="nl-NL" sz="2000" b="1" dirty="0">
                <a:latin typeface="Sans sarif"/>
              </a:rPr>
              <a:t> </a:t>
            </a:r>
            <a:r>
              <a:rPr lang="nl-NL" sz="2000" dirty="0">
                <a:latin typeface="Sans sarif"/>
              </a:rPr>
              <a:t>her leg </a:t>
            </a:r>
            <a:r>
              <a:rPr lang="nl-NL" sz="2000" dirty="0" err="1">
                <a:latin typeface="Sans sarif"/>
              </a:rPr>
              <a:t>when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was 12.</a:t>
            </a:r>
          </a:p>
          <a:p>
            <a:r>
              <a:rPr lang="nl-NL" sz="2000" dirty="0">
                <a:latin typeface="Sans sarif"/>
              </a:rPr>
              <a:t>First I </a:t>
            </a:r>
            <a:r>
              <a:rPr lang="nl-NL" sz="2000" b="1" dirty="0" err="1">
                <a:latin typeface="Sans sarif"/>
              </a:rPr>
              <a:t>woke</a:t>
            </a:r>
            <a:r>
              <a:rPr lang="nl-NL" sz="2000" dirty="0">
                <a:latin typeface="Sans sarif"/>
              </a:rPr>
              <a:t> up, </a:t>
            </a:r>
            <a:r>
              <a:rPr lang="nl-NL" sz="2000" dirty="0" err="1">
                <a:latin typeface="Sans sarif"/>
              </a:rPr>
              <a:t>then</a:t>
            </a:r>
            <a:r>
              <a:rPr lang="nl-NL" sz="2000" dirty="0">
                <a:latin typeface="Sans sarif"/>
              </a:rPr>
              <a:t> I </a:t>
            </a:r>
            <a:r>
              <a:rPr lang="nl-NL" sz="2000" b="1" dirty="0">
                <a:latin typeface="Sans sarif"/>
              </a:rPr>
              <a:t>had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breakfast</a:t>
            </a:r>
            <a:r>
              <a:rPr lang="nl-NL" sz="2000" dirty="0">
                <a:latin typeface="Sans sarif"/>
              </a:rPr>
              <a:t>, </a:t>
            </a:r>
            <a:r>
              <a:rPr lang="nl-NL" sz="2000" dirty="0" err="1">
                <a:latin typeface="Sans sarif"/>
              </a:rPr>
              <a:t>and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then</a:t>
            </a:r>
            <a:r>
              <a:rPr lang="nl-NL" sz="2000" dirty="0">
                <a:latin typeface="Sans sarif"/>
              </a:rPr>
              <a:t> I </a:t>
            </a:r>
            <a:r>
              <a:rPr lang="nl-NL" sz="2000" b="1" dirty="0" err="1">
                <a:latin typeface="Sans sarif"/>
              </a:rPr>
              <a:t>cycled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to</a:t>
            </a:r>
            <a:r>
              <a:rPr lang="nl-NL" sz="2000" dirty="0">
                <a:latin typeface="Sans sarif"/>
              </a:rPr>
              <a:t> school. </a:t>
            </a:r>
          </a:p>
          <a:p>
            <a:pPr marL="0" indent="0">
              <a:buNone/>
            </a:pPr>
            <a:endParaRPr lang="nl-NL" sz="2400" dirty="0">
              <a:latin typeface="Sans sarif"/>
            </a:endParaRPr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r>
              <a:rPr lang="nl-NL" sz="2000" dirty="0">
                <a:latin typeface="Sans sarif"/>
              </a:rPr>
              <a:t>I </a:t>
            </a:r>
            <a:r>
              <a:rPr lang="nl-NL" sz="2000" b="1" dirty="0">
                <a:latin typeface="Sans sarif"/>
              </a:rPr>
              <a:t>have </a:t>
            </a:r>
            <a:r>
              <a:rPr lang="nl-NL" sz="2000" b="1" dirty="0" err="1">
                <a:latin typeface="Sans sarif"/>
              </a:rPr>
              <a:t>lived</a:t>
            </a:r>
            <a:r>
              <a:rPr lang="nl-NL" sz="2000" b="1" dirty="0">
                <a:latin typeface="Sans sarif"/>
              </a:rPr>
              <a:t> </a:t>
            </a:r>
            <a:r>
              <a:rPr lang="nl-NL" sz="2000" dirty="0">
                <a:latin typeface="Sans sarif"/>
              </a:rPr>
              <a:t>in Utrecht </a:t>
            </a:r>
            <a:r>
              <a:rPr lang="nl-NL" sz="2000" dirty="0" err="1">
                <a:latin typeface="Sans sarif"/>
              </a:rPr>
              <a:t>for</a:t>
            </a:r>
            <a:r>
              <a:rPr lang="nl-NL" sz="2000" dirty="0">
                <a:latin typeface="Sans sarif"/>
              </a:rPr>
              <a:t> 6 </a:t>
            </a:r>
            <a:r>
              <a:rPr lang="nl-NL" sz="2000" dirty="0" err="1">
                <a:latin typeface="Sans sarif"/>
              </a:rPr>
              <a:t>years</a:t>
            </a:r>
            <a:r>
              <a:rPr lang="nl-NL" sz="2000" dirty="0">
                <a:latin typeface="Sans sarif"/>
              </a:rPr>
              <a:t>.</a:t>
            </a:r>
          </a:p>
          <a:p>
            <a:r>
              <a:rPr lang="nl-NL" sz="2000" dirty="0">
                <a:latin typeface="Sans sarif"/>
              </a:rPr>
              <a:t>I </a:t>
            </a:r>
            <a:r>
              <a:rPr lang="nl-NL" sz="2000" b="1" dirty="0">
                <a:latin typeface="Sans sarif"/>
              </a:rPr>
              <a:t>have been </a:t>
            </a:r>
            <a:r>
              <a:rPr lang="nl-NL" sz="2000" dirty="0">
                <a:latin typeface="Sans sarif"/>
              </a:rPr>
              <a:t>at school </a:t>
            </a:r>
            <a:r>
              <a:rPr lang="nl-NL" sz="2000" dirty="0" err="1">
                <a:latin typeface="Sans sarif"/>
              </a:rPr>
              <a:t>since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this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morning</a:t>
            </a:r>
            <a:r>
              <a:rPr lang="nl-NL" sz="2000" dirty="0">
                <a:latin typeface="Sans sarif"/>
              </a:rPr>
              <a:t>.</a:t>
            </a:r>
          </a:p>
          <a:p>
            <a:r>
              <a:rPr lang="nl-NL" sz="2000" dirty="0">
                <a:latin typeface="Sans sarif"/>
              </a:rPr>
              <a:t>I </a:t>
            </a:r>
            <a:r>
              <a:rPr lang="nl-NL" sz="2000" b="1" dirty="0">
                <a:latin typeface="Sans sarif"/>
              </a:rPr>
              <a:t>have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already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 err="1">
                <a:latin typeface="Sans sarif"/>
              </a:rPr>
              <a:t>seen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Dune</a:t>
            </a:r>
            <a:r>
              <a:rPr lang="nl-NL" sz="2000" dirty="0">
                <a:latin typeface="Sans sarif"/>
              </a:rPr>
              <a:t>, but </a:t>
            </a:r>
            <a:r>
              <a:rPr lang="nl-NL" sz="2000" dirty="0" err="1">
                <a:latin typeface="Sans sarif"/>
              </a:rPr>
              <a:t>I’d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still</a:t>
            </a:r>
            <a:r>
              <a:rPr lang="nl-NL" sz="2000" dirty="0">
                <a:latin typeface="Sans sarif"/>
              </a:rPr>
              <a:t> like </a:t>
            </a:r>
            <a:r>
              <a:rPr lang="nl-NL" sz="2000" dirty="0" err="1">
                <a:latin typeface="Sans sarif"/>
              </a:rPr>
              <a:t>to</a:t>
            </a:r>
            <a:r>
              <a:rPr lang="nl-NL" sz="2000" dirty="0">
                <a:latin typeface="Sans sarif"/>
              </a:rPr>
              <a:t> go </a:t>
            </a:r>
            <a:r>
              <a:rPr lang="nl-NL" sz="2000" dirty="0" err="1">
                <a:latin typeface="Sans sarif"/>
              </a:rPr>
              <a:t>to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movies</a:t>
            </a:r>
            <a:r>
              <a:rPr lang="nl-NL" sz="2000" dirty="0">
                <a:latin typeface="Sans sarif"/>
              </a:rPr>
              <a:t>.</a:t>
            </a:r>
          </a:p>
          <a:p>
            <a:r>
              <a:rPr lang="nl-NL" sz="2000" dirty="0">
                <a:latin typeface="Sans sarif"/>
              </a:rPr>
              <a:t>He </a:t>
            </a:r>
            <a:r>
              <a:rPr lang="nl-NL" sz="2000" b="1" dirty="0">
                <a:latin typeface="Sans sarif"/>
              </a:rPr>
              <a:t>has </a:t>
            </a:r>
            <a:r>
              <a:rPr lang="nl-NL" sz="2000" b="1" dirty="0" err="1">
                <a:latin typeface="Sans sarif"/>
              </a:rPr>
              <a:t>painted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the</a:t>
            </a:r>
            <a:r>
              <a:rPr lang="nl-NL" sz="2000" dirty="0">
                <a:latin typeface="Sans sarif"/>
              </a:rPr>
              <a:t> door, </a:t>
            </a:r>
            <a:r>
              <a:rPr lang="nl-NL" sz="2000" dirty="0" err="1">
                <a:latin typeface="Sans sarif"/>
              </a:rPr>
              <a:t>so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don’t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touch</a:t>
            </a:r>
            <a:r>
              <a:rPr lang="nl-NL" sz="2000" dirty="0">
                <a:latin typeface="Sans sarif"/>
              </a:rPr>
              <a:t> it.</a:t>
            </a:r>
          </a:p>
          <a:p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>
                <a:latin typeface="Sans sarif"/>
              </a:rPr>
              <a:t>has </a:t>
            </a:r>
            <a:r>
              <a:rPr lang="nl-NL" sz="2000" b="1" dirty="0" err="1">
                <a:latin typeface="Sans sarif"/>
              </a:rPr>
              <a:t>broken</a:t>
            </a:r>
            <a:r>
              <a:rPr lang="nl-NL" sz="2000" dirty="0">
                <a:latin typeface="Sans sarif"/>
              </a:rPr>
              <a:t> her leg </a:t>
            </a:r>
            <a:r>
              <a:rPr lang="nl-NL" sz="2000" dirty="0" err="1">
                <a:latin typeface="Sans sarif"/>
              </a:rPr>
              <a:t>and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can’t</a:t>
            </a:r>
            <a:r>
              <a:rPr lang="nl-NL" sz="2000" dirty="0">
                <a:latin typeface="Sans sarif"/>
              </a:rPr>
              <a:t> walk </a:t>
            </a:r>
            <a:r>
              <a:rPr lang="nl-NL" sz="2000" dirty="0" err="1">
                <a:latin typeface="Sans sarif"/>
              </a:rPr>
              <a:t>for</a:t>
            </a:r>
            <a:r>
              <a:rPr lang="nl-NL" sz="2000" dirty="0">
                <a:latin typeface="Sans sarif"/>
              </a:rPr>
              <a:t> a </a:t>
            </a:r>
            <a:r>
              <a:rPr lang="nl-NL" sz="2000" dirty="0" err="1">
                <a:latin typeface="Sans sarif"/>
              </a:rPr>
              <a:t>while</a:t>
            </a:r>
            <a:endParaRPr lang="nl-NL" sz="2000" dirty="0">
              <a:latin typeface="Sans sarif"/>
            </a:endParaRPr>
          </a:p>
          <a:p>
            <a:endParaRPr lang="nl-NL" sz="2400" dirty="0">
              <a:latin typeface="Sans sarif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Past Simple (4 types)</a:t>
            </a:r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Present Perfect (2 types)</a:t>
            </a:r>
          </a:p>
        </p:txBody>
      </p:sp>
    </p:spTree>
    <p:extLst>
      <p:ext uri="{BB962C8B-B14F-4D97-AF65-F5344CB8AC3E}">
        <p14:creationId xmlns:p14="http://schemas.microsoft.com/office/powerpoint/2010/main" val="2607755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CAEF00-1B76-C61B-7950-12E9F4A8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Past Simple - Usage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D0A319-E8C9-8AB3-5FCD-7B08A488333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sz="2800" dirty="0"/>
              <a:t>Completed Action in the past</a:t>
            </a:r>
          </a:p>
          <a:p>
            <a:pPr lvl="1"/>
            <a:r>
              <a:rPr lang="en-GB" sz="2400" dirty="0"/>
              <a:t>I saw a movie yesterday</a:t>
            </a:r>
          </a:p>
          <a:p>
            <a:pPr lvl="1"/>
            <a:r>
              <a:rPr lang="en-GB" sz="2400" dirty="0"/>
              <a:t>That car looks dirty. Yeah, the last time I cleaned it was 4 months ago.</a:t>
            </a:r>
          </a:p>
          <a:p>
            <a:r>
              <a:rPr lang="en-GB" sz="2800" dirty="0"/>
              <a:t>Series of actions</a:t>
            </a:r>
          </a:p>
          <a:p>
            <a:pPr lvl="1"/>
            <a:r>
              <a:rPr lang="en-GB" sz="2400" dirty="0"/>
              <a:t>I finished work, walked to the beach, and found a nice place to swim.</a:t>
            </a:r>
          </a:p>
          <a:p>
            <a:r>
              <a:rPr lang="en-GB" sz="2800" dirty="0"/>
              <a:t>Duration in the past</a:t>
            </a:r>
          </a:p>
          <a:p>
            <a:pPr lvl="1"/>
            <a:r>
              <a:rPr lang="en-GB" sz="2400" dirty="0"/>
              <a:t>We waited for 5 hours.</a:t>
            </a:r>
          </a:p>
          <a:p>
            <a:r>
              <a:rPr lang="en-GB" sz="2800" dirty="0"/>
              <a:t>Habit in the past (used to)</a:t>
            </a:r>
          </a:p>
          <a:p>
            <a:pPr lvl="1"/>
            <a:r>
              <a:rPr lang="en-GB" sz="2400" dirty="0"/>
              <a:t>I studied Japanese when I was younger.</a:t>
            </a:r>
          </a:p>
        </p:txBody>
      </p:sp>
    </p:spTree>
    <p:extLst>
      <p:ext uri="{BB962C8B-B14F-4D97-AF65-F5344CB8AC3E}">
        <p14:creationId xmlns:p14="http://schemas.microsoft.com/office/powerpoint/2010/main" val="319525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7A794-7B49-D1B3-EF98-E994723A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 Perfect -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F2494-85D5-2609-192A-AC0C2FECD3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Unspecified Time before now</a:t>
            </a:r>
          </a:p>
          <a:p>
            <a:pPr lvl="1"/>
            <a:r>
              <a:rPr lang="en-GB" dirty="0"/>
              <a:t>I </a:t>
            </a:r>
            <a:r>
              <a:rPr lang="en-GB" b="1" dirty="0"/>
              <a:t>have</a:t>
            </a:r>
            <a:r>
              <a:rPr lang="en-GB" dirty="0"/>
              <a:t> </a:t>
            </a:r>
            <a:r>
              <a:rPr lang="en-GB" b="1" dirty="0"/>
              <a:t>been</a:t>
            </a:r>
            <a:r>
              <a:rPr lang="en-GB" dirty="0"/>
              <a:t> to Japan before</a:t>
            </a:r>
          </a:p>
          <a:p>
            <a:pPr lvl="1"/>
            <a:r>
              <a:rPr lang="en-GB" dirty="0" err="1"/>
              <a:t>Ooow</a:t>
            </a:r>
            <a:r>
              <a:rPr lang="en-GB" dirty="0"/>
              <a:t>, you </a:t>
            </a:r>
            <a:r>
              <a:rPr lang="en-GB" b="1" dirty="0"/>
              <a:t>have</a:t>
            </a:r>
            <a:r>
              <a:rPr lang="en-GB" dirty="0"/>
              <a:t> </a:t>
            </a:r>
            <a:r>
              <a:rPr lang="en-GB" b="1" dirty="0"/>
              <a:t>grown</a:t>
            </a:r>
            <a:r>
              <a:rPr lang="en-GB" dirty="0"/>
              <a:t> so much since I last saw you.</a:t>
            </a:r>
          </a:p>
          <a:p>
            <a:pPr lvl="1"/>
            <a:r>
              <a:rPr lang="en-GB" dirty="0"/>
              <a:t>Samir </a:t>
            </a:r>
            <a:r>
              <a:rPr lang="en-GB" b="1" dirty="0"/>
              <a:t>hasn’t</a:t>
            </a:r>
            <a:r>
              <a:rPr lang="en-GB" dirty="0"/>
              <a:t> </a:t>
            </a:r>
            <a:r>
              <a:rPr lang="en-GB" b="1" dirty="0"/>
              <a:t>arrived</a:t>
            </a:r>
            <a:r>
              <a:rPr lang="en-GB" dirty="0"/>
              <a:t> yet.</a:t>
            </a:r>
          </a:p>
          <a:p>
            <a:pPr lvl="1"/>
            <a:r>
              <a:rPr lang="en-GB" dirty="0"/>
              <a:t>They </a:t>
            </a:r>
            <a:r>
              <a:rPr lang="en-GB" b="1" dirty="0"/>
              <a:t>have</a:t>
            </a:r>
            <a:r>
              <a:rPr lang="en-GB" dirty="0"/>
              <a:t> already </a:t>
            </a:r>
            <a:r>
              <a:rPr lang="en-GB" b="1" dirty="0"/>
              <a:t>scored</a:t>
            </a:r>
            <a:r>
              <a:rPr lang="en-GB" dirty="0"/>
              <a:t> 3 goals and it’s only half-time!</a:t>
            </a:r>
          </a:p>
          <a:p>
            <a:r>
              <a:rPr lang="en-GB" dirty="0"/>
              <a:t>Duration from the past until now (and possibly continuing)</a:t>
            </a:r>
          </a:p>
          <a:p>
            <a:pPr lvl="1"/>
            <a:r>
              <a:rPr lang="en-GB" dirty="0"/>
              <a:t>He has been ill for a week.</a:t>
            </a:r>
          </a:p>
          <a:p>
            <a:pPr lvl="1"/>
            <a:r>
              <a:rPr lang="en-GB" dirty="0"/>
              <a:t>I have backpacked around Spain for a month now.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178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Present/Past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endParaRPr lang="nl-NL" dirty="0">
              <a:latin typeface="Sans sarif"/>
            </a:endParaRP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b="1" dirty="0" err="1">
                <a:latin typeface="Sans sarif"/>
              </a:rPr>
              <a:t>Completed</a:t>
            </a:r>
            <a:r>
              <a:rPr lang="nl-NL" dirty="0">
                <a:latin typeface="Sans sarif"/>
              </a:rPr>
              <a:t> action in past</a:t>
            </a:r>
          </a:p>
          <a:p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Verb+ed</a:t>
            </a: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Irregular</a:t>
            </a:r>
            <a:r>
              <a:rPr lang="nl-NL" dirty="0">
                <a:latin typeface="Sans sarif"/>
              </a:rPr>
              <a:t> form of </a:t>
            </a:r>
            <a:r>
              <a:rPr lang="nl-NL" dirty="0" err="1">
                <a:latin typeface="Sans sarif"/>
              </a:rPr>
              <a:t>verb</a:t>
            </a:r>
            <a:endParaRPr lang="nl-NL" dirty="0">
              <a:latin typeface="Sans sarif"/>
            </a:endParaRPr>
          </a:p>
          <a:p>
            <a:pPr marL="0" indent="0">
              <a:buNone/>
            </a:pPr>
            <a:endParaRPr lang="nl-NL" dirty="0">
              <a:latin typeface="Sans sarif"/>
            </a:endParaRPr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Action </a:t>
            </a:r>
            <a:r>
              <a:rPr lang="nl-NL" dirty="0" err="1">
                <a:latin typeface="Sans sarif"/>
              </a:rPr>
              <a:t>started</a:t>
            </a:r>
            <a:r>
              <a:rPr lang="nl-NL" dirty="0">
                <a:latin typeface="Sans sarif"/>
              </a:rPr>
              <a:t> in past </a:t>
            </a:r>
            <a:r>
              <a:rPr lang="nl-NL" dirty="0" err="1">
                <a:latin typeface="Sans sarif"/>
              </a:rPr>
              <a:t>and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noticable</a:t>
            </a:r>
            <a:r>
              <a:rPr lang="nl-NL" b="1" dirty="0">
                <a:latin typeface="Sans sarif"/>
              </a:rPr>
              <a:t>/</a:t>
            </a:r>
            <a:r>
              <a:rPr lang="nl-NL" b="1" dirty="0" err="1">
                <a:latin typeface="Sans sarif"/>
              </a:rPr>
              <a:t>still</a:t>
            </a:r>
            <a:r>
              <a:rPr lang="nl-NL" b="1" dirty="0">
                <a:latin typeface="Sans sarif"/>
              </a:rPr>
              <a:t> happening </a:t>
            </a:r>
            <a:r>
              <a:rPr lang="nl-NL" dirty="0" err="1">
                <a:latin typeface="Sans sarif"/>
              </a:rPr>
              <a:t>now</a:t>
            </a:r>
            <a:endParaRPr lang="nl-NL" dirty="0">
              <a:latin typeface="Sans sarif"/>
            </a:endParaRPr>
          </a:p>
          <a:p>
            <a:pPr marL="0" indent="0">
              <a:buNone/>
            </a:pPr>
            <a:endParaRPr lang="nl-NL" dirty="0">
              <a:latin typeface="Sans sarif"/>
            </a:endParaRPr>
          </a:p>
          <a:p>
            <a:r>
              <a:rPr lang="nl-NL" dirty="0">
                <a:latin typeface="Sans sarif"/>
              </a:rPr>
              <a:t>Have/has + past </a:t>
            </a:r>
            <a:r>
              <a:rPr lang="nl-NL" dirty="0" err="1">
                <a:latin typeface="Sans sarif"/>
              </a:rPr>
              <a:t>participle</a:t>
            </a:r>
            <a:endParaRPr lang="nl-NL" dirty="0">
              <a:latin typeface="Sans sarif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Past Simple </a:t>
            </a:r>
            <a:r>
              <a:rPr lang="nl-NL" sz="2400" dirty="0" err="1">
                <a:latin typeface="Sans sarif"/>
              </a:rPr>
              <a:t>Rule</a:t>
            </a:r>
            <a:endParaRPr lang="nl-NL" sz="2400" dirty="0">
              <a:latin typeface="Sans sarif"/>
            </a:endParaRPr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Present Perfect </a:t>
            </a:r>
            <a:r>
              <a:rPr lang="nl-NL" sz="2400" dirty="0" err="1">
                <a:latin typeface="Sans sarif"/>
              </a:rPr>
              <a:t>Rule</a:t>
            </a:r>
            <a:endParaRPr lang="nl-NL" sz="24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238146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Past </a:t>
            </a:r>
            <a:r>
              <a:rPr lang="nl-NL" dirty="0" err="1">
                <a:latin typeface="Sans sarif"/>
              </a:rPr>
              <a:t>simple</a:t>
            </a:r>
            <a:r>
              <a:rPr lang="nl-NL" dirty="0">
                <a:latin typeface="Sans sarif"/>
              </a:rPr>
              <a:t> - Spelling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The </a:t>
            </a:r>
            <a:r>
              <a:rPr lang="nl-NL" sz="2800" dirty="0" err="1">
                <a:latin typeface="Sans sarif"/>
                <a:sym typeface="Wingdings" pitchFamily="2" charset="2"/>
              </a:rPr>
              <a:t>verbs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that</a:t>
            </a:r>
            <a:r>
              <a:rPr lang="nl-NL" sz="2800" dirty="0">
                <a:latin typeface="Sans sarif"/>
                <a:sym typeface="Wingdings" pitchFamily="2" charset="2"/>
              </a:rPr>
              <a:t> are </a:t>
            </a:r>
            <a:r>
              <a:rPr lang="nl-NL" sz="2800" dirty="0" err="1">
                <a:latin typeface="Sans sarif"/>
                <a:sym typeface="Wingdings" pitchFamily="2" charset="2"/>
              </a:rPr>
              <a:t>regular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sometimes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also</a:t>
            </a:r>
            <a:r>
              <a:rPr lang="nl-NL" sz="2800" dirty="0">
                <a:latin typeface="Sans sarif"/>
                <a:sym typeface="Wingdings" pitchFamily="2" charset="2"/>
              </a:rPr>
              <a:t> have </a:t>
            </a:r>
            <a:r>
              <a:rPr lang="nl-NL" sz="2800" dirty="0" err="1">
                <a:latin typeface="Sans sarif"/>
                <a:sym typeface="Wingdings" pitchFamily="2" charset="2"/>
              </a:rPr>
              <a:t>changes</a:t>
            </a:r>
            <a:r>
              <a:rPr lang="nl-NL" sz="2800" dirty="0">
                <a:latin typeface="Sans sarif"/>
                <a:sym typeface="Wingdings" pitchFamily="2" charset="2"/>
              </a:rPr>
              <a:t> in spelling</a:t>
            </a:r>
          </a:p>
          <a:p>
            <a:r>
              <a:rPr lang="nl-NL" sz="2800" dirty="0" err="1">
                <a:latin typeface="Sans sarif"/>
                <a:sym typeface="Wingdings" pitchFamily="2" charset="2"/>
              </a:rPr>
              <a:t>Verbs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ending</a:t>
            </a:r>
            <a:r>
              <a:rPr lang="nl-NL" sz="2800" dirty="0">
                <a:latin typeface="Sans sarif"/>
                <a:sym typeface="Wingdings" pitchFamily="2" charset="2"/>
              </a:rPr>
              <a:t> in </a:t>
            </a:r>
            <a:r>
              <a:rPr lang="nl-NL" sz="2800" dirty="0" err="1">
                <a:latin typeface="Sans sarif"/>
                <a:sym typeface="Wingdings" pitchFamily="2" charset="2"/>
              </a:rPr>
              <a:t>vowel</a:t>
            </a:r>
            <a:r>
              <a:rPr lang="nl-NL" sz="2800" dirty="0">
                <a:latin typeface="Sans sarif"/>
                <a:sym typeface="Wingdings" pitchFamily="2" charset="2"/>
              </a:rPr>
              <a:t> + consonant (stop, plan, </a:t>
            </a:r>
            <a:r>
              <a:rPr lang="nl-NL" sz="2800" dirty="0" err="1">
                <a:latin typeface="Sans sarif"/>
                <a:sym typeface="Wingdings" pitchFamily="2" charset="2"/>
              </a:rPr>
              <a:t>rub</a:t>
            </a:r>
            <a:r>
              <a:rPr lang="nl-NL" sz="2800" dirty="0">
                <a:latin typeface="Sans sarif"/>
                <a:sym typeface="Wingdings" pitchFamily="2" charset="2"/>
              </a:rPr>
              <a:t>) double the consonant </a:t>
            </a:r>
          </a:p>
          <a:p>
            <a:pPr>
              <a:buFont typeface="Wingdings" pitchFamily="2" charset="2"/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	I</a:t>
            </a:r>
            <a:r>
              <a:rPr lang="nl-NL" sz="2800" b="1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stopped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you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planned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rubbed</a:t>
            </a:r>
            <a:endParaRPr lang="nl-NL" sz="2800" dirty="0">
              <a:latin typeface="Sans sarif"/>
              <a:sym typeface="Wingdings" pitchFamily="2" charset="2"/>
            </a:endParaRPr>
          </a:p>
          <a:p>
            <a:r>
              <a:rPr lang="nl-NL" sz="2800" dirty="0" err="1">
                <a:latin typeface="Sans sarif"/>
                <a:sym typeface="Wingdings" pitchFamily="2" charset="2"/>
              </a:rPr>
              <a:t>verbs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ending</a:t>
            </a:r>
            <a:r>
              <a:rPr lang="nl-NL" sz="2800" dirty="0">
                <a:latin typeface="Sans sarif"/>
                <a:sym typeface="Wingdings" pitchFamily="2" charset="2"/>
              </a:rPr>
              <a:t> in -</a:t>
            </a:r>
            <a:r>
              <a:rPr lang="nl-NL" sz="2800" dirty="0" err="1">
                <a:latin typeface="Sans sarif"/>
                <a:sym typeface="Wingdings" pitchFamily="2" charset="2"/>
              </a:rPr>
              <a:t>e</a:t>
            </a:r>
            <a:r>
              <a:rPr lang="nl-NL" sz="2800" dirty="0">
                <a:latin typeface="Sans sarif"/>
                <a:sym typeface="Wingdings" pitchFamily="2" charset="2"/>
              </a:rPr>
              <a:t> (hope, </a:t>
            </a:r>
            <a:r>
              <a:rPr lang="nl-NL" sz="2800" dirty="0" err="1">
                <a:latin typeface="Sans sarif"/>
                <a:sym typeface="Wingdings" pitchFamily="2" charset="2"/>
              </a:rPr>
              <a:t>dance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smile</a:t>
            </a:r>
            <a:r>
              <a:rPr lang="nl-NL" sz="2800" dirty="0">
                <a:latin typeface="Sans sarif"/>
                <a:sym typeface="Wingdings" pitchFamily="2" charset="2"/>
              </a:rPr>
              <a:t>): </a:t>
            </a:r>
            <a:r>
              <a:rPr lang="nl-NL" sz="2800" dirty="0" err="1">
                <a:latin typeface="Sans sarif"/>
                <a:sym typeface="Wingdings" pitchFamily="2" charset="2"/>
              </a:rPr>
              <a:t>just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add</a:t>
            </a:r>
            <a:r>
              <a:rPr lang="nl-NL" sz="2800" dirty="0">
                <a:latin typeface="Sans sarif"/>
                <a:sym typeface="Wingdings" pitchFamily="2" charset="2"/>
              </a:rPr>
              <a:t> -</a:t>
            </a:r>
            <a:r>
              <a:rPr lang="nl-NL" sz="2800" dirty="0" err="1">
                <a:latin typeface="Sans sarif"/>
                <a:sym typeface="Wingdings" pitchFamily="2" charset="2"/>
              </a:rPr>
              <a:t>d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	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hoped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danced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smiled</a:t>
            </a:r>
            <a:endParaRPr lang="nl-NL" sz="2800" b="1" dirty="0">
              <a:latin typeface="Sans sarif"/>
              <a:sym typeface="Wingdings" pitchFamily="2" charset="2"/>
            </a:endParaRPr>
          </a:p>
          <a:p>
            <a:r>
              <a:rPr lang="nl-NL" sz="2800" dirty="0" err="1">
                <a:latin typeface="Sans sarif"/>
                <a:sym typeface="Wingdings" pitchFamily="2" charset="2"/>
              </a:rPr>
              <a:t>verbs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dirty="0" err="1">
                <a:latin typeface="Sans sarif"/>
                <a:sym typeface="Wingdings" pitchFamily="2" charset="2"/>
              </a:rPr>
              <a:t>ending</a:t>
            </a:r>
            <a:r>
              <a:rPr lang="nl-NL" sz="2800" dirty="0">
                <a:latin typeface="Sans sarif"/>
                <a:sym typeface="Wingdings" pitchFamily="2" charset="2"/>
              </a:rPr>
              <a:t> in -</a:t>
            </a:r>
            <a:r>
              <a:rPr lang="nl-NL" sz="2800" dirty="0" err="1">
                <a:latin typeface="Sans sarif"/>
                <a:sym typeface="Wingdings" pitchFamily="2" charset="2"/>
              </a:rPr>
              <a:t>y</a:t>
            </a:r>
            <a:r>
              <a:rPr lang="nl-NL" sz="2800" dirty="0">
                <a:latin typeface="Sans sarif"/>
                <a:sym typeface="Wingdings" pitchFamily="2" charset="2"/>
              </a:rPr>
              <a:t>: -</a:t>
            </a:r>
            <a:r>
              <a:rPr lang="nl-NL" sz="2800" dirty="0" err="1">
                <a:latin typeface="Sans sarif"/>
                <a:sym typeface="Wingdings" pitchFamily="2" charset="2"/>
              </a:rPr>
              <a:t>y</a:t>
            </a:r>
            <a:r>
              <a:rPr lang="nl-NL" sz="2800" dirty="0">
                <a:latin typeface="Sans sarif"/>
                <a:sym typeface="Wingdings" pitchFamily="2" charset="2"/>
              </a:rPr>
              <a:t>  -</a:t>
            </a:r>
            <a:r>
              <a:rPr lang="nl-NL" sz="2800" dirty="0" err="1">
                <a:latin typeface="Sans sarif"/>
                <a:sym typeface="Wingdings" pitchFamily="2" charset="2"/>
              </a:rPr>
              <a:t>ied</a:t>
            </a:r>
            <a:r>
              <a:rPr lang="nl-NL" sz="2800" dirty="0">
                <a:latin typeface="Sans sarif"/>
                <a:sym typeface="Wingdings" pitchFamily="2" charset="2"/>
              </a:rPr>
              <a:t> </a:t>
            </a:r>
          </a:p>
          <a:p>
            <a:pPr>
              <a:buFont typeface="Wingdings" pitchFamily="2" charset="2"/>
              <a:buNone/>
            </a:pPr>
            <a:r>
              <a:rPr lang="nl-NL" sz="2800" dirty="0">
                <a:latin typeface="Sans sarif"/>
                <a:sym typeface="Wingdings" pitchFamily="2" charset="2"/>
              </a:rPr>
              <a:t>	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hurried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studied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tried</a:t>
            </a:r>
            <a:endParaRPr lang="nl-NL" sz="2800" dirty="0">
              <a:latin typeface="Sans sarif"/>
              <a:sym typeface="Wingdings" pitchFamily="2" charset="2"/>
            </a:endParaRPr>
          </a:p>
          <a:p>
            <a:r>
              <a:rPr lang="nl-NL" sz="2800" dirty="0" err="1">
                <a:latin typeface="Sans sarif"/>
                <a:sym typeface="Wingdings" pitchFamily="2" charset="2"/>
              </a:rPr>
              <a:t>But</a:t>
            </a:r>
            <a:r>
              <a:rPr lang="nl-NL" sz="2800" dirty="0">
                <a:latin typeface="Sans sarif"/>
                <a:sym typeface="Wingdings" pitchFamily="2" charset="2"/>
              </a:rPr>
              <a:t>: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played</a:t>
            </a:r>
            <a:r>
              <a:rPr lang="nl-NL" sz="2800" dirty="0">
                <a:latin typeface="Sans sarif"/>
                <a:sym typeface="Wingdings" pitchFamily="2" charset="2"/>
              </a:rPr>
              <a:t>, </a:t>
            </a:r>
            <a:r>
              <a:rPr lang="nl-NL" sz="2800" dirty="0" err="1">
                <a:latin typeface="Sans sarif"/>
                <a:sym typeface="Wingdings" pitchFamily="2" charset="2"/>
              </a:rPr>
              <a:t>he</a:t>
            </a:r>
            <a:r>
              <a:rPr lang="nl-NL" sz="2800" dirty="0">
                <a:latin typeface="Sans sarif"/>
                <a:sym typeface="Wingdings" pitchFamily="2" charset="2"/>
              </a:rPr>
              <a:t> </a:t>
            </a:r>
            <a:r>
              <a:rPr lang="nl-NL" sz="2800" b="1" dirty="0" err="1">
                <a:latin typeface="Sans sarif"/>
                <a:sym typeface="Wingdings" pitchFamily="2" charset="2"/>
              </a:rPr>
              <a:t>enjoyed</a:t>
            </a:r>
            <a:endParaRPr lang="nl-NL" sz="2800" b="1" dirty="0">
              <a:latin typeface="Sans sarif"/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21187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Past </a:t>
            </a:r>
            <a:r>
              <a:rPr lang="nl-NL" dirty="0" err="1">
                <a:latin typeface="Sans sarif"/>
              </a:rPr>
              <a:t>simple</a:t>
            </a:r>
            <a:r>
              <a:rPr lang="nl-NL" dirty="0">
                <a:latin typeface="Sans sarif"/>
              </a:rPr>
              <a:t> - </a:t>
            </a:r>
            <a:r>
              <a:rPr lang="nl-NL" dirty="0" err="1">
                <a:latin typeface="Sans sarif"/>
              </a:rPr>
              <a:t>When</a:t>
            </a:r>
            <a:endParaRPr lang="en-US" dirty="0">
              <a:latin typeface="Sans sarif"/>
            </a:endParaRPr>
          </a:p>
        </p:txBody>
      </p:sp>
      <p:sp>
        <p:nvSpPr>
          <p:cNvPr id="1331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 is </a:t>
            </a:r>
            <a:r>
              <a:rPr lang="nl-NL" dirty="0" err="1">
                <a:latin typeface="Sans sarif"/>
              </a:rPr>
              <a:t>an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expression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indicating</a:t>
            </a:r>
            <a:r>
              <a:rPr lang="nl-NL" b="1" dirty="0">
                <a:latin typeface="Sans sarif"/>
              </a:rPr>
              <a:t> past time</a:t>
            </a:r>
          </a:p>
          <a:p>
            <a:pPr lvl="1"/>
            <a:r>
              <a:rPr lang="nl-NL" dirty="0">
                <a:latin typeface="Sans sarif"/>
              </a:rPr>
              <a:t>I </a:t>
            </a:r>
            <a:r>
              <a:rPr lang="nl-NL" b="1" dirty="0" err="1">
                <a:latin typeface="Sans sarif"/>
              </a:rPr>
              <a:t>worked</a:t>
            </a:r>
            <a:r>
              <a:rPr lang="nl-NL" dirty="0">
                <a:latin typeface="Sans sarif"/>
              </a:rPr>
              <a:t> at Hogeschool Rotterdam </a:t>
            </a:r>
            <a:r>
              <a:rPr lang="nl-NL" u="sng" dirty="0">
                <a:latin typeface="Sans sarif"/>
              </a:rPr>
              <a:t>five </a:t>
            </a:r>
            <a:r>
              <a:rPr lang="nl-NL" u="sng" dirty="0" err="1">
                <a:latin typeface="Sans sarif"/>
              </a:rPr>
              <a:t>years</a:t>
            </a:r>
            <a:r>
              <a:rPr lang="nl-NL" u="sng" dirty="0">
                <a:latin typeface="Sans sarif"/>
              </a:rPr>
              <a:t> </a:t>
            </a:r>
            <a:r>
              <a:rPr lang="nl-NL" u="sng" dirty="0" err="1">
                <a:latin typeface="Sans sarif"/>
              </a:rPr>
              <a:t>ago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 err="1">
                <a:latin typeface="Sans sarif"/>
              </a:rPr>
              <a:t>They</a:t>
            </a:r>
            <a:r>
              <a:rPr lang="nl-NL" dirty="0">
                <a:latin typeface="Sans sarif"/>
              </a:rPr>
              <a:t> </a:t>
            </a:r>
            <a:r>
              <a:rPr lang="nl-NL" b="1" dirty="0">
                <a:latin typeface="Sans sarif"/>
              </a:rPr>
              <a:t>went </a:t>
            </a:r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 school </a:t>
            </a:r>
            <a:r>
              <a:rPr lang="nl-NL" u="sng" dirty="0" err="1">
                <a:latin typeface="Sans sarif"/>
              </a:rPr>
              <a:t>yesterday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>
                <a:latin typeface="Sans sarif"/>
              </a:rPr>
              <a:t>Shakespeare </a:t>
            </a:r>
            <a:r>
              <a:rPr lang="nl-NL" b="1" dirty="0" err="1">
                <a:latin typeface="Sans sarif"/>
              </a:rPr>
              <a:t>died</a:t>
            </a:r>
            <a:r>
              <a:rPr lang="nl-NL" dirty="0">
                <a:latin typeface="Sans sarif"/>
              </a:rPr>
              <a:t> </a:t>
            </a:r>
            <a:r>
              <a:rPr lang="nl-NL" u="sng" dirty="0">
                <a:latin typeface="Sans sarif"/>
              </a:rPr>
              <a:t>in 1616.</a:t>
            </a:r>
          </a:p>
          <a:p>
            <a:pPr lvl="1"/>
            <a:r>
              <a:rPr lang="nl-NL" dirty="0">
                <a:latin typeface="Sans sarif"/>
              </a:rPr>
              <a:t>I </a:t>
            </a:r>
            <a:r>
              <a:rPr lang="nl-NL" b="1" dirty="0" err="1">
                <a:latin typeface="Sans sarif"/>
              </a:rPr>
              <a:t>saw</a:t>
            </a:r>
            <a:r>
              <a:rPr lang="nl-NL" dirty="0">
                <a:latin typeface="Sans sarif"/>
              </a:rPr>
              <a:t> John </a:t>
            </a:r>
            <a:r>
              <a:rPr lang="nl-NL" u="sng" dirty="0">
                <a:latin typeface="Sans sarif"/>
              </a:rPr>
              <a:t>5 minutes </a:t>
            </a:r>
            <a:r>
              <a:rPr lang="nl-NL" u="sng" dirty="0" err="1">
                <a:latin typeface="Sans sarif"/>
              </a:rPr>
              <a:t>ago</a:t>
            </a:r>
            <a:r>
              <a:rPr lang="nl-NL" u="sng" dirty="0">
                <a:latin typeface="Sans sarif"/>
              </a:rPr>
              <a:t>.</a:t>
            </a:r>
          </a:p>
          <a:p>
            <a:pPr marL="366713" lvl="1" indent="0">
              <a:buNone/>
            </a:pP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something</a:t>
            </a:r>
            <a:r>
              <a:rPr lang="nl-NL" dirty="0">
                <a:latin typeface="Sans sarif"/>
              </a:rPr>
              <a:t> is </a:t>
            </a:r>
            <a:r>
              <a:rPr lang="nl-NL" dirty="0" err="1">
                <a:latin typeface="Sans sarif"/>
              </a:rPr>
              <a:t>finished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>
                <a:latin typeface="Sans sarif"/>
              </a:rPr>
              <a:t>I </a:t>
            </a:r>
            <a:r>
              <a:rPr lang="nl-NL" b="1" dirty="0" err="1">
                <a:latin typeface="Sans sarif"/>
              </a:rPr>
              <a:t>lived</a:t>
            </a:r>
            <a:r>
              <a:rPr lang="nl-NL" dirty="0">
                <a:latin typeface="Sans sarif"/>
              </a:rPr>
              <a:t> in Groningen </a:t>
            </a:r>
            <a:r>
              <a:rPr lang="nl-NL" dirty="0" err="1">
                <a:latin typeface="Sans sarif"/>
              </a:rPr>
              <a:t>for</a:t>
            </a:r>
            <a:r>
              <a:rPr lang="nl-NL" dirty="0">
                <a:latin typeface="Sans sarif"/>
              </a:rPr>
              <a:t> 8 </a:t>
            </a:r>
            <a:r>
              <a:rPr lang="nl-NL" dirty="0" err="1">
                <a:latin typeface="Sans sarif"/>
              </a:rPr>
              <a:t>years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>
                <a:latin typeface="Sans sarif"/>
              </a:rPr>
              <a:t>He </a:t>
            </a:r>
            <a:r>
              <a:rPr lang="nl-NL" b="1" dirty="0" err="1">
                <a:latin typeface="Sans sarif"/>
              </a:rPr>
              <a:t>worked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at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office </a:t>
            </a:r>
            <a:r>
              <a:rPr lang="nl-NL" dirty="0" err="1">
                <a:latin typeface="Sans sarif"/>
              </a:rPr>
              <a:t>for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couple</a:t>
            </a:r>
            <a:r>
              <a:rPr lang="nl-NL" dirty="0">
                <a:latin typeface="Sans sarif"/>
              </a:rPr>
              <a:t> of </a:t>
            </a:r>
            <a:r>
              <a:rPr lang="nl-NL" dirty="0" err="1">
                <a:latin typeface="Sans sarif"/>
              </a:rPr>
              <a:t>months</a:t>
            </a:r>
            <a:r>
              <a:rPr lang="nl-NL" dirty="0">
                <a:latin typeface="Sans sarif"/>
              </a:rPr>
              <a:t>.</a:t>
            </a: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61448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Past </a:t>
            </a:r>
            <a:r>
              <a:rPr lang="nl-NL" dirty="0" err="1">
                <a:latin typeface="Sans sarif"/>
              </a:rPr>
              <a:t>simple</a:t>
            </a:r>
            <a:r>
              <a:rPr lang="nl-NL" dirty="0">
                <a:latin typeface="Sans sarif"/>
              </a:rPr>
              <a:t> – </a:t>
            </a:r>
            <a:r>
              <a:rPr lang="nl-NL" dirty="0" err="1">
                <a:latin typeface="Sans sarif"/>
              </a:rPr>
              <a:t>Signal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words</a:t>
            </a:r>
            <a:endParaRPr lang="en-US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Any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expression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indicating</a:t>
            </a:r>
            <a:r>
              <a:rPr lang="nl-NL" dirty="0">
                <a:latin typeface="Sans sarif"/>
              </a:rPr>
              <a:t> past time</a:t>
            </a:r>
          </a:p>
          <a:p>
            <a:pPr lvl="1"/>
            <a:r>
              <a:rPr lang="nl-NL" dirty="0" err="1">
                <a:latin typeface="Sans sarif"/>
              </a:rPr>
              <a:t>Yesterday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earlier</a:t>
            </a:r>
            <a:r>
              <a:rPr lang="nl-NL" dirty="0">
                <a:latin typeface="Sans sarif"/>
              </a:rPr>
              <a:t>, … </a:t>
            </a:r>
            <a:r>
              <a:rPr lang="nl-NL" dirty="0" err="1">
                <a:latin typeface="Sans sarif"/>
              </a:rPr>
              <a:t>ago</a:t>
            </a:r>
            <a:r>
              <a:rPr lang="nl-NL" dirty="0">
                <a:latin typeface="Sans sarif"/>
              </a:rPr>
              <a:t>, last …, in (+ time in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past), 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…, </a:t>
            </a:r>
            <a:r>
              <a:rPr lang="nl-NL" dirty="0" err="1">
                <a:latin typeface="Sans sarif"/>
              </a:rPr>
              <a:t>specific</a:t>
            </a:r>
            <a:r>
              <a:rPr lang="nl-NL" dirty="0">
                <a:latin typeface="Sans sarif"/>
              </a:rPr>
              <a:t> dates</a:t>
            </a:r>
          </a:p>
          <a:p>
            <a:pPr lvl="1">
              <a:buFont typeface="Wingdings 2" pitchFamily="18" charset="2"/>
              <a:buNone/>
            </a:pP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74909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Perfect – 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I</a:t>
            </a:r>
            <a:endParaRPr lang="en-US" dirty="0">
              <a:latin typeface="Sans sarif"/>
            </a:endParaRPr>
          </a:p>
        </p:txBody>
      </p:sp>
      <p:sp>
        <p:nvSpPr>
          <p:cNvPr id="1536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sz="2400" dirty="0">
                <a:latin typeface="Sans sarif"/>
              </a:rPr>
              <a:t>I </a:t>
            </a:r>
            <a:r>
              <a:rPr lang="nl-NL" sz="2400" b="1" dirty="0">
                <a:latin typeface="Sans sarif"/>
              </a:rPr>
              <a:t>have </a:t>
            </a:r>
            <a:r>
              <a:rPr lang="nl-NL" sz="2400" b="1" dirty="0" err="1">
                <a:latin typeface="Sans sarif"/>
              </a:rPr>
              <a:t>worked</a:t>
            </a:r>
            <a:r>
              <a:rPr lang="nl-NL" sz="2400" dirty="0">
                <a:latin typeface="Sans sarif"/>
              </a:rPr>
              <a:t> at Hogeschool Utrecht </a:t>
            </a:r>
            <a:r>
              <a:rPr lang="nl-NL" sz="2400" u="sng" dirty="0" err="1">
                <a:latin typeface="Sans sarif"/>
              </a:rPr>
              <a:t>for</a:t>
            </a:r>
            <a:r>
              <a:rPr lang="nl-NL" sz="2400" u="sng" dirty="0">
                <a:latin typeface="Sans sarif"/>
              </a:rPr>
              <a:t> </a:t>
            </a:r>
            <a:r>
              <a:rPr lang="nl-NL" sz="2400" u="sng" dirty="0" err="1">
                <a:latin typeface="Sans sarif"/>
              </a:rPr>
              <a:t>four</a:t>
            </a:r>
            <a:r>
              <a:rPr lang="nl-NL" sz="2400" u="sng" dirty="0">
                <a:latin typeface="Sans sarif"/>
              </a:rPr>
              <a:t> </a:t>
            </a:r>
            <a:r>
              <a:rPr lang="nl-NL" sz="2400" u="sng" dirty="0" err="1">
                <a:latin typeface="Sans sarif"/>
              </a:rPr>
              <a:t>years</a:t>
            </a:r>
            <a:r>
              <a:rPr lang="nl-NL" sz="2400" u="sng" dirty="0">
                <a:latin typeface="Sans sarif"/>
              </a:rPr>
              <a:t> </a:t>
            </a:r>
            <a:r>
              <a:rPr lang="nl-NL" sz="2400" u="sng" dirty="0" err="1">
                <a:latin typeface="Sans sarif"/>
              </a:rPr>
              <a:t>now</a:t>
            </a:r>
            <a:r>
              <a:rPr lang="nl-NL" sz="2400" u="sng" dirty="0">
                <a:latin typeface="Sans sarif"/>
              </a:rPr>
              <a:t>.</a:t>
            </a:r>
          </a:p>
          <a:p>
            <a:r>
              <a:rPr lang="nl-NL" sz="2400" dirty="0">
                <a:latin typeface="Sans sarif"/>
              </a:rPr>
              <a:t>He </a:t>
            </a:r>
            <a:r>
              <a:rPr lang="nl-NL" sz="2400" b="1" dirty="0">
                <a:latin typeface="Sans sarif"/>
              </a:rPr>
              <a:t>has </a:t>
            </a:r>
            <a:r>
              <a:rPr lang="nl-NL" sz="2400" b="1" dirty="0" err="1">
                <a:latin typeface="Sans sarif"/>
              </a:rPr>
              <a:t>lived</a:t>
            </a:r>
            <a:r>
              <a:rPr lang="nl-NL" sz="2400" b="1" dirty="0">
                <a:latin typeface="Sans sarif"/>
              </a:rPr>
              <a:t> </a:t>
            </a:r>
            <a:r>
              <a:rPr lang="nl-NL" sz="2400" dirty="0">
                <a:latin typeface="Sans sarif"/>
              </a:rPr>
              <a:t>in the Netherlands </a:t>
            </a:r>
            <a:r>
              <a:rPr lang="nl-NL" sz="2400" u="sng" dirty="0" err="1">
                <a:latin typeface="Sans sarif"/>
              </a:rPr>
              <a:t>all</a:t>
            </a:r>
            <a:r>
              <a:rPr lang="nl-NL" sz="2400" u="sng" dirty="0">
                <a:latin typeface="Sans sarif"/>
              </a:rPr>
              <a:t> his life.</a:t>
            </a:r>
          </a:p>
          <a:p>
            <a:pPr marL="0" indent="0">
              <a:buNone/>
            </a:pPr>
            <a:endParaRPr lang="nl-NL" sz="2400" dirty="0">
              <a:latin typeface="Sans sarif"/>
            </a:endParaRPr>
          </a:p>
          <a:p>
            <a:pPr>
              <a:buFont typeface="Wingdings" pitchFamily="2" charset="2"/>
              <a:buNone/>
            </a:pPr>
            <a:r>
              <a:rPr lang="nl-NL" sz="2400" b="1" dirty="0">
                <a:latin typeface="Sans sarif"/>
              </a:rPr>
              <a:t>Form</a:t>
            </a:r>
            <a:r>
              <a:rPr lang="nl-NL" sz="2400" dirty="0">
                <a:latin typeface="Sans sarif"/>
              </a:rPr>
              <a:t>:</a:t>
            </a:r>
          </a:p>
          <a:p>
            <a:r>
              <a:rPr lang="nl-NL" sz="2400" dirty="0">
                <a:latin typeface="Sans sarif"/>
              </a:rPr>
              <a:t>I </a:t>
            </a:r>
            <a:r>
              <a:rPr lang="nl-NL" sz="2400" dirty="0" err="1">
                <a:latin typeface="Sans sarif"/>
              </a:rPr>
              <a:t>you</a:t>
            </a:r>
            <a:r>
              <a:rPr lang="nl-NL" sz="2400" dirty="0">
                <a:latin typeface="Sans sarif"/>
              </a:rPr>
              <a:t>, we, </a:t>
            </a:r>
            <a:r>
              <a:rPr lang="nl-NL" sz="2400" dirty="0" err="1">
                <a:latin typeface="Sans sarif"/>
              </a:rPr>
              <a:t>they</a:t>
            </a:r>
            <a:r>
              <a:rPr lang="nl-NL" sz="2400" dirty="0">
                <a:latin typeface="Sans sarif"/>
              </a:rPr>
              <a:t> + </a:t>
            </a:r>
            <a:r>
              <a:rPr lang="nl-NL" sz="2400" u="sng" dirty="0">
                <a:latin typeface="Sans sarif"/>
              </a:rPr>
              <a:t>have</a:t>
            </a:r>
            <a:r>
              <a:rPr lang="nl-NL" sz="2400" dirty="0">
                <a:latin typeface="Sans sarif"/>
              </a:rPr>
              <a:t> + </a:t>
            </a:r>
            <a:r>
              <a:rPr lang="nl-NL" sz="2400" dirty="0" err="1">
                <a:latin typeface="Sans sarif"/>
              </a:rPr>
              <a:t>verb</a:t>
            </a:r>
            <a:r>
              <a:rPr lang="nl-NL" sz="2400" dirty="0">
                <a:latin typeface="Sans sarif"/>
              </a:rPr>
              <a:t> + -</a:t>
            </a:r>
            <a:r>
              <a:rPr lang="nl-NL" sz="2400" dirty="0" err="1">
                <a:latin typeface="Sans sarif"/>
              </a:rPr>
              <a:t>ed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>
                <a:latin typeface="Sans sarif"/>
                <a:sym typeface="Wingdings" pitchFamily="2" charset="2"/>
              </a:rPr>
              <a:t> I have </a:t>
            </a:r>
            <a:r>
              <a:rPr lang="nl-NL" sz="2400" dirty="0" err="1">
                <a:latin typeface="Sans sarif"/>
                <a:sym typeface="Wingdings" pitchFamily="2" charset="2"/>
              </a:rPr>
              <a:t>worked</a:t>
            </a:r>
            <a:endParaRPr lang="nl-NL" sz="2400" dirty="0">
              <a:latin typeface="Sans sarif"/>
              <a:sym typeface="Wingdings" pitchFamily="2" charset="2"/>
            </a:endParaRPr>
          </a:p>
          <a:p>
            <a:r>
              <a:rPr lang="nl-NL" sz="2400" dirty="0">
                <a:latin typeface="Sans sarif"/>
                <a:sym typeface="Wingdings" pitchFamily="2" charset="2"/>
              </a:rPr>
              <a:t>he, </a:t>
            </a:r>
            <a:r>
              <a:rPr lang="nl-NL" sz="2400" dirty="0" err="1">
                <a:latin typeface="Sans sarif"/>
                <a:sym typeface="Wingdings" pitchFamily="2" charset="2"/>
              </a:rPr>
              <a:t>she</a:t>
            </a:r>
            <a:r>
              <a:rPr lang="nl-NL" sz="2400" dirty="0">
                <a:latin typeface="Sans sarif"/>
                <a:sym typeface="Wingdings" pitchFamily="2" charset="2"/>
              </a:rPr>
              <a:t>, </a:t>
            </a:r>
            <a:r>
              <a:rPr lang="nl-NL" sz="2400" dirty="0" err="1">
                <a:latin typeface="Sans sarif"/>
                <a:sym typeface="Wingdings" pitchFamily="2" charset="2"/>
              </a:rPr>
              <a:t>it</a:t>
            </a:r>
            <a:r>
              <a:rPr lang="nl-NL" sz="2400" dirty="0">
                <a:latin typeface="Sans sarif"/>
                <a:sym typeface="Wingdings" pitchFamily="2" charset="2"/>
              </a:rPr>
              <a:t> + </a:t>
            </a:r>
            <a:r>
              <a:rPr lang="nl-NL" sz="2400" u="sng" dirty="0">
                <a:latin typeface="Sans sarif"/>
                <a:sym typeface="Wingdings" pitchFamily="2" charset="2"/>
              </a:rPr>
              <a:t>has</a:t>
            </a:r>
            <a:r>
              <a:rPr lang="nl-NL" sz="2400" dirty="0">
                <a:latin typeface="Sans sarif"/>
                <a:sym typeface="Wingdings" pitchFamily="2" charset="2"/>
              </a:rPr>
              <a:t> + </a:t>
            </a:r>
            <a:r>
              <a:rPr lang="nl-NL" sz="2400" dirty="0" err="1">
                <a:latin typeface="Sans sarif"/>
                <a:sym typeface="Wingdings" pitchFamily="2" charset="2"/>
              </a:rPr>
              <a:t>verb</a:t>
            </a:r>
            <a:r>
              <a:rPr lang="nl-NL" sz="2400" dirty="0">
                <a:latin typeface="Sans sarif"/>
                <a:sym typeface="Wingdings" pitchFamily="2" charset="2"/>
              </a:rPr>
              <a:t> + -</a:t>
            </a:r>
            <a:r>
              <a:rPr lang="nl-NL" sz="2400" dirty="0" err="1">
                <a:latin typeface="Sans sarif"/>
                <a:sym typeface="Wingdings" pitchFamily="2" charset="2"/>
              </a:rPr>
              <a:t>ed</a:t>
            </a:r>
            <a:r>
              <a:rPr lang="nl-NL" sz="2400" dirty="0">
                <a:latin typeface="Sans sarif"/>
                <a:sym typeface="Wingdings" pitchFamily="2" charset="2"/>
              </a:rPr>
              <a:t>  he has </a:t>
            </a:r>
            <a:r>
              <a:rPr lang="nl-NL" sz="2400" dirty="0" err="1">
                <a:latin typeface="Sans sarif"/>
                <a:sym typeface="Wingdings" pitchFamily="2" charset="2"/>
              </a:rPr>
              <a:t>worked</a:t>
            </a:r>
            <a:endParaRPr lang="nl-NL" sz="2400" dirty="0">
              <a:latin typeface="Sans sarif"/>
              <a:sym typeface="Wingdings" pitchFamily="2" charset="2"/>
            </a:endParaRPr>
          </a:p>
          <a:p>
            <a:r>
              <a:rPr lang="nl-NL" sz="2400" dirty="0">
                <a:latin typeface="Sans sarif"/>
                <a:sym typeface="Wingdings" pitchFamily="2" charset="2"/>
              </a:rPr>
              <a:t>The spelling </a:t>
            </a:r>
            <a:r>
              <a:rPr lang="nl-NL" sz="2400" dirty="0" err="1">
                <a:latin typeface="Sans sarif"/>
                <a:sym typeface="Wingdings" pitchFamily="2" charset="2"/>
              </a:rPr>
              <a:t>difficulties</a:t>
            </a:r>
            <a:r>
              <a:rPr lang="nl-NL" sz="2400" dirty="0">
                <a:latin typeface="Sans sarif"/>
                <a:sym typeface="Wingdings" pitchFamily="2" charset="2"/>
              </a:rPr>
              <a:t> are the </a:t>
            </a:r>
            <a:r>
              <a:rPr lang="nl-NL" sz="2400" dirty="0" err="1">
                <a:latin typeface="Sans sarif"/>
                <a:sym typeface="Wingdings" pitchFamily="2" charset="2"/>
              </a:rPr>
              <a:t>same</a:t>
            </a:r>
            <a:r>
              <a:rPr lang="nl-NL" sz="2400" dirty="0">
                <a:latin typeface="Sans sarif"/>
                <a:sym typeface="Wingdings" pitchFamily="2" charset="2"/>
              </a:rPr>
              <a:t> as </a:t>
            </a:r>
            <a:r>
              <a:rPr lang="nl-NL" sz="2400" dirty="0" err="1">
                <a:latin typeface="Sans sarif"/>
                <a:sym typeface="Wingdings" pitchFamily="2" charset="2"/>
              </a:rPr>
              <a:t>for</a:t>
            </a:r>
            <a:r>
              <a:rPr lang="nl-NL" sz="2400" dirty="0">
                <a:latin typeface="Sans sarif"/>
                <a:sym typeface="Wingdings" pitchFamily="2" charset="2"/>
              </a:rPr>
              <a:t> the past </a:t>
            </a:r>
            <a:r>
              <a:rPr lang="nl-NL" sz="2400" dirty="0" err="1">
                <a:latin typeface="Sans sarif"/>
                <a:sym typeface="Wingdings" pitchFamily="2" charset="2"/>
              </a:rPr>
              <a:t>forms</a:t>
            </a:r>
            <a:r>
              <a:rPr lang="nl-NL" sz="2400" dirty="0">
                <a:latin typeface="Sans sarif"/>
                <a:sym typeface="Wingdings" pitchFamily="2" charset="2"/>
              </a:rPr>
              <a:t> (</a:t>
            </a:r>
            <a:r>
              <a:rPr lang="nl-NL" sz="2400" dirty="0" err="1">
                <a:latin typeface="Sans sarif"/>
                <a:sym typeface="Wingdings" pitchFamily="2" charset="2"/>
              </a:rPr>
              <a:t>see</a:t>
            </a:r>
            <a:r>
              <a:rPr lang="nl-NL" sz="2400" dirty="0">
                <a:latin typeface="Sans sarif"/>
                <a:sym typeface="Wingdings" pitchFamily="2" charset="2"/>
              </a:rPr>
              <a:t> slide 4)</a:t>
            </a:r>
          </a:p>
          <a:p>
            <a:endParaRPr lang="nl-NL" dirty="0">
              <a:latin typeface="Sans sarif"/>
            </a:endParaRPr>
          </a:p>
          <a:p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73455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Perfect – 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II</a:t>
            </a:r>
            <a:endParaRPr lang="en-US" dirty="0">
              <a:latin typeface="Sans sarif"/>
            </a:endParaRPr>
          </a:p>
        </p:txBody>
      </p:sp>
      <p:sp>
        <p:nvSpPr>
          <p:cNvPr id="1741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700808"/>
            <a:ext cx="8153400" cy="4495800"/>
          </a:xfrm>
        </p:spPr>
        <p:txBody>
          <a:bodyPr/>
          <a:lstStyle/>
          <a:p>
            <a:r>
              <a:rPr lang="nl-NL" sz="2400" dirty="0" err="1">
                <a:latin typeface="Sans sarif"/>
              </a:rPr>
              <a:t>Anything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from</a:t>
            </a:r>
            <a:r>
              <a:rPr lang="nl-NL" sz="2400" dirty="0">
                <a:latin typeface="Sans sarif"/>
              </a:rPr>
              <a:t> the </a:t>
            </a:r>
            <a:r>
              <a:rPr lang="nl-NL" sz="2400" u="sng" dirty="0">
                <a:latin typeface="Sans sarif"/>
              </a:rPr>
              <a:t>past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until</a:t>
            </a:r>
            <a:r>
              <a:rPr lang="nl-NL" sz="2400" dirty="0">
                <a:latin typeface="Sans sarif"/>
              </a:rPr>
              <a:t> </a:t>
            </a:r>
            <a:r>
              <a:rPr lang="nl-NL" sz="2400" u="sng" dirty="0" err="1">
                <a:latin typeface="Sans sarif"/>
              </a:rPr>
              <a:t>now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that</a:t>
            </a:r>
            <a:r>
              <a:rPr lang="nl-NL" sz="2400" dirty="0">
                <a:latin typeface="Sans sarif"/>
              </a:rPr>
              <a:t> is </a:t>
            </a:r>
            <a:r>
              <a:rPr lang="nl-NL" sz="2400" dirty="0" err="1">
                <a:latin typeface="Sans sarif"/>
              </a:rPr>
              <a:t>not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finished</a:t>
            </a:r>
            <a:endParaRPr lang="nl-NL" sz="2400" dirty="0">
              <a:latin typeface="Sans sarif"/>
            </a:endParaRPr>
          </a:p>
          <a:p>
            <a:pPr lvl="1"/>
            <a:r>
              <a:rPr lang="nl-NL" sz="2000" dirty="0">
                <a:latin typeface="Sans sarif"/>
              </a:rPr>
              <a:t>I </a:t>
            </a:r>
            <a:r>
              <a:rPr lang="nl-NL" sz="2000" b="1" dirty="0">
                <a:latin typeface="Sans sarif"/>
              </a:rPr>
              <a:t>have </a:t>
            </a:r>
            <a:r>
              <a:rPr lang="nl-NL" sz="2000" b="1" dirty="0" err="1">
                <a:latin typeface="Sans sarif"/>
              </a:rPr>
              <a:t>lived</a:t>
            </a:r>
            <a:r>
              <a:rPr lang="nl-NL" sz="2000" dirty="0">
                <a:latin typeface="Sans sarif"/>
              </a:rPr>
              <a:t> in Utrecht </a:t>
            </a:r>
            <a:r>
              <a:rPr lang="nl-NL" sz="2000" dirty="0" err="1">
                <a:latin typeface="Sans sarif"/>
              </a:rPr>
              <a:t>for</a:t>
            </a:r>
            <a:r>
              <a:rPr lang="nl-NL" sz="2000" dirty="0">
                <a:latin typeface="Sans sarif"/>
              </a:rPr>
              <a:t> 6 </a:t>
            </a:r>
            <a:r>
              <a:rPr lang="nl-NL" sz="2000" dirty="0" err="1">
                <a:latin typeface="Sans sarif"/>
              </a:rPr>
              <a:t>years</a:t>
            </a:r>
            <a:r>
              <a:rPr lang="nl-NL" sz="2000" dirty="0">
                <a:latin typeface="Sans sarif"/>
              </a:rPr>
              <a:t>.</a:t>
            </a:r>
          </a:p>
          <a:p>
            <a:pPr lvl="1"/>
            <a:r>
              <a:rPr lang="nl-NL" sz="2000" dirty="0">
                <a:latin typeface="Sans sarif"/>
              </a:rPr>
              <a:t>He </a:t>
            </a:r>
            <a:r>
              <a:rPr lang="nl-NL" sz="2000" b="1" dirty="0">
                <a:latin typeface="Sans sarif"/>
              </a:rPr>
              <a:t>has </a:t>
            </a:r>
            <a:r>
              <a:rPr lang="nl-NL" sz="2000" dirty="0">
                <a:latin typeface="Sans sarif"/>
              </a:rPr>
              <a:t>never</a:t>
            </a:r>
            <a:r>
              <a:rPr lang="nl-NL" sz="2000" b="1" dirty="0">
                <a:latin typeface="Sans sarif"/>
              </a:rPr>
              <a:t> been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to</a:t>
            </a:r>
            <a:r>
              <a:rPr lang="nl-NL" sz="2000" dirty="0">
                <a:latin typeface="Sans sarif"/>
              </a:rPr>
              <a:t> Spain.</a:t>
            </a:r>
          </a:p>
          <a:p>
            <a:pPr marL="366713" lvl="1" indent="0">
              <a:buNone/>
            </a:pPr>
            <a:endParaRPr lang="nl-NL" sz="2000" dirty="0">
              <a:latin typeface="Sans sarif"/>
            </a:endParaRPr>
          </a:p>
          <a:p>
            <a:r>
              <a:rPr lang="nl-NL" sz="2400" dirty="0" err="1">
                <a:latin typeface="Sans sarif"/>
              </a:rPr>
              <a:t>Also</a:t>
            </a:r>
            <a:r>
              <a:rPr lang="nl-NL" sz="2400" dirty="0">
                <a:latin typeface="Sans sarif"/>
              </a:rPr>
              <a:t> actions in the </a:t>
            </a:r>
            <a:r>
              <a:rPr lang="nl-NL" sz="2400" u="sng" dirty="0">
                <a:latin typeface="Sans sarif"/>
              </a:rPr>
              <a:t>past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that</a:t>
            </a:r>
            <a:r>
              <a:rPr lang="nl-NL" sz="2400" dirty="0">
                <a:latin typeface="Sans sarif"/>
              </a:rPr>
              <a:t> have a </a:t>
            </a:r>
            <a:r>
              <a:rPr lang="nl-NL" sz="2400" dirty="0" err="1">
                <a:latin typeface="Sans sarif"/>
              </a:rPr>
              <a:t>result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u="sng" dirty="0" err="1">
                <a:latin typeface="Sans sarif"/>
              </a:rPr>
              <a:t>now</a:t>
            </a:r>
            <a:endParaRPr lang="nl-NL" sz="2400" u="sng" dirty="0">
              <a:latin typeface="Sans sarif"/>
            </a:endParaRPr>
          </a:p>
          <a:p>
            <a:pPr lvl="1"/>
            <a:r>
              <a:rPr lang="nl-NL" sz="2000" dirty="0">
                <a:latin typeface="Sans sarif"/>
              </a:rPr>
              <a:t>I </a:t>
            </a:r>
            <a:r>
              <a:rPr lang="nl-NL" sz="2000" b="1" dirty="0">
                <a:latin typeface="Sans sarif"/>
              </a:rPr>
              <a:t>have </a:t>
            </a:r>
            <a:r>
              <a:rPr lang="nl-NL" sz="2000" b="1" dirty="0" err="1">
                <a:latin typeface="Sans sarif"/>
              </a:rPr>
              <a:t>forgotten</a:t>
            </a:r>
            <a:r>
              <a:rPr lang="nl-NL" sz="2000" dirty="0">
                <a:latin typeface="Sans sarif"/>
              </a:rPr>
              <a:t> her name (I </a:t>
            </a:r>
            <a:r>
              <a:rPr lang="nl-NL" sz="2000" dirty="0" err="1">
                <a:latin typeface="Sans sarif"/>
              </a:rPr>
              <a:t>still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don’t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remember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it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now</a:t>
            </a:r>
            <a:r>
              <a:rPr lang="nl-NL" sz="2000" dirty="0">
                <a:latin typeface="Sans sarif"/>
              </a:rPr>
              <a:t>).</a:t>
            </a:r>
          </a:p>
          <a:p>
            <a:pPr lvl="1"/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>
                <a:latin typeface="Sans sarif"/>
              </a:rPr>
              <a:t>has lost </a:t>
            </a:r>
            <a:r>
              <a:rPr lang="nl-NL" sz="2000" dirty="0">
                <a:latin typeface="Sans sarif"/>
              </a:rPr>
              <a:t>her </a:t>
            </a:r>
            <a:r>
              <a:rPr lang="nl-NL" sz="2000" dirty="0" err="1">
                <a:latin typeface="Sans sarif"/>
              </a:rPr>
              <a:t>key</a:t>
            </a:r>
            <a:r>
              <a:rPr lang="nl-NL" sz="2000" dirty="0">
                <a:latin typeface="Sans sarif"/>
              </a:rPr>
              <a:t> (</a:t>
            </a:r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still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doesn’t</a:t>
            </a:r>
            <a:r>
              <a:rPr lang="nl-NL" sz="2000" dirty="0">
                <a:latin typeface="Sans sarif"/>
              </a:rPr>
              <a:t> have </a:t>
            </a:r>
            <a:r>
              <a:rPr lang="nl-NL" sz="2000" dirty="0" err="1">
                <a:latin typeface="Sans sarif"/>
              </a:rPr>
              <a:t>it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now</a:t>
            </a:r>
            <a:r>
              <a:rPr lang="nl-NL" sz="2000" dirty="0">
                <a:latin typeface="Sans sarif"/>
              </a:rPr>
              <a:t>).</a:t>
            </a:r>
          </a:p>
          <a:p>
            <a:pPr marL="366713" lvl="1" indent="0">
              <a:buNone/>
            </a:pPr>
            <a:endParaRPr lang="nl-NL" sz="2000" dirty="0">
              <a:latin typeface="Sans sarif"/>
            </a:endParaRPr>
          </a:p>
          <a:p>
            <a:r>
              <a:rPr lang="nl-NL" sz="2400" dirty="0">
                <a:latin typeface="Sans sarif"/>
              </a:rPr>
              <a:t>But: </a:t>
            </a:r>
            <a:r>
              <a:rPr lang="nl-NL" sz="2400" dirty="0" err="1">
                <a:latin typeface="Sans sarif"/>
              </a:rPr>
              <a:t>when</a:t>
            </a:r>
            <a:r>
              <a:rPr lang="nl-NL" sz="2400" dirty="0">
                <a:latin typeface="Sans sarif"/>
              </a:rPr>
              <a:t> the action is over </a:t>
            </a:r>
            <a:r>
              <a:rPr lang="nl-NL" sz="2400" dirty="0" err="1">
                <a:latin typeface="Sans sarif"/>
              </a:rPr>
              <a:t>and</a:t>
            </a:r>
            <a:r>
              <a:rPr lang="nl-NL" sz="2400" dirty="0">
                <a:latin typeface="Sans sarif"/>
              </a:rPr>
              <a:t>/or a time </a:t>
            </a:r>
            <a:r>
              <a:rPr lang="nl-NL" sz="2400" dirty="0" err="1">
                <a:latin typeface="Sans sarif"/>
              </a:rPr>
              <a:t>expression</a:t>
            </a:r>
            <a:r>
              <a:rPr lang="nl-NL" sz="2400" dirty="0">
                <a:latin typeface="Sans sarif"/>
              </a:rPr>
              <a:t> is </a:t>
            </a:r>
            <a:r>
              <a:rPr lang="nl-NL" sz="2400" dirty="0" err="1">
                <a:latin typeface="Sans sarif"/>
              </a:rPr>
              <a:t>used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you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use</a:t>
            </a:r>
            <a:r>
              <a:rPr lang="nl-NL" sz="2400" dirty="0">
                <a:latin typeface="Sans sarif"/>
              </a:rPr>
              <a:t> the past form</a:t>
            </a:r>
          </a:p>
          <a:p>
            <a:pPr lvl="1"/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>
                <a:latin typeface="Sans sarif"/>
              </a:rPr>
              <a:t>lost </a:t>
            </a:r>
            <a:r>
              <a:rPr lang="nl-NL" sz="2000" dirty="0">
                <a:latin typeface="Sans sarif"/>
              </a:rPr>
              <a:t>her </a:t>
            </a:r>
            <a:r>
              <a:rPr lang="nl-NL" sz="2000" dirty="0" err="1">
                <a:latin typeface="Sans sarif"/>
              </a:rPr>
              <a:t>key</a:t>
            </a:r>
            <a:r>
              <a:rPr lang="nl-NL" sz="2000" dirty="0">
                <a:latin typeface="Sans sarif"/>
              </a:rPr>
              <a:t>, but </a:t>
            </a:r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found </a:t>
            </a:r>
            <a:r>
              <a:rPr lang="nl-NL" sz="2000" dirty="0" err="1">
                <a:latin typeface="Sans sarif"/>
              </a:rPr>
              <a:t>it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again</a:t>
            </a:r>
            <a:r>
              <a:rPr lang="nl-NL" sz="2000" dirty="0">
                <a:latin typeface="Sans sarif"/>
              </a:rPr>
              <a:t>.</a:t>
            </a:r>
          </a:p>
          <a:p>
            <a:pPr lvl="1"/>
            <a:r>
              <a:rPr lang="nl-NL" sz="2000" dirty="0" err="1">
                <a:latin typeface="Sans sarif"/>
              </a:rPr>
              <a:t>She</a:t>
            </a:r>
            <a:r>
              <a:rPr lang="nl-NL" sz="2000" dirty="0">
                <a:latin typeface="Sans sarif"/>
              </a:rPr>
              <a:t> </a:t>
            </a:r>
            <a:r>
              <a:rPr lang="nl-NL" sz="2000" b="1" dirty="0">
                <a:latin typeface="Sans sarif"/>
              </a:rPr>
              <a:t>lost </a:t>
            </a:r>
            <a:r>
              <a:rPr lang="nl-NL" sz="2000" dirty="0">
                <a:latin typeface="Sans sarif"/>
              </a:rPr>
              <a:t>her </a:t>
            </a:r>
            <a:r>
              <a:rPr lang="nl-NL" sz="2000" dirty="0" err="1">
                <a:latin typeface="Sans sarif"/>
              </a:rPr>
              <a:t>key</a:t>
            </a:r>
            <a:r>
              <a:rPr lang="nl-NL" sz="2000" dirty="0">
                <a:latin typeface="Sans sarif"/>
              </a:rPr>
              <a:t> </a:t>
            </a:r>
            <a:r>
              <a:rPr lang="nl-NL" sz="2000" dirty="0" err="1">
                <a:latin typeface="Sans sarif"/>
              </a:rPr>
              <a:t>yesterday</a:t>
            </a:r>
            <a:r>
              <a:rPr lang="nl-NL" sz="2000" dirty="0">
                <a:latin typeface="Sans sarif"/>
              </a:rPr>
              <a:t>.</a:t>
            </a:r>
          </a:p>
          <a:p>
            <a:pPr lvl="1"/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78850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ans sarif"/>
              </a:rPr>
              <a:t>Irregular forms</a:t>
            </a:r>
            <a:endParaRPr lang="en-US" dirty="0">
              <a:latin typeface="Sans sarif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>
                <a:latin typeface="Sans sarif"/>
              </a:rPr>
              <a:t>See book – Appendix list</a:t>
            </a: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724162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Present Perfect – </a:t>
            </a:r>
            <a:r>
              <a:rPr lang="nl-NL" dirty="0" err="1">
                <a:latin typeface="Sans sarif"/>
              </a:rPr>
              <a:t>Signal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words</a:t>
            </a:r>
            <a:endParaRPr lang="en-US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Words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how</a:t>
            </a:r>
            <a:r>
              <a:rPr lang="nl-NL" dirty="0">
                <a:latin typeface="Sans sarif"/>
              </a:rPr>
              <a:t> long:</a:t>
            </a:r>
          </a:p>
          <a:p>
            <a:pPr lvl="1"/>
            <a:r>
              <a:rPr lang="nl-NL" dirty="0" err="1">
                <a:latin typeface="Sans sarif"/>
              </a:rPr>
              <a:t>Since</a:t>
            </a:r>
            <a:r>
              <a:rPr lang="nl-NL" dirty="0">
                <a:latin typeface="Sans sarif"/>
              </a:rPr>
              <a:t> (+ moment in time) </a:t>
            </a:r>
            <a:r>
              <a:rPr lang="nl-NL" dirty="0">
                <a:latin typeface="Sans sarif"/>
                <a:sym typeface="Wingdings" pitchFamily="2" charset="2"/>
              </a:rPr>
              <a:t> </a:t>
            </a:r>
            <a:r>
              <a:rPr lang="nl-NL" dirty="0" err="1">
                <a:latin typeface="Sans sarif"/>
                <a:sym typeface="Wingdings" pitchFamily="2" charset="2"/>
              </a:rPr>
              <a:t>since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Monday</a:t>
            </a:r>
            <a:r>
              <a:rPr lang="nl-NL" dirty="0">
                <a:latin typeface="Sans sarif"/>
                <a:sym typeface="Wingdings" pitchFamily="2" charset="2"/>
              </a:rPr>
              <a:t>, </a:t>
            </a:r>
            <a:r>
              <a:rPr lang="nl-NL" dirty="0" err="1">
                <a:latin typeface="Sans sarif"/>
                <a:sym typeface="Wingdings" pitchFamily="2" charset="2"/>
              </a:rPr>
              <a:t>since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June</a:t>
            </a:r>
            <a:endParaRPr lang="nl-NL" dirty="0">
              <a:latin typeface="Sans sarif"/>
              <a:sym typeface="Wingdings" pitchFamily="2" charset="2"/>
            </a:endParaRPr>
          </a:p>
          <a:p>
            <a:pPr lvl="1"/>
            <a:r>
              <a:rPr lang="nl-NL" dirty="0">
                <a:latin typeface="Sans sarif"/>
                <a:sym typeface="Wingdings" pitchFamily="2" charset="2"/>
              </a:rPr>
              <a:t>For (+ </a:t>
            </a:r>
            <a:r>
              <a:rPr lang="nl-NL" dirty="0" err="1">
                <a:latin typeface="Sans sarif"/>
                <a:sym typeface="Wingdings" pitchFamily="2" charset="2"/>
              </a:rPr>
              <a:t>duration</a:t>
            </a:r>
            <a:r>
              <a:rPr lang="nl-NL" dirty="0">
                <a:latin typeface="Sans sarif"/>
                <a:sym typeface="Wingdings" pitchFamily="2" charset="2"/>
              </a:rPr>
              <a:t>)  </a:t>
            </a:r>
            <a:r>
              <a:rPr lang="nl-NL" dirty="0" err="1">
                <a:latin typeface="Sans sarif"/>
                <a:sym typeface="Wingdings" pitchFamily="2" charset="2"/>
              </a:rPr>
              <a:t>for</a:t>
            </a:r>
            <a:r>
              <a:rPr lang="nl-NL" dirty="0">
                <a:latin typeface="Sans sarif"/>
                <a:sym typeface="Wingdings" pitchFamily="2" charset="2"/>
              </a:rPr>
              <a:t> weeks, </a:t>
            </a:r>
            <a:r>
              <a:rPr lang="nl-NL" dirty="0" err="1">
                <a:latin typeface="Sans sarif"/>
                <a:sym typeface="Wingdings" pitchFamily="2" charset="2"/>
              </a:rPr>
              <a:t>for</a:t>
            </a:r>
            <a:r>
              <a:rPr lang="nl-NL" dirty="0">
                <a:latin typeface="Sans sarif"/>
                <a:sym typeface="Wingdings" pitchFamily="2" charset="2"/>
              </a:rPr>
              <a:t> 5 </a:t>
            </a:r>
            <a:r>
              <a:rPr lang="nl-NL" dirty="0" err="1">
                <a:latin typeface="Sans sarif"/>
                <a:sym typeface="Wingdings" pitchFamily="2" charset="2"/>
              </a:rPr>
              <a:t>years</a:t>
            </a:r>
            <a:endParaRPr lang="nl-NL" dirty="0">
              <a:latin typeface="Sans sarif"/>
              <a:sym typeface="Wingdings" pitchFamily="2" charset="2"/>
            </a:endParaRPr>
          </a:p>
          <a:p>
            <a:pPr lvl="2"/>
            <a:r>
              <a:rPr lang="nl-NL" dirty="0" err="1">
                <a:latin typeface="Sans sarif"/>
                <a:sym typeface="Wingdings" pitchFamily="2" charset="2"/>
              </a:rPr>
              <a:t>Only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if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it</a:t>
            </a:r>
            <a:r>
              <a:rPr lang="nl-NL" dirty="0">
                <a:latin typeface="Sans sarif"/>
                <a:sym typeface="Wingdings" pitchFamily="2" charset="2"/>
              </a:rPr>
              <a:t> has </a:t>
            </a:r>
            <a:r>
              <a:rPr lang="nl-NL" dirty="0" err="1">
                <a:latin typeface="Sans sarif"/>
                <a:sym typeface="Wingdings" pitchFamily="2" charset="2"/>
              </a:rPr>
              <a:t>not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finished</a:t>
            </a:r>
            <a:r>
              <a:rPr lang="nl-NL" dirty="0">
                <a:latin typeface="Sans sarif"/>
                <a:sym typeface="Wingdings" pitchFamily="2" charset="2"/>
              </a:rPr>
              <a:t>!</a:t>
            </a:r>
          </a:p>
          <a:p>
            <a:pPr lvl="1"/>
            <a:r>
              <a:rPr lang="nl-NL" dirty="0" err="1">
                <a:latin typeface="Sans sarif"/>
                <a:sym typeface="Wingdings" pitchFamily="2" charset="2"/>
              </a:rPr>
              <a:t>They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lived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there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for</a:t>
            </a:r>
            <a:r>
              <a:rPr lang="nl-NL" dirty="0">
                <a:latin typeface="Sans sarif"/>
                <a:sym typeface="Wingdings" pitchFamily="2" charset="2"/>
              </a:rPr>
              <a:t> 5 </a:t>
            </a:r>
            <a:r>
              <a:rPr lang="nl-NL" dirty="0" err="1">
                <a:latin typeface="Sans sarif"/>
                <a:sym typeface="Wingdings" pitchFamily="2" charset="2"/>
              </a:rPr>
              <a:t>years</a:t>
            </a:r>
            <a:r>
              <a:rPr lang="nl-NL" dirty="0">
                <a:latin typeface="Sans sarif"/>
                <a:sym typeface="Wingdings" pitchFamily="2" charset="2"/>
              </a:rPr>
              <a:t>, </a:t>
            </a:r>
            <a:r>
              <a:rPr lang="nl-NL" dirty="0" err="1">
                <a:latin typeface="Sans sarif"/>
                <a:sym typeface="Wingdings" pitchFamily="2" charset="2"/>
              </a:rPr>
              <a:t>but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then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they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moved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away</a:t>
            </a:r>
            <a:r>
              <a:rPr lang="nl-NL" dirty="0">
                <a:latin typeface="Sans sarif"/>
                <a:sym typeface="Wingdings" pitchFamily="2" charset="2"/>
              </a:rPr>
              <a:t>.</a:t>
            </a:r>
          </a:p>
          <a:p>
            <a:pPr marL="366713" lvl="1" indent="0">
              <a:buNone/>
            </a:pPr>
            <a:endParaRPr lang="nl-NL" dirty="0">
              <a:latin typeface="Sans sarif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6901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/>
              <a:t>Past </a:t>
            </a:r>
            <a:r>
              <a:rPr lang="nl-NL" dirty="0" err="1"/>
              <a:t>tenses</a:t>
            </a:r>
            <a:r>
              <a:rPr lang="nl-NL" dirty="0"/>
              <a:t> - Review</a:t>
            </a:r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sym typeface="Wingdings" pitchFamily="2" charset="2"/>
              </a:rPr>
              <a:t>We’ve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already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two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forms</a:t>
            </a:r>
            <a:r>
              <a:rPr lang="nl-NL" dirty="0">
                <a:sym typeface="Wingdings" pitchFamily="2" charset="2"/>
              </a:rPr>
              <a:t> to talk </a:t>
            </a:r>
            <a:r>
              <a:rPr lang="nl-NL" dirty="0" err="1">
                <a:sym typeface="Wingdings" pitchFamily="2" charset="2"/>
              </a:rPr>
              <a:t>about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the</a:t>
            </a:r>
            <a:r>
              <a:rPr lang="nl-NL" dirty="0">
                <a:sym typeface="Wingdings" pitchFamily="2" charset="2"/>
              </a:rPr>
              <a:t> past</a:t>
            </a:r>
          </a:p>
          <a:p>
            <a:pPr marL="0" indent="0">
              <a:buNone/>
            </a:pP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For </a:t>
            </a:r>
            <a:r>
              <a:rPr lang="nl-NL" dirty="0" err="1">
                <a:sym typeface="Wingdings" pitchFamily="2" charset="2"/>
              </a:rPr>
              <a:t>things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that</a:t>
            </a:r>
            <a:r>
              <a:rPr lang="nl-NL" dirty="0">
                <a:sym typeface="Wingdings" pitchFamily="2" charset="2"/>
              </a:rPr>
              <a:t> are </a:t>
            </a:r>
            <a:r>
              <a:rPr lang="nl-NL" dirty="0" err="1">
                <a:sym typeface="Wingdings" pitchFamily="2" charset="2"/>
              </a:rPr>
              <a:t>finished</a:t>
            </a:r>
            <a:r>
              <a:rPr lang="nl-NL" dirty="0">
                <a:sym typeface="Wingdings" pitchFamily="2" charset="2"/>
              </a:rPr>
              <a:t> (past </a:t>
            </a:r>
            <a:r>
              <a:rPr lang="nl-NL" dirty="0" err="1">
                <a:sym typeface="Wingdings" pitchFamily="2" charset="2"/>
              </a:rPr>
              <a:t>only</a:t>
            </a:r>
            <a:r>
              <a:rPr lang="nl-NL" dirty="0">
                <a:sym typeface="Wingdings" pitchFamily="2" charset="2"/>
              </a:rPr>
              <a:t>) </a:t>
            </a:r>
          </a:p>
          <a:p>
            <a:pPr lvl="1">
              <a:buNone/>
            </a:pPr>
            <a:r>
              <a:rPr lang="nl-NL" dirty="0">
                <a:sym typeface="Wingdings" pitchFamily="2" charset="2"/>
              </a:rPr>
              <a:t>	I </a:t>
            </a:r>
            <a:r>
              <a:rPr lang="nl-NL" dirty="0" err="1">
                <a:sym typeface="Wingdings" pitchFamily="2" charset="2"/>
              </a:rPr>
              <a:t>worked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there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4 </a:t>
            </a:r>
            <a:r>
              <a:rPr lang="nl-NL" dirty="0" err="1">
                <a:sym typeface="Wingdings" pitchFamily="2" charset="2"/>
              </a:rPr>
              <a:t>years</a:t>
            </a: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For </a:t>
            </a:r>
            <a:r>
              <a:rPr lang="nl-NL" dirty="0" err="1">
                <a:sym typeface="Wingdings" pitchFamily="2" charset="2"/>
              </a:rPr>
              <a:t>things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that</a:t>
            </a:r>
            <a:r>
              <a:rPr lang="nl-NL" dirty="0">
                <a:sym typeface="Wingdings" pitchFamily="2" charset="2"/>
              </a:rPr>
              <a:t> are </a:t>
            </a:r>
            <a:r>
              <a:rPr lang="nl-NL" dirty="0" err="1">
                <a:sym typeface="Wingdings" pitchFamily="2" charset="2"/>
              </a:rPr>
              <a:t>not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finished</a:t>
            </a:r>
            <a:r>
              <a:rPr lang="nl-NL" dirty="0">
                <a:sym typeface="Wingdings" pitchFamily="2" charset="2"/>
              </a:rPr>
              <a:t> (</a:t>
            </a:r>
            <a:r>
              <a:rPr lang="nl-NL" dirty="0" err="1">
                <a:sym typeface="Wingdings" pitchFamily="2" charset="2"/>
              </a:rPr>
              <a:t>from</a:t>
            </a:r>
            <a:r>
              <a:rPr lang="nl-NL" dirty="0">
                <a:sym typeface="Wingdings" pitchFamily="2" charset="2"/>
              </a:rPr>
              <a:t> past </a:t>
            </a:r>
            <a:r>
              <a:rPr lang="nl-NL" dirty="0" err="1">
                <a:sym typeface="Wingdings" pitchFamily="2" charset="2"/>
              </a:rPr>
              <a:t>until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now</a:t>
            </a:r>
            <a:r>
              <a:rPr lang="nl-NL" dirty="0">
                <a:sym typeface="Wingdings" pitchFamily="2" charset="2"/>
              </a:rPr>
              <a:t>)  </a:t>
            </a:r>
          </a:p>
          <a:p>
            <a:pPr lvl="1">
              <a:buNone/>
            </a:pPr>
            <a:r>
              <a:rPr lang="nl-NL" dirty="0">
                <a:sym typeface="Wingdings" pitchFamily="2" charset="2"/>
              </a:rPr>
              <a:t>	I have </a:t>
            </a:r>
            <a:r>
              <a:rPr lang="nl-NL" dirty="0" err="1">
                <a:sym typeface="Wingdings" pitchFamily="2" charset="2"/>
              </a:rPr>
              <a:t>worked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there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4 </a:t>
            </a:r>
            <a:r>
              <a:rPr lang="nl-NL" dirty="0" err="1">
                <a:sym typeface="Wingdings" pitchFamily="2" charset="2"/>
              </a:rPr>
              <a:t>years</a:t>
            </a:r>
            <a:endParaRPr lang="nl-NL" dirty="0">
              <a:sym typeface="Wingdings" pitchFamily="2" charset="2"/>
            </a:endParaRPr>
          </a:p>
          <a:p>
            <a:pPr lvl="1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There</a:t>
            </a:r>
            <a:r>
              <a:rPr lang="nl-NL" dirty="0">
                <a:sym typeface="Wingdings" pitchFamily="2" charset="2"/>
              </a:rPr>
              <a:t> are </a:t>
            </a:r>
            <a:r>
              <a:rPr lang="nl-NL" dirty="0" err="1">
                <a:sym typeface="Wingdings" pitchFamily="2" charset="2"/>
              </a:rPr>
              <a:t>two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other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forms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that</a:t>
            </a:r>
            <a:r>
              <a:rPr lang="nl-NL" dirty="0">
                <a:sym typeface="Wingdings" pitchFamily="2" charset="2"/>
              </a:rPr>
              <a:t> are </a:t>
            </a:r>
            <a:r>
              <a:rPr lang="nl-NL" dirty="0" err="1">
                <a:sym typeface="Wingdings" pitchFamily="2" charset="2"/>
              </a:rPr>
              <a:t>used</a:t>
            </a:r>
            <a:r>
              <a:rPr lang="nl-NL" dirty="0">
                <a:sym typeface="Wingdings" pitchFamily="2" charset="2"/>
              </a:rPr>
              <a:t>, </a:t>
            </a:r>
            <a:r>
              <a:rPr lang="nl-NL" dirty="0" err="1">
                <a:sym typeface="Wingdings" pitchFamily="2" charset="2"/>
              </a:rPr>
              <a:t>especially</a:t>
            </a:r>
            <a:r>
              <a:rPr lang="nl-NL" dirty="0">
                <a:sym typeface="Wingdings" pitchFamily="2" charset="2"/>
              </a:rPr>
              <a:t> in </a:t>
            </a:r>
            <a:r>
              <a:rPr lang="nl-NL" dirty="0" err="1">
                <a:sym typeface="Wingdings" pitchFamily="2" charset="2"/>
              </a:rPr>
              <a:t>combination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with</a:t>
            </a:r>
            <a:r>
              <a:rPr lang="nl-NL" dirty="0">
                <a:sym typeface="Wingdings" pitchFamily="2" charset="2"/>
              </a:rPr>
              <a:t> the </a:t>
            </a:r>
            <a:r>
              <a:rPr lang="nl-NL" dirty="0" err="1">
                <a:sym typeface="Wingdings" pitchFamily="2" charset="2"/>
              </a:rPr>
              <a:t>normal</a:t>
            </a:r>
            <a:r>
              <a:rPr lang="nl-NL" dirty="0">
                <a:sym typeface="Wingdings" pitchFamily="2" charset="2"/>
              </a:rPr>
              <a:t> past </a:t>
            </a:r>
            <a:r>
              <a:rPr lang="nl-NL" dirty="0" err="1">
                <a:sym typeface="Wingdings" pitchFamily="2" charset="2"/>
              </a:rPr>
              <a:t>form</a:t>
            </a:r>
            <a:endParaRPr lang="nl-NL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1280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Past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endParaRPr lang="nl-NL" dirty="0">
              <a:latin typeface="Sans sarif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nl-NL" sz="3200" dirty="0">
                <a:latin typeface="Sans sarif"/>
              </a:rPr>
              <a:t>Past </a:t>
            </a:r>
            <a:r>
              <a:rPr lang="nl-NL" sz="3200" dirty="0" err="1">
                <a:latin typeface="Sans sarif"/>
              </a:rPr>
              <a:t>Continuous</a:t>
            </a:r>
            <a:endParaRPr lang="nl-NL" sz="3200" dirty="0">
              <a:latin typeface="Sans sarif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4131C9-B536-4544-B298-1D837711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36911"/>
            <a:ext cx="7346776" cy="234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52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Past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endParaRPr lang="nl-NL" dirty="0">
              <a:latin typeface="Sans sarif"/>
            </a:endParaRP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3"/>
          </p:nvPr>
        </p:nvSpPr>
        <p:spPr>
          <a:xfrm>
            <a:off x="533400" y="1772816"/>
            <a:ext cx="3886200" cy="640080"/>
          </a:xfrm>
        </p:spPr>
        <p:txBody>
          <a:bodyPr/>
          <a:lstStyle/>
          <a:p>
            <a:r>
              <a:rPr lang="nl-NL" sz="3200" dirty="0">
                <a:latin typeface="Sans sarif"/>
              </a:rPr>
              <a:t>Past Perfect</a:t>
            </a:r>
          </a:p>
        </p:txBody>
      </p:sp>
      <p:pic>
        <p:nvPicPr>
          <p:cNvPr id="3074" name="Picture 2" descr="past perfect tense timeline">
            <a:extLst>
              <a:ext uri="{FF2B5EF4-FFF2-40B4-BE49-F238E27FC236}">
                <a16:creationId xmlns:a16="http://schemas.microsoft.com/office/drawing/2014/main" id="{B736C280-919C-4033-A657-39B3F6B25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08920"/>
            <a:ext cx="7639000" cy="2376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887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716D47-FDB9-5572-A31C-F34F934F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Task: Identify the order of events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75865D-CFB6-369F-7229-C45382105D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>
                <a:latin typeface="Sans sarif"/>
              </a:rPr>
              <a:t>Identify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order: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latin typeface="Sans sarif"/>
              </a:rPr>
              <a:t>I </a:t>
            </a:r>
            <a:r>
              <a:rPr lang="nl-NL" b="1" dirty="0">
                <a:latin typeface="Sans sarif"/>
              </a:rPr>
              <a:t>had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called</a:t>
            </a:r>
            <a:r>
              <a:rPr lang="nl-NL" dirty="0">
                <a:latin typeface="Sans sarif"/>
              </a:rPr>
              <a:t> her </a:t>
            </a:r>
            <a:r>
              <a:rPr lang="nl-NL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 I </a:t>
            </a:r>
            <a:r>
              <a:rPr lang="nl-NL" b="1" dirty="0" err="1">
                <a:latin typeface="Sans sarif"/>
              </a:rPr>
              <a:t>heard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wasn’t</a:t>
            </a:r>
            <a:r>
              <a:rPr lang="nl-NL" dirty="0">
                <a:latin typeface="Sans sarif"/>
              </a:rPr>
              <a:t> home.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police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thieves</a:t>
            </a:r>
            <a:r>
              <a:rPr lang="nl-NL" dirty="0">
                <a:latin typeface="Sans sarif"/>
              </a:rPr>
              <a:t> </a:t>
            </a:r>
            <a:r>
              <a:rPr lang="nl-NL" b="1" dirty="0">
                <a:latin typeface="Sans sarif"/>
              </a:rPr>
              <a:t>had </a:t>
            </a:r>
            <a:r>
              <a:rPr lang="nl-NL" b="1" dirty="0" err="1">
                <a:latin typeface="Sans sarif"/>
              </a:rPr>
              <a:t>left</a:t>
            </a:r>
            <a:r>
              <a:rPr lang="nl-NL" b="1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building 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latin typeface="Sans sarif"/>
              </a:rPr>
              <a:t>The </a:t>
            </a:r>
            <a:r>
              <a:rPr lang="nl-NL" dirty="0" err="1">
                <a:latin typeface="Sans sarif"/>
              </a:rPr>
              <a:t>phone</a:t>
            </a:r>
            <a:r>
              <a:rPr lang="nl-NL" dirty="0">
                <a:latin typeface="Sans sarif"/>
              </a:rPr>
              <a:t> </a:t>
            </a:r>
            <a:r>
              <a:rPr lang="nl-NL" b="1" dirty="0">
                <a:latin typeface="Sans sarif"/>
              </a:rPr>
              <a:t>rang </a:t>
            </a:r>
            <a:r>
              <a:rPr lang="nl-NL" b="1" dirty="0" err="1">
                <a:latin typeface="Sans sarif"/>
              </a:rPr>
              <a:t>w</a:t>
            </a:r>
            <a:r>
              <a:rPr lang="nl-NL" dirty="0" err="1">
                <a:latin typeface="Sans sarif"/>
              </a:rPr>
              <a:t>hile</a:t>
            </a:r>
            <a:r>
              <a:rPr lang="nl-NL" dirty="0">
                <a:latin typeface="Sans sarif"/>
              </a:rPr>
              <a:t> I </a:t>
            </a:r>
            <a:r>
              <a:rPr lang="nl-NL" b="1" dirty="0">
                <a:latin typeface="Sans sarif"/>
              </a:rPr>
              <a:t>was </a:t>
            </a:r>
            <a:r>
              <a:rPr lang="nl-NL" b="1" dirty="0" err="1">
                <a:latin typeface="Sans sarif"/>
              </a:rPr>
              <a:t>having</a:t>
            </a:r>
            <a:r>
              <a:rPr lang="nl-NL" dirty="0">
                <a:latin typeface="Sans sarif"/>
              </a:rPr>
              <a:t> a bath</a:t>
            </a:r>
            <a:endParaRPr lang="nl-NL" b="1" dirty="0">
              <a:latin typeface="Sans sarif"/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police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thieves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left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building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ans sarif"/>
              </a:rPr>
              <a:t>I </a:t>
            </a:r>
            <a:r>
              <a:rPr lang="en-US" b="1" dirty="0">
                <a:latin typeface="Sans sarif"/>
              </a:rPr>
              <a:t>was cutting</a:t>
            </a:r>
            <a:r>
              <a:rPr lang="en-US" dirty="0">
                <a:latin typeface="Sans sarif"/>
              </a:rPr>
              <a:t> the grass when suddenly I </a:t>
            </a:r>
            <a:r>
              <a:rPr lang="en-US" b="1" dirty="0">
                <a:latin typeface="Sans sarif"/>
              </a:rPr>
              <a:t>hurt</a:t>
            </a:r>
            <a:r>
              <a:rPr lang="en-US" dirty="0">
                <a:latin typeface="Sans sarif"/>
              </a:rPr>
              <a:t> my back.</a:t>
            </a:r>
          </a:p>
          <a:p>
            <a:pPr marL="514350" indent="-514350">
              <a:buFont typeface="+mj-lt"/>
              <a:buAutoNum type="arabicPeriod"/>
            </a:pPr>
            <a:endParaRPr lang="nl-NL" b="1" dirty="0">
              <a:latin typeface="Sans sarif"/>
            </a:endParaRP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421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Two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happening in </a:t>
            </a:r>
            <a:r>
              <a:rPr lang="nl-NL" dirty="0" err="1">
                <a:latin typeface="Sans sarif"/>
              </a:rPr>
              <a:t>the</a:t>
            </a:r>
            <a:r>
              <a:rPr lang="nl-NL" dirty="0">
                <a:latin typeface="Sans sarif"/>
              </a:rPr>
              <a:t> past</a:t>
            </a:r>
            <a:br>
              <a:rPr lang="nl-NL" dirty="0">
                <a:latin typeface="Sans sarif"/>
              </a:rPr>
            </a:br>
            <a:r>
              <a:rPr lang="nl-NL" sz="2800" dirty="0" err="1">
                <a:latin typeface="Sans sarif"/>
              </a:rPr>
              <a:t>One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after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another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Sometimes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one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event</a:t>
            </a:r>
            <a:r>
              <a:rPr lang="nl-NL" dirty="0">
                <a:latin typeface="Sans sarif"/>
              </a:rPr>
              <a:t> happens </a:t>
            </a:r>
            <a:r>
              <a:rPr lang="nl-NL" dirty="0" err="1">
                <a:latin typeface="Sans sarif"/>
              </a:rPr>
              <a:t>after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another</a:t>
            </a:r>
            <a:r>
              <a:rPr lang="nl-NL" dirty="0">
                <a:latin typeface="Sans sarif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nl-NL" dirty="0" err="1">
                <a:latin typeface="Sans sarif"/>
              </a:rPr>
              <a:t>After</a:t>
            </a:r>
            <a:r>
              <a:rPr lang="nl-NL" dirty="0">
                <a:latin typeface="Sans sarif"/>
              </a:rPr>
              <a:t> I </a:t>
            </a:r>
            <a:r>
              <a:rPr lang="nl-NL" b="1" dirty="0">
                <a:latin typeface="Sans sarif"/>
              </a:rPr>
              <a:t>had </a:t>
            </a:r>
            <a:r>
              <a:rPr lang="nl-NL" b="1" dirty="0" err="1">
                <a:latin typeface="Sans sarif"/>
              </a:rPr>
              <a:t>left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he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nl-NL" dirty="0">
                <a:latin typeface="Sans sarif"/>
              </a:rPr>
              <a:t>I </a:t>
            </a:r>
            <a:r>
              <a:rPr lang="nl-NL" b="1" dirty="0">
                <a:latin typeface="Sans sarif"/>
              </a:rPr>
              <a:t>had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called</a:t>
            </a:r>
            <a:r>
              <a:rPr lang="nl-NL" dirty="0">
                <a:latin typeface="Sans sarif"/>
              </a:rPr>
              <a:t> her </a:t>
            </a:r>
            <a:r>
              <a:rPr lang="nl-NL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 I </a:t>
            </a:r>
            <a:r>
              <a:rPr lang="nl-NL" b="1" dirty="0" err="1">
                <a:latin typeface="Sans sarif"/>
              </a:rPr>
              <a:t>heard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wasn’t</a:t>
            </a:r>
            <a:r>
              <a:rPr lang="nl-NL" dirty="0">
                <a:latin typeface="Sans sarif"/>
              </a:rPr>
              <a:t> home.</a:t>
            </a:r>
          </a:p>
          <a:p>
            <a:pPr>
              <a:lnSpc>
                <a:spcPct val="90000"/>
              </a:lnSpc>
            </a:pPr>
            <a:r>
              <a:rPr lang="nl-NL" dirty="0">
                <a:latin typeface="Sans sarif"/>
              </a:rPr>
              <a:t>The </a:t>
            </a:r>
            <a:r>
              <a:rPr lang="nl-NL" dirty="0" err="1">
                <a:latin typeface="Sans sarif"/>
              </a:rPr>
              <a:t>event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happened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first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gets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another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:</a:t>
            </a:r>
          </a:p>
          <a:p>
            <a:pPr>
              <a:lnSpc>
                <a:spcPct val="90000"/>
              </a:lnSpc>
            </a:pPr>
            <a:endParaRPr lang="nl-NL" dirty="0">
              <a:latin typeface="Sans sarif"/>
            </a:endParaRPr>
          </a:p>
          <a:p>
            <a:pPr>
              <a:lnSpc>
                <a:spcPct val="90000"/>
              </a:lnSpc>
            </a:pPr>
            <a:r>
              <a:rPr lang="nl-NL" dirty="0">
                <a:latin typeface="Sans sarif"/>
              </a:rPr>
              <a:t>I, </a:t>
            </a:r>
            <a:r>
              <a:rPr lang="nl-NL" dirty="0" err="1">
                <a:latin typeface="Sans sarif"/>
              </a:rPr>
              <a:t>you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he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she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it</a:t>
            </a:r>
            <a:r>
              <a:rPr lang="nl-NL" dirty="0">
                <a:latin typeface="Sans sarif"/>
              </a:rPr>
              <a:t>, we, </a:t>
            </a:r>
            <a:r>
              <a:rPr lang="nl-NL" dirty="0" err="1">
                <a:latin typeface="Sans sarif"/>
              </a:rPr>
              <a:t>they</a:t>
            </a:r>
            <a:r>
              <a:rPr lang="nl-NL" dirty="0">
                <a:latin typeface="Sans sarif"/>
              </a:rPr>
              <a:t> + </a:t>
            </a:r>
            <a:r>
              <a:rPr lang="nl-NL" u="sng" dirty="0">
                <a:latin typeface="Sans sarif"/>
              </a:rPr>
              <a:t>had</a:t>
            </a:r>
            <a:r>
              <a:rPr lang="nl-NL" dirty="0">
                <a:latin typeface="Sans sarif"/>
              </a:rPr>
              <a:t> + </a:t>
            </a:r>
            <a:r>
              <a:rPr lang="nl-NL" dirty="0" err="1">
                <a:latin typeface="Sans sarif"/>
              </a:rPr>
              <a:t>verb</a:t>
            </a:r>
            <a:r>
              <a:rPr lang="nl-NL" dirty="0">
                <a:latin typeface="Sans sarif"/>
              </a:rPr>
              <a:t> + </a:t>
            </a:r>
            <a:r>
              <a:rPr lang="nl-NL" dirty="0" err="1">
                <a:latin typeface="Sans sarif"/>
              </a:rPr>
              <a:t>ed</a:t>
            </a:r>
            <a:r>
              <a:rPr lang="nl-NL" dirty="0">
                <a:latin typeface="Sans sarif"/>
              </a:rPr>
              <a:t> </a:t>
            </a:r>
            <a:r>
              <a:rPr lang="nl-NL" dirty="0">
                <a:latin typeface="Sans sarif"/>
                <a:sym typeface="Wingdings" pitchFamily="2" charset="2"/>
              </a:rPr>
              <a:t> I had </a:t>
            </a:r>
            <a:r>
              <a:rPr lang="nl-NL" dirty="0" err="1">
                <a:latin typeface="Sans sarif"/>
                <a:sym typeface="Wingdings" pitchFamily="2" charset="2"/>
              </a:rPr>
              <a:t>worked</a:t>
            </a:r>
            <a:endParaRPr lang="nl-NL" dirty="0">
              <a:latin typeface="Sans sarif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nl-NL" dirty="0">
                <a:latin typeface="Sans sarif"/>
                <a:sym typeface="Wingdings" pitchFamily="2" charset="2"/>
              </a:rPr>
              <a:t>See spelling </a:t>
            </a:r>
            <a:r>
              <a:rPr lang="nl-NL" dirty="0" err="1">
                <a:latin typeface="Sans sarif"/>
                <a:sym typeface="Wingdings" pitchFamily="2" charset="2"/>
              </a:rPr>
              <a:t>rules</a:t>
            </a:r>
            <a:r>
              <a:rPr lang="nl-NL" dirty="0">
                <a:latin typeface="Sans sarif"/>
                <a:sym typeface="Wingdings" pitchFamily="2" charset="2"/>
              </a:rPr>
              <a:t>/</a:t>
            </a:r>
            <a:r>
              <a:rPr lang="nl-NL" dirty="0" err="1">
                <a:latin typeface="Sans sarif"/>
                <a:sym typeface="Wingdings" pitchFamily="2" charset="2"/>
              </a:rPr>
              <a:t>difficulties</a:t>
            </a:r>
            <a:endParaRPr lang="nl-NL" dirty="0">
              <a:latin typeface="Sans sarif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nl-NL" dirty="0" err="1">
                <a:latin typeface="Sans sarif"/>
                <a:sym typeface="Wingdings" pitchFamily="2" charset="2"/>
              </a:rPr>
              <a:t>Also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many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irregular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forms</a:t>
            </a:r>
            <a:r>
              <a:rPr lang="nl-NL" dirty="0">
                <a:latin typeface="Sans sarif"/>
                <a:sym typeface="Wingdings" pitchFamily="2" charset="2"/>
              </a:rPr>
              <a:t> (3rd column)  I had </a:t>
            </a:r>
            <a:r>
              <a:rPr lang="nl-NL" dirty="0" err="1">
                <a:latin typeface="Sans sarif"/>
                <a:sym typeface="Wingdings" pitchFamily="2" charset="2"/>
              </a:rPr>
              <a:t>done</a:t>
            </a:r>
            <a:endParaRPr lang="nl-NL" dirty="0">
              <a:latin typeface="Sans sarif"/>
            </a:endParaRPr>
          </a:p>
          <a:p>
            <a:pPr>
              <a:lnSpc>
                <a:spcPct val="90000"/>
              </a:lnSpc>
            </a:pP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814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Two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happening in the past</a:t>
            </a:r>
            <a:br>
              <a:rPr lang="nl-NL" dirty="0">
                <a:latin typeface="Sans sarif"/>
              </a:rPr>
            </a:br>
            <a:r>
              <a:rPr lang="nl-NL" sz="2800" dirty="0" err="1">
                <a:latin typeface="Sans sarif"/>
              </a:rPr>
              <a:t>One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after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another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Often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words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like</a:t>
            </a:r>
            <a:r>
              <a:rPr lang="nl-NL" dirty="0">
                <a:latin typeface="Sans sarif"/>
              </a:rPr>
              <a:t> ‘</a:t>
            </a:r>
            <a:r>
              <a:rPr lang="nl-NL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’ and ‘</a:t>
            </a:r>
            <a:r>
              <a:rPr lang="nl-NL" dirty="0" err="1">
                <a:latin typeface="Sans sarif"/>
              </a:rPr>
              <a:t>after</a:t>
            </a:r>
            <a:r>
              <a:rPr lang="nl-NL" dirty="0">
                <a:latin typeface="Sans sarif"/>
              </a:rPr>
              <a:t>’ </a:t>
            </a:r>
            <a:r>
              <a:rPr lang="nl-NL" dirty="0" err="1">
                <a:latin typeface="Sans sarif"/>
              </a:rPr>
              <a:t>also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indicate</a:t>
            </a:r>
            <a:r>
              <a:rPr lang="nl-NL" dirty="0">
                <a:latin typeface="Sans sarif"/>
              </a:rPr>
              <a:t> the order</a:t>
            </a:r>
          </a:p>
          <a:p>
            <a:pPr lvl="1">
              <a:lnSpc>
                <a:spcPct val="90000"/>
              </a:lnSpc>
            </a:pPr>
            <a:r>
              <a:rPr lang="nl-NL" u="sng" dirty="0" err="1">
                <a:latin typeface="Sans sarif"/>
              </a:rPr>
              <a:t>After</a:t>
            </a:r>
            <a:r>
              <a:rPr lang="nl-NL" dirty="0">
                <a:latin typeface="Sans sarif"/>
              </a:rPr>
              <a:t> I </a:t>
            </a:r>
            <a:r>
              <a:rPr lang="nl-NL" b="1" dirty="0">
                <a:latin typeface="Sans sarif"/>
              </a:rPr>
              <a:t>had </a:t>
            </a:r>
            <a:r>
              <a:rPr lang="nl-NL" b="1" dirty="0" err="1">
                <a:latin typeface="Sans sarif"/>
              </a:rPr>
              <a:t>left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he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nl-NL" dirty="0">
                <a:latin typeface="Sans sarif"/>
              </a:rPr>
              <a:t>I </a:t>
            </a:r>
            <a:r>
              <a:rPr lang="nl-NL" b="1" dirty="0">
                <a:latin typeface="Sans sarif"/>
              </a:rPr>
              <a:t>had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called</a:t>
            </a:r>
            <a:r>
              <a:rPr lang="nl-NL" dirty="0">
                <a:latin typeface="Sans sarif"/>
              </a:rPr>
              <a:t> her </a:t>
            </a:r>
            <a:r>
              <a:rPr lang="nl-NL" u="sng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 I </a:t>
            </a:r>
            <a:r>
              <a:rPr lang="nl-NL" b="1" dirty="0" err="1">
                <a:latin typeface="Sans sarif"/>
              </a:rPr>
              <a:t>heard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she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wasn’t</a:t>
            </a:r>
            <a:r>
              <a:rPr lang="nl-NL" dirty="0">
                <a:latin typeface="Sans sarif"/>
              </a:rPr>
              <a:t> home.</a:t>
            </a:r>
          </a:p>
          <a:p>
            <a:pPr>
              <a:lnSpc>
                <a:spcPct val="90000"/>
              </a:lnSpc>
            </a:pPr>
            <a:r>
              <a:rPr lang="nl-NL" dirty="0" err="1">
                <a:latin typeface="Sans sarif"/>
              </a:rPr>
              <a:t>Not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always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same</a:t>
            </a:r>
            <a:r>
              <a:rPr lang="nl-NL" dirty="0">
                <a:latin typeface="Sans sarif"/>
              </a:rPr>
              <a:t> order as the </a:t>
            </a:r>
            <a:r>
              <a:rPr lang="nl-NL" dirty="0" err="1">
                <a:latin typeface="Sans sarif"/>
              </a:rPr>
              <a:t>sentence</a:t>
            </a:r>
            <a:endParaRPr lang="nl-NL" dirty="0">
              <a:latin typeface="Sans sarif"/>
            </a:endParaRPr>
          </a:p>
          <a:p>
            <a:pPr lvl="1">
              <a:lnSpc>
                <a:spcPct val="90000"/>
              </a:lnSpc>
            </a:pPr>
            <a:r>
              <a:rPr lang="nl-NL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 I </a:t>
            </a:r>
            <a:r>
              <a:rPr lang="nl-NL" b="1" dirty="0" err="1">
                <a:latin typeface="Sans sarif"/>
              </a:rPr>
              <a:t>found</a:t>
            </a:r>
            <a:r>
              <a:rPr lang="nl-NL" dirty="0">
                <a:latin typeface="Sans sarif"/>
              </a:rPr>
              <a:t> the ticket, the show </a:t>
            </a:r>
            <a:r>
              <a:rPr lang="nl-NL" b="1" dirty="0">
                <a:latin typeface="Sans sarif"/>
              </a:rPr>
              <a:t>had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already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begun</a:t>
            </a:r>
            <a:endParaRPr lang="nl-NL" b="1" dirty="0">
              <a:latin typeface="Sans sarif"/>
            </a:endParaRPr>
          </a:p>
          <a:p>
            <a:pPr>
              <a:lnSpc>
                <a:spcPct val="90000"/>
              </a:lnSpc>
            </a:pPr>
            <a:endParaRPr lang="nl-NL" dirty="0">
              <a:latin typeface="Sans sarif"/>
            </a:endParaRPr>
          </a:p>
          <a:p>
            <a:pPr lvl="1">
              <a:lnSpc>
                <a:spcPct val="90000"/>
              </a:lnSpc>
            </a:pPr>
            <a:endParaRPr lang="nl-NL" dirty="0">
              <a:latin typeface="Sans sarif"/>
            </a:endParaRPr>
          </a:p>
          <a:p>
            <a:pPr marL="366713" lvl="1" indent="0">
              <a:buNone/>
            </a:pPr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262368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Two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happening in the past</a:t>
            </a:r>
            <a:br>
              <a:rPr lang="nl-NL" dirty="0">
                <a:latin typeface="Sans sarif"/>
              </a:rPr>
            </a:br>
            <a:r>
              <a:rPr lang="nl-NL" sz="2800" dirty="0" err="1">
                <a:latin typeface="Sans sarif"/>
              </a:rPr>
              <a:t>One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after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another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nl-NL" dirty="0" err="1">
                <a:latin typeface="Sans sarif"/>
              </a:rPr>
              <a:t>Sometimes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you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can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only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tell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from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verb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which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happened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first</a:t>
            </a:r>
            <a:endParaRPr lang="nl-NL" dirty="0">
              <a:latin typeface="Sans sarif"/>
            </a:endParaRPr>
          </a:p>
          <a:p>
            <a:pPr lvl="1">
              <a:lnSpc>
                <a:spcPct val="90000"/>
              </a:lnSpc>
            </a:pP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police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thieves</a:t>
            </a:r>
            <a:r>
              <a:rPr lang="nl-NL" dirty="0">
                <a:latin typeface="Sans sarif"/>
              </a:rPr>
              <a:t> </a:t>
            </a:r>
            <a:r>
              <a:rPr lang="nl-NL" b="1" dirty="0">
                <a:latin typeface="Sans sarif"/>
              </a:rPr>
              <a:t>had </a:t>
            </a:r>
            <a:r>
              <a:rPr lang="nl-NL" b="1" dirty="0" err="1">
                <a:latin typeface="Sans sarif"/>
              </a:rPr>
              <a:t>left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the building </a:t>
            </a:r>
          </a:p>
          <a:p>
            <a:pPr lvl="1">
              <a:lnSpc>
                <a:spcPct val="90000"/>
              </a:lnSpc>
              <a:buNone/>
            </a:pPr>
            <a:r>
              <a:rPr lang="nl-NL" dirty="0">
                <a:latin typeface="Sans sarif"/>
              </a:rPr>
              <a:t>	(= the </a:t>
            </a:r>
            <a:r>
              <a:rPr lang="nl-NL" dirty="0" err="1">
                <a:latin typeface="Sans sarif"/>
              </a:rPr>
              <a:t>thieves</a:t>
            </a:r>
            <a:r>
              <a:rPr lang="nl-NL" dirty="0">
                <a:latin typeface="Sans sarif"/>
              </a:rPr>
              <a:t> had </a:t>
            </a:r>
            <a:r>
              <a:rPr lang="nl-NL" dirty="0" err="1">
                <a:latin typeface="Sans sarif"/>
              </a:rPr>
              <a:t>left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police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police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thieves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left</a:t>
            </a:r>
            <a:r>
              <a:rPr lang="nl-NL" dirty="0">
                <a:latin typeface="Sans sarif"/>
              </a:rPr>
              <a:t> the building </a:t>
            </a:r>
          </a:p>
          <a:p>
            <a:pPr lvl="1">
              <a:lnSpc>
                <a:spcPct val="90000"/>
              </a:lnSpc>
              <a:buNone/>
            </a:pPr>
            <a:r>
              <a:rPr lang="nl-NL" dirty="0">
                <a:latin typeface="Sans sarif"/>
              </a:rPr>
              <a:t>	(= the </a:t>
            </a:r>
            <a:r>
              <a:rPr lang="nl-NL" dirty="0" err="1">
                <a:latin typeface="Sans sarif"/>
              </a:rPr>
              <a:t>thieves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left</a:t>
            </a:r>
            <a:r>
              <a:rPr lang="nl-NL" dirty="0">
                <a:latin typeface="Sans sarif"/>
              </a:rPr>
              <a:t> right </a:t>
            </a:r>
            <a:r>
              <a:rPr lang="nl-NL" dirty="0" err="1">
                <a:latin typeface="Sans sarif"/>
              </a:rPr>
              <a:t>before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police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arrived</a:t>
            </a:r>
            <a:r>
              <a:rPr lang="nl-NL" dirty="0">
                <a:latin typeface="Sans sarif"/>
              </a:rPr>
              <a:t>)</a:t>
            </a:r>
          </a:p>
          <a:p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49133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Sans sarif"/>
              </a:rPr>
              <a:t>Two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happening in the past</a:t>
            </a:r>
            <a:br>
              <a:rPr lang="nl-NL" dirty="0">
                <a:latin typeface="Sans sarif"/>
              </a:rPr>
            </a:br>
            <a:r>
              <a:rPr lang="nl-NL" sz="2800" dirty="0">
                <a:latin typeface="Sans sarif"/>
              </a:rPr>
              <a:t>At the </a:t>
            </a:r>
            <a:r>
              <a:rPr lang="nl-NL" sz="2800" dirty="0" err="1">
                <a:latin typeface="Sans sarif"/>
              </a:rPr>
              <a:t>same</a:t>
            </a:r>
            <a:r>
              <a:rPr lang="nl-NL" sz="2800" dirty="0">
                <a:latin typeface="Sans sarif"/>
              </a:rPr>
              <a:t> time</a:t>
            </a:r>
            <a:endParaRPr lang="en-US" dirty="0">
              <a:latin typeface="Sans sarif"/>
            </a:endParaRPr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>
                <a:latin typeface="Sans sarif"/>
              </a:rPr>
              <a:t>Sometimes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two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in the past </a:t>
            </a:r>
            <a:r>
              <a:rPr lang="nl-NL" dirty="0" err="1">
                <a:latin typeface="Sans sarif"/>
              </a:rPr>
              <a:t>happened</a:t>
            </a:r>
            <a:r>
              <a:rPr lang="nl-NL" dirty="0">
                <a:latin typeface="Sans sarif"/>
              </a:rPr>
              <a:t> at the </a:t>
            </a:r>
            <a:r>
              <a:rPr lang="nl-NL" dirty="0" err="1">
                <a:latin typeface="Sans sarif"/>
              </a:rPr>
              <a:t>same</a:t>
            </a:r>
            <a:r>
              <a:rPr lang="nl-NL" dirty="0">
                <a:latin typeface="Sans sarif"/>
              </a:rPr>
              <a:t> time</a:t>
            </a:r>
          </a:p>
          <a:p>
            <a:r>
              <a:rPr lang="nl-NL" dirty="0" err="1">
                <a:latin typeface="Sans sarif"/>
              </a:rPr>
              <a:t>Often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one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longer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action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interrupted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by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shorter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action</a:t>
            </a:r>
            <a:endParaRPr lang="nl-NL" dirty="0">
              <a:latin typeface="Sans sarif"/>
            </a:endParaRPr>
          </a:p>
          <a:p>
            <a:pPr lvl="1"/>
            <a:r>
              <a:rPr lang="nl-NL" dirty="0" err="1">
                <a:latin typeface="Sans sarif"/>
              </a:rPr>
              <a:t>While</a:t>
            </a:r>
            <a:r>
              <a:rPr lang="nl-NL" dirty="0">
                <a:latin typeface="Sans sarif"/>
              </a:rPr>
              <a:t> I </a:t>
            </a:r>
            <a:r>
              <a:rPr lang="nl-NL" b="1" dirty="0">
                <a:latin typeface="Sans sarif"/>
              </a:rPr>
              <a:t>was </a:t>
            </a:r>
            <a:r>
              <a:rPr lang="nl-NL" b="1" dirty="0" err="1">
                <a:latin typeface="Sans sarif"/>
              </a:rPr>
              <a:t>having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bath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phone</a:t>
            </a:r>
            <a:r>
              <a:rPr lang="nl-NL" dirty="0">
                <a:latin typeface="Sans sarif"/>
              </a:rPr>
              <a:t> </a:t>
            </a:r>
            <a:r>
              <a:rPr lang="nl-NL" b="1" dirty="0">
                <a:latin typeface="Sans sarif"/>
              </a:rPr>
              <a:t>rang.</a:t>
            </a:r>
          </a:p>
          <a:p>
            <a:pPr lvl="1"/>
            <a:r>
              <a:rPr lang="en-US" dirty="0">
                <a:latin typeface="Sans sarif"/>
              </a:rPr>
              <a:t>I </a:t>
            </a:r>
            <a:r>
              <a:rPr lang="en-US" b="1" dirty="0">
                <a:latin typeface="Sans sarif"/>
              </a:rPr>
              <a:t>was cutting</a:t>
            </a:r>
            <a:r>
              <a:rPr lang="en-US" dirty="0">
                <a:latin typeface="Sans sarif"/>
              </a:rPr>
              <a:t> the grass when suddenly I </a:t>
            </a:r>
            <a:r>
              <a:rPr lang="en-US" b="1" dirty="0">
                <a:latin typeface="Sans sarif"/>
              </a:rPr>
              <a:t>hurt</a:t>
            </a:r>
            <a:r>
              <a:rPr lang="en-US" dirty="0">
                <a:latin typeface="Sans sarif"/>
              </a:rPr>
              <a:t> my back.</a:t>
            </a:r>
          </a:p>
          <a:p>
            <a:r>
              <a:rPr lang="en-US" dirty="0">
                <a:latin typeface="Sans sarif"/>
              </a:rPr>
              <a:t>You can also use them the other way around</a:t>
            </a:r>
          </a:p>
          <a:p>
            <a:pPr lvl="1"/>
            <a:r>
              <a:rPr lang="en-US" dirty="0">
                <a:latin typeface="Sans sarif"/>
              </a:rPr>
              <a:t>When I </a:t>
            </a:r>
            <a:r>
              <a:rPr lang="en-US" b="1" dirty="0">
                <a:latin typeface="Sans sarif"/>
              </a:rPr>
              <a:t>saw</a:t>
            </a:r>
            <a:r>
              <a:rPr lang="en-US" dirty="0">
                <a:latin typeface="Sans sarif"/>
              </a:rPr>
              <a:t> Mike I </a:t>
            </a:r>
            <a:r>
              <a:rPr lang="en-US" b="1" dirty="0">
                <a:latin typeface="Sans sarif"/>
              </a:rPr>
              <a:t>was cycling </a:t>
            </a:r>
            <a:r>
              <a:rPr lang="en-US" dirty="0">
                <a:latin typeface="Sans sarif"/>
              </a:rPr>
              <a:t>home.</a:t>
            </a:r>
            <a:br>
              <a:rPr lang="en-US" dirty="0">
                <a:latin typeface="Sans sarif"/>
              </a:rPr>
            </a:br>
            <a:endParaRPr lang="en-US" dirty="0">
              <a:latin typeface="Sans sarif"/>
            </a:endParaRPr>
          </a:p>
          <a:p>
            <a:pPr lvl="1"/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33534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Sans sarif"/>
              </a:rPr>
              <a:t>Longer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actions</a:t>
            </a:r>
            <a:r>
              <a:rPr lang="nl-NL" dirty="0">
                <a:latin typeface="Sans sarif"/>
              </a:rPr>
              <a:t> in the past</a:t>
            </a:r>
            <a:endParaRPr lang="en-US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nl-NL" dirty="0">
                <a:latin typeface="Sans sarif"/>
              </a:rPr>
              <a:t>	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:</a:t>
            </a:r>
          </a:p>
          <a:p>
            <a:r>
              <a:rPr lang="nl-NL" dirty="0">
                <a:latin typeface="Sans sarif"/>
              </a:rPr>
              <a:t>I, </a:t>
            </a:r>
            <a:r>
              <a:rPr lang="nl-NL" dirty="0" err="1">
                <a:latin typeface="Sans sarif"/>
              </a:rPr>
              <a:t>he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she</a:t>
            </a:r>
            <a:r>
              <a:rPr lang="nl-NL" dirty="0">
                <a:latin typeface="Sans sarif"/>
              </a:rPr>
              <a:t>, </a:t>
            </a:r>
            <a:r>
              <a:rPr lang="nl-NL" dirty="0" err="1">
                <a:latin typeface="Sans sarif"/>
              </a:rPr>
              <a:t>it</a:t>
            </a:r>
            <a:r>
              <a:rPr lang="nl-NL" dirty="0">
                <a:latin typeface="Sans sarif"/>
              </a:rPr>
              <a:t> + </a:t>
            </a:r>
            <a:r>
              <a:rPr lang="nl-NL" u="sng" dirty="0">
                <a:latin typeface="Sans sarif"/>
              </a:rPr>
              <a:t>was</a:t>
            </a:r>
            <a:r>
              <a:rPr lang="nl-NL" dirty="0">
                <a:latin typeface="Sans sarif"/>
              </a:rPr>
              <a:t> + </a:t>
            </a:r>
            <a:r>
              <a:rPr lang="nl-NL" dirty="0" err="1">
                <a:latin typeface="Sans sarif"/>
              </a:rPr>
              <a:t>verb</a:t>
            </a:r>
            <a:r>
              <a:rPr lang="nl-NL" dirty="0">
                <a:latin typeface="Sans sarif"/>
              </a:rPr>
              <a:t> + -</a:t>
            </a:r>
            <a:r>
              <a:rPr lang="nl-NL" dirty="0" err="1">
                <a:latin typeface="Sans sarif"/>
              </a:rPr>
              <a:t>ing</a:t>
            </a:r>
            <a:r>
              <a:rPr lang="nl-NL" dirty="0">
                <a:latin typeface="Sans sarif"/>
              </a:rPr>
              <a:t> </a:t>
            </a:r>
            <a:r>
              <a:rPr lang="nl-NL" dirty="0">
                <a:latin typeface="Sans sarif"/>
                <a:sym typeface="Wingdings" pitchFamily="2" charset="2"/>
              </a:rPr>
              <a:t> I was </a:t>
            </a:r>
            <a:r>
              <a:rPr lang="nl-NL" dirty="0" err="1">
                <a:latin typeface="Sans sarif"/>
                <a:sym typeface="Wingdings" pitchFamily="2" charset="2"/>
              </a:rPr>
              <a:t>working</a:t>
            </a:r>
            <a:endParaRPr lang="nl-NL" dirty="0">
              <a:latin typeface="Sans sarif"/>
              <a:sym typeface="Wingdings" pitchFamily="2" charset="2"/>
            </a:endParaRPr>
          </a:p>
          <a:p>
            <a:r>
              <a:rPr lang="nl-NL" dirty="0" err="1">
                <a:latin typeface="Sans sarif"/>
              </a:rPr>
              <a:t>you</a:t>
            </a:r>
            <a:r>
              <a:rPr lang="nl-NL" dirty="0">
                <a:latin typeface="Sans sarif"/>
              </a:rPr>
              <a:t>, we, </a:t>
            </a:r>
            <a:r>
              <a:rPr lang="nl-NL" dirty="0" err="1">
                <a:latin typeface="Sans sarif"/>
              </a:rPr>
              <a:t>they</a:t>
            </a:r>
            <a:r>
              <a:rPr lang="nl-NL" dirty="0">
                <a:latin typeface="Sans sarif"/>
              </a:rPr>
              <a:t> + </a:t>
            </a:r>
            <a:r>
              <a:rPr lang="nl-NL" u="sng" dirty="0" err="1">
                <a:latin typeface="Sans sarif"/>
              </a:rPr>
              <a:t>were</a:t>
            </a:r>
            <a:r>
              <a:rPr lang="nl-NL" dirty="0">
                <a:latin typeface="Sans sarif"/>
              </a:rPr>
              <a:t> + </a:t>
            </a:r>
            <a:r>
              <a:rPr lang="nl-NL" dirty="0" err="1">
                <a:latin typeface="Sans sarif"/>
              </a:rPr>
              <a:t>verb</a:t>
            </a:r>
            <a:r>
              <a:rPr lang="nl-NL" dirty="0">
                <a:latin typeface="Sans sarif"/>
              </a:rPr>
              <a:t> + -</a:t>
            </a:r>
            <a:r>
              <a:rPr lang="nl-NL" dirty="0" err="1">
                <a:latin typeface="Sans sarif"/>
              </a:rPr>
              <a:t>ing</a:t>
            </a:r>
            <a:r>
              <a:rPr lang="nl-NL" dirty="0">
                <a:latin typeface="Sans sarif"/>
              </a:rPr>
              <a:t> </a:t>
            </a:r>
            <a:r>
              <a:rPr lang="nl-NL" dirty="0">
                <a:latin typeface="Sans sarif"/>
                <a:sym typeface="Wingdings" pitchFamily="2" charset="2"/>
              </a:rPr>
              <a:t> </a:t>
            </a:r>
            <a:r>
              <a:rPr lang="nl-NL" dirty="0" err="1">
                <a:latin typeface="Sans sarif"/>
                <a:sym typeface="Wingdings" pitchFamily="2" charset="2"/>
              </a:rPr>
              <a:t>you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were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working</a:t>
            </a:r>
            <a:endParaRPr lang="nl-NL" dirty="0">
              <a:latin typeface="Sans sarif"/>
              <a:sym typeface="Wingdings" pitchFamily="2" charset="2"/>
            </a:endParaRPr>
          </a:p>
          <a:p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55029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Sans sarif"/>
              </a:rPr>
              <a:t>Longer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actions</a:t>
            </a:r>
            <a:r>
              <a:rPr lang="nl-NL" dirty="0">
                <a:latin typeface="Sans sarif"/>
              </a:rPr>
              <a:t> in the past</a:t>
            </a:r>
            <a:endParaRPr lang="en-US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>
                <a:latin typeface="Sans sarif"/>
              </a:rPr>
              <a:t>Besides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using</a:t>
            </a:r>
            <a:r>
              <a:rPr lang="nl-NL" dirty="0">
                <a:latin typeface="Sans sarif"/>
              </a:rPr>
              <a:t> a </a:t>
            </a:r>
            <a:r>
              <a:rPr lang="nl-NL" dirty="0" err="1">
                <a:latin typeface="Sans sarif"/>
              </a:rPr>
              <a:t>phrase</a:t>
            </a:r>
            <a:r>
              <a:rPr lang="nl-NL" dirty="0">
                <a:latin typeface="Sans sarif"/>
              </a:rPr>
              <a:t> like ‘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I </a:t>
            </a:r>
            <a:r>
              <a:rPr lang="nl-NL" dirty="0" err="1">
                <a:latin typeface="Sans sarif"/>
              </a:rPr>
              <a:t>saw</a:t>
            </a:r>
            <a:r>
              <a:rPr lang="nl-NL" dirty="0">
                <a:latin typeface="Sans sarif"/>
              </a:rPr>
              <a:t> Mike’ we </a:t>
            </a:r>
            <a:r>
              <a:rPr lang="nl-NL" dirty="0" err="1">
                <a:latin typeface="Sans sarif"/>
              </a:rPr>
              <a:t>can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also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use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expressions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indicate</a:t>
            </a:r>
            <a:r>
              <a:rPr lang="nl-NL" dirty="0">
                <a:latin typeface="Sans sarif"/>
              </a:rPr>
              <a:t> a time in the past</a:t>
            </a:r>
          </a:p>
          <a:p>
            <a:pPr lvl="1"/>
            <a:r>
              <a:rPr lang="nl-NL" dirty="0">
                <a:latin typeface="Sans sarif"/>
              </a:rPr>
              <a:t>At 5 </a:t>
            </a:r>
            <a:r>
              <a:rPr lang="nl-NL" dirty="0" err="1">
                <a:latin typeface="Sans sarif"/>
              </a:rPr>
              <a:t>o’clock</a:t>
            </a:r>
            <a:r>
              <a:rPr lang="nl-NL" dirty="0">
                <a:latin typeface="Sans sarif"/>
              </a:rPr>
              <a:t> I </a:t>
            </a:r>
            <a:r>
              <a:rPr lang="nl-NL" b="1" dirty="0">
                <a:latin typeface="Sans sarif"/>
              </a:rPr>
              <a:t>was </a:t>
            </a:r>
            <a:r>
              <a:rPr lang="nl-NL" b="1" dirty="0" err="1">
                <a:latin typeface="Sans sarif"/>
              </a:rPr>
              <a:t>cycling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home</a:t>
            </a:r>
          </a:p>
          <a:p>
            <a:pPr lvl="1"/>
            <a:r>
              <a:rPr lang="nl-NL" dirty="0" err="1">
                <a:latin typeface="Sans sarif"/>
              </a:rPr>
              <a:t>Yesterday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evening</a:t>
            </a:r>
            <a:r>
              <a:rPr lang="nl-NL" dirty="0">
                <a:latin typeface="Sans sarif"/>
              </a:rPr>
              <a:t> I </a:t>
            </a:r>
            <a:r>
              <a:rPr lang="nl-NL" b="1" dirty="0">
                <a:latin typeface="Sans sarif"/>
              </a:rPr>
              <a:t>was </a:t>
            </a:r>
            <a:r>
              <a:rPr lang="nl-NL" b="1" dirty="0" err="1">
                <a:latin typeface="Sans sarif"/>
              </a:rPr>
              <a:t>watching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TV.</a:t>
            </a:r>
          </a:p>
          <a:p>
            <a:r>
              <a:rPr lang="nl-NL" dirty="0">
                <a:latin typeface="Sans sarif"/>
              </a:rPr>
              <a:t>The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indicates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at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time </a:t>
            </a:r>
            <a:r>
              <a:rPr lang="nl-NL" dirty="0" err="1">
                <a:latin typeface="Sans sarif"/>
              </a:rPr>
              <a:t>you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were</a:t>
            </a:r>
            <a:r>
              <a:rPr lang="nl-NL" dirty="0">
                <a:latin typeface="Sans sarif"/>
              </a:rPr>
              <a:t> in the </a:t>
            </a:r>
            <a:r>
              <a:rPr lang="nl-NL" dirty="0" err="1">
                <a:latin typeface="Sans sarif"/>
              </a:rPr>
              <a:t>middle</a:t>
            </a:r>
            <a:r>
              <a:rPr lang="nl-NL" dirty="0">
                <a:latin typeface="Sans sarif"/>
              </a:rPr>
              <a:t> of </a:t>
            </a:r>
            <a:r>
              <a:rPr lang="nl-NL" dirty="0" err="1">
                <a:latin typeface="Sans sarif"/>
              </a:rPr>
              <a:t>an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action</a:t>
            </a: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50311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Past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endParaRPr lang="nl-NL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2"/>
          </p:nvPr>
        </p:nvSpPr>
        <p:spPr>
          <a:xfrm>
            <a:off x="251520" y="2430780"/>
            <a:ext cx="3886200" cy="3942928"/>
          </a:xfrm>
        </p:spPr>
        <p:txBody>
          <a:bodyPr/>
          <a:lstStyle/>
          <a:p>
            <a:pPr lvl="1"/>
            <a:r>
              <a:rPr lang="en-US" sz="2400" dirty="0">
                <a:latin typeface="Sans sarif"/>
              </a:rPr>
              <a:t>Long action in the past interrupted by a short action in the past</a:t>
            </a:r>
          </a:p>
          <a:p>
            <a:pPr lvl="1"/>
            <a:r>
              <a:rPr lang="en-US" sz="2400" dirty="0">
                <a:latin typeface="Sans sarif"/>
              </a:rPr>
              <a:t>Continuous actions in the past</a:t>
            </a:r>
          </a:p>
          <a:p>
            <a:pPr marL="366713" lvl="1" indent="0">
              <a:buNone/>
            </a:pPr>
            <a:endParaRPr lang="en-US" sz="2400" dirty="0">
              <a:latin typeface="Sans sarif"/>
            </a:endParaRPr>
          </a:p>
          <a:p>
            <a:pPr lvl="1"/>
            <a:r>
              <a:rPr lang="en-US" sz="2400" dirty="0">
                <a:latin typeface="Sans sarif"/>
              </a:rPr>
              <a:t>Was/were + verb+ </a:t>
            </a:r>
            <a:r>
              <a:rPr lang="en-US" sz="2400" dirty="0" err="1">
                <a:latin typeface="Sans sarif"/>
              </a:rPr>
              <a:t>ing</a:t>
            </a:r>
            <a:endParaRPr lang="en-US" sz="2400" dirty="0">
              <a:latin typeface="Sans sarif"/>
            </a:endParaRP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4"/>
          </p:nvPr>
        </p:nvSpPr>
        <p:spPr>
          <a:xfrm>
            <a:off x="4512930" y="2438400"/>
            <a:ext cx="3886200" cy="3581400"/>
          </a:xfrm>
        </p:spPr>
        <p:txBody>
          <a:bodyPr/>
          <a:lstStyle/>
          <a:p>
            <a:pPr lvl="1"/>
            <a:r>
              <a:rPr lang="nl-NL" sz="2400" dirty="0" err="1">
                <a:latin typeface="Sans sarif"/>
              </a:rPr>
              <a:t>One</a:t>
            </a:r>
            <a:r>
              <a:rPr lang="nl-NL" sz="2400" dirty="0">
                <a:latin typeface="Sans sarif"/>
              </a:rPr>
              <a:t> action in past </a:t>
            </a:r>
            <a:r>
              <a:rPr lang="nl-NL" sz="2400" dirty="0" err="1">
                <a:latin typeface="Sans sarif"/>
              </a:rPr>
              <a:t>before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another</a:t>
            </a:r>
            <a:r>
              <a:rPr lang="nl-NL" sz="2400" dirty="0">
                <a:latin typeface="Sans sarif"/>
              </a:rPr>
              <a:t> action in </a:t>
            </a:r>
            <a:r>
              <a:rPr lang="nl-NL" sz="2400" dirty="0" err="1">
                <a:latin typeface="Sans sarif"/>
              </a:rPr>
              <a:t>the</a:t>
            </a:r>
            <a:r>
              <a:rPr lang="nl-NL" sz="2400" dirty="0">
                <a:latin typeface="Sans sarif"/>
              </a:rPr>
              <a:t> past</a:t>
            </a:r>
          </a:p>
          <a:p>
            <a:pPr lvl="1"/>
            <a:endParaRPr lang="nl-NL" sz="2400" dirty="0">
              <a:latin typeface="Sans sarif"/>
            </a:endParaRPr>
          </a:p>
          <a:p>
            <a:pPr lvl="1"/>
            <a:r>
              <a:rPr lang="nl-NL" sz="2400" dirty="0">
                <a:latin typeface="Sans sarif"/>
              </a:rPr>
              <a:t>Had + past </a:t>
            </a:r>
            <a:r>
              <a:rPr lang="nl-NL" sz="2400" dirty="0" err="1">
                <a:latin typeface="Sans sarif"/>
              </a:rPr>
              <a:t>participle</a:t>
            </a:r>
            <a:endParaRPr lang="en-US" sz="2400" dirty="0">
              <a:latin typeface="Sans sarif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Past </a:t>
            </a:r>
            <a:r>
              <a:rPr lang="nl-NL" sz="2400" dirty="0" err="1">
                <a:latin typeface="Sans sarif"/>
              </a:rPr>
              <a:t>Continuous</a:t>
            </a:r>
            <a:endParaRPr lang="nl-NL" sz="2400" dirty="0">
              <a:latin typeface="Sans sarif"/>
            </a:endParaRP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sz="2400" dirty="0">
                <a:latin typeface="Sans sarif"/>
              </a:rPr>
              <a:t>Past Perfect</a:t>
            </a:r>
          </a:p>
        </p:txBody>
      </p:sp>
    </p:spTree>
    <p:extLst>
      <p:ext uri="{BB962C8B-B14F-4D97-AF65-F5344CB8AC3E}">
        <p14:creationId xmlns:p14="http://schemas.microsoft.com/office/powerpoint/2010/main" val="300378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4DFE37-C0E0-2C66-5977-9CB370E0D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Tenses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2</a:t>
            </a:r>
            <a:endParaRPr lang="en-GB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4CF3701-BE53-B606-33BC-1EC3D10F3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Future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624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42559"/>
              </p:ext>
            </p:extLst>
          </p:nvPr>
        </p:nvGraphicFramePr>
        <p:xfrm>
          <a:off x="2123728" y="1674696"/>
          <a:ext cx="6192688" cy="4451351"/>
        </p:xfrm>
        <a:graphic>
          <a:graphicData uri="http://schemas.openxmlformats.org/drawingml/2006/table">
            <a:tbl>
              <a:tblPr/>
              <a:tblGrid>
                <a:gridCol w="619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3790" y="4005064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486" y="2708920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085184"/>
            <a:ext cx="1454150" cy="8099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033831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018391"/>
              </p:ext>
            </p:extLst>
          </p:nvPr>
        </p:nvGraphicFramePr>
        <p:xfrm>
          <a:off x="2048553" y="1556792"/>
          <a:ext cx="2704218" cy="5135034"/>
        </p:xfrm>
        <a:graphic>
          <a:graphicData uri="http://schemas.openxmlformats.org/drawingml/2006/table">
            <a:tbl>
              <a:tblPr/>
              <a:tblGrid>
                <a:gridCol w="2704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31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9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5431" y="4425536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6845" y="2780928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643394"/>
            <a:ext cx="1454150" cy="809942"/>
          </a:xfrm>
          <a:prstGeom prst="rect">
            <a:avLst/>
          </a:prstGeom>
          <a:noFill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151374E-D1F3-C444-05FD-615D9DEBA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02549"/>
              </p:ext>
            </p:extLst>
          </p:nvPr>
        </p:nvGraphicFramePr>
        <p:xfrm>
          <a:off x="4803280" y="1556792"/>
          <a:ext cx="3104243" cy="513503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104243">
                  <a:extLst>
                    <a:ext uri="{9D8B030D-6E8A-4147-A177-3AD203B41FA5}">
                      <a16:colId xmlns:a16="http://schemas.microsoft.com/office/drawing/2014/main" val="96545397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Prediction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neutral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attitude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704984428"/>
                  </a:ext>
                </a:extLst>
              </a:tr>
              <a:tr h="15841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Plan, </a:t>
                      </a: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intention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58716111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Arrangement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76306636"/>
                  </a:ext>
                </a:extLst>
              </a:tr>
              <a:tr h="12466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Fixed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in a timetable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7348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28965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</p:nvPr>
        </p:nvGraphicFramePr>
        <p:xfrm>
          <a:off x="2051720" y="1668737"/>
          <a:ext cx="6714256" cy="5136960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716">
                  <a:extLst>
                    <a:ext uri="{9D8B030D-6E8A-4147-A177-3AD203B41FA5}">
                      <a16:colId xmlns:a16="http://schemas.microsoft.com/office/drawing/2014/main" val="576199942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Prediction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,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neutral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attitude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Rule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: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+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verb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Plan,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intention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Rule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/is/are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+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verb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Arrangement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Rule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 / is/ are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verb+ing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Fixed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in a timetable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Rule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Verb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+(ES)(S)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5431" y="4581128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486" y="2992896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211" y="5733256"/>
            <a:ext cx="1454150" cy="8099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8358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Talking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endParaRPr lang="nl-NL" dirty="0">
              <a:latin typeface="Sans sarif"/>
            </a:endParaRPr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>
                <a:latin typeface="Sans sarif"/>
                <a:sym typeface="Wingdings" pitchFamily="2" charset="2"/>
              </a:rPr>
              <a:t>In Dutch we </a:t>
            </a:r>
            <a:r>
              <a:rPr lang="nl-NL" dirty="0" err="1">
                <a:latin typeface="Sans sarif"/>
                <a:sym typeface="Wingdings" pitchFamily="2" charset="2"/>
              </a:rPr>
              <a:t>often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use</a:t>
            </a:r>
            <a:r>
              <a:rPr lang="nl-NL" dirty="0">
                <a:latin typeface="Sans sarif"/>
                <a:sym typeface="Wingdings" pitchFamily="2" charset="2"/>
              </a:rPr>
              <a:t> the present </a:t>
            </a:r>
            <a:r>
              <a:rPr lang="nl-NL" dirty="0" err="1">
                <a:latin typeface="Sans sarif"/>
                <a:sym typeface="Wingdings" pitchFamily="2" charset="2"/>
              </a:rPr>
              <a:t>form</a:t>
            </a:r>
            <a:r>
              <a:rPr lang="nl-NL" dirty="0">
                <a:latin typeface="Sans sarif"/>
                <a:sym typeface="Wingdings" pitchFamily="2" charset="2"/>
              </a:rPr>
              <a:t> to talk </a:t>
            </a:r>
            <a:r>
              <a:rPr lang="nl-NL" dirty="0" err="1">
                <a:latin typeface="Sans sarif"/>
                <a:sym typeface="Wingdings" pitchFamily="2" charset="2"/>
              </a:rPr>
              <a:t>about</a:t>
            </a:r>
            <a:r>
              <a:rPr lang="nl-NL" dirty="0">
                <a:latin typeface="Sans sarif"/>
                <a:sym typeface="Wingdings" pitchFamily="2" charset="2"/>
              </a:rPr>
              <a:t> the </a:t>
            </a:r>
            <a:r>
              <a:rPr lang="nl-NL" dirty="0" err="1">
                <a:latin typeface="Sans sarif"/>
                <a:sym typeface="Wingdings" pitchFamily="2" charset="2"/>
              </a:rPr>
              <a:t>future</a:t>
            </a:r>
            <a:endParaRPr lang="nl-NL" dirty="0">
              <a:latin typeface="Sans sarif"/>
              <a:sym typeface="Wingdings" pitchFamily="2" charset="2"/>
            </a:endParaRPr>
          </a:p>
          <a:p>
            <a:r>
              <a:rPr lang="nl-NL" dirty="0">
                <a:latin typeface="Sans sarif"/>
                <a:sym typeface="Wingdings" pitchFamily="2" charset="2"/>
              </a:rPr>
              <a:t>In </a:t>
            </a:r>
            <a:r>
              <a:rPr lang="nl-NL" dirty="0" err="1">
                <a:latin typeface="Sans sarif"/>
                <a:sym typeface="Wingdings" pitchFamily="2" charset="2"/>
              </a:rPr>
              <a:t>English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you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need</a:t>
            </a:r>
            <a:r>
              <a:rPr lang="nl-NL" dirty="0">
                <a:latin typeface="Sans sarif"/>
                <a:sym typeface="Wingdings" pitchFamily="2" charset="2"/>
              </a:rPr>
              <a:t> to </a:t>
            </a:r>
            <a:r>
              <a:rPr lang="nl-NL" dirty="0" err="1">
                <a:latin typeface="Sans sarif"/>
                <a:sym typeface="Wingdings" pitchFamily="2" charset="2"/>
              </a:rPr>
              <a:t>use</a:t>
            </a:r>
            <a:r>
              <a:rPr lang="nl-NL" dirty="0">
                <a:latin typeface="Sans sarif"/>
                <a:sym typeface="Wingdings" pitchFamily="2" charset="2"/>
              </a:rPr>
              <a:t> a </a:t>
            </a:r>
            <a:r>
              <a:rPr lang="nl-NL" dirty="0" err="1">
                <a:latin typeface="Sans sarif"/>
                <a:sym typeface="Wingdings" pitchFamily="2" charset="2"/>
              </a:rPr>
              <a:t>future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form</a:t>
            </a:r>
            <a:endParaRPr lang="nl-NL" dirty="0">
              <a:latin typeface="Sans sarif"/>
              <a:sym typeface="Wingdings" pitchFamily="2" charset="2"/>
            </a:endParaRPr>
          </a:p>
          <a:p>
            <a:r>
              <a:rPr lang="nl-NL" dirty="0">
                <a:latin typeface="Sans sarif"/>
                <a:sym typeface="Wingdings" pitchFamily="2" charset="2"/>
              </a:rPr>
              <a:t>The most </a:t>
            </a:r>
            <a:r>
              <a:rPr lang="nl-NL" dirty="0" err="1">
                <a:latin typeface="Sans sarif"/>
                <a:sym typeface="Wingdings" pitchFamily="2" charset="2"/>
              </a:rPr>
              <a:t>common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form</a:t>
            </a:r>
            <a:r>
              <a:rPr lang="nl-NL" dirty="0">
                <a:latin typeface="Sans sarif"/>
                <a:sym typeface="Wingdings" pitchFamily="2" charset="2"/>
              </a:rPr>
              <a:t> is:</a:t>
            </a:r>
          </a:p>
          <a:p>
            <a:endParaRPr lang="nl-NL" dirty="0">
              <a:latin typeface="Sans sarif"/>
              <a:sym typeface="Wingdings" pitchFamily="2" charset="2"/>
            </a:endParaRPr>
          </a:p>
          <a:p>
            <a:r>
              <a:rPr lang="nl-NL" dirty="0">
                <a:latin typeface="Sans sarif"/>
                <a:sym typeface="Wingdings" pitchFamily="2" charset="2"/>
              </a:rPr>
              <a:t>I/</a:t>
            </a:r>
            <a:r>
              <a:rPr lang="nl-NL" dirty="0" err="1">
                <a:latin typeface="Sans sarif"/>
                <a:sym typeface="Wingdings" pitchFamily="2" charset="2"/>
              </a:rPr>
              <a:t>you</a:t>
            </a:r>
            <a:r>
              <a:rPr lang="nl-NL" dirty="0">
                <a:latin typeface="Sans sarif"/>
                <a:sym typeface="Wingdings" pitchFamily="2" charset="2"/>
              </a:rPr>
              <a:t>/</a:t>
            </a:r>
            <a:r>
              <a:rPr lang="nl-NL" dirty="0" err="1">
                <a:latin typeface="Sans sarif"/>
                <a:sym typeface="Wingdings" pitchFamily="2" charset="2"/>
              </a:rPr>
              <a:t>he</a:t>
            </a:r>
            <a:r>
              <a:rPr lang="nl-NL" dirty="0">
                <a:latin typeface="Sans sarif"/>
                <a:sym typeface="Wingdings" pitchFamily="2" charset="2"/>
              </a:rPr>
              <a:t>/</a:t>
            </a:r>
            <a:r>
              <a:rPr lang="nl-NL" dirty="0" err="1">
                <a:latin typeface="Sans sarif"/>
                <a:sym typeface="Wingdings" pitchFamily="2" charset="2"/>
              </a:rPr>
              <a:t>she</a:t>
            </a:r>
            <a:r>
              <a:rPr lang="nl-NL" dirty="0">
                <a:latin typeface="Sans sarif"/>
                <a:sym typeface="Wingdings" pitchFamily="2" charset="2"/>
              </a:rPr>
              <a:t>/</a:t>
            </a:r>
            <a:r>
              <a:rPr lang="nl-NL" dirty="0" err="1">
                <a:latin typeface="Sans sarif"/>
                <a:sym typeface="Wingdings" pitchFamily="2" charset="2"/>
              </a:rPr>
              <a:t>it</a:t>
            </a:r>
            <a:r>
              <a:rPr lang="nl-NL" dirty="0">
                <a:latin typeface="Sans sarif"/>
                <a:sym typeface="Wingdings" pitchFamily="2" charset="2"/>
              </a:rPr>
              <a:t>/we/</a:t>
            </a:r>
            <a:r>
              <a:rPr lang="nl-NL" dirty="0" err="1">
                <a:latin typeface="Sans sarif"/>
                <a:sym typeface="Wingdings" pitchFamily="2" charset="2"/>
              </a:rPr>
              <a:t>they</a:t>
            </a:r>
            <a:r>
              <a:rPr lang="nl-NL" dirty="0">
                <a:latin typeface="Sans sarif"/>
                <a:sym typeface="Wingdings" pitchFamily="2" charset="2"/>
              </a:rPr>
              <a:t> + </a:t>
            </a:r>
            <a:r>
              <a:rPr lang="nl-NL" b="1" dirty="0" err="1">
                <a:latin typeface="Sans sarif"/>
                <a:sym typeface="Wingdings" pitchFamily="2" charset="2"/>
              </a:rPr>
              <a:t>will</a:t>
            </a:r>
            <a:r>
              <a:rPr lang="nl-NL" dirty="0">
                <a:latin typeface="Sans sarif"/>
                <a:sym typeface="Wingdings" pitchFamily="2" charset="2"/>
              </a:rPr>
              <a:t> + </a:t>
            </a:r>
            <a:r>
              <a:rPr lang="nl-NL" dirty="0" err="1">
                <a:latin typeface="Sans sarif"/>
                <a:sym typeface="Wingdings" pitchFamily="2" charset="2"/>
              </a:rPr>
              <a:t>verb</a:t>
            </a:r>
            <a:r>
              <a:rPr lang="nl-NL" dirty="0">
                <a:latin typeface="Sans sarif"/>
                <a:sym typeface="Wingdings" pitchFamily="2" charset="2"/>
              </a:rPr>
              <a:t>  I </a:t>
            </a:r>
            <a:r>
              <a:rPr lang="nl-NL" dirty="0" err="1">
                <a:latin typeface="Sans sarif"/>
                <a:sym typeface="Wingdings" pitchFamily="2" charset="2"/>
              </a:rPr>
              <a:t>will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work</a:t>
            </a:r>
            <a:endParaRPr lang="nl-NL" dirty="0">
              <a:latin typeface="Sans sarif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6600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Oh, I</a:t>
            </a:r>
            <a:r>
              <a:rPr lang="nl-NL" b="1" dirty="0">
                <a:latin typeface="Sans sarif"/>
              </a:rPr>
              <a:t>‘</a:t>
            </a:r>
            <a:r>
              <a:rPr lang="nl-NL" b="1" dirty="0" err="1">
                <a:latin typeface="Sans sarif"/>
              </a:rPr>
              <a:t>ll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buy</a:t>
            </a:r>
            <a:r>
              <a:rPr lang="nl-NL" b="1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</a:t>
            </a:r>
            <a:r>
              <a:rPr lang="nl-NL" dirty="0">
                <a:latin typeface="Sans sarif"/>
              </a:rPr>
              <a:t> chocolate </a:t>
            </a:r>
            <a:r>
              <a:rPr lang="nl-NL" dirty="0" err="1">
                <a:latin typeface="Sans sarif"/>
              </a:rPr>
              <a:t>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. </a:t>
            </a:r>
          </a:p>
          <a:p>
            <a:r>
              <a:rPr lang="nl-NL" dirty="0">
                <a:latin typeface="Sans sarif"/>
              </a:rPr>
              <a:t>(I </a:t>
            </a:r>
            <a:r>
              <a:rPr lang="nl-NL" dirty="0" err="1">
                <a:latin typeface="Sans sarif"/>
              </a:rPr>
              <a:t>think</a:t>
            </a:r>
            <a:r>
              <a:rPr lang="nl-NL" dirty="0">
                <a:latin typeface="Sans sarif"/>
              </a:rPr>
              <a:t>/I hope) I</a:t>
            </a:r>
            <a:r>
              <a:rPr lang="nl-NL" b="1" dirty="0">
                <a:latin typeface="Sans sarif"/>
              </a:rPr>
              <a:t>‘</a:t>
            </a:r>
            <a:r>
              <a:rPr lang="nl-NL" b="1" dirty="0" err="1">
                <a:latin typeface="Sans sarif"/>
              </a:rPr>
              <a:t>ll</a:t>
            </a:r>
            <a:r>
              <a:rPr lang="nl-NL" b="1" dirty="0">
                <a:latin typeface="Sans sarif"/>
              </a:rPr>
              <a:t> have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much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weekend.</a:t>
            </a:r>
          </a:p>
          <a:p>
            <a:r>
              <a:rPr lang="en-US" dirty="0">
                <a:latin typeface="Sans sarif"/>
              </a:rPr>
              <a:t>I think he</a:t>
            </a:r>
            <a:r>
              <a:rPr lang="en-US" b="1" dirty="0">
                <a:latin typeface="Sans sarif"/>
              </a:rPr>
              <a:t>’ll fail.</a:t>
            </a:r>
            <a:br>
              <a:rPr lang="en-US" dirty="0">
                <a:latin typeface="Sans sarif"/>
              </a:rPr>
            </a:br>
            <a:endParaRPr lang="en-US" dirty="0">
              <a:latin typeface="Sans sarif"/>
            </a:endParaRPr>
          </a:p>
          <a:p>
            <a:pPr lvl="1"/>
            <a:endParaRPr lang="nl-NL" dirty="0">
              <a:latin typeface="Sans sarif"/>
            </a:endParaRP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I</a:t>
            </a:r>
            <a:r>
              <a:rPr lang="nl-NL" b="1" dirty="0">
                <a:latin typeface="Sans sarif"/>
              </a:rPr>
              <a:t>‘m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buy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</a:t>
            </a:r>
            <a:r>
              <a:rPr lang="nl-NL" dirty="0">
                <a:latin typeface="Sans sarif"/>
              </a:rPr>
              <a:t> chocolate </a:t>
            </a:r>
            <a:r>
              <a:rPr lang="nl-NL" dirty="0" err="1">
                <a:latin typeface="Sans sarif"/>
              </a:rPr>
              <a:t>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>
                <a:latin typeface="Sans sarif"/>
              </a:rPr>
              <a:t>I</a:t>
            </a:r>
            <a:r>
              <a:rPr lang="nl-NL" b="1" dirty="0">
                <a:latin typeface="Sans sarif"/>
              </a:rPr>
              <a:t>‘m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have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much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weekend.</a:t>
            </a:r>
          </a:p>
          <a:p>
            <a:r>
              <a:rPr lang="nl-NL" dirty="0">
                <a:latin typeface="Sans sarif"/>
              </a:rPr>
              <a:t>He </a:t>
            </a:r>
            <a:r>
              <a:rPr lang="nl-NL" dirty="0" err="1">
                <a:latin typeface="Sans sarif"/>
              </a:rPr>
              <a:t>didn’t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study</a:t>
            </a:r>
            <a:r>
              <a:rPr lang="nl-NL" dirty="0">
                <a:latin typeface="Sans sarif"/>
              </a:rPr>
              <a:t>. </a:t>
            </a:r>
            <a:r>
              <a:rPr lang="nl-NL" dirty="0" err="1">
                <a:latin typeface="Sans sarif"/>
              </a:rPr>
              <a:t>He</a:t>
            </a:r>
            <a:r>
              <a:rPr lang="nl-NL" b="1" dirty="0" err="1">
                <a:latin typeface="Sans sarif"/>
              </a:rPr>
              <a:t>’s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fail</a:t>
            </a:r>
            <a:r>
              <a:rPr lang="nl-NL" dirty="0">
                <a:latin typeface="Sans sarif"/>
              </a:rPr>
              <a:t>.</a:t>
            </a:r>
            <a:endParaRPr lang="en-US" dirty="0">
              <a:latin typeface="Sans sarif"/>
            </a:endParaRP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D6F18E7D-F78D-BD81-CACC-4DEE9F75B4B0}"/>
              </a:ext>
            </a:extLst>
          </p:cNvPr>
          <p:cNvSpPr txBox="1">
            <a:spLocks/>
          </p:cNvSpPr>
          <p:nvPr/>
        </p:nvSpPr>
        <p:spPr bwMode="auto">
          <a:xfrm>
            <a:off x="609600" y="261458"/>
            <a:ext cx="8153400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nl-NL" sz="3600" dirty="0" err="1">
                <a:latin typeface="Sans sarif"/>
              </a:rPr>
              <a:t>FutureTenses</a:t>
            </a:r>
            <a:r>
              <a:rPr lang="nl-NL" sz="3600" dirty="0">
                <a:latin typeface="Sans sarif"/>
              </a:rPr>
              <a:t> </a:t>
            </a:r>
            <a:r>
              <a:rPr lang="nl-NL" sz="3600" dirty="0" err="1">
                <a:latin typeface="Sans sarif"/>
              </a:rPr>
              <a:t>Compared</a:t>
            </a:r>
            <a:br>
              <a:rPr lang="nl-NL" sz="3600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sz="36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88437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Will is </a:t>
            </a:r>
            <a:r>
              <a:rPr lang="nl-NL" dirty="0" err="1">
                <a:latin typeface="Sans sarif"/>
              </a:rPr>
              <a:t>used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>
                <a:latin typeface="Sans sarif"/>
              </a:rPr>
              <a:t>As a </a:t>
            </a:r>
            <a:r>
              <a:rPr lang="nl-NL" dirty="0" err="1">
                <a:latin typeface="Sans sarif"/>
              </a:rPr>
              <a:t>neutral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to talk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We </a:t>
            </a:r>
            <a:r>
              <a:rPr lang="nl-NL" b="1" dirty="0" err="1">
                <a:latin typeface="Sans sarif"/>
              </a:rPr>
              <a:t>will</a:t>
            </a:r>
            <a:r>
              <a:rPr lang="nl-NL" dirty="0">
                <a:latin typeface="Sans sarif"/>
              </a:rPr>
              <a:t> meet </a:t>
            </a:r>
            <a:r>
              <a:rPr lang="nl-NL" dirty="0" err="1">
                <a:latin typeface="Sans sarif"/>
              </a:rPr>
              <a:t>again</a:t>
            </a:r>
            <a:r>
              <a:rPr lang="nl-NL" dirty="0">
                <a:latin typeface="Sans sarif"/>
              </a:rPr>
              <a:t> next week.</a:t>
            </a:r>
          </a:p>
          <a:p>
            <a:pPr lvl="1"/>
            <a:r>
              <a:rPr lang="nl-NL" dirty="0">
                <a:latin typeface="Sans sarif"/>
              </a:rPr>
              <a:t>I </a:t>
            </a:r>
            <a:r>
              <a:rPr lang="nl-NL" b="1" dirty="0" err="1">
                <a:latin typeface="Sans sarif"/>
              </a:rPr>
              <a:t>will</a:t>
            </a:r>
            <a:r>
              <a:rPr lang="nl-NL" b="1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see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you</a:t>
            </a:r>
            <a:r>
              <a:rPr lang="nl-NL" dirty="0">
                <a:latin typeface="Sans sarif"/>
              </a:rPr>
              <a:t> later.</a:t>
            </a:r>
          </a:p>
          <a:p>
            <a:r>
              <a:rPr lang="nl-NL" dirty="0">
                <a:latin typeface="Sans sarif"/>
              </a:rPr>
              <a:t>For </a:t>
            </a:r>
            <a:r>
              <a:rPr lang="nl-NL" dirty="0" err="1">
                <a:latin typeface="Sans sarif"/>
              </a:rPr>
              <a:t>predictions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(I </a:t>
            </a:r>
            <a:r>
              <a:rPr lang="nl-NL" dirty="0" err="1">
                <a:latin typeface="Sans sarif"/>
              </a:rPr>
              <a:t>think</a:t>
            </a:r>
            <a:r>
              <a:rPr lang="nl-NL" dirty="0">
                <a:latin typeface="Sans sarif"/>
              </a:rPr>
              <a:t>) </a:t>
            </a:r>
            <a:r>
              <a:rPr lang="nl-NL" dirty="0" err="1">
                <a:latin typeface="Sans sarif"/>
              </a:rPr>
              <a:t>Hillary</a:t>
            </a:r>
            <a:r>
              <a:rPr lang="nl-NL" dirty="0">
                <a:latin typeface="Sans sarif"/>
              </a:rPr>
              <a:t> Clinton </a:t>
            </a:r>
            <a:r>
              <a:rPr lang="nl-NL" b="1" dirty="0" err="1">
                <a:latin typeface="Sans sarif"/>
              </a:rPr>
              <a:t>will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run </a:t>
            </a:r>
            <a:r>
              <a:rPr lang="nl-NL" dirty="0" err="1">
                <a:latin typeface="Sans sarif"/>
              </a:rPr>
              <a:t>for</a:t>
            </a:r>
            <a:r>
              <a:rPr lang="nl-NL" dirty="0">
                <a:latin typeface="Sans sarif"/>
              </a:rPr>
              <a:t> president.</a:t>
            </a:r>
          </a:p>
          <a:p>
            <a:pPr lvl="1"/>
            <a:r>
              <a:rPr lang="nl-NL" dirty="0" err="1">
                <a:latin typeface="Sans sarif"/>
              </a:rPr>
              <a:t>Tomorrow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will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be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rainy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>
                <a:latin typeface="Sans sarif"/>
              </a:rPr>
              <a:t>For </a:t>
            </a:r>
            <a:r>
              <a:rPr lang="nl-NL" dirty="0" err="1">
                <a:latin typeface="Sans sarif"/>
              </a:rPr>
              <a:t>decisions</a:t>
            </a:r>
            <a:r>
              <a:rPr lang="nl-NL" dirty="0">
                <a:latin typeface="Sans sarif"/>
              </a:rPr>
              <a:t> made at the moment of </a:t>
            </a:r>
            <a:r>
              <a:rPr lang="nl-NL" dirty="0" err="1">
                <a:latin typeface="Sans sarif"/>
              </a:rPr>
              <a:t>speaking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[</a:t>
            </a:r>
            <a:r>
              <a:rPr lang="nl-NL" dirty="0" err="1">
                <a:latin typeface="Sans sarif"/>
              </a:rPr>
              <a:t>phone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ringing</a:t>
            </a:r>
            <a:r>
              <a:rPr lang="nl-NL" dirty="0">
                <a:latin typeface="Sans sarif"/>
              </a:rPr>
              <a:t>] I </a:t>
            </a:r>
            <a:r>
              <a:rPr lang="nl-NL" b="1" dirty="0" err="1">
                <a:latin typeface="Sans sarif"/>
              </a:rPr>
              <a:t>will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get</a:t>
            </a:r>
            <a:r>
              <a:rPr lang="nl-NL" dirty="0">
                <a:latin typeface="Sans sarif"/>
              </a:rPr>
              <a:t> it.</a:t>
            </a:r>
          </a:p>
          <a:p>
            <a:pPr lvl="1"/>
            <a:r>
              <a:rPr lang="nl-NL" dirty="0">
                <a:latin typeface="Sans sarif"/>
              </a:rPr>
              <a:t>John </a:t>
            </a:r>
            <a:r>
              <a:rPr lang="nl-NL" dirty="0" err="1">
                <a:latin typeface="Sans sarif"/>
              </a:rPr>
              <a:t>called</a:t>
            </a:r>
            <a:r>
              <a:rPr lang="nl-NL" dirty="0">
                <a:latin typeface="Sans sarif"/>
              </a:rPr>
              <a:t>. Ok, I </a:t>
            </a:r>
            <a:r>
              <a:rPr lang="nl-NL" b="1" dirty="0" err="1">
                <a:latin typeface="Sans sarif"/>
              </a:rPr>
              <a:t>will</a:t>
            </a:r>
            <a:r>
              <a:rPr lang="nl-NL" dirty="0">
                <a:latin typeface="Sans sarif"/>
              </a:rPr>
              <a:t> call </a:t>
            </a:r>
            <a:r>
              <a:rPr lang="nl-NL" dirty="0" err="1">
                <a:latin typeface="Sans sarif"/>
              </a:rPr>
              <a:t>him</a:t>
            </a:r>
            <a:r>
              <a:rPr lang="nl-NL" dirty="0">
                <a:latin typeface="Sans sarif"/>
              </a:rPr>
              <a:t> back.</a:t>
            </a:r>
          </a:p>
        </p:txBody>
      </p:sp>
    </p:spTree>
    <p:extLst>
      <p:ext uri="{BB962C8B-B14F-4D97-AF65-F5344CB8AC3E}">
        <p14:creationId xmlns:p14="http://schemas.microsoft.com/office/powerpoint/2010/main" val="390565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Talking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Another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common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to talk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is the </a:t>
            </a:r>
            <a:r>
              <a:rPr lang="nl-NL" dirty="0" err="1">
                <a:latin typeface="Sans sarif"/>
              </a:rPr>
              <a:t>following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:</a:t>
            </a:r>
          </a:p>
          <a:p>
            <a:endParaRPr lang="nl-NL" dirty="0">
              <a:latin typeface="Sans sarif"/>
            </a:endParaRPr>
          </a:p>
          <a:p>
            <a:r>
              <a:rPr lang="nl-NL" dirty="0">
                <a:latin typeface="Sans sarif"/>
              </a:rPr>
              <a:t>I </a:t>
            </a:r>
            <a:r>
              <a:rPr lang="nl-NL" u="sng" dirty="0" err="1">
                <a:latin typeface="Sans sarif"/>
              </a:rPr>
              <a:t>am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dirty="0">
                <a:latin typeface="Sans sarif"/>
              </a:rPr>
              <a:t>+ </a:t>
            </a:r>
            <a:r>
              <a:rPr lang="nl-NL" dirty="0" err="1">
                <a:latin typeface="Sans sarif"/>
              </a:rPr>
              <a:t>verb</a:t>
            </a:r>
            <a:r>
              <a:rPr lang="nl-NL" dirty="0">
                <a:latin typeface="Sans sarif"/>
              </a:rPr>
              <a:t> </a:t>
            </a:r>
            <a:r>
              <a:rPr lang="nl-NL" dirty="0">
                <a:latin typeface="Sans sarif"/>
                <a:sym typeface="Wingdings" pitchFamily="2" charset="2"/>
              </a:rPr>
              <a:t> I </a:t>
            </a:r>
            <a:r>
              <a:rPr lang="nl-NL" dirty="0" err="1">
                <a:latin typeface="Sans sarif"/>
                <a:sym typeface="Wingdings" pitchFamily="2" charset="2"/>
              </a:rPr>
              <a:t>am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dirty="0" err="1">
                <a:latin typeface="Sans sarif"/>
                <a:sym typeface="Wingdings" pitchFamily="2" charset="2"/>
              </a:rPr>
              <a:t>going</a:t>
            </a:r>
            <a:r>
              <a:rPr lang="nl-NL" dirty="0">
                <a:latin typeface="Sans sarif"/>
                <a:sym typeface="Wingdings" pitchFamily="2" charset="2"/>
              </a:rPr>
              <a:t> to do</a:t>
            </a:r>
          </a:p>
          <a:p>
            <a:r>
              <a:rPr lang="nl-NL" dirty="0" err="1">
                <a:latin typeface="Sans sarif"/>
                <a:sym typeface="Wingdings" pitchFamily="2" charset="2"/>
              </a:rPr>
              <a:t>he</a:t>
            </a:r>
            <a:r>
              <a:rPr lang="nl-NL" dirty="0">
                <a:latin typeface="Sans sarif"/>
                <a:sym typeface="Wingdings" pitchFamily="2" charset="2"/>
              </a:rPr>
              <a:t>, </a:t>
            </a:r>
            <a:r>
              <a:rPr lang="nl-NL" dirty="0" err="1">
                <a:latin typeface="Sans sarif"/>
                <a:sym typeface="Wingdings" pitchFamily="2" charset="2"/>
              </a:rPr>
              <a:t>she</a:t>
            </a:r>
            <a:r>
              <a:rPr lang="nl-NL" dirty="0">
                <a:latin typeface="Sans sarif"/>
                <a:sym typeface="Wingdings" pitchFamily="2" charset="2"/>
              </a:rPr>
              <a:t>, </a:t>
            </a:r>
            <a:r>
              <a:rPr lang="nl-NL" dirty="0" err="1">
                <a:latin typeface="Sans sarif"/>
                <a:sym typeface="Wingdings" pitchFamily="2" charset="2"/>
              </a:rPr>
              <a:t>it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u="sng" dirty="0">
                <a:latin typeface="Sans sarif"/>
                <a:sym typeface="Wingdings" pitchFamily="2" charset="2"/>
              </a:rPr>
              <a:t>is</a:t>
            </a:r>
            <a:r>
              <a:rPr lang="nl-NL" dirty="0">
                <a:latin typeface="Sans sarif"/>
                <a:sym typeface="Wingdings" pitchFamily="2" charset="2"/>
              </a:rPr>
              <a:t> </a:t>
            </a:r>
            <a:r>
              <a:rPr lang="nl-NL" b="1" dirty="0" err="1">
                <a:latin typeface="Sans sarif"/>
                <a:sym typeface="Wingdings" pitchFamily="2" charset="2"/>
              </a:rPr>
              <a:t>going</a:t>
            </a:r>
            <a:r>
              <a:rPr lang="nl-NL" b="1" dirty="0">
                <a:latin typeface="Sans sarif"/>
                <a:sym typeface="Wingdings" pitchFamily="2" charset="2"/>
              </a:rPr>
              <a:t> to </a:t>
            </a:r>
            <a:r>
              <a:rPr lang="nl-NL" dirty="0">
                <a:latin typeface="Sans sarif"/>
                <a:sym typeface="Wingdings" pitchFamily="2" charset="2"/>
              </a:rPr>
              <a:t>+ </a:t>
            </a:r>
            <a:r>
              <a:rPr lang="nl-NL" dirty="0" err="1">
                <a:latin typeface="Sans sarif"/>
                <a:sym typeface="Wingdings" pitchFamily="2" charset="2"/>
              </a:rPr>
              <a:t>verb</a:t>
            </a:r>
            <a:r>
              <a:rPr lang="nl-NL" dirty="0">
                <a:latin typeface="Sans sarif"/>
                <a:sym typeface="Wingdings" pitchFamily="2" charset="2"/>
              </a:rPr>
              <a:t>  </a:t>
            </a:r>
            <a:r>
              <a:rPr lang="nl-NL" dirty="0" err="1">
                <a:latin typeface="Sans sarif"/>
                <a:sym typeface="Wingdings" pitchFamily="2" charset="2"/>
              </a:rPr>
              <a:t>he</a:t>
            </a:r>
            <a:r>
              <a:rPr lang="nl-NL" dirty="0">
                <a:latin typeface="Sans sarif"/>
                <a:sym typeface="Wingdings" pitchFamily="2" charset="2"/>
              </a:rPr>
              <a:t> is </a:t>
            </a:r>
            <a:r>
              <a:rPr lang="nl-NL" dirty="0" err="1">
                <a:latin typeface="Sans sarif"/>
                <a:sym typeface="Wingdings" pitchFamily="2" charset="2"/>
              </a:rPr>
              <a:t>going</a:t>
            </a:r>
            <a:r>
              <a:rPr lang="nl-NL" dirty="0">
                <a:latin typeface="Sans sarif"/>
                <a:sym typeface="Wingdings" pitchFamily="2" charset="2"/>
              </a:rPr>
              <a:t> to do</a:t>
            </a: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you</a:t>
            </a:r>
            <a:r>
              <a:rPr lang="nl-NL" dirty="0">
                <a:latin typeface="Sans sarif"/>
              </a:rPr>
              <a:t>, we, </a:t>
            </a:r>
            <a:r>
              <a:rPr lang="nl-NL" dirty="0" err="1">
                <a:latin typeface="Sans sarif"/>
              </a:rPr>
              <a:t>they</a:t>
            </a:r>
            <a:r>
              <a:rPr lang="nl-NL" dirty="0">
                <a:latin typeface="Sans sarif"/>
              </a:rPr>
              <a:t> </a:t>
            </a:r>
            <a:r>
              <a:rPr lang="nl-NL" u="sng" dirty="0">
                <a:latin typeface="Sans sarif"/>
              </a:rPr>
              <a:t>are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dirty="0">
                <a:latin typeface="Sans sarif"/>
              </a:rPr>
              <a:t>+ </a:t>
            </a:r>
            <a:r>
              <a:rPr lang="nl-NL" dirty="0" err="1">
                <a:latin typeface="Sans sarif"/>
              </a:rPr>
              <a:t>verb</a:t>
            </a:r>
            <a:r>
              <a:rPr lang="nl-NL" dirty="0">
                <a:latin typeface="Sans sarif"/>
              </a:rPr>
              <a:t> </a:t>
            </a:r>
            <a:r>
              <a:rPr lang="nl-NL" dirty="0">
                <a:latin typeface="Sans sarif"/>
                <a:sym typeface="Wingdings" pitchFamily="2" charset="2"/>
              </a:rPr>
              <a:t> we are </a:t>
            </a:r>
            <a:r>
              <a:rPr lang="nl-NL" dirty="0" err="1">
                <a:latin typeface="Sans sarif"/>
                <a:sym typeface="Wingdings" pitchFamily="2" charset="2"/>
              </a:rPr>
              <a:t>going</a:t>
            </a:r>
            <a:r>
              <a:rPr lang="nl-NL" dirty="0">
                <a:latin typeface="Sans sarif"/>
                <a:sym typeface="Wingdings" pitchFamily="2" charset="2"/>
              </a:rPr>
              <a:t> to do</a:t>
            </a:r>
          </a:p>
          <a:p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214289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‘</a:t>
            </a:r>
            <a:r>
              <a:rPr lang="nl-NL" dirty="0" err="1">
                <a:latin typeface="Sans sarif"/>
              </a:rPr>
              <a:t>Going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’ is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: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>
                <a:latin typeface="Sans sarif"/>
              </a:rPr>
              <a:t>For plans and </a:t>
            </a:r>
            <a:r>
              <a:rPr lang="nl-NL" dirty="0" err="1">
                <a:latin typeface="Sans sarif"/>
              </a:rPr>
              <a:t>intentions</a:t>
            </a:r>
            <a:endParaRPr lang="nl-NL" dirty="0">
              <a:latin typeface="Sans sarif"/>
            </a:endParaRPr>
          </a:p>
          <a:p>
            <a:pPr lvl="1"/>
            <a:r>
              <a:rPr lang="nl-NL" dirty="0" err="1">
                <a:latin typeface="Sans sarif"/>
              </a:rPr>
              <a:t>I</a:t>
            </a:r>
            <a:r>
              <a:rPr lang="nl-NL" b="1" dirty="0" err="1">
                <a:latin typeface="Sans sarif"/>
              </a:rPr>
              <a:t>’m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buy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a </a:t>
            </a:r>
            <a:r>
              <a:rPr lang="nl-NL" dirty="0" err="1">
                <a:latin typeface="Sans sarif"/>
              </a:rPr>
              <a:t>new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car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>
                <a:latin typeface="Sans sarif"/>
              </a:rPr>
              <a:t>We </a:t>
            </a:r>
            <a:r>
              <a:rPr lang="nl-NL" b="1" dirty="0">
                <a:latin typeface="Sans sarif"/>
              </a:rPr>
              <a:t>are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visit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sister on </a:t>
            </a:r>
            <a:r>
              <a:rPr lang="nl-NL" dirty="0" err="1">
                <a:latin typeface="Sans sarif"/>
              </a:rPr>
              <a:t>Monday</a:t>
            </a:r>
            <a:r>
              <a:rPr lang="nl-NL" dirty="0">
                <a:latin typeface="Sans sarif"/>
              </a:rPr>
              <a:t>.</a:t>
            </a:r>
          </a:p>
          <a:p>
            <a:pPr marL="366713" lvl="1" indent="0">
              <a:buNone/>
            </a:pP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 are </a:t>
            </a:r>
            <a:r>
              <a:rPr lang="nl-NL" dirty="0" err="1">
                <a:latin typeface="Sans sarif"/>
              </a:rPr>
              <a:t>signs</a:t>
            </a:r>
            <a:r>
              <a:rPr lang="nl-NL" dirty="0">
                <a:latin typeface="Sans sarif"/>
              </a:rPr>
              <a:t> of </a:t>
            </a:r>
            <a:r>
              <a:rPr lang="nl-NL" dirty="0" err="1">
                <a:latin typeface="Sans sarif"/>
              </a:rPr>
              <a:t>something</a:t>
            </a:r>
            <a:r>
              <a:rPr lang="nl-NL" dirty="0">
                <a:latin typeface="Sans sarif"/>
              </a:rPr>
              <a:t> happening</a:t>
            </a:r>
          </a:p>
          <a:p>
            <a:pPr lvl="1"/>
            <a:r>
              <a:rPr lang="nl-NL" dirty="0">
                <a:latin typeface="Sans sarif"/>
              </a:rPr>
              <a:t>Look at the </a:t>
            </a:r>
            <a:r>
              <a:rPr lang="nl-NL" dirty="0" err="1">
                <a:latin typeface="Sans sarif"/>
              </a:rPr>
              <a:t>clouds</a:t>
            </a:r>
            <a:r>
              <a:rPr lang="nl-NL" dirty="0">
                <a:latin typeface="Sans sarif"/>
              </a:rPr>
              <a:t>. </a:t>
            </a:r>
            <a:r>
              <a:rPr lang="nl-NL" dirty="0" err="1">
                <a:latin typeface="Sans sarif"/>
              </a:rPr>
              <a:t>It</a:t>
            </a:r>
            <a:r>
              <a:rPr lang="nl-NL" b="1" dirty="0">
                <a:latin typeface="Sans sarif"/>
              </a:rPr>
              <a:t>‘s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rain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en-US" dirty="0">
                <a:latin typeface="Sans sarif"/>
              </a:rPr>
              <a:t>That vase is tipping on the edge of that shelf. It</a:t>
            </a:r>
            <a:r>
              <a:rPr lang="en-US" b="1" dirty="0">
                <a:latin typeface="Sans sarif"/>
              </a:rPr>
              <a:t>’s going to fall</a:t>
            </a:r>
            <a:r>
              <a:rPr lang="en-US" dirty="0">
                <a:latin typeface="Sans sarif"/>
              </a:rPr>
              <a:t> down.</a:t>
            </a:r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56043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forms</a:t>
            </a:r>
            <a:r>
              <a:rPr lang="nl-NL" sz="4000" dirty="0">
                <a:latin typeface="Sans sarif"/>
              </a:rPr>
              <a:t> to talk </a:t>
            </a:r>
            <a:r>
              <a:rPr lang="nl-NL" sz="4000" dirty="0" err="1">
                <a:latin typeface="Sans sarif"/>
              </a:rPr>
              <a:t>about</a:t>
            </a:r>
            <a:r>
              <a:rPr lang="nl-NL" sz="4000" dirty="0">
                <a:latin typeface="Sans sarif"/>
              </a:rPr>
              <a:t> the </a:t>
            </a:r>
            <a:r>
              <a:rPr lang="nl-NL" sz="4000" dirty="0" err="1">
                <a:latin typeface="Sans sarif"/>
              </a:rPr>
              <a:t>future</a:t>
            </a:r>
            <a:endParaRPr lang="en-US" sz="4000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>
                <a:latin typeface="Sans sarif"/>
              </a:rPr>
              <a:t>In </a:t>
            </a:r>
            <a:r>
              <a:rPr lang="nl-NL" sz="2800" dirty="0" err="1">
                <a:latin typeface="Sans sarif"/>
              </a:rPr>
              <a:t>some</a:t>
            </a:r>
            <a:r>
              <a:rPr lang="nl-NL" sz="2800" dirty="0">
                <a:latin typeface="Sans sarif"/>
              </a:rPr>
              <a:t> cases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can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use</a:t>
            </a:r>
            <a:r>
              <a:rPr lang="nl-NL" sz="2800" dirty="0">
                <a:latin typeface="Sans sarif"/>
              </a:rPr>
              <a:t> a present </a:t>
            </a:r>
            <a:r>
              <a:rPr lang="nl-NL" sz="2800" dirty="0" err="1">
                <a:latin typeface="Sans sarif"/>
              </a:rPr>
              <a:t>form</a:t>
            </a:r>
            <a:r>
              <a:rPr lang="nl-NL" sz="2800" dirty="0">
                <a:latin typeface="Sans sarif"/>
              </a:rPr>
              <a:t> to talk </a:t>
            </a:r>
            <a:r>
              <a:rPr lang="nl-NL" sz="2800" dirty="0" err="1">
                <a:latin typeface="Sans sarif"/>
              </a:rPr>
              <a:t>about</a:t>
            </a:r>
            <a:r>
              <a:rPr lang="nl-NL" sz="2800" dirty="0">
                <a:latin typeface="Sans sarif"/>
              </a:rPr>
              <a:t> the </a:t>
            </a:r>
            <a:r>
              <a:rPr lang="nl-NL" sz="2800" dirty="0" err="1">
                <a:latin typeface="Sans sarif"/>
              </a:rPr>
              <a:t>future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Instead</a:t>
            </a:r>
            <a:r>
              <a:rPr lang="nl-NL" sz="2800" dirty="0">
                <a:latin typeface="Sans sarif"/>
              </a:rPr>
              <a:t> of I </a:t>
            </a:r>
            <a:r>
              <a:rPr lang="nl-NL" sz="2800" b="1" dirty="0">
                <a:latin typeface="Sans sarif"/>
              </a:rPr>
              <a:t>‘m </a:t>
            </a:r>
            <a:r>
              <a:rPr lang="nl-NL" sz="2800" b="1" dirty="0" err="1">
                <a:latin typeface="Sans sarif"/>
              </a:rPr>
              <a:t>going</a:t>
            </a:r>
            <a:r>
              <a:rPr lang="nl-NL" sz="2800" b="1" dirty="0">
                <a:latin typeface="Sans sarif"/>
              </a:rPr>
              <a:t> to do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can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also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use</a:t>
            </a:r>
            <a:r>
              <a:rPr lang="nl-NL" sz="2800" dirty="0">
                <a:latin typeface="Sans sarif"/>
              </a:rPr>
              <a:t> I </a:t>
            </a:r>
            <a:r>
              <a:rPr lang="nl-NL" sz="2800" b="1" dirty="0" err="1">
                <a:latin typeface="Sans sarif"/>
              </a:rPr>
              <a:t>am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b="1" dirty="0" err="1">
                <a:latin typeface="Sans sarif"/>
              </a:rPr>
              <a:t>doing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when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talking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about</a:t>
            </a:r>
            <a:r>
              <a:rPr lang="nl-NL" sz="2800" dirty="0">
                <a:latin typeface="Sans sarif"/>
              </a:rPr>
              <a:t> plans and </a:t>
            </a:r>
            <a:r>
              <a:rPr lang="nl-NL" sz="2800" dirty="0" err="1">
                <a:latin typeface="Sans sarif"/>
              </a:rPr>
              <a:t>intentions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Especially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if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have </a:t>
            </a:r>
            <a:r>
              <a:rPr lang="nl-NL" sz="2800" dirty="0" err="1">
                <a:latin typeface="Sans sarif"/>
              </a:rPr>
              <a:t>already</a:t>
            </a:r>
            <a:r>
              <a:rPr lang="nl-NL" sz="2800" dirty="0">
                <a:latin typeface="Sans sarif"/>
              </a:rPr>
              <a:t> made the </a:t>
            </a:r>
            <a:r>
              <a:rPr lang="nl-NL" sz="2800" dirty="0" err="1">
                <a:latin typeface="Sans sarif"/>
              </a:rPr>
              <a:t>arrangements</a:t>
            </a:r>
            <a:endParaRPr lang="nl-NL" sz="2800" dirty="0">
              <a:latin typeface="Sans sarif"/>
            </a:endParaRPr>
          </a:p>
          <a:p>
            <a:pPr lvl="1"/>
            <a:r>
              <a:rPr lang="nl-NL" sz="2400" dirty="0">
                <a:latin typeface="Sans sarif"/>
              </a:rPr>
              <a:t>We </a:t>
            </a:r>
            <a:r>
              <a:rPr lang="nl-NL" sz="2400" b="1" dirty="0">
                <a:latin typeface="Sans sarif"/>
              </a:rPr>
              <a:t>are </a:t>
            </a:r>
            <a:r>
              <a:rPr lang="nl-NL" sz="2400" b="1" dirty="0" err="1">
                <a:latin typeface="Sans sarif"/>
              </a:rPr>
              <a:t>flying</a:t>
            </a:r>
            <a:r>
              <a:rPr lang="nl-NL" sz="2400" dirty="0">
                <a:latin typeface="Sans sarif"/>
              </a:rPr>
              <a:t> to Australia </a:t>
            </a:r>
            <a:r>
              <a:rPr lang="nl-NL" sz="2400" dirty="0" err="1">
                <a:latin typeface="Sans sarif"/>
              </a:rPr>
              <a:t>tomorrow</a:t>
            </a:r>
            <a:r>
              <a:rPr lang="nl-NL" sz="2400" dirty="0">
                <a:latin typeface="Sans sarif"/>
              </a:rPr>
              <a:t>.</a:t>
            </a:r>
          </a:p>
          <a:p>
            <a:pPr lvl="1"/>
            <a:r>
              <a:rPr lang="nl-NL" sz="2400" dirty="0">
                <a:latin typeface="Sans sarif"/>
              </a:rPr>
              <a:t>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</a:t>
            </a:r>
            <a:r>
              <a:rPr lang="nl-NL" sz="2400" b="1" dirty="0" err="1">
                <a:latin typeface="Sans sarif"/>
              </a:rPr>
              <a:t>seeing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my</a:t>
            </a:r>
            <a:r>
              <a:rPr lang="nl-NL" sz="2400" dirty="0">
                <a:latin typeface="Sans sarif"/>
              </a:rPr>
              <a:t> dentist </a:t>
            </a:r>
            <a:r>
              <a:rPr lang="nl-NL" sz="2400" dirty="0" err="1">
                <a:latin typeface="Sans sarif"/>
              </a:rPr>
              <a:t>next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Tuesday</a:t>
            </a:r>
            <a:endParaRPr lang="nl-NL" sz="24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Make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sure</a:t>
            </a:r>
            <a:r>
              <a:rPr lang="nl-NL" sz="2800" dirty="0">
                <a:latin typeface="Sans sarif"/>
              </a:rPr>
              <a:t> to </a:t>
            </a:r>
            <a:r>
              <a:rPr lang="nl-NL" sz="2800" dirty="0" err="1">
                <a:latin typeface="Sans sarif"/>
              </a:rPr>
              <a:t>add</a:t>
            </a:r>
            <a:r>
              <a:rPr lang="nl-NL" sz="2800" dirty="0">
                <a:latin typeface="Sans sarif"/>
              </a:rPr>
              <a:t> a </a:t>
            </a:r>
            <a:r>
              <a:rPr lang="nl-NL" sz="2800" dirty="0" err="1">
                <a:latin typeface="Sans sarif"/>
              </a:rPr>
              <a:t>reference</a:t>
            </a:r>
            <a:r>
              <a:rPr lang="nl-NL" sz="2800" dirty="0">
                <a:latin typeface="Sans sarif"/>
              </a:rPr>
              <a:t> to the </a:t>
            </a:r>
            <a:r>
              <a:rPr lang="nl-NL" sz="2800" dirty="0" err="1">
                <a:latin typeface="Sans sarif"/>
              </a:rPr>
              <a:t>future</a:t>
            </a:r>
            <a:r>
              <a:rPr lang="nl-NL" sz="2800" dirty="0">
                <a:latin typeface="Sans sarif"/>
              </a:rPr>
              <a:t> (</a:t>
            </a:r>
            <a:r>
              <a:rPr lang="nl-NL" sz="2800" dirty="0" err="1">
                <a:latin typeface="Sans sarif"/>
              </a:rPr>
              <a:t>tomorrow</a:t>
            </a:r>
            <a:r>
              <a:rPr lang="nl-NL" sz="2800" dirty="0">
                <a:latin typeface="Sans sarif"/>
              </a:rPr>
              <a:t>, </a:t>
            </a:r>
            <a:r>
              <a:rPr lang="nl-NL" sz="2800" dirty="0" err="1">
                <a:latin typeface="Sans sarif"/>
              </a:rPr>
              <a:t>next</a:t>
            </a:r>
            <a:r>
              <a:rPr lang="nl-NL" sz="2800" dirty="0">
                <a:latin typeface="Sans sarif"/>
              </a:rPr>
              <a:t> …, etc.) to </a:t>
            </a:r>
            <a:r>
              <a:rPr lang="nl-NL" sz="2800" dirty="0" err="1">
                <a:latin typeface="Sans sarif"/>
              </a:rPr>
              <a:t>avoid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confusion</a:t>
            </a:r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52481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forms</a:t>
            </a:r>
            <a:r>
              <a:rPr lang="nl-NL" sz="4000" dirty="0">
                <a:latin typeface="Sans sarif"/>
              </a:rPr>
              <a:t> to talk </a:t>
            </a:r>
            <a:r>
              <a:rPr lang="nl-NL" sz="4000" dirty="0" err="1">
                <a:latin typeface="Sans sarif"/>
              </a:rPr>
              <a:t>about</a:t>
            </a:r>
            <a:r>
              <a:rPr lang="nl-NL" sz="4000" dirty="0">
                <a:latin typeface="Sans sarif"/>
              </a:rPr>
              <a:t> the </a:t>
            </a:r>
            <a:r>
              <a:rPr lang="nl-NL" sz="4000" dirty="0" err="1">
                <a:latin typeface="Sans sarif"/>
              </a:rPr>
              <a:t>future</a:t>
            </a:r>
            <a:endParaRPr lang="en-US" sz="4000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The present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 without -</a:t>
            </a:r>
            <a:r>
              <a:rPr lang="nl-NL" dirty="0" err="1">
                <a:latin typeface="Sans sarif"/>
              </a:rPr>
              <a:t>ing</a:t>
            </a:r>
            <a:r>
              <a:rPr lang="nl-NL" dirty="0">
                <a:latin typeface="Sans sarif"/>
              </a:rPr>
              <a:t> (I </a:t>
            </a:r>
            <a:r>
              <a:rPr lang="nl-NL" dirty="0" err="1">
                <a:latin typeface="Sans sarif"/>
              </a:rPr>
              <a:t>work</a:t>
            </a:r>
            <a:r>
              <a:rPr lang="nl-NL" dirty="0">
                <a:latin typeface="Sans sarif"/>
              </a:rPr>
              <a:t>) is </a:t>
            </a:r>
            <a:r>
              <a:rPr lang="nl-NL" dirty="0" err="1">
                <a:latin typeface="Sans sarif"/>
              </a:rPr>
              <a:t>not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often</a:t>
            </a:r>
            <a:r>
              <a:rPr lang="nl-NL" dirty="0">
                <a:latin typeface="Sans sarif"/>
              </a:rPr>
              <a:t> to talk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It</a:t>
            </a:r>
            <a:r>
              <a:rPr lang="nl-NL" dirty="0">
                <a:latin typeface="Sans sarif"/>
              </a:rPr>
              <a:t> is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talking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are </a:t>
            </a:r>
            <a:r>
              <a:rPr lang="nl-NL" dirty="0" err="1">
                <a:latin typeface="Sans sarif"/>
              </a:rPr>
              <a:t>fixed</a:t>
            </a:r>
            <a:r>
              <a:rPr lang="nl-NL" dirty="0">
                <a:latin typeface="Sans sarif"/>
              </a:rPr>
              <a:t> in a </a:t>
            </a:r>
            <a:r>
              <a:rPr lang="nl-NL" dirty="0" err="1">
                <a:latin typeface="Sans sarif"/>
              </a:rPr>
              <a:t>schedule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timetable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The </a:t>
            </a:r>
            <a:r>
              <a:rPr lang="nl-NL" dirty="0" err="1">
                <a:latin typeface="Sans sarif"/>
              </a:rPr>
              <a:t>autumn</a:t>
            </a:r>
            <a:r>
              <a:rPr lang="nl-NL" dirty="0">
                <a:latin typeface="Sans sarif"/>
              </a:rPr>
              <a:t> break </a:t>
            </a:r>
            <a:r>
              <a:rPr lang="nl-NL" b="1" dirty="0">
                <a:latin typeface="Sans sarif"/>
              </a:rPr>
              <a:t>starts</a:t>
            </a:r>
            <a:r>
              <a:rPr lang="nl-NL" dirty="0">
                <a:latin typeface="Sans sarif"/>
              </a:rPr>
              <a:t> on </a:t>
            </a:r>
            <a:r>
              <a:rPr lang="nl-NL" dirty="0" err="1">
                <a:latin typeface="Sans sarif"/>
              </a:rPr>
              <a:t>October</a:t>
            </a:r>
            <a:r>
              <a:rPr lang="nl-NL" dirty="0">
                <a:latin typeface="Sans sarif"/>
              </a:rPr>
              <a:t> 20th.</a:t>
            </a:r>
          </a:p>
          <a:p>
            <a:pPr lvl="1"/>
            <a:r>
              <a:rPr lang="nl-NL" dirty="0" err="1">
                <a:latin typeface="Sans sarif"/>
              </a:rPr>
              <a:t>Their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plane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arrives</a:t>
            </a:r>
            <a:r>
              <a:rPr lang="nl-NL" dirty="0">
                <a:latin typeface="Sans sarif"/>
              </a:rPr>
              <a:t> at 10:15</a:t>
            </a: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2465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F3AA1D-4EA3-CB1A-5353-3EE1B0B2B8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Break</a:t>
            </a:r>
            <a:endParaRPr lang="en-GB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C86D1D-0BB8-6CF0-E7F1-AA2908D0F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207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oncours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01DDFB-96CB-47F0-865F-F58A6766A59B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2172</TotalTime>
  <Words>2908</Words>
  <Application>Microsoft Office PowerPoint</Application>
  <PresentationFormat>On-screen Show (4:3)</PresentationFormat>
  <Paragraphs>403</Paragraphs>
  <Slides>50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Sans sarif</vt:lpstr>
      <vt:lpstr>Tw Cen MT</vt:lpstr>
      <vt:lpstr>Wingdings</vt:lpstr>
      <vt:lpstr>Wingdings 2</vt:lpstr>
      <vt:lpstr>Median</vt:lpstr>
      <vt:lpstr>Grammar &amp; BAsics</vt:lpstr>
      <vt:lpstr>Course Set-up</vt:lpstr>
      <vt:lpstr>Todays Topic: Verbs</vt:lpstr>
      <vt:lpstr>Grammatical Tenses</vt:lpstr>
      <vt:lpstr>Today we focus on:</vt:lpstr>
      <vt:lpstr>Present Tenses Compared What is the difference in meaning?</vt:lpstr>
      <vt:lpstr>Present simple – Usage I</vt:lpstr>
      <vt:lpstr>Present simple – Usage II</vt:lpstr>
      <vt:lpstr>Present Simple</vt:lpstr>
      <vt:lpstr>Present continuous – Usage</vt:lpstr>
      <vt:lpstr>Present Continuous</vt:lpstr>
      <vt:lpstr>Present Continuous - Spelling</vt:lpstr>
      <vt:lpstr>Present continuous – signal words</vt:lpstr>
      <vt:lpstr>Present Tenses Compared</vt:lpstr>
      <vt:lpstr>Practice! - Pairs</vt:lpstr>
      <vt:lpstr>Break</vt:lpstr>
      <vt:lpstr>Present/Past Tenses Compared What is the difference in meaning?</vt:lpstr>
      <vt:lpstr>Past Simple - Usage</vt:lpstr>
      <vt:lpstr>Present Perfect - Usage</vt:lpstr>
      <vt:lpstr>Present/Past Tenses Compared</vt:lpstr>
      <vt:lpstr>Past simple - Spelling</vt:lpstr>
      <vt:lpstr>Past simple - When</vt:lpstr>
      <vt:lpstr>Past simple – Signal words</vt:lpstr>
      <vt:lpstr>Present Perfect – When I</vt:lpstr>
      <vt:lpstr>Present Perfect – When II</vt:lpstr>
      <vt:lpstr>Irregular forms</vt:lpstr>
      <vt:lpstr>Present Perfect – Signal words</vt:lpstr>
      <vt:lpstr>Past tenses - Review</vt:lpstr>
      <vt:lpstr>Past Tenses Compared</vt:lpstr>
      <vt:lpstr>Past Tenses Compared</vt:lpstr>
      <vt:lpstr>Task: Identify the order of events</vt:lpstr>
      <vt:lpstr>Two things happening in the past One after another</vt:lpstr>
      <vt:lpstr>Two things happening in the past One after another</vt:lpstr>
      <vt:lpstr>Two things happening in the past One after another</vt:lpstr>
      <vt:lpstr>Two things happening in the past At the same time</vt:lpstr>
      <vt:lpstr>Longer actions in the past</vt:lpstr>
      <vt:lpstr>Longer actions in the past</vt:lpstr>
      <vt:lpstr>Past Tenses Compared</vt:lpstr>
      <vt:lpstr>Tenses Session 2</vt:lpstr>
      <vt:lpstr>Future tenses Compared What is the difference in meaning?</vt:lpstr>
      <vt:lpstr>Future tenses Compared What is the difference in meaning?</vt:lpstr>
      <vt:lpstr>Future tenses Compared What is the difference in meaning?</vt:lpstr>
      <vt:lpstr>Talking about the future</vt:lpstr>
      <vt:lpstr>PowerPoint Presentation</vt:lpstr>
      <vt:lpstr>Will is used</vt:lpstr>
      <vt:lpstr>Talking about the future</vt:lpstr>
      <vt:lpstr>‘Going to’ is used:</vt:lpstr>
      <vt:lpstr>Present forms to talk about the future</vt:lpstr>
      <vt:lpstr>Present forms to talk about the future</vt:lpstr>
      <vt:lpstr>Break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48</cp:revision>
  <dcterms:created xsi:type="dcterms:W3CDTF">2017-08-09T11:56:23Z</dcterms:created>
  <dcterms:modified xsi:type="dcterms:W3CDTF">2025-02-04T09:51:14Z</dcterms:modified>
</cp:coreProperties>
</file>
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0"/>
  </p:notesMasterIdLst>
  <p:sldIdLst>
    <p:sldId id="256" r:id="rId5"/>
    <p:sldId id="352" r:id="rId6"/>
    <p:sldId id="353" r:id="rId7"/>
    <p:sldId id="304" r:id="rId8"/>
    <p:sldId id="328" r:id="rId9"/>
    <p:sldId id="330" r:id="rId10"/>
    <p:sldId id="332" r:id="rId11"/>
    <p:sldId id="349" r:id="rId12"/>
    <p:sldId id="333" r:id="rId13"/>
    <p:sldId id="334" r:id="rId14"/>
    <p:sldId id="335" r:id="rId15"/>
    <p:sldId id="336" r:id="rId16"/>
    <p:sldId id="337" r:id="rId17"/>
    <p:sldId id="355" r:id="rId18"/>
    <p:sldId id="357" r:id="rId19"/>
    <p:sldId id="356" r:id="rId20"/>
    <p:sldId id="317" r:id="rId21"/>
    <p:sldId id="358" r:id="rId22"/>
    <p:sldId id="339" r:id="rId23"/>
    <p:sldId id="305" r:id="rId24"/>
    <p:sldId id="340" r:id="rId25"/>
    <p:sldId id="341" r:id="rId26"/>
    <p:sldId id="342" r:id="rId27"/>
    <p:sldId id="359" r:id="rId28"/>
    <p:sldId id="306" r:id="rId29"/>
    <p:sldId id="344" r:id="rId30"/>
    <p:sldId id="346" r:id="rId31"/>
    <p:sldId id="347" r:id="rId32"/>
    <p:sldId id="360" r:id="rId33"/>
    <p:sldId id="361" r:id="rId34"/>
    <p:sldId id="362" r:id="rId35"/>
    <p:sldId id="363" r:id="rId36"/>
    <p:sldId id="364" r:id="rId37"/>
    <p:sldId id="365" r:id="rId38"/>
    <p:sldId id="368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0C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BED27-3315-451E-9F45-9767E0561218}" v="1" dt="2025-02-17T18:52:22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DBBBED27-3315-451E-9F45-9767E0561218}"/>
    <pc:docChg chg="modSld">
      <pc:chgData name="Freek Metsch" userId="021ef47b-1d71-428a-9075-16ffbc2c7c18" providerId="ADAL" clId="{DBBBED27-3315-451E-9F45-9767E0561218}" dt="2025-02-17T18:52:22.383" v="0"/>
      <pc:docMkLst>
        <pc:docMk/>
      </pc:docMkLst>
      <pc:sldChg chg="modAnim">
        <pc:chgData name="Freek Metsch" userId="021ef47b-1d71-428a-9075-16ffbc2c7c18" providerId="ADAL" clId="{DBBBED27-3315-451E-9F45-9767E0561218}" dt="2025-02-17T18:52:22.383" v="0"/>
        <pc:sldMkLst>
          <pc:docMk/>
          <pc:sldMk cId="756631327" sldId="360"/>
        </pc:sldMkLst>
      </pc:sldChg>
    </pc:docChg>
  </pc:docChgLst>
  <pc:docChgLst>
    <pc:chgData name="Fatima Kajouj" userId="c3170573-fe56-4cc3-a17b-b68bb4d2c2dc" providerId="ADAL" clId="{A92E1663-E18C-4FBB-BA4B-12EB0F29B7E7}"/>
    <pc:docChg chg="undo custSel addSld delSld modSld">
      <pc:chgData name="Fatima Kajouj" userId="c3170573-fe56-4cc3-a17b-b68bb4d2c2dc" providerId="ADAL" clId="{A92E1663-E18C-4FBB-BA4B-12EB0F29B7E7}" dt="2023-09-12T13:44:11.863" v="11" actId="20577"/>
      <pc:docMkLst>
        <pc:docMk/>
      </pc:docMkLst>
      <pc:sldChg chg="modSp mod addAnim delAnim modAnim">
        <pc:chgData name="Fatima Kajouj" userId="c3170573-fe56-4cc3-a17b-b68bb4d2c2dc" providerId="ADAL" clId="{A92E1663-E18C-4FBB-BA4B-12EB0F29B7E7}" dt="2023-09-12T13:44:11.863" v="11" actId="20577"/>
        <pc:sldMkLst>
          <pc:docMk/>
          <pc:sldMk cId="0" sldId="328"/>
        </pc:sldMkLst>
      </pc:sldChg>
      <pc:sldChg chg="modSp new del mod">
        <pc:chgData name="Fatima Kajouj" userId="c3170573-fe56-4cc3-a17b-b68bb4d2c2dc" providerId="ADAL" clId="{A92E1663-E18C-4FBB-BA4B-12EB0F29B7E7}" dt="2023-09-12T13:44:03.828" v="6" actId="680"/>
        <pc:sldMkLst>
          <pc:docMk/>
          <pc:sldMk cId="3868522942" sldId="3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0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6</a:t>
            </a:fld>
            <a:endParaRPr 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7</a:t>
            </a:fld>
            <a:endParaRPr 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9</a:t>
            </a:fld>
            <a:endParaRPr lang="nl-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21</a:t>
            </a:fld>
            <a:endParaRPr lang="nl-N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22</a:t>
            </a:fld>
            <a:endParaRPr lang="nl-N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23</a:t>
            </a:fld>
            <a:endParaRPr lang="nl-N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26</a:t>
            </a:fld>
            <a:endParaRPr lang="nl-N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8DA1311-7605-49A3-B860-CE941D2BED5A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BF1C65A-79BB-4244-8241-8592F11DCB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3776-B5F3-482D-B025-52E83D0420E7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FFCAA-1B2C-49C6-8D88-2C923AD724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7A7B8-FED8-408E-B814-1ABF4C99C9D0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E9952E0-E2C6-4F4D-8A98-545107919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E6AAD04-9D9E-4574-BD0D-743AA0BB7728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2004676-EB14-42BA-A29B-9287B732DA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698629B-7BC8-41E9-9B55-8786EF6FFB3C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AC8F6E2-DD42-47DC-968D-4EC81CBFDB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5A31A-FD4F-45A2-87E9-FB3FD838ABEB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86892-9EF2-45EF-8283-4F910D9827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E0BE7-EEF9-4A64-9E18-7C6DA39FEF20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42958BB-47A1-448A-AC3D-6091AD439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89757-46FF-40B8-9A09-CD68B5BE297B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A03DC-9471-4B9C-95DC-F76AA3AE1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BFFC220-0A9F-4946-B993-A94FC472B8E2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16E3C564-8CBD-4854-9267-67125E4E1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1AF3D-D7D8-45A5-A6BA-29055ED4B657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6F61A-A798-4E41-A0FB-5E675CD65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68D86-11CC-4177-A43E-C46377717AAD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30276-7CB2-4BC5-9738-0AD656801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/>
              <a:pPr>
                <a:defRPr/>
              </a:pPr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46006FF5-3448-4EA3-BBA1-3F9F60C653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29" r:id="rId2"/>
    <p:sldLayoutId id="2147483834" r:id="rId3"/>
    <p:sldLayoutId id="2147483835" r:id="rId4"/>
    <p:sldLayoutId id="2147483836" r:id="rId5"/>
    <p:sldLayoutId id="2147483830" r:id="rId6"/>
    <p:sldLayoutId id="2147483837" r:id="rId7"/>
    <p:sldLayoutId id="2147483831" r:id="rId8"/>
    <p:sldLayoutId id="2147483838" r:id="rId9"/>
    <p:sldLayoutId id="2147483832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/>
              <a:t>Grammar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/>
              <a:t>Nouns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/>
              <a:t>Nouns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sz="4000" dirty="0"/>
              <a:t>What is a noun?</a:t>
            </a:r>
          </a:p>
          <a:p>
            <a:pPr eaLnBrk="1" hangingPunct="1"/>
            <a:r>
              <a:rPr lang="en-US" sz="4000" dirty="0"/>
              <a:t>singular vs. plural</a:t>
            </a:r>
          </a:p>
          <a:p>
            <a:pPr eaLnBrk="1" hangingPunct="1"/>
            <a:r>
              <a:rPr lang="en-US" sz="4000" dirty="0"/>
              <a:t>possessive</a:t>
            </a:r>
          </a:p>
          <a:p>
            <a:pPr eaLnBrk="1" hangingPunct="1"/>
            <a:r>
              <a:rPr lang="en-US" sz="4000" dirty="0"/>
              <a:t>countable vs. uncountable</a:t>
            </a:r>
          </a:p>
          <a:p>
            <a:pPr eaLnBrk="1" hangingPunct="1"/>
            <a:r>
              <a:rPr lang="en-US" sz="4000" dirty="0"/>
              <a:t>agreement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67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267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noun?</a:t>
            </a:r>
          </a:p>
        </p:txBody>
      </p:sp>
    </p:spTree>
    <p:extLst>
      <p:ext uri="{BB962C8B-B14F-4D97-AF65-F5344CB8AC3E}">
        <p14:creationId xmlns:p14="http://schemas.microsoft.com/office/powerpoint/2010/main" val="178035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Nouns</a:t>
            </a:r>
            <a:endParaRPr lang="nl-NL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to name:</a:t>
            </a:r>
          </a:p>
          <a:p>
            <a:pPr lvl="1"/>
            <a:r>
              <a:rPr lang="nl-NL" dirty="0" err="1"/>
              <a:t>People</a:t>
            </a:r>
            <a:r>
              <a:rPr lang="nl-NL" dirty="0"/>
              <a:t>: student, </a:t>
            </a:r>
            <a:r>
              <a:rPr lang="nl-NL" dirty="0" err="1"/>
              <a:t>owner</a:t>
            </a:r>
            <a:r>
              <a:rPr lang="nl-NL" dirty="0"/>
              <a:t>, Samantha</a:t>
            </a:r>
          </a:p>
          <a:p>
            <a:pPr lvl="1"/>
            <a:r>
              <a:rPr lang="en-US" dirty="0"/>
              <a:t>Places: street, park, Utrecht</a:t>
            </a:r>
          </a:p>
          <a:p>
            <a:pPr lvl="1"/>
            <a:r>
              <a:rPr lang="en-US" dirty="0"/>
              <a:t>Things: computer, book, Porsche</a:t>
            </a:r>
          </a:p>
          <a:p>
            <a:pPr lvl="1"/>
            <a:r>
              <a:rPr lang="en-US" dirty="0"/>
              <a:t>Ideas: peace, pain, love </a:t>
            </a:r>
          </a:p>
          <a:p>
            <a:pPr lvl="1"/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to </a:t>
            </a:r>
            <a:r>
              <a:rPr lang="nl-NL" dirty="0" err="1"/>
              <a:t>know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the </a:t>
            </a:r>
            <a:r>
              <a:rPr lang="nl-NL" dirty="0" err="1"/>
              <a:t>forms</a:t>
            </a:r>
            <a:r>
              <a:rPr lang="nl-NL" dirty="0"/>
              <a:t> 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singular</a:t>
            </a:r>
            <a:r>
              <a:rPr lang="nl-NL" dirty="0"/>
              <a:t> (1) and plural (more </a:t>
            </a:r>
            <a:r>
              <a:rPr lang="nl-NL" dirty="0" err="1"/>
              <a:t>than</a:t>
            </a:r>
            <a:r>
              <a:rPr lang="nl-NL" dirty="0"/>
              <a:t> 1)</a:t>
            </a:r>
          </a:p>
          <a:p>
            <a:pPr lvl="1"/>
            <a:r>
              <a:rPr lang="nl-NL" dirty="0"/>
              <a:t>1 student – 2 </a:t>
            </a:r>
            <a:r>
              <a:rPr lang="nl-NL" dirty="0" err="1"/>
              <a:t>students</a:t>
            </a:r>
            <a:endParaRPr lang="nl-NL" dirty="0"/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Whether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1 of the word</a:t>
            </a:r>
          </a:p>
          <a:p>
            <a:pPr lvl="1"/>
            <a:r>
              <a:rPr lang="nl-NL" strike="sngStrike" dirty="0"/>
              <a:t>1 money – 2 </a:t>
            </a:r>
            <a:r>
              <a:rPr lang="nl-NL" strike="sngStrike" dirty="0" err="1"/>
              <a:t>moneys</a:t>
            </a:r>
            <a:endParaRPr lang="nl-NL" strike="sngStrike" dirty="0"/>
          </a:p>
          <a:p>
            <a:pPr marL="366713" lvl="1" indent="0">
              <a:buNone/>
            </a:pPr>
            <a:endParaRPr lang="nl-NL" strike="sngStrike" dirty="0"/>
          </a:p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indicate</a:t>
            </a:r>
            <a:r>
              <a:rPr lang="nl-NL" dirty="0"/>
              <a:t> </a:t>
            </a:r>
            <a:r>
              <a:rPr lang="nl-NL" dirty="0" err="1">
                <a:solidFill>
                  <a:srgbClr val="FF0000"/>
                </a:solidFill>
              </a:rPr>
              <a:t>possession</a:t>
            </a:r>
            <a:r>
              <a:rPr lang="nl-NL" dirty="0">
                <a:solidFill>
                  <a:srgbClr val="FF0000"/>
                </a:solidFill>
              </a:rPr>
              <a:t>!</a:t>
            </a:r>
          </a:p>
          <a:p>
            <a:pPr lvl="1"/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sister</a:t>
            </a:r>
            <a:r>
              <a:rPr lang="nl-NL" dirty="0" err="1">
                <a:solidFill>
                  <a:srgbClr val="FF0000"/>
                </a:solidFill>
              </a:rPr>
              <a:t>’s</a:t>
            </a:r>
            <a:r>
              <a:rPr lang="nl-NL" dirty="0"/>
              <a:t> name </a:t>
            </a:r>
          </a:p>
          <a:p>
            <a:pPr lvl="1"/>
            <a:r>
              <a:rPr lang="nl-NL" dirty="0"/>
              <a:t>The name </a:t>
            </a:r>
            <a:r>
              <a:rPr lang="nl-NL" dirty="0">
                <a:solidFill>
                  <a:srgbClr val="FF0000"/>
                </a:solidFill>
              </a:rPr>
              <a:t>of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/>
              <a:t>book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Forms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/>
              <a:t>Regular form: + -s</a:t>
            </a:r>
          </a:p>
          <a:p>
            <a:pPr lvl="1" eaLnBrk="1" hangingPunct="1"/>
            <a:r>
              <a:rPr lang="en-US" dirty="0"/>
              <a:t>1 student		2 students</a:t>
            </a:r>
          </a:p>
          <a:p>
            <a:pPr lvl="1" eaLnBrk="1" hangingPunct="1"/>
            <a:r>
              <a:rPr lang="en-US" dirty="0"/>
              <a:t>1 building 		2 buildings</a:t>
            </a:r>
          </a:p>
          <a:p>
            <a:pPr lvl="1" eaLnBrk="1" hangingPunct="1"/>
            <a:r>
              <a:rPr lang="en-US" dirty="0"/>
              <a:t>1 zebra			2 zebras</a:t>
            </a:r>
          </a:p>
          <a:p>
            <a:pPr lvl="1" eaLnBrk="1" hangingPunct="1"/>
            <a:r>
              <a:rPr lang="en-US" dirty="0"/>
              <a:t>1 museum 		2 museums</a:t>
            </a:r>
          </a:p>
          <a:p>
            <a:pPr lvl="1" eaLnBrk="1" hangingPunct="1"/>
            <a:r>
              <a:rPr lang="en-US" dirty="0"/>
              <a:t>1 date			2 dates</a:t>
            </a:r>
          </a:p>
          <a:p>
            <a:pPr lvl="1" eaLnBrk="1" hangingPunct="1"/>
            <a:r>
              <a:rPr lang="en-US" dirty="0"/>
              <a:t>1 piano 			2 pianos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Spelling Plurals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28800"/>
            <a:ext cx="8153400" cy="4495800"/>
          </a:xfrm>
        </p:spPr>
        <p:txBody>
          <a:bodyPr/>
          <a:lstStyle/>
          <a:p>
            <a:pPr eaLnBrk="1" hangingPunct="1"/>
            <a:r>
              <a:rPr lang="en-US" sz="2400" dirty="0"/>
              <a:t>Words that end in s, </a:t>
            </a:r>
            <a:r>
              <a:rPr lang="en-US" sz="2400" dirty="0" err="1"/>
              <a:t>ss</a:t>
            </a:r>
            <a:r>
              <a:rPr lang="en-US" sz="2400" dirty="0"/>
              <a:t>, </a:t>
            </a:r>
            <a:r>
              <a:rPr lang="en-US" sz="2400" dirty="0" err="1"/>
              <a:t>ch</a:t>
            </a:r>
            <a:r>
              <a:rPr lang="en-US" sz="2400" dirty="0"/>
              <a:t>, </a:t>
            </a:r>
            <a:r>
              <a:rPr lang="en-US" sz="2400" dirty="0" err="1"/>
              <a:t>sh</a:t>
            </a:r>
            <a:r>
              <a:rPr lang="en-US" sz="2400" dirty="0"/>
              <a:t>, x: + -</a:t>
            </a:r>
            <a:r>
              <a:rPr lang="en-US" sz="2400" dirty="0" err="1"/>
              <a:t>es</a:t>
            </a:r>
            <a:endParaRPr lang="en-US" sz="2400" dirty="0"/>
          </a:p>
          <a:p>
            <a:pPr lvl="1" eaLnBrk="1" hangingPunct="1"/>
            <a:r>
              <a:rPr lang="en-US" sz="2000" dirty="0"/>
              <a:t>1 bus		2 bus</a:t>
            </a:r>
            <a:r>
              <a:rPr lang="en-US" sz="2000" dirty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sz="2000" dirty="0"/>
              <a:t>1 kiss		2 kiss</a:t>
            </a:r>
            <a:r>
              <a:rPr lang="en-US" sz="2000" dirty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sz="2000" dirty="0"/>
              <a:t>1 watch		2 watch</a:t>
            </a:r>
            <a:r>
              <a:rPr lang="en-US" sz="2000" dirty="0">
                <a:solidFill>
                  <a:srgbClr val="FF0000"/>
                </a:solidFill>
              </a:rPr>
              <a:t>es</a:t>
            </a:r>
          </a:p>
          <a:p>
            <a:pPr marL="366713" lvl="1" indent="0" eaLnBrk="1" hangingPunct="1">
              <a:buNone/>
            </a:pPr>
            <a:endParaRPr lang="en-US" sz="2000" dirty="0"/>
          </a:p>
          <a:p>
            <a:pPr eaLnBrk="1" hangingPunct="1"/>
            <a:r>
              <a:rPr lang="en-US" sz="2400" dirty="0"/>
              <a:t>Words that end in y: -y </a:t>
            </a:r>
            <a:r>
              <a:rPr lang="en-US" sz="2400" dirty="0">
                <a:sym typeface="Wingdings" pitchFamily="2" charset="2"/>
              </a:rPr>
              <a:t> -</a:t>
            </a:r>
            <a:r>
              <a:rPr lang="en-US" sz="2400" dirty="0" err="1">
                <a:sym typeface="Wingdings" pitchFamily="2" charset="2"/>
              </a:rPr>
              <a:t>ies</a:t>
            </a:r>
            <a:endParaRPr lang="en-US" sz="2400" dirty="0">
              <a:sym typeface="Wingdings" pitchFamily="2" charset="2"/>
            </a:endParaRPr>
          </a:p>
          <a:p>
            <a:pPr lvl="1" eaLnBrk="1" hangingPunct="1"/>
            <a:r>
              <a:rPr lang="en-US" sz="2000" dirty="0">
                <a:sym typeface="Wingdings" pitchFamily="2" charset="2"/>
              </a:rPr>
              <a:t>1 hobby		2 hobb</a:t>
            </a: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ies</a:t>
            </a:r>
          </a:p>
          <a:p>
            <a:pPr lvl="1" eaLnBrk="1" hangingPunct="1"/>
            <a:r>
              <a:rPr lang="en-US" sz="2000" dirty="0">
                <a:sym typeface="Wingdings" pitchFamily="2" charset="2"/>
              </a:rPr>
              <a:t>1 baby		2 bab</a:t>
            </a: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ies</a:t>
            </a:r>
          </a:p>
          <a:p>
            <a:pPr marL="366713" lvl="1" indent="0" eaLnBrk="1" hangingPunct="1">
              <a:buNone/>
            </a:pPr>
            <a:endParaRPr lang="en-US" sz="2000" dirty="0">
              <a:sym typeface="Wingdings" pitchFamily="2" charset="2"/>
            </a:endParaRPr>
          </a:p>
          <a:p>
            <a:pPr eaLnBrk="1" hangingPunct="1"/>
            <a:r>
              <a:rPr lang="en-US" sz="2400" dirty="0">
                <a:sym typeface="Wingdings" pitchFamily="2" charset="2"/>
              </a:rPr>
              <a:t>But:</a:t>
            </a:r>
          </a:p>
          <a:p>
            <a:pPr lvl="1" eaLnBrk="1" hangingPunct="1"/>
            <a:r>
              <a:rPr lang="en-US" sz="2000" dirty="0">
                <a:sym typeface="Wingdings" pitchFamily="2" charset="2"/>
              </a:rPr>
              <a:t>1 boy		2 boy</a:t>
            </a: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s</a:t>
            </a:r>
          </a:p>
          <a:p>
            <a:pPr lvl="1" eaLnBrk="1" hangingPunct="1"/>
            <a:r>
              <a:rPr lang="en-US" sz="2000" dirty="0">
                <a:sym typeface="Wingdings" pitchFamily="2" charset="2"/>
              </a:rPr>
              <a:t>1 play		2 play</a:t>
            </a: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en-US" sz="2000" dirty="0">
              <a:solidFill>
                <a:srgbClr val="FF0000"/>
              </a:solidFill>
            </a:endParaRP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Spelling </a:t>
            </a:r>
            <a:r>
              <a:rPr lang="nl-NL" dirty="0" err="1"/>
              <a:t>Plurals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end in f(e): f(e) </a:t>
            </a:r>
            <a:r>
              <a:rPr lang="nl-NL" dirty="0">
                <a:sym typeface="Wingdings" pitchFamily="2" charset="2"/>
              </a:rPr>
              <a:t> -</a:t>
            </a:r>
            <a:r>
              <a:rPr lang="nl-NL" dirty="0" err="1">
                <a:sym typeface="Wingdings" pitchFamily="2" charset="2"/>
              </a:rPr>
              <a:t>ves</a:t>
            </a: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1 wolf 		2 </a:t>
            </a:r>
            <a:r>
              <a:rPr lang="nl-NL" dirty="0" err="1">
                <a:sym typeface="Wingdings" pitchFamily="2" charset="2"/>
              </a:rPr>
              <a:t>wol</a:t>
            </a:r>
            <a:r>
              <a:rPr lang="nl-NL" dirty="0" err="1">
                <a:solidFill>
                  <a:srgbClr val="FF0000"/>
                </a:solidFill>
                <a:sym typeface="Wingdings" pitchFamily="2" charset="2"/>
              </a:rPr>
              <a:t>ves</a:t>
            </a:r>
            <a:endParaRPr lang="nl-NL" dirty="0">
              <a:solidFill>
                <a:srgbClr val="FF0000"/>
              </a:solidFill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1 life 		2 </a:t>
            </a:r>
            <a:r>
              <a:rPr lang="nl-NL" dirty="0" err="1">
                <a:sym typeface="Wingdings" pitchFamily="2" charset="2"/>
              </a:rPr>
              <a:t>li</a:t>
            </a:r>
            <a:r>
              <a:rPr lang="nl-NL" dirty="0" err="1">
                <a:solidFill>
                  <a:srgbClr val="FF0000"/>
                </a:solidFill>
                <a:sym typeface="Wingdings" pitchFamily="2" charset="2"/>
              </a:rPr>
              <a:t>ves</a:t>
            </a:r>
            <a:endParaRPr lang="nl-NL" dirty="0">
              <a:solidFill>
                <a:srgbClr val="FF0000"/>
              </a:solidFill>
              <a:sym typeface="Wingdings" pitchFamily="2" charset="2"/>
            </a:endParaRPr>
          </a:p>
          <a:p>
            <a:pPr marL="366713" lvl="1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But</a:t>
            </a: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1 belief		2 </a:t>
            </a:r>
            <a:r>
              <a:rPr lang="nl-NL" dirty="0" err="1">
                <a:sym typeface="Wingdings" pitchFamily="2" charset="2"/>
              </a:rPr>
              <a:t>belief</a:t>
            </a:r>
            <a:r>
              <a:rPr lang="nl-NL" dirty="0" err="1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nl-NL" dirty="0">
              <a:solidFill>
                <a:srgbClr val="FF0000"/>
              </a:solidFill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1 </a:t>
            </a:r>
            <a:r>
              <a:rPr lang="nl-NL" dirty="0" err="1">
                <a:sym typeface="Wingdings" pitchFamily="2" charset="2"/>
              </a:rPr>
              <a:t>handkerchief</a:t>
            </a:r>
            <a:r>
              <a:rPr lang="nl-NL" dirty="0">
                <a:sym typeface="Wingdings" pitchFamily="2" charset="2"/>
              </a:rPr>
              <a:t>	2 </a:t>
            </a:r>
            <a:r>
              <a:rPr lang="nl-NL" dirty="0" err="1">
                <a:sym typeface="Wingdings" pitchFamily="2" charset="2"/>
              </a:rPr>
              <a:t>handkerchief</a:t>
            </a:r>
            <a:r>
              <a:rPr lang="nl-NL" dirty="0" err="1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nl-NL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Spelling Plurals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/>
              <a:t>Words that end in o: + -</a:t>
            </a:r>
            <a:r>
              <a:rPr lang="en-US" dirty="0" err="1"/>
              <a:t>es</a:t>
            </a:r>
            <a:endParaRPr lang="en-US" dirty="0"/>
          </a:p>
          <a:p>
            <a:pPr lvl="1" eaLnBrk="1" hangingPunct="1"/>
            <a:r>
              <a:rPr lang="en-US" dirty="0"/>
              <a:t>1 hero		2 hero</a:t>
            </a:r>
            <a:r>
              <a:rPr lang="en-US" dirty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dirty="0"/>
              <a:t>1 tomato		2 tomato</a:t>
            </a:r>
            <a:r>
              <a:rPr lang="en-US" dirty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dirty="0"/>
              <a:t>1 potato		2 potato</a:t>
            </a:r>
            <a:r>
              <a:rPr lang="en-US" dirty="0">
                <a:solidFill>
                  <a:srgbClr val="FF0000"/>
                </a:solidFill>
              </a:rPr>
              <a:t>es</a:t>
            </a:r>
          </a:p>
          <a:p>
            <a:pPr marL="366713" lvl="1" indent="0"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But:</a:t>
            </a:r>
          </a:p>
          <a:p>
            <a:pPr lvl="1" eaLnBrk="1" hangingPunct="1"/>
            <a:r>
              <a:rPr lang="en-US" dirty="0"/>
              <a:t>1 piano		2 piano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r>
              <a:rPr lang="en-US" dirty="0"/>
              <a:t>1 photo		2 photo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r>
              <a:rPr lang="en-US" dirty="0"/>
              <a:t>1 casino		2 casino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</a:t>
            </a:r>
            <a:r>
              <a:rPr lang="nl-NL" dirty="0" err="1"/>
              <a:t>note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/>
              <a:t>Never </a:t>
            </a:r>
            <a:r>
              <a:rPr lang="nl-NL" dirty="0" err="1"/>
              <a:t>use</a:t>
            </a:r>
            <a:r>
              <a:rPr lang="nl-NL" dirty="0"/>
              <a:t> –’s </a:t>
            </a:r>
            <a:r>
              <a:rPr lang="nl-NL" dirty="0" err="1"/>
              <a:t>to</a:t>
            </a:r>
            <a:r>
              <a:rPr lang="nl-NL" dirty="0"/>
              <a:t> make </a:t>
            </a:r>
            <a:r>
              <a:rPr lang="nl-NL" dirty="0" err="1"/>
              <a:t>plural</a:t>
            </a:r>
            <a:r>
              <a:rPr lang="nl-NL" dirty="0"/>
              <a:t>!</a:t>
            </a:r>
          </a:p>
          <a:p>
            <a:pPr lvl="1"/>
            <a:r>
              <a:rPr lang="nl-NL" strike="sngStrike" dirty="0"/>
              <a:t>zebra’s</a:t>
            </a:r>
          </a:p>
          <a:p>
            <a:pPr lvl="1"/>
            <a:r>
              <a:rPr lang="nl-NL" strike="sngStrike" dirty="0" err="1"/>
              <a:t>date’s</a:t>
            </a:r>
            <a:endParaRPr lang="nl-NL" strike="sngStrike" dirty="0"/>
          </a:p>
          <a:p>
            <a:pPr lvl="1"/>
            <a:r>
              <a:rPr lang="nl-NL" strike="sngStrike" dirty="0" err="1"/>
              <a:t>hero’s</a:t>
            </a:r>
            <a:endParaRPr lang="nl-NL" strike="sngStrike" dirty="0"/>
          </a:p>
          <a:p>
            <a:pPr lvl="1"/>
            <a:r>
              <a:rPr lang="nl-NL" strike="sngStrike" dirty="0"/>
              <a:t>piano’s</a:t>
            </a:r>
          </a:p>
          <a:p>
            <a:pPr marL="366713" lvl="1" indent="0">
              <a:buNone/>
            </a:pPr>
            <a:endParaRPr lang="nl-NL" strike="sngStrike" dirty="0"/>
          </a:p>
          <a:p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note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1960s		</a:t>
            </a:r>
            <a:r>
              <a:rPr lang="nl-NL" strike="sngStrike" dirty="0"/>
              <a:t>1960’s</a:t>
            </a:r>
          </a:p>
          <a:p>
            <a:pPr lvl="1"/>
            <a:r>
              <a:rPr lang="nl-NL" dirty="0" err="1"/>
              <a:t>CDs</a:t>
            </a:r>
            <a:r>
              <a:rPr lang="nl-NL" dirty="0"/>
              <a:t>		</a:t>
            </a:r>
            <a:r>
              <a:rPr lang="nl-NL" strike="sngStrike" dirty="0" err="1"/>
              <a:t>CD’s</a:t>
            </a:r>
            <a:endParaRPr lang="nl-NL" strike="sngStrike" dirty="0"/>
          </a:p>
          <a:p>
            <a:pPr lvl="1"/>
            <a:r>
              <a:rPr lang="nl-NL" dirty="0" err="1"/>
              <a:t>UFOs</a:t>
            </a:r>
            <a:r>
              <a:rPr lang="nl-NL" dirty="0"/>
              <a:t>		</a:t>
            </a:r>
            <a:r>
              <a:rPr lang="nl-NL" strike="sngStrike" dirty="0" err="1"/>
              <a:t>UFO’s</a:t>
            </a:r>
            <a:endParaRPr lang="nl-NL" dirty="0"/>
          </a:p>
        </p:txBody>
      </p:sp>
      <p:sp>
        <p:nvSpPr>
          <p:cNvPr id="4" name="Rechthoek 3"/>
          <p:cNvSpPr/>
          <p:nvPr/>
        </p:nvSpPr>
        <p:spPr>
          <a:xfrm>
            <a:off x="971600" y="1634966"/>
            <a:ext cx="4392488" cy="504056"/>
          </a:xfrm>
          <a:prstGeom prst="rect">
            <a:avLst/>
          </a:prstGeom>
          <a:noFill/>
          <a:ln w="28575" cap="flat" cmpd="sng" algn="ctr">
            <a:solidFill>
              <a:srgbClr val="CA0C1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Irregular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: </a:t>
            </a:r>
            <a:r>
              <a:rPr lang="nl-NL" dirty="0" err="1"/>
              <a:t>people</a:t>
            </a:r>
            <a:r>
              <a:rPr lang="nl-NL" dirty="0"/>
              <a:t>/body </a:t>
            </a:r>
            <a:r>
              <a:rPr lang="nl-NL" dirty="0" err="1"/>
              <a:t>parts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/>
              <a:t>1 man		2 men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woman</a:t>
            </a:r>
            <a:r>
              <a:rPr lang="nl-NL" dirty="0"/>
              <a:t>	2 </a:t>
            </a:r>
            <a:r>
              <a:rPr lang="nl-NL" dirty="0" err="1"/>
              <a:t>women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child</a:t>
            </a:r>
            <a:r>
              <a:rPr lang="nl-NL" dirty="0"/>
              <a:t>		2 </a:t>
            </a:r>
            <a:r>
              <a:rPr lang="nl-NL" dirty="0" err="1"/>
              <a:t>children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foot</a:t>
            </a:r>
            <a:r>
              <a:rPr lang="nl-NL" dirty="0"/>
              <a:t>		2 </a:t>
            </a:r>
            <a:r>
              <a:rPr lang="nl-NL" dirty="0" err="1"/>
              <a:t>feet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tooth</a:t>
            </a:r>
            <a:r>
              <a:rPr lang="nl-NL" dirty="0"/>
              <a:t>		2 </a:t>
            </a:r>
            <a:r>
              <a:rPr lang="nl-NL" dirty="0" err="1"/>
              <a:t>teeth</a:t>
            </a:r>
            <a:endParaRPr lang="nl-NL" dirty="0"/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Irregular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: </a:t>
            </a:r>
            <a:r>
              <a:rPr lang="nl-NL" dirty="0" err="1"/>
              <a:t>animals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/>
              <a:t>1 </a:t>
            </a:r>
            <a:r>
              <a:rPr lang="nl-NL" dirty="0" err="1"/>
              <a:t>goose</a:t>
            </a:r>
            <a:r>
              <a:rPr lang="nl-NL" dirty="0"/>
              <a:t>		2 </a:t>
            </a:r>
            <a:r>
              <a:rPr lang="nl-NL" dirty="0" err="1"/>
              <a:t>geese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mouse</a:t>
            </a:r>
            <a:r>
              <a:rPr lang="nl-NL" dirty="0"/>
              <a:t>		2 </a:t>
            </a:r>
            <a:r>
              <a:rPr lang="nl-NL" dirty="0" err="1"/>
              <a:t>mice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sheep</a:t>
            </a:r>
            <a:r>
              <a:rPr lang="nl-NL" dirty="0"/>
              <a:t>		2 </a:t>
            </a:r>
            <a:r>
              <a:rPr lang="nl-NL" dirty="0" err="1"/>
              <a:t>sheep</a:t>
            </a:r>
            <a:endParaRPr lang="nl-NL" dirty="0"/>
          </a:p>
          <a:p>
            <a:pPr lvl="1"/>
            <a:r>
              <a:rPr lang="nl-NL" dirty="0"/>
              <a:t>1 deer 		2 deer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fish</a:t>
            </a:r>
            <a:r>
              <a:rPr lang="nl-NL" dirty="0"/>
              <a:t>		2 </a:t>
            </a:r>
            <a:r>
              <a:rPr lang="nl-NL" dirty="0" err="1"/>
              <a:t>fish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Irregular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: </a:t>
            </a:r>
            <a:r>
              <a:rPr lang="nl-NL" dirty="0" err="1"/>
              <a:t>Latin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Greek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/>
              <a:t>1 crisis		2 crises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phenomenon</a:t>
            </a:r>
            <a:r>
              <a:rPr lang="nl-NL" dirty="0"/>
              <a:t>	2 </a:t>
            </a:r>
            <a:r>
              <a:rPr lang="nl-NL" dirty="0" err="1"/>
              <a:t>phenomena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criterion</a:t>
            </a:r>
            <a:r>
              <a:rPr lang="nl-NL" dirty="0"/>
              <a:t>	2 criteria</a:t>
            </a:r>
          </a:p>
          <a:p>
            <a:pPr lvl="1"/>
            <a:r>
              <a:rPr lang="nl-NL" dirty="0"/>
              <a:t>1 stimulus	2 stimuli</a:t>
            </a:r>
          </a:p>
          <a:p>
            <a:endParaRPr lang="nl-NL" dirty="0"/>
          </a:p>
          <a:p>
            <a:r>
              <a:rPr lang="nl-NL" dirty="0"/>
              <a:t>Check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dictionary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 these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/>
              <a:t>Compound Nouns 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556792"/>
            <a:ext cx="8153400" cy="4495800"/>
          </a:xfrm>
        </p:spPr>
        <p:txBody>
          <a:bodyPr/>
          <a:lstStyle/>
          <a:p>
            <a:pPr eaLnBrk="1" hangingPunct="1"/>
            <a:r>
              <a:rPr lang="en-US" sz="2400" dirty="0"/>
              <a:t>two nouns put together: -s at the end</a:t>
            </a:r>
            <a:br>
              <a:rPr lang="en-US" sz="2400" dirty="0"/>
            </a:br>
            <a:r>
              <a:rPr lang="en-US" sz="2400" dirty="0"/>
              <a:t>motorway</a:t>
            </a:r>
            <a:r>
              <a:rPr lang="en-US" sz="2400" b="1" u="sng" dirty="0"/>
              <a:t>s</a:t>
            </a:r>
            <a:r>
              <a:rPr lang="en-US" sz="2400" dirty="0"/>
              <a:t>, weekend</a:t>
            </a:r>
            <a:r>
              <a:rPr lang="en-US" sz="2400" b="1" u="sng" dirty="0"/>
              <a:t>s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verb + preposition: -s at the end</a:t>
            </a:r>
            <a:br>
              <a:rPr lang="en-US" sz="2400" dirty="0"/>
            </a:br>
            <a:r>
              <a:rPr lang="en-US" sz="2400" dirty="0"/>
              <a:t>pile-up</a:t>
            </a:r>
            <a:r>
              <a:rPr lang="en-US" sz="2400" b="1" u="sng" dirty="0"/>
              <a:t>s</a:t>
            </a:r>
            <a:r>
              <a:rPr lang="en-US" sz="2400" dirty="0"/>
              <a:t>, breakdown</a:t>
            </a:r>
            <a:r>
              <a:rPr lang="en-US" sz="2400" b="1" u="sng" dirty="0"/>
              <a:t>s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noun + prepositional phrase: -s follows the first noun</a:t>
            </a:r>
            <a:br>
              <a:rPr lang="en-US" sz="2400" dirty="0"/>
            </a:br>
            <a:r>
              <a:rPr lang="en-US" sz="2400" dirty="0"/>
              <a:t>mother</a:t>
            </a:r>
            <a:r>
              <a:rPr lang="en-US" sz="2400" b="1" u="sng" dirty="0"/>
              <a:t>s</a:t>
            </a:r>
            <a:r>
              <a:rPr lang="en-US" sz="2400" dirty="0"/>
              <a:t>-in-law, Doctor</a:t>
            </a:r>
            <a:r>
              <a:rPr lang="en-US" sz="2400" b="1" u="sng" dirty="0"/>
              <a:t>s</a:t>
            </a:r>
            <a:r>
              <a:rPr lang="en-US" sz="2400" dirty="0"/>
              <a:t> of Philosophy </a:t>
            </a:r>
          </a:p>
          <a:p>
            <a:pPr marL="0" indent="0" eaLnBrk="1" hangingPunct="1">
              <a:buNone/>
            </a:pPr>
            <a:endParaRPr lang="en-US" sz="2400" dirty="0"/>
          </a:p>
          <a:p>
            <a:pPr eaLnBrk="1" hangingPunct="1"/>
            <a:r>
              <a:rPr lang="en-US" sz="2400" dirty="0"/>
              <a:t>man/woman + noun: plural for both</a:t>
            </a:r>
            <a:br>
              <a:rPr lang="en-US" sz="2400" dirty="0"/>
            </a:br>
            <a:r>
              <a:rPr lang="en-US" sz="2400" dirty="0"/>
              <a:t>wom</a:t>
            </a:r>
            <a:r>
              <a:rPr lang="en-US" sz="2400" b="1" u="sng" dirty="0"/>
              <a:t>e</a:t>
            </a:r>
            <a:r>
              <a:rPr lang="en-US" sz="2400" dirty="0"/>
              <a:t>n driver</a:t>
            </a:r>
            <a:r>
              <a:rPr lang="en-US" sz="2400" b="1" u="sng" dirty="0"/>
              <a:t>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88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GB" dirty="0"/>
              <a:t>Remember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/>
          </a:p>
          <a:p>
            <a:pPr algn="ctr" eaLnBrk="1" hangingPunct="1">
              <a:buFont typeface="Wingdings" pitchFamily="2" charset="2"/>
              <a:buNone/>
            </a:pPr>
            <a:r>
              <a:rPr lang="en-US" sz="5400" u="sng"/>
              <a:t>NEVER</a:t>
            </a:r>
            <a:r>
              <a:rPr lang="en-US" sz="5400"/>
              <a:t> USE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8000"/>
              <a:t>‘S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5400"/>
              <a:t>WHEN MAKING A PLURAL</a:t>
            </a:r>
          </a:p>
        </p:txBody>
      </p:sp>
    </p:spTree>
    <p:extLst>
      <p:ext uri="{BB962C8B-B14F-4D97-AF65-F5344CB8AC3E}">
        <p14:creationId xmlns:p14="http://schemas.microsoft.com/office/powerpoint/2010/main" val="1064172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Countable or uncountable?</a:t>
            </a:r>
          </a:p>
        </p:txBody>
      </p:sp>
    </p:spTree>
    <p:extLst>
      <p:ext uri="{BB962C8B-B14F-4D97-AF65-F5344CB8AC3E}">
        <p14:creationId xmlns:p14="http://schemas.microsoft.com/office/powerpoint/2010/main" val="3304528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Countable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uncountable</a:t>
            </a:r>
            <a:r>
              <a:rPr lang="nl-NL" dirty="0"/>
              <a:t>?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468088" y="1628800"/>
            <a:ext cx="8442520" cy="4495800"/>
          </a:xfrm>
        </p:spPr>
        <p:txBody>
          <a:bodyPr/>
          <a:lstStyle/>
          <a:p>
            <a:r>
              <a:rPr lang="nl-NL" sz="2400" dirty="0"/>
              <a:t>Most </a:t>
            </a:r>
            <a:r>
              <a:rPr lang="nl-NL" sz="2400" dirty="0" err="1"/>
              <a:t>words</a:t>
            </a:r>
            <a:r>
              <a:rPr lang="nl-NL" sz="2400" dirty="0"/>
              <a:t>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counted</a:t>
            </a:r>
            <a:r>
              <a:rPr lang="nl-NL" sz="2400" dirty="0"/>
              <a:t> like we </a:t>
            </a:r>
            <a:r>
              <a:rPr lang="nl-NL" sz="2400" dirty="0" err="1"/>
              <a:t>just</a:t>
            </a:r>
            <a:r>
              <a:rPr lang="nl-NL" sz="2400" dirty="0"/>
              <a:t> </a:t>
            </a:r>
            <a:r>
              <a:rPr lang="nl-NL" sz="2400" dirty="0" err="1"/>
              <a:t>saw</a:t>
            </a:r>
            <a:endParaRPr lang="nl-NL" sz="2400" dirty="0"/>
          </a:p>
          <a:p>
            <a:pPr marL="0" indent="0">
              <a:buNone/>
            </a:pPr>
            <a:endParaRPr lang="nl-NL" sz="2400" dirty="0"/>
          </a:p>
          <a:p>
            <a:r>
              <a:rPr lang="nl-NL" sz="2400" dirty="0" err="1"/>
              <a:t>Some</a:t>
            </a:r>
            <a:r>
              <a:rPr lang="nl-NL" sz="2400" dirty="0"/>
              <a:t> </a:t>
            </a:r>
            <a:r>
              <a:rPr lang="nl-NL" sz="2400" dirty="0" err="1"/>
              <a:t>words</a:t>
            </a:r>
            <a:r>
              <a:rPr lang="nl-NL" sz="2400" dirty="0"/>
              <a:t> </a:t>
            </a:r>
            <a:r>
              <a:rPr lang="nl-NL" sz="2400" dirty="0" err="1"/>
              <a:t>can’t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counted</a:t>
            </a:r>
            <a:endParaRPr lang="nl-NL" sz="2400" dirty="0"/>
          </a:p>
          <a:p>
            <a:pPr lvl="1"/>
            <a:r>
              <a:rPr lang="nl-NL" sz="2000" strike="sngStrike" dirty="0"/>
              <a:t>1 money </a:t>
            </a:r>
            <a:r>
              <a:rPr lang="nl-NL" sz="2000" dirty="0"/>
              <a:t>		</a:t>
            </a:r>
            <a:r>
              <a:rPr lang="nl-NL" sz="2000" strike="sngStrike" dirty="0"/>
              <a:t>2 </a:t>
            </a:r>
            <a:r>
              <a:rPr lang="nl-NL" sz="2000" strike="sngStrike" dirty="0" err="1"/>
              <a:t>moneys</a:t>
            </a:r>
            <a:endParaRPr lang="nl-NL" sz="2000" strike="sngStrike" dirty="0"/>
          </a:p>
          <a:p>
            <a:pPr lvl="1"/>
            <a:r>
              <a:rPr lang="nl-NL" sz="2000" strike="sngStrike" dirty="0"/>
              <a:t>1 water</a:t>
            </a:r>
            <a:r>
              <a:rPr lang="nl-NL" sz="2000" dirty="0"/>
              <a:t>		</a:t>
            </a:r>
            <a:r>
              <a:rPr lang="nl-NL" sz="2000" strike="sngStrike" dirty="0"/>
              <a:t>2 waters</a:t>
            </a:r>
            <a:endParaRPr lang="nl-NL" sz="2000" dirty="0"/>
          </a:p>
          <a:p>
            <a:pPr lvl="1"/>
            <a:r>
              <a:rPr lang="nl-NL" sz="2000" strike="sngStrike" dirty="0"/>
              <a:t>1 </a:t>
            </a:r>
            <a:r>
              <a:rPr lang="nl-NL" sz="2000" strike="sngStrike" dirty="0" err="1"/>
              <a:t>rice</a:t>
            </a:r>
            <a:r>
              <a:rPr lang="nl-NL" sz="2000" dirty="0"/>
              <a:t>		</a:t>
            </a:r>
            <a:r>
              <a:rPr lang="nl-NL" sz="2000" strike="sngStrike" dirty="0"/>
              <a:t>2 </a:t>
            </a:r>
            <a:r>
              <a:rPr lang="nl-NL" sz="2000" strike="sngStrike" dirty="0" err="1"/>
              <a:t>rices</a:t>
            </a:r>
            <a:endParaRPr lang="nl-NL" sz="2000" strike="sngStrike" dirty="0"/>
          </a:p>
          <a:p>
            <a:pPr lvl="1"/>
            <a:r>
              <a:rPr lang="nl-NL" sz="2000" strike="sngStrike" dirty="0"/>
              <a:t>1 </a:t>
            </a:r>
            <a:r>
              <a:rPr lang="nl-NL" sz="2000" strike="sngStrike" dirty="0" err="1"/>
              <a:t>advice</a:t>
            </a:r>
            <a:r>
              <a:rPr lang="nl-NL" sz="2000" dirty="0"/>
              <a:t>		</a:t>
            </a:r>
            <a:r>
              <a:rPr lang="nl-NL" sz="2000" strike="sngStrike" dirty="0"/>
              <a:t>2 </a:t>
            </a:r>
            <a:r>
              <a:rPr lang="nl-NL" sz="2000" strike="sngStrike" dirty="0" err="1"/>
              <a:t>advices</a:t>
            </a:r>
            <a:endParaRPr lang="nl-NL" sz="2000" strike="sngStrike" dirty="0"/>
          </a:p>
          <a:p>
            <a:pPr lvl="1"/>
            <a:r>
              <a:rPr lang="nl-NL" sz="2000" strike="sngStrike" dirty="0"/>
              <a:t>1 </a:t>
            </a:r>
            <a:r>
              <a:rPr lang="nl-NL" sz="2000" strike="sngStrike" dirty="0" err="1"/>
              <a:t>furniture</a:t>
            </a:r>
            <a:r>
              <a:rPr lang="nl-NL" sz="2000" dirty="0"/>
              <a:t>		</a:t>
            </a:r>
            <a:r>
              <a:rPr lang="nl-NL" sz="2000" strike="sngStrike" dirty="0"/>
              <a:t>2 </a:t>
            </a:r>
            <a:r>
              <a:rPr lang="nl-NL" sz="2000" strike="sngStrike" dirty="0" err="1"/>
              <a:t>furnitures</a:t>
            </a:r>
            <a:endParaRPr lang="nl-NL" sz="2000" strike="sngStrike" dirty="0"/>
          </a:p>
          <a:p>
            <a:pPr marL="366713" lvl="1" indent="0">
              <a:buNone/>
            </a:pPr>
            <a:endParaRPr lang="nl-NL" sz="2000" strike="sngStrike" dirty="0"/>
          </a:p>
          <a:p>
            <a:r>
              <a:rPr lang="nl-NL" sz="2400" dirty="0" err="1"/>
              <a:t>Words</a:t>
            </a:r>
            <a:r>
              <a:rPr lang="nl-NL" sz="2400" dirty="0"/>
              <a:t> </a:t>
            </a:r>
            <a:r>
              <a:rPr lang="nl-NL" sz="2400" dirty="0" err="1"/>
              <a:t>that</a:t>
            </a:r>
            <a:r>
              <a:rPr lang="nl-NL" sz="2400" dirty="0"/>
              <a:t>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counted</a:t>
            </a:r>
            <a:r>
              <a:rPr lang="nl-NL" sz="2400" dirty="0"/>
              <a:t>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used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‘the’, </a:t>
            </a:r>
            <a:r>
              <a:rPr lang="nl-NL" sz="2400" dirty="0" err="1"/>
              <a:t>but</a:t>
            </a:r>
            <a:r>
              <a:rPr lang="nl-NL" sz="2400" dirty="0"/>
              <a:t> </a:t>
            </a:r>
            <a:r>
              <a:rPr lang="nl-NL" sz="2400" dirty="0" err="1"/>
              <a:t>not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‘a’</a:t>
            </a:r>
          </a:p>
          <a:p>
            <a:pPr lvl="1"/>
            <a:r>
              <a:rPr lang="nl-NL" sz="2000" dirty="0"/>
              <a:t>the money		</a:t>
            </a:r>
            <a:r>
              <a:rPr lang="nl-NL" sz="2000" strike="sngStrike" dirty="0"/>
              <a:t>a money</a:t>
            </a:r>
          </a:p>
          <a:p>
            <a:pPr lvl="1"/>
            <a:r>
              <a:rPr lang="nl-NL" sz="2000" dirty="0"/>
              <a:t>the </a:t>
            </a:r>
            <a:r>
              <a:rPr lang="nl-NL" sz="2000" dirty="0" err="1"/>
              <a:t>advice</a:t>
            </a:r>
            <a:r>
              <a:rPr lang="nl-NL" sz="2000" dirty="0"/>
              <a:t>		</a:t>
            </a:r>
            <a:r>
              <a:rPr lang="nl-NL" sz="2000" strike="sngStrike" dirty="0" err="1"/>
              <a:t>an</a:t>
            </a:r>
            <a:r>
              <a:rPr lang="nl-NL" sz="2000" strike="sngStrike" dirty="0"/>
              <a:t> </a:t>
            </a:r>
            <a:r>
              <a:rPr lang="nl-NL" sz="2000" strike="sngStrike" dirty="0" err="1"/>
              <a:t>advice</a:t>
            </a:r>
            <a:endParaRPr lang="nl-NL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Countable vs. Uncountable</a:t>
            </a: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10" y="3492509"/>
            <a:ext cx="1905000" cy="1552575"/>
          </a:xfrm>
          <a:prstGeom prst="rect">
            <a:avLst/>
          </a:prstGeom>
        </p:spPr>
      </p:pic>
      <p:sp>
        <p:nvSpPr>
          <p:cNvPr id="3" name="Tekstvak 2"/>
          <p:cNvSpPr txBox="1"/>
          <p:nvPr/>
        </p:nvSpPr>
        <p:spPr>
          <a:xfrm>
            <a:off x="4932040" y="2738506"/>
            <a:ext cx="35283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i="1" dirty="0" err="1"/>
              <a:t>She</a:t>
            </a:r>
            <a:r>
              <a:rPr lang="nl-NL" sz="3200" i="1" baseline="0" dirty="0"/>
              <a:t> has a lot of </a:t>
            </a:r>
            <a:r>
              <a:rPr lang="nl-NL" sz="3200" b="1" i="1" baseline="0" dirty="0"/>
              <a:t>hair</a:t>
            </a:r>
          </a:p>
          <a:p>
            <a:endParaRPr lang="en-US" dirty="0"/>
          </a:p>
        </p:txBody>
      </p:sp>
      <p:sp>
        <p:nvSpPr>
          <p:cNvPr id="5" name="Tekstvak 4"/>
          <p:cNvSpPr txBox="1"/>
          <p:nvPr/>
        </p:nvSpPr>
        <p:spPr>
          <a:xfrm>
            <a:off x="827584" y="2738507"/>
            <a:ext cx="348685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b="0" i="1" baseline="0" dirty="0" err="1"/>
              <a:t>Lambik</a:t>
            </a:r>
            <a:r>
              <a:rPr lang="nl-NL" sz="3200" b="0" i="1" baseline="0" dirty="0"/>
              <a:t> </a:t>
            </a:r>
            <a:r>
              <a:rPr lang="nl-NL" sz="3200" b="0" i="1" baseline="0" dirty="0" err="1"/>
              <a:t>only</a:t>
            </a:r>
            <a:r>
              <a:rPr lang="nl-NL" sz="3200" b="0" i="1" baseline="0" dirty="0"/>
              <a:t> has 6</a:t>
            </a:r>
          </a:p>
          <a:p>
            <a:r>
              <a:rPr lang="nl-NL" sz="3200" b="1" i="1" baseline="0" dirty="0" err="1"/>
              <a:t>hairs</a:t>
            </a:r>
            <a:endParaRPr lang="en-US" sz="3200" b="1" i="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398411"/>
            <a:ext cx="1319001" cy="198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jdelijke aanduiding voor inhoud 5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153400" cy="4495800"/>
          </a:xfrm>
        </p:spPr>
        <p:txBody>
          <a:bodyPr/>
          <a:lstStyle/>
          <a:p>
            <a:r>
              <a:rPr lang="en-US" sz="3200" dirty="0"/>
              <a:t>Some nouns can be both: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779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How</a:t>
            </a:r>
            <a:r>
              <a:rPr lang="nl-NL" dirty="0"/>
              <a:t> to </a:t>
            </a:r>
            <a:r>
              <a:rPr lang="nl-NL" dirty="0" err="1"/>
              <a:t>count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units</a:t>
            </a:r>
          </a:p>
          <a:p>
            <a:pPr lvl="1"/>
            <a:r>
              <a:rPr lang="nl-NL" dirty="0"/>
              <a:t>1 euro		2 </a:t>
            </a:r>
            <a:r>
              <a:rPr lang="nl-NL" dirty="0" err="1"/>
              <a:t>euros</a:t>
            </a:r>
            <a:endParaRPr lang="nl-NL" dirty="0"/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/>
              <a:t>Put a unit in front of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glass</a:t>
            </a:r>
            <a:r>
              <a:rPr lang="nl-NL" dirty="0"/>
              <a:t> of water	2 </a:t>
            </a:r>
            <a:r>
              <a:rPr lang="nl-NL" dirty="0" err="1"/>
              <a:t>glasses</a:t>
            </a:r>
            <a:r>
              <a:rPr lang="nl-NL" dirty="0"/>
              <a:t> of water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plate</a:t>
            </a:r>
            <a:r>
              <a:rPr lang="nl-NL" dirty="0"/>
              <a:t> of </a:t>
            </a:r>
            <a:r>
              <a:rPr lang="nl-NL" dirty="0" err="1"/>
              <a:t>rice</a:t>
            </a:r>
            <a:r>
              <a:rPr lang="nl-NL" dirty="0"/>
              <a:t>		2 </a:t>
            </a:r>
            <a:r>
              <a:rPr lang="nl-NL" dirty="0" err="1"/>
              <a:t>plates</a:t>
            </a:r>
            <a:r>
              <a:rPr lang="nl-NL" dirty="0"/>
              <a:t> of </a:t>
            </a:r>
            <a:r>
              <a:rPr lang="nl-NL" dirty="0" err="1"/>
              <a:t>rice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piece</a:t>
            </a:r>
            <a:r>
              <a:rPr lang="nl-NL" dirty="0"/>
              <a:t> of </a:t>
            </a:r>
            <a:r>
              <a:rPr lang="nl-NL" dirty="0" err="1"/>
              <a:t>advice</a:t>
            </a:r>
            <a:r>
              <a:rPr lang="nl-NL" dirty="0"/>
              <a:t>	2 </a:t>
            </a:r>
            <a:r>
              <a:rPr lang="nl-NL" dirty="0" err="1"/>
              <a:t>pieces</a:t>
            </a:r>
            <a:r>
              <a:rPr lang="nl-NL" dirty="0"/>
              <a:t> of </a:t>
            </a:r>
            <a:r>
              <a:rPr lang="nl-NL" dirty="0" err="1"/>
              <a:t>advice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piece</a:t>
            </a:r>
            <a:r>
              <a:rPr lang="nl-NL" dirty="0"/>
              <a:t> of </a:t>
            </a:r>
            <a:r>
              <a:rPr lang="nl-NL" dirty="0" err="1"/>
              <a:t>furniture</a:t>
            </a:r>
            <a:r>
              <a:rPr lang="nl-NL" dirty="0"/>
              <a:t>	2 </a:t>
            </a:r>
            <a:r>
              <a:rPr lang="nl-NL" dirty="0" err="1"/>
              <a:t>pieces</a:t>
            </a:r>
            <a:r>
              <a:rPr lang="nl-NL" dirty="0"/>
              <a:t> of </a:t>
            </a:r>
            <a:r>
              <a:rPr lang="nl-NL" dirty="0" err="1"/>
              <a:t>furniture</a:t>
            </a:r>
            <a:endParaRPr lang="nl-NL" dirty="0"/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to </a:t>
            </a:r>
            <a:r>
              <a:rPr lang="nl-NL" dirty="0" err="1"/>
              <a:t>know</a:t>
            </a:r>
            <a:endParaRPr lang="nl-NL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to </a:t>
            </a:r>
            <a:r>
              <a:rPr lang="nl-NL" dirty="0" err="1"/>
              <a:t>indicate</a:t>
            </a:r>
            <a:r>
              <a:rPr lang="nl-NL" dirty="0"/>
              <a:t> a </a:t>
            </a:r>
            <a:r>
              <a:rPr lang="nl-NL" dirty="0" err="1"/>
              <a:t>quantity</a:t>
            </a:r>
            <a:r>
              <a:rPr lang="nl-NL" dirty="0"/>
              <a:t> without </a:t>
            </a:r>
            <a:r>
              <a:rPr lang="nl-NL" dirty="0" err="1"/>
              <a:t>an</a:t>
            </a:r>
            <a:r>
              <a:rPr lang="nl-NL" dirty="0"/>
              <a:t> exact </a:t>
            </a:r>
            <a:r>
              <a:rPr lang="nl-NL" dirty="0" err="1"/>
              <a:t>number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have different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countable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uncountable</a:t>
            </a:r>
            <a:r>
              <a:rPr lang="nl-NL" dirty="0"/>
              <a:t> </a:t>
            </a:r>
            <a:r>
              <a:rPr lang="nl-NL" dirty="0" err="1"/>
              <a:t>words</a:t>
            </a:r>
            <a:endParaRPr lang="nl-NL" b="1" dirty="0"/>
          </a:p>
          <a:p>
            <a:pPr lvl="1"/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Which expression of quantity?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nl-NL" dirty="0" err="1"/>
              <a:t>Countable</a:t>
            </a:r>
            <a:endParaRPr lang="nl-NL" dirty="0"/>
          </a:p>
          <a:p>
            <a:pPr lvl="1"/>
            <a:r>
              <a:rPr lang="nl-NL" dirty="0" err="1"/>
              <a:t>Many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More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Most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endParaRPr lang="nl-NL" dirty="0"/>
          </a:p>
          <a:p>
            <a:pPr lvl="1"/>
            <a:r>
              <a:rPr lang="nl-NL" dirty="0"/>
              <a:t>Few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Fewer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(the) </a:t>
            </a:r>
            <a:r>
              <a:rPr lang="nl-NL" dirty="0" err="1"/>
              <a:t>fewest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nl-NL" dirty="0" err="1"/>
              <a:t>Uncountable</a:t>
            </a:r>
            <a:endParaRPr lang="nl-NL" dirty="0"/>
          </a:p>
          <a:p>
            <a:pPr lvl="1"/>
            <a:r>
              <a:rPr lang="nl-NL" dirty="0" err="1"/>
              <a:t>Much</a:t>
            </a:r>
            <a:r>
              <a:rPr lang="nl-NL" dirty="0"/>
              <a:t> (water)</a:t>
            </a:r>
          </a:p>
          <a:p>
            <a:pPr lvl="1"/>
            <a:r>
              <a:rPr lang="nl-NL" dirty="0"/>
              <a:t>More (water)</a:t>
            </a:r>
          </a:p>
          <a:p>
            <a:pPr lvl="1"/>
            <a:r>
              <a:rPr lang="nl-NL" dirty="0"/>
              <a:t>Most (water)</a:t>
            </a:r>
          </a:p>
          <a:p>
            <a:endParaRPr lang="nl-NL" dirty="0"/>
          </a:p>
          <a:p>
            <a:pPr lvl="1"/>
            <a:r>
              <a:rPr lang="nl-NL" dirty="0" err="1"/>
              <a:t>Little</a:t>
            </a:r>
            <a:r>
              <a:rPr lang="nl-NL" dirty="0"/>
              <a:t> (water)</a:t>
            </a:r>
          </a:p>
          <a:p>
            <a:pPr lvl="1"/>
            <a:r>
              <a:rPr lang="nl-NL" dirty="0" err="1"/>
              <a:t>Less</a:t>
            </a:r>
            <a:r>
              <a:rPr lang="nl-NL" dirty="0"/>
              <a:t> (water)</a:t>
            </a:r>
          </a:p>
          <a:p>
            <a:pPr lvl="1"/>
            <a:r>
              <a:rPr lang="nl-NL" dirty="0"/>
              <a:t>(the) </a:t>
            </a:r>
            <a:r>
              <a:rPr lang="nl-NL" dirty="0" err="1"/>
              <a:t>least</a:t>
            </a:r>
            <a:r>
              <a:rPr lang="nl-NL" dirty="0"/>
              <a:t> (water)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Compare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 err="1"/>
              <a:t>Much</a:t>
            </a:r>
            <a:r>
              <a:rPr lang="nl-NL" dirty="0"/>
              <a:t> water,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 err="1"/>
              <a:t>many</a:t>
            </a:r>
            <a:r>
              <a:rPr lang="nl-NL" dirty="0"/>
              <a:t> </a:t>
            </a:r>
            <a:r>
              <a:rPr lang="nl-NL" dirty="0" err="1"/>
              <a:t>bottles</a:t>
            </a:r>
            <a:r>
              <a:rPr lang="nl-NL" dirty="0"/>
              <a:t> of water</a:t>
            </a:r>
          </a:p>
          <a:p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coffee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/>
              <a:t>few</a:t>
            </a:r>
            <a:r>
              <a:rPr lang="nl-NL" dirty="0"/>
              <a:t> cups of </a:t>
            </a:r>
            <a:r>
              <a:rPr lang="nl-NL" dirty="0" err="1"/>
              <a:t>coffee</a:t>
            </a:r>
            <a:endParaRPr lang="nl-NL" dirty="0"/>
          </a:p>
          <a:p>
            <a:r>
              <a:rPr lang="nl-NL" b="1" dirty="0" err="1"/>
              <a:t>Fewer</a:t>
            </a:r>
            <a:r>
              <a:rPr lang="nl-NL" dirty="0"/>
              <a:t> </a:t>
            </a:r>
            <a:r>
              <a:rPr lang="nl-NL" dirty="0" err="1"/>
              <a:t>chairs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 err="1"/>
              <a:t>less</a:t>
            </a:r>
            <a:r>
              <a:rPr lang="nl-NL" dirty="0"/>
              <a:t> </a:t>
            </a:r>
            <a:r>
              <a:rPr lang="nl-NL" dirty="0" err="1"/>
              <a:t>furniture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countable</a:t>
            </a:r>
            <a:r>
              <a:rPr lang="nl-NL" dirty="0"/>
              <a:t> </a:t>
            </a:r>
            <a:r>
              <a:rPr lang="nl-NL" dirty="0" err="1"/>
              <a:t>nouns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‘</a:t>
            </a:r>
            <a:r>
              <a:rPr lang="nl-NL" b="1" dirty="0" err="1"/>
              <a:t>small</a:t>
            </a:r>
            <a:r>
              <a:rPr lang="nl-NL" dirty="0"/>
              <a:t>’:</a:t>
            </a:r>
          </a:p>
          <a:p>
            <a:pPr lvl="1"/>
            <a:r>
              <a:rPr lang="nl-NL" dirty="0"/>
              <a:t> a </a:t>
            </a:r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bottle</a:t>
            </a:r>
            <a:r>
              <a:rPr lang="nl-NL" dirty="0"/>
              <a:t>,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bottles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/>
              <a:t>Expressions that can be used for both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nl-NL" dirty="0"/>
              <a:t>A lot of 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A lot of dollars, a lot of money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dirty="0"/>
          </a:p>
          <a:p>
            <a:pPr>
              <a:lnSpc>
                <a:spcPct val="90000"/>
              </a:lnSpc>
            </a:pP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enough</a:t>
            </a:r>
            <a:endParaRPr lang="nl-NL" dirty="0"/>
          </a:p>
          <a:p>
            <a:pPr lvl="1">
              <a:lnSpc>
                <a:spcPct val="90000"/>
              </a:lnSpc>
            </a:pP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enough</a:t>
            </a:r>
            <a:r>
              <a:rPr lang="nl-NL" dirty="0"/>
              <a:t> </a:t>
            </a:r>
            <a:r>
              <a:rPr lang="nl-NL" dirty="0" err="1"/>
              <a:t>bottles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enough</a:t>
            </a:r>
            <a:r>
              <a:rPr lang="nl-NL" dirty="0"/>
              <a:t> water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dirty="0"/>
          </a:p>
          <a:p>
            <a:pPr>
              <a:lnSpc>
                <a:spcPct val="90000"/>
              </a:lnSpc>
            </a:pPr>
            <a:r>
              <a:rPr lang="nl-NL" dirty="0" err="1"/>
              <a:t>Plenty</a:t>
            </a:r>
            <a:r>
              <a:rPr lang="nl-NL" dirty="0"/>
              <a:t> of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Plenty of cups, plenty of coffee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dirty="0"/>
          </a:p>
          <a:p>
            <a:pPr>
              <a:lnSpc>
                <a:spcPct val="90000"/>
              </a:lnSpc>
            </a:pPr>
            <a:r>
              <a:rPr lang="nl-NL" dirty="0" err="1"/>
              <a:t>Hardly</a:t>
            </a:r>
            <a:r>
              <a:rPr lang="nl-NL" dirty="0"/>
              <a:t> </a:t>
            </a:r>
            <a:r>
              <a:rPr lang="nl-NL" dirty="0" err="1"/>
              <a:t>any</a:t>
            </a:r>
            <a:endParaRPr lang="nl-NL" dirty="0"/>
          </a:p>
          <a:p>
            <a:pPr lvl="1">
              <a:lnSpc>
                <a:spcPct val="90000"/>
              </a:lnSpc>
            </a:pPr>
            <a:r>
              <a:rPr lang="nl-NL" dirty="0" err="1"/>
              <a:t>Hardly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chairs</a:t>
            </a:r>
            <a:r>
              <a:rPr lang="nl-NL" dirty="0"/>
              <a:t>, </a:t>
            </a:r>
            <a:r>
              <a:rPr lang="nl-NL" dirty="0" err="1"/>
              <a:t>hardly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furniture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072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Possession</a:t>
            </a:r>
          </a:p>
        </p:txBody>
      </p:sp>
    </p:spTree>
    <p:extLst>
      <p:ext uri="{BB962C8B-B14F-4D97-AF65-F5344CB8AC3E}">
        <p14:creationId xmlns:p14="http://schemas.microsoft.com/office/powerpoint/2010/main" val="3674188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How</a:t>
            </a:r>
            <a:r>
              <a:rPr lang="nl-NL" dirty="0"/>
              <a:t> to </a:t>
            </a:r>
            <a:r>
              <a:rPr lang="nl-NL" dirty="0" err="1"/>
              <a:t>indicate</a:t>
            </a:r>
            <a:r>
              <a:rPr lang="nl-NL" dirty="0"/>
              <a:t> </a:t>
            </a:r>
            <a:r>
              <a:rPr lang="nl-NL" dirty="0" err="1"/>
              <a:t>possession</a:t>
            </a:r>
            <a:endParaRPr lang="nl-NL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Possession</a:t>
            </a:r>
            <a:endParaRPr lang="nl-NL" dirty="0"/>
          </a:p>
          <a:p>
            <a:pPr lvl="1"/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belongs</a:t>
            </a:r>
            <a:r>
              <a:rPr lang="nl-NL" dirty="0"/>
              <a:t> to </a:t>
            </a:r>
            <a:r>
              <a:rPr lang="nl-NL" dirty="0" err="1"/>
              <a:t>someone</a:t>
            </a:r>
            <a:r>
              <a:rPr lang="nl-NL" dirty="0"/>
              <a:t> </a:t>
            </a:r>
            <a:r>
              <a:rPr lang="nl-NL" dirty="0" err="1"/>
              <a:t>else</a:t>
            </a:r>
            <a:endParaRPr lang="nl-NL" dirty="0"/>
          </a:p>
          <a:p>
            <a:pPr lvl="1"/>
            <a:r>
              <a:rPr lang="nl-NL" dirty="0" err="1"/>
              <a:t>something</a:t>
            </a:r>
            <a:r>
              <a:rPr lang="nl-NL" dirty="0"/>
              <a:t> is part of </a:t>
            </a:r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else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How to indicate possession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Three basic rules</a:t>
            </a:r>
            <a:r>
              <a:rPr lang="en-US" sz="4000" dirty="0"/>
              <a:t>:</a:t>
            </a:r>
          </a:p>
          <a:p>
            <a:pPr eaLnBrk="1" hangingPunct="1"/>
            <a:r>
              <a:rPr lang="en-US" dirty="0"/>
              <a:t>if there’s one: + -</a:t>
            </a:r>
            <a:r>
              <a:rPr lang="en-US" dirty="0">
                <a:solidFill>
                  <a:srgbClr val="FF0000"/>
                </a:solidFill>
              </a:rPr>
              <a:t>‘s </a:t>
            </a:r>
          </a:p>
          <a:p>
            <a:pPr lvl="1" eaLnBrk="1" hangingPunct="1"/>
            <a:r>
              <a:rPr lang="en-US" dirty="0"/>
              <a:t>my sister</a:t>
            </a:r>
            <a:r>
              <a:rPr lang="en-US" dirty="0">
                <a:solidFill>
                  <a:srgbClr val="FF0000"/>
                </a:solidFill>
              </a:rPr>
              <a:t>’s</a:t>
            </a:r>
            <a:r>
              <a:rPr lang="en-US" dirty="0"/>
              <a:t> name</a:t>
            </a:r>
          </a:p>
          <a:p>
            <a:pPr eaLnBrk="1" hangingPunct="1"/>
            <a:r>
              <a:rPr lang="en-US" dirty="0"/>
              <a:t>if there’s more than one: + -</a:t>
            </a:r>
            <a:r>
              <a:rPr lang="en-US" dirty="0">
                <a:solidFill>
                  <a:srgbClr val="FF0000"/>
                </a:solidFill>
              </a:rPr>
              <a:t>‘</a:t>
            </a:r>
            <a:r>
              <a:rPr lang="en-US" dirty="0"/>
              <a:t> </a:t>
            </a:r>
          </a:p>
          <a:p>
            <a:pPr lvl="1" eaLnBrk="1" hangingPunct="1"/>
            <a:r>
              <a:rPr lang="en-US" dirty="0"/>
              <a:t>my sisters</a:t>
            </a:r>
            <a:r>
              <a:rPr lang="en-US" dirty="0">
                <a:solidFill>
                  <a:srgbClr val="FF0000"/>
                </a:solidFill>
              </a:rPr>
              <a:t>’</a:t>
            </a:r>
            <a:r>
              <a:rPr lang="en-US" dirty="0"/>
              <a:t> names </a:t>
            </a:r>
          </a:p>
          <a:p>
            <a:pPr eaLnBrk="1" hangingPunct="1"/>
            <a:r>
              <a:rPr lang="en-US" dirty="0"/>
              <a:t>irregular forms: + -</a:t>
            </a:r>
            <a:r>
              <a:rPr lang="en-US" dirty="0">
                <a:solidFill>
                  <a:srgbClr val="FF0000"/>
                </a:solidFill>
              </a:rPr>
              <a:t>‘s</a:t>
            </a:r>
          </a:p>
          <a:p>
            <a:pPr lvl="1" eaLnBrk="1" hangingPunct="1"/>
            <a:r>
              <a:rPr lang="en-US" dirty="0"/>
              <a:t>the children</a:t>
            </a:r>
            <a:r>
              <a:rPr lang="en-US" dirty="0">
                <a:solidFill>
                  <a:srgbClr val="FF0000"/>
                </a:solidFill>
              </a:rPr>
              <a:t>’s</a:t>
            </a:r>
            <a:r>
              <a:rPr lang="en-US" dirty="0"/>
              <a:t> names </a:t>
            </a:r>
          </a:p>
          <a:p>
            <a:pPr marL="366713" lvl="1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How</a:t>
            </a:r>
            <a:r>
              <a:rPr lang="nl-NL" dirty="0"/>
              <a:t> to </a:t>
            </a:r>
            <a:r>
              <a:rPr lang="nl-NL" dirty="0" err="1"/>
              <a:t>indicate</a:t>
            </a:r>
            <a:r>
              <a:rPr lang="nl-NL" dirty="0"/>
              <a:t> </a:t>
            </a:r>
            <a:r>
              <a:rPr lang="nl-NL" dirty="0" err="1"/>
              <a:t>possession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/>
              <a:t>Special case: </a:t>
            </a:r>
            <a:r>
              <a:rPr lang="nl-NL" dirty="0" err="1"/>
              <a:t>names</a:t>
            </a:r>
            <a:r>
              <a:rPr lang="nl-NL" dirty="0"/>
              <a:t> </a:t>
            </a:r>
            <a:r>
              <a:rPr lang="nl-NL" dirty="0" err="1"/>
              <a:t>ending</a:t>
            </a:r>
            <a:r>
              <a:rPr lang="nl-NL" dirty="0"/>
              <a:t> in –s</a:t>
            </a:r>
          </a:p>
          <a:p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-</a:t>
            </a:r>
            <a:r>
              <a:rPr lang="nl-NL" dirty="0">
                <a:solidFill>
                  <a:srgbClr val="FF0000"/>
                </a:solidFill>
              </a:rPr>
              <a:t>‘s </a:t>
            </a:r>
            <a:r>
              <a:rPr lang="nl-NL" dirty="0" err="1"/>
              <a:t>or</a:t>
            </a:r>
            <a:r>
              <a:rPr lang="nl-NL" dirty="0"/>
              <a:t> -</a:t>
            </a:r>
            <a:r>
              <a:rPr lang="nl-NL" dirty="0">
                <a:solidFill>
                  <a:srgbClr val="FF0000"/>
                </a:solidFill>
              </a:rPr>
              <a:t>’</a:t>
            </a:r>
          </a:p>
          <a:p>
            <a:pPr lvl="1"/>
            <a:r>
              <a:rPr lang="nl-NL" dirty="0" err="1"/>
              <a:t>Thomas</a:t>
            </a:r>
            <a:r>
              <a:rPr lang="nl-NL" dirty="0" err="1">
                <a:solidFill>
                  <a:srgbClr val="FF0000"/>
                </a:solidFill>
              </a:rPr>
              <a:t>’s</a:t>
            </a:r>
            <a:r>
              <a:rPr lang="nl-NL" dirty="0"/>
              <a:t> </a:t>
            </a:r>
            <a:r>
              <a:rPr lang="nl-NL" dirty="0" err="1"/>
              <a:t>book</a:t>
            </a:r>
            <a:r>
              <a:rPr lang="nl-NL" dirty="0"/>
              <a:t>		Thomas</a:t>
            </a:r>
            <a:r>
              <a:rPr lang="nl-NL" dirty="0">
                <a:solidFill>
                  <a:srgbClr val="FF0000"/>
                </a:solidFill>
              </a:rPr>
              <a:t>’</a:t>
            </a:r>
            <a:r>
              <a:rPr lang="nl-NL" dirty="0"/>
              <a:t> </a:t>
            </a:r>
            <a:r>
              <a:rPr lang="nl-NL" dirty="0" err="1"/>
              <a:t>book</a:t>
            </a:r>
            <a:endParaRPr lang="nl-NL" dirty="0"/>
          </a:p>
          <a:p>
            <a:pPr lvl="1"/>
            <a:r>
              <a:rPr lang="nl-NL" dirty="0" err="1"/>
              <a:t>James</a:t>
            </a:r>
            <a:r>
              <a:rPr lang="nl-NL" dirty="0" err="1">
                <a:solidFill>
                  <a:srgbClr val="FF0000"/>
                </a:solidFill>
              </a:rPr>
              <a:t>’s</a:t>
            </a:r>
            <a:r>
              <a:rPr lang="nl-NL" dirty="0"/>
              <a:t> dog		James</a:t>
            </a:r>
            <a:r>
              <a:rPr lang="nl-NL" dirty="0">
                <a:solidFill>
                  <a:srgbClr val="FF0000"/>
                </a:solidFill>
              </a:rPr>
              <a:t>’</a:t>
            </a:r>
            <a:r>
              <a:rPr lang="nl-NL" dirty="0"/>
              <a:t> dog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How</a:t>
            </a:r>
            <a:r>
              <a:rPr lang="nl-NL" dirty="0"/>
              <a:t> to </a:t>
            </a:r>
            <a:r>
              <a:rPr lang="nl-NL" dirty="0" err="1"/>
              <a:t>indicate</a:t>
            </a:r>
            <a:r>
              <a:rPr lang="nl-NL" dirty="0"/>
              <a:t> </a:t>
            </a:r>
            <a:r>
              <a:rPr lang="nl-NL" dirty="0" err="1"/>
              <a:t>possession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People</a:t>
            </a:r>
            <a:r>
              <a:rPr lang="nl-NL" dirty="0"/>
              <a:t>/</a:t>
            </a:r>
            <a:r>
              <a:rPr lang="nl-NL" dirty="0" err="1"/>
              <a:t>animals</a:t>
            </a:r>
            <a:r>
              <a:rPr lang="nl-NL" dirty="0"/>
              <a:t>: -’s / -’</a:t>
            </a:r>
          </a:p>
          <a:p>
            <a:pPr lvl="1"/>
            <a:r>
              <a:rPr lang="nl-NL" dirty="0"/>
              <a:t>My </a:t>
            </a:r>
            <a:r>
              <a:rPr lang="nl-NL" dirty="0" err="1"/>
              <a:t>sister’s</a:t>
            </a:r>
            <a:r>
              <a:rPr lang="nl-NL" dirty="0"/>
              <a:t> name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dog’s</a:t>
            </a:r>
            <a:r>
              <a:rPr lang="nl-NL" dirty="0"/>
              <a:t> </a:t>
            </a:r>
            <a:r>
              <a:rPr lang="nl-NL" dirty="0" err="1"/>
              <a:t>bone</a:t>
            </a:r>
            <a:endParaRPr lang="nl-NL" dirty="0"/>
          </a:p>
          <a:p>
            <a:pPr lvl="1"/>
            <a:r>
              <a:rPr lang="nl-NL" dirty="0"/>
              <a:t>John’s bike</a:t>
            </a:r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Also</a:t>
            </a:r>
            <a:r>
              <a:rPr lang="nl-NL" dirty="0"/>
              <a:t> in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expressions</a:t>
            </a:r>
            <a:endParaRPr lang="nl-NL" dirty="0"/>
          </a:p>
          <a:p>
            <a:pPr lvl="1"/>
            <a:r>
              <a:rPr lang="nl-NL" dirty="0" err="1"/>
              <a:t>Yesterday’s</a:t>
            </a:r>
            <a:r>
              <a:rPr lang="nl-NL" dirty="0"/>
              <a:t> paper</a:t>
            </a:r>
          </a:p>
          <a:p>
            <a:pPr lvl="1"/>
            <a:r>
              <a:rPr lang="nl-NL" dirty="0"/>
              <a:t>At the </a:t>
            </a:r>
            <a:r>
              <a:rPr lang="nl-NL" dirty="0" err="1"/>
              <a:t>baker’s</a:t>
            </a:r>
            <a:endParaRPr lang="nl-NL" dirty="0"/>
          </a:p>
          <a:p>
            <a:pPr lvl="1"/>
            <a:r>
              <a:rPr lang="nl-NL" dirty="0"/>
              <a:t>A </a:t>
            </a:r>
            <a:r>
              <a:rPr lang="nl-NL" dirty="0" err="1"/>
              <a:t>winter’s</a:t>
            </a:r>
            <a:r>
              <a:rPr lang="nl-NL" dirty="0"/>
              <a:t> </a:t>
            </a:r>
            <a:r>
              <a:rPr lang="nl-NL" dirty="0" err="1"/>
              <a:t>tale</a:t>
            </a:r>
            <a:endParaRPr lang="nl-NL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 err="1"/>
              <a:t>Things</a:t>
            </a:r>
            <a:r>
              <a:rPr lang="nl-NL" dirty="0"/>
              <a:t>: the … of …</a:t>
            </a:r>
          </a:p>
          <a:p>
            <a:pPr lvl="1"/>
            <a:r>
              <a:rPr lang="nl-NL" dirty="0"/>
              <a:t>The name of the </a:t>
            </a:r>
            <a:r>
              <a:rPr lang="nl-NL" dirty="0" err="1"/>
              <a:t>book</a:t>
            </a:r>
            <a:endParaRPr lang="nl-NL" dirty="0"/>
          </a:p>
          <a:p>
            <a:pPr lvl="1"/>
            <a:r>
              <a:rPr lang="nl-NL" dirty="0"/>
              <a:t>The roof of the house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weight</a:t>
            </a:r>
            <a:r>
              <a:rPr lang="nl-NL" dirty="0"/>
              <a:t> of the </a:t>
            </a:r>
            <a:r>
              <a:rPr lang="nl-NL" dirty="0" err="1"/>
              <a:t>statue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Dutch Interference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sz="4000" dirty="0"/>
              <a:t>Jan </a:t>
            </a:r>
            <a:r>
              <a:rPr lang="en-US" sz="4000" dirty="0" err="1"/>
              <a:t>z’n</a:t>
            </a:r>
            <a:r>
              <a:rPr lang="en-US" sz="4000" dirty="0"/>
              <a:t> </a:t>
            </a:r>
            <a:r>
              <a:rPr lang="en-US" sz="4000" dirty="0" err="1"/>
              <a:t>fiets</a:t>
            </a:r>
            <a:r>
              <a:rPr lang="en-US" sz="4000" dirty="0"/>
              <a:t> ≠ *John his bike.</a:t>
            </a:r>
            <a:br>
              <a:rPr lang="en-US" sz="4000" dirty="0"/>
            </a:br>
            <a:endParaRPr lang="en-US" sz="4000" dirty="0"/>
          </a:p>
          <a:p>
            <a:pPr eaLnBrk="1" hangingPunct="1"/>
            <a:r>
              <a:rPr lang="en-US" sz="4000" dirty="0"/>
              <a:t>De </a:t>
            </a:r>
            <a:r>
              <a:rPr lang="en-US" sz="4000" dirty="0" err="1"/>
              <a:t>fiets</a:t>
            </a:r>
            <a:r>
              <a:rPr lang="en-US" sz="4000" dirty="0"/>
              <a:t> van Jan ≠ *The bike of John. </a:t>
            </a:r>
          </a:p>
          <a:p>
            <a:pPr eaLnBrk="1" hangingPunct="1"/>
            <a:endParaRPr lang="en-US" sz="4000" dirty="0"/>
          </a:p>
          <a:p>
            <a:pPr eaLnBrk="1" hangingPunct="1"/>
            <a:r>
              <a:rPr lang="en-US" sz="4000" dirty="0" err="1"/>
              <a:t>Jans</a:t>
            </a:r>
            <a:r>
              <a:rPr lang="en-US" sz="4000" dirty="0"/>
              <a:t> </a:t>
            </a:r>
            <a:r>
              <a:rPr lang="en-US" sz="4000" dirty="0" err="1"/>
              <a:t>fiets</a:t>
            </a:r>
            <a:r>
              <a:rPr lang="en-US" sz="4000" dirty="0"/>
              <a:t> ≠ *Johns bike </a:t>
            </a:r>
            <a:br>
              <a:rPr lang="en-US" sz="4000" dirty="0"/>
            </a:br>
            <a:endParaRPr lang="en-US" sz="4000" dirty="0"/>
          </a:p>
          <a:p>
            <a:pPr eaLnBrk="1" hangingPunct="1"/>
            <a:r>
              <a:rPr lang="en-US" sz="4000" dirty="0">
                <a:sym typeface="Wingdings" pitchFamily="2" charset="2"/>
              </a:rPr>
              <a:t> John’s bike.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63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035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Agreement</a:t>
            </a:r>
          </a:p>
        </p:txBody>
      </p:sp>
    </p:spTree>
    <p:extLst>
      <p:ext uri="{BB962C8B-B14F-4D97-AF65-F5344CB8AC3E}">
        <p14:creationId xmlns:p14="http://schemas.microsoft.com/office/powerpoint/2010/main" val="4183345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/>
              <a:t>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4000" dirty="0"/>
              <a:t> </a:t>
            </a:r>
          </a:p>
          <a:p>
            <a:pPr eaLnBrk="1" hangingPunct="1"/>
            <a:r>
              <a:rPr lang="en-US" sz="3200" dirty="0"/>
              <a:t>1</a:t>
            </a:r>
            <a:r>
              <a:rPr lang="en-US" sz="3200" baseline="30000" dirty="0"/>
              <a:t>st</a:t>
            </a:r>
            <a:r>
              <a:rPr lang="en-US" sz="3200" dirty="0"/>
              <a:t> person: 	</a:t>
            </a:r>
            <a:r>
              <a:rPr lang="en-US" sz="3200" i="1" dirty="0"/>
              <a:t>I </a:t>
            </a:r>
            <a:r>
              <a:rPr lang="en-US" sz="3200" b="1" i="1" dirty="0"/>
              <a:t>make</a:t>
            </a:r>
            <a:r>
              <a:rPr lang="en-US" sz="3200" i="1" dirty="0"/>
              <a:t> a table. </a:t>
            </a:r>
          </a:p>
          <a:p>
            <a:pPr eaLnBrk="1" hangingPunct="1"/>
            <a:r>
              <a:rPr lang="en-US" sz="3200" dirty="0"/>
              <a:t>2</a:t>
            </a:r>
            <a:r>
              <a:rPr lang="en-US" sz="3200" baseline="30000" dirty="0"/>
              <a:t>nd</a:t>
            </a:r>
            <a:r>
              <a:rPr lang="en-US" sz="3200" dirty="0"/>
              <a:t> person:	</a:t>
            </a:r>
            <a:r>
              <a:rPr lang="en-US" sz="3200" i="1" dirty="0"/>
              <a:t>You </a:t>
            </a:r>
            <a:r>
              <a:rPr lang="en-US" sz="3200" b="1" i="1" dirty="0"/>
              <a:t>make </a:t>
            </a:r>
            <a:r>
              <a:rPr lang="en-US" sz="3200" i="1" dirty="0"/>
              <a:t>a table. </a:t>
            </a:r>
          </a:p>
          <a:p>
            <a:pPr eaLnBrk="1" hangingPunct="1"/>
            <a:r>
              <a:rPr lang="en-US" sz="3200" dirty="0"/>
              <a:t>3</a:t>
            </a:r>
            <a:r>
              <a:rPr lang="en-US" sz="3200" baseline="30000" dirty="0"/>
              <a:t>rd</a:t>
            </a:r>
            <a:r>
              <a:rPr lang="en-US" sz="3200" dirty="0"/>
              <a:t> person:	</a:t>
            </a:r>
            <a:r>
              <a:rPr lang="en-US" sz="3200" i="1" dirty="0"/>
              <a:t>He/she/it </a:t>
            </a:r>
            <a:r>
              <a:rPr lang="en-US" sz="3200" b="1" i="1" dirty="0"/>
              <a:t>makes</a:t>
            </a:r>
            <a:r>
              <a:rPr lang="en-US" sz="3200" i="1" dirty="0"/>
              <a:t> a table. </a:t>
            </a:r>
          </a:p>
          <a:p>
            <a:pPr eaLnBrk="1" hangingPunct="1">
              <a:buFont typeface="Wingdings" pitchFamily="2" charset="2"/>
              <a:buNone/>
            </a:pPr>
            <a:endParaRPr lang="nl-NL" sz="3200" i="1" dirty="0"/>
          </a:p>
          <a:p>
            <a:pPr eaLnBrk="1" hangingPunct="1"/>
            <a:r>
              <a:rPr lang="nl-NL" sz="3200" dirty="0" err="1"/>
              <a:t>Singular</a:t>
            </a:r>
            <a:r>
              <a:rPr lang="nl-NL" sz="3200" dirty="0"/>
              <a:t>: 	</a:t>
            </a:r>
            <a:r>
              <a:rPr lang="nl-NL" sz="3200" i="1" dirty="0" err="1"/>
              <a:t>That</a:t>
            </a:r>
            <a:r>
              <a:rPr lang="nl-NL" sz="3200" i="1" dirty="0"/>
              <a:t> machine </a:t>
            </a:r>
            <a:r>
              <a:rPr lang="nl-NL" sz="3200" b="1" i="1" dirty="0" err="1"/>
              <a:t>makes</a:t>
            </a:r>
            <a:r>
              <a:rPr lang="nl-NL" sz="3200" b="1" i="1" dirty="0"/>
              <a:t> </a:t>
            </a:r>
            <a:r>
              <a:rPr lang="nl-NL" sz="3200" i="1" dirty="0" err="1"/>
              <a:t>tables</a:t>
            </a:r>
            <a:r>
              <a:rPr lang="nl-NL" sz="3200" i="1" dirty="0"/>
              <a:t>.</a:t>
            </a:r>
          </a:p>
          <a:p>
            <a:pPr eaLnBrk="1" hangingPunct="1"/>
            <a:r>
              <a:rPr lang="nl-NL" sz="3200" dirty="0" err="1"/>
              <a:t>Plural</a:t>
            </a:r>
            <a:r>
              <a:rPr lang="nl-NL" sz="3200" dirty="0"/>
              <a:t>: 		</a:t>
            </a:r>
            <a:r>
              <a:rPr lang="nl-NL" sz="3200" i="1" dirty="0" err="1"/>
              <a:t>Those</a:t>
            </a:r>
            <a:r>
              <a:rPr lang="nl-NL" sz="3200" i="1" dirty="0"/>
              <a:t> machines </a:t>
            </a:r>
            <a:r>
              <a:rPr lang="nl-NL" sz="3200" b="1" i="1" dirty="0"/>
              <a:t>make </a:t>
            </a:r>
            <a:r>
              <a:rPr lang="nl-NL" sz="3200" i="1" dirty="0" err="1"/>
              <a:t>tables</a:t>
            </a:r>
            <a:r>
              <a:rPr lang="nl-NL" sz="3200" i="1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68733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Agreement – Uncountable Nouns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4000"/>
              <a:t>Take a singular verb</a:t>
            </a:r>
            <a:r>
              <a:rPr lang="en-US" sz="3600"/>
              <a:t>:</a:t>
            </a:r>
          </a:p>
          <a:p>
            <a:pPr eaLnBrk="1" hangingPunct="1"/>
            <a:r>
              <a:rPr lang="en-US" sz="3200" b="1" i="1"/>
              <a:t>Water flows</a:t>
            </a:r>
            <a:r>
              <a:rPr lang="en-US" sz="3200" i="1"/>
              <a:t> through the pipes.</a:t>
            </a:r>
          </a:p>
          <a:p>
            <a:pPr eaLnBrk="1" hangingPunct="1"/>
            <a:r>
              <a:rPr lang="en-US" sz="3200" b="1" i="1"/>
              <a:t>Money makes</a:t>
            </a:r>
            <a:r>
              <a:rPr lang="en-US" sz="3200" i="1"/>
              <a:t> the world go round.</a:t>
            </a:r>
          </a:p>
          <a:p>
            <a:pPr eaLnBrk="1" hangingPunct="1"/>
            <a:endParaRPr lang="en-US"/>
          </a:p>
          <a:p>
            <a:pPr eaLnBrk="1" hangingPunct="1">
              <a:buFont typeface="Wingdings" pitchFamily="2" charset="2"/>
              <a:buNone/>
            </a:pPr>
            <a:endParaRPr lang="en-US" sz="4000"/>
          </a:p>
          <a:p>
            <a:pPr eaLnBrk="1" hangingPunct="1"/>
            <a:endParaRPr lang="en-US" sz="3200" i="1"/>
          </a:p>
          <a:p>
            <a:pPr eaLnBrk="1" hangingPunct="1">
              <a:buFont typeface="Wingdings" pitchFamily="2" charset="2"/>
              <a:buNone/>
            </a:pP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72668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/>
              <a:t>Singular and Plural Subjects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4000" dirty="0"/>
              <a:t>Linked subjects take a plural verb: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/>
              <a:t>Simon and Anita </a:t>
            </a:r>
            <a:r>
              <a:rPr lang="en-US" sz="3200" b="1" i="1" dirty="0"/>
              <a:t>go</a:t>
            </a:r>
            <a:r>
              <a:rPr lang="en-US" sz="3200" i="1" dirty="0"/>
              <a:t> sailing.</a:t>
            </a:r>
          </a:p>
          <a:p>
            <a:pPr eaLnBrk="1" hangingPunct="1">
              <a:buFont typeface="Wingdings" pitchFamily="2" charset="2"/>
              <a:buNone/>
            </a:pPr>
            <a:endParaRPr lang="en-US" sz="3200" i="1" dirty="0"/>
          </a:p>
          <a:p>
            <a:pPr eaLnBrk="1" hangingPunct="1">
              <a:buFont typeface="Wingdings" pitchFamily="2" charset="2"/>
              <a:buNone/>
            </a:pPr>
            <a:r>
              <a:rPr lang="en-US" sz="4000" dirty="0"/>
              <a:t>Two nouns, one idea take singular:</a:t>
            </a:r>
            <a:r>
              <a:rPr lang="en-US" sz="4000" i="1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/>
              <a:t>Bread and butter </a:t>
            </a:r>
            <a:r>
              <a:rPr lang="en-US" sz="3200" b="1" i="1" dirty="0"/>
              <a:t>was </a:t>
            </a:r>
            <a:r>
              <a:rPr lang="en-US" sz="3200" i="1" dirty="0"/>
              <a:t>all we had.</a:t>
            </a:r>
            <a:r>
              <a:rPr lang="en-US" sz="4000" i="1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40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5191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/>
              <a:t>Singular and Plural Subjects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351838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3600" dirty="0"/>
              <a:t>Measurement phrases take singular verb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/>
              <a:t>Ten miles </a:t>
            </a:r>
            <a:r>
              <a:rPr lang="en-US" sz="3200" b="1" i="1" dirty="0"/>
              <a:t>is </a:t>
            </a:r>
            <a:r>
              <a:rPr lang="en-US" sz="3200" i="1" dirty="0"/>
              <a:t>too far. </a:t>
            </a:r>
          </a:p>
          <a:p>
            <a:pPr eaLnBrk="1" hangingPunct="1">
              <a:buFont typeface="Wingdings" pitchFamily="2" charset="2"/>
              <a:buNone/>
            </a:pPr>
            <a:endParaRPr lang="en-US" sz="3200" i="1" dirty="0"/>
          </a:p>
          <a:p>
            <a:pPr eaLnBrk="1" hangingPunct="1">
              <a:buFont typeface="Wingdings" pitchFamily="2" charset="2"/>
              <a:buNone/>
            </a:pPr>
            <a:r>
              <a:rPr lang="en-US" sz="3600" dirty="0"/>
              <a:t>Names referring to one thing take singular verb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/>
              <a:t>The United States </a:t>
            </a:r>
            <a:r>
              <a:rPr lang="en-US" sz="3200" b="1" i="1" dirty="0"/>
              <a:t>has </a:t>
            </a:r>
            <a:r>
              <a:rPr lang="en-US" sz="3200" i="1" dirty="0"/>
              <a:t>strict laws. 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57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/>
              <a:t>Group Nouns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/>
              <a:t>Refers to a group of people</a:t>
            </a:r>
          </a:p>
          <a:p>
            <a:pPr lvl="1" eaLnBrk="1" hangingPunct="1"/>
            <a:r>
              <a:rPr lang="en-US" dirty="0"/>
              <a:t>Family, government, etc.</a:t>
            </a:r>
          </a:p>
          <a:p>
            <a:pPr eaLnBrk="1" hangingPunct="1"/>
            <a:r>
              <a:rPr lang="en-US" dirty="0"/>
              <a:t>Difference in UK or US</a:t>
            </a:r>
          </a:p>
          <a:p>
            <a:pPr lvl="1" eaLnBrk="1" hangingPunct="1"/>
            <a:r>
              <a:rPr lang="en-US" dirty="0"/>
              <a:t>UK: Our family </a:t>
            </a:r>
            <a:r>
              <a:rPr lang="en-US" b="1" dirty="0"/>
              <a:t>are</a:t>
            </a:r>
            <a:r>
              <a:rPr lang="en-US" dirty="0"/>
              <a:t> unable to plan a holiday. </a:t>
            </a:r>
            <a:br>
              <a:rPr lang="en-US" dirty="0"/>
            </a:br>
            <a:r>
              <a:rPr lang="en-US" dirty="0"/>
              <a:t>UK: The government </a:t>
            </a:r>
            <a:r>
              <a:rPr lang="en-US" b="1" dirty="0"/>
              <a:t>are</a:t>
            </a:r>
            <a:r>
              <a:rPr lang="en-US" dirty="0"/>
              <a:t> planning a tax reform. </a:t>
            </a:r>
          </a:p>
          <a:p>
            <a:pPr lvl="1" eaLnBrk="1" hangingPunct="1"/>
            <a:r>
              <a:rPr lang="en-US" dirty="0"/>
              <a:t>US: Our family </a:t>
            </a:r>
            <a:r>
              <a:rPr lang="en-US" b="1" dirty="0"/>
              <a:t>is</a:t>
            </a:r>
            <a:r>
              <a:rPr lang="en-US" dirty="0"/>
              <a:t> unable to plan a holiday. </a:t>
            </a:r>
            <a:br>
              <a:rPr lang="en-US" dirty="0"/>
            </a:br>
            <a:r>
              <a:rPr lang="en-US" dirty="0"/>
              <a:t>US: The government </a:t>
            </a:r>
            <a:r>
              <a:rPr lang="en-US" b="1" dirty="0"/>
              <a:t>is</a:t>
            </a:r>
            <a:r>
              <a:rPr lang="en-US" dirty="0"/>
              <a:t> planning a tax reform. </a:t>
            </a:r>
          </a:p>
          <a:p>
            <a:pPr eaLnBrk="1" hangingPunct="1"/>
            <a:r>
              <a:rPr lang="en-US" dirty="0"/>
              <a:t>But some group nouns always take plural</a:t>
            </a:r>
          </a:p>
          <a:p>
            <a:pPr lvl="1" eaLnBrk="1" hangingPunct="1"/>
            <a:r>
              <a:rPr lang="en-US" dirty="0"/>
              <a:t>Cattle, livestock, people, police and staff</a:t>
            </a:r>
          </a:p>
          <a:p>
            <a:pPr lvl="1" eaLnBrk="1" hangingPunct="1"/>
            <a:r>
              <a:rPr lang="en-US" dirty="0"/>
              <a:t>The police </a:t>
            </a:r>
            <a:r>
              <a:rPr lang="en-US" b="1" dirty="0"/>
              <a:t>are</a:t>
            </a:r>
            <a:r>
              <a:rPr lang="en-US" dirty="0"/>
              <a:t> coming to help us</a:t>
            </a:r>
            <a:br>
              <a:rPr lang="en-US" dirty="0"/>
            </a:br>
            <a:endParaRPr lang="en-US" dirty="0"/>
          </a:p>
          <a:p>
            <a:pPr eaLnBrk="1" hangingPunct="1"/>
            <a:endParaRPr lang="en-US" i="1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 2" pitchFamily="18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59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Technisch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8F8C35-1BF6-48A4-9AD1-A2125A793F09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1101</TotalTime>
  <Words>1283</Words>
  <Application>Microsoft Office PowerPoint</Application>
  <PresentationFormat>On-screen Show (4:3)</PresentationFormat>
  <Paragraphs>275</Paragraphs>
  <Slides>35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Tw Cen MT</vt:lpstr>
      <vt:lpstr>Wingdings</vt:lpstr>
      <vt:lpstr>Wingdings 2</vt:lpstr>
      <vt:lpstr>Median</vt:lpstr>
      <vt:lpstr>Grammar</vt:lpstr>
      <vt:lpstr>Nouns</vt:lpstr>
      <vt:lpstr>What is a noun?</vt:lpstr>
      <vt:lpstr>Nouns</vt:lpstr>
      <vt:lpstr>Important to know</vt:lpstr>
      <vt:lpstr>Forms</vt:lpstr>
      <vt:lpstr>Spelling Plurals</vt:lpstr>
      <vt:lpstr>Spelling Plurals</vt:lpstr>
      <vt:lpstr>Spelling Plurals</vt:lpstr>
      <vt:lpstr>Important note</vt:lpstr>
      <vt:lpstr>Irregular forms: people/body parts</vt:lpstr>
      <vt:lpstr>Irregular forms: animals</vt:lpstr>
      <vt:lpstr>Irregular forms: Latin or Greek</vt:lpstr>
      <vt:lpstr>Compound Nouns </vt:lpstr>
      <vt:lpstr>Remember</vt:lpstr>
      <vt:lpstr>Countable or uncountable?</vt:lpstr>
      <vt:lpstr>Countable or uncountable?</vt:lpstr>
      <vt:lpstr>Countable vs. Uncountable</vt:lpstr>
      <vt:lpstr>How to count them?</vt:lpstr>
      <vt:lpstr>Important to know</vt:lpstr>
      <vt:lpstr>Which expression of quantity?</vt:lpstr>
      <vt:lpstr>Compare</vt:lpstr>
      <vt:lpstr>Expressions that can be used for both</vt:lpstr>
      <vt:lpstr>Possession</vt:lpstr>
      <vt:lpstr>How to indicate possession</vt:lpstr>
      <vt:lpstr>How to indicate possession</vt:lpstr>
      <vt:lpstr>How to indicate possession</vt:lpstr>
      <vt:lpstr>How to indicate possession</vt:lpstr>
      <vt:lpstr>Dutch Interference</vt:lpstr>
      <vt:lpstr>Agreement</vt:lpstr>
      <vt:lpstr>Agreement</vt:lpstr>
      <vt:lpstr>Agreement – Uncountable Nouns </vt:lpstr>
      <vt:lpstr>Singular and Plural Subjects</vt:lpstr>
      <vt:lpstr>Singular and Plural Subjects</vt:lpstr>
      <vt:lpstr>Group Nouns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76</cp:revision>
  <dcterms:created xsi:type="dcterms:W3CDTF">2017-08-24T15:18:15Z</dcterms:created>
  <dcterms:modified xsi:type="dcterms:W3CDTF">2025-02-17T18:52:32Z</dcterms:modified>
</cp:coreProperties>
</file>